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Bìa. Đáp án, lời giải hiện theo click. Nút GeoGebra, video mở trang online (cần Internet).</a:t>
            </a:r>
          </a:p>
          <a:p>
            <a:r>
              <a:t>Lớp 10A7 có HS khiếm thính: mọi yêu cầu, luật chơi đều có chữ trên slide; video có phụ đề.</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Yêu cầu cần đạt lấy từ khung 'Kiến thức, kĩ năng' SGK tr.66.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Chiếu để HS nắm lộ trình bài học.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1 (45'): Khởi động 7' – Góc giữa hai vectơ (HĐ1, khung, Ví dụ 1, LT1) 15' – Tích vô hướng (khung, Ví dụ 2, LT2) 16' – Đúng hay sai? 4' – Tổng kết 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Video mở đầu 54 giây (phụ đề). HS thảo luận cặp đôi. Gợi nhớ A = F.s khi lực cùng hướng chuyển động (Vật lí 8). Dự kiến: phụ thuộc độ lớn lực, quãng đường, góc giữa dây kéo và hướng chuyển động. GV chốt bằng công thức ở mục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HĐ1 (SGK tr.66) – 4'. HS làm cặp. Click 1, 2. Nhấn mạnh: hai vectơ trong mỗi cặp đều chung gốc.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GV chốt khung (SGK tr.66). Dùng GeoGebra minh hoạ: phải dời hai vectơ về chung gốc. Câu hỏi: click 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1: GV trình bày (click 1). Luyện tập 1: HS làm 3' (click 2). Sai lầm: lấy luôn góc ABC = 60°.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GV trình bày công thức tính công (SGK tr.67) dẫn tới định nghĩa. Câu hỏi dấu: click 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Câu hỏi: click 1. (u.v)^2 = u^2.v^2 ⇔ cos^2 = 1 hoặc có vectơ bằng 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GV trình bày (click 1–3). Nhấn mạnh: góc giữa AB và BD phải dời về chung gốc → 135°.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HS làm cặp; gợi ý: nhớ lại định lí côsin (Bài 6). Click 1, 2. Kết quả dùng lại ở HĐ3 (Tiết 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Click 1–4 lật đáp án. Đáp án đã kiểm tra bằng Python.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Lệnh: u=Vector(O,A), w=Vector(O,B), tichVoHuong=u*w. HS dự đoán dấu trước khi kéo.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2 (45'): Ai nhanh hơn 4' – HĐ2, HĐ3, khung, Nhận xét 9' – Ví dụ 3, LT3: 5' – HĐ4, tính chất, Chú ý 6' – Ví dụ 4: 8' – LT4, GeoGebra 10' – Tổng kết 3'.</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Ôn định nghĩa Tiết 1; câu 1, 3 dẫn vào HĐ2. Click 1–4.</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HĐ2 (SGK tr.68) – 3', nhóm lẻ. Click 1–3. Gợi ý SGV: tính góc, độ dài rồi dùng định nghĩa.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nhóm chẵn. Click 1–3. Dùng kết quả Luyện tập 2. Chốt khung (click 4).</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GV giảng giải; HS chép ba hệ quả.</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3: click 1. Luyện tập 3: HS bấm máy 3' (click 2, 3). SGV tr.129: u.v = −5.</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HĐ4 (SGK tr.68) – 3', cả lớp. Click 1, 2. Chốt khung tính chất (click 3).</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Từ các tính chất trên chứng minh được (SGK tr.69). Sai lầm: (a.b)c = a(b.c) – SAI (vế trái cùng phương c).</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GV hướng dẫn: chèn điểm B, C vào MP, MQ (click 1, 2). SGV: không có công cụ vectơ thì bài này khó.</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1, 2. Mỗi tích: đọc góc giữa hai vectơ trên Hình 4.44.</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4 HS – 7'. Click 1–3. Đáp số đã kiểm tra bằng Python: H(6; 2); A ≈ 52,13°, B ≈ 71,57°, C ≈ 56,31°.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Lệnh: H=TriangleCenter(A,B,C,4), tich1=Vector(A,H)*Vector(B,C). Nhóm đối chiếu kết quả Luyện tập 4b.</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3 (45'): Bài tập 4.21 – 4.24 (15') – Vận dụng SGK 5' – 4.25, 4.26 hướng dẫn 3' – Trạm kiểm chứng AI 3' – Rung chuông vàng 15' – Củng cố online, giao việc 4'.</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Chữa bài: gọi HS trình bày, click hiện đáp án (đối chiếu SGV tr.131 – 132; đã kiểm tra bằng Python). Mức 1: 4.21; Mức 2: 4.22, 4.23; Mức 3: 4.24.</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Chữa bài: gọi HS trình bày, click hiện đáp án (đối chiếu SGV tr.131 – 132; đã kiểm tra bằng Python). Mức 1: 4.21; Mức 2: 4.22, 4.23; Mức 3: 4.24.</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Thảo luận cặp. Click 1, 2 (SGV tr.130). Liên hệ: kéo xe rùa chở cà phê – thành phần lực thẳng đứng không sinh công.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GV gợi ý hướng chứng minh (click 1, 2); HS hoàn thiện ở nhà (SGV tr.132).</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Nhóm lẻ: lời giải số 1, nhóm chẵn: số 2 (Phiếu học tập số 2 – KHBD). Click 1, 2. NLa, NLc: kiểm chứng kết quả AI.</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HS một bảng con. Mỗi câu 30 giây (Đ/S, trả lời ngắn, thực tế: 60 giây). Sai rời sàn thi; có thể 'cứu trợ' 1 lần. Cấu trúc 8 câu theo đề thi từ 2025: nhiều lựa chọn, Đúng/Sai, trả lời ngắn, thực tế. Đáp án đã kiểm tra bằng Python.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Nhiễu: 6 + 4 (sai dấu); viết thành vectơ; −2 nhầm dấu.</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Nhiễu: dùng sin 60°; quên cos; cos 60° = −1/2.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Nhiễu: lấy góc 60° (sai lầm phổ biến) → 2.</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Nhiễu: sai dấu; nhầm điều kiện cùng phương (m = −1).</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1–4. Đáp án đã kiểm tra bằng Python: Đ – Đ – S – Đ.</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 Sai lầm: (a + b)^2 = a^2 + b^2 = 13.</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 Liên hệ vườn cà phê địa phương.</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HS quét QR làm bài củng cố online ở nhà. Đáp án chỉ mở khi GV cho phép.</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Củng cố cuối bài.</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ẩn – chỉ GV xem khi chuẩn bị.</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ẩn – chỉ GV xem khi chuẩn bị.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hyperlink" Target="https://trangtu66.github.io/Taode_thi_online/mon/toan/video/lop10/VIDEO_MoDau_TOAN10_Bai11_TichVoHuong.mp4" TargetMode="External"/><Relationship Id="rId4" Type="http://schemas.openxmlformats.org/officeDocument/2006/relationships/image" Target="../media/image1.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hyperlink" Target="https://trangtu66.github.io/Taode_thi_online/GGB_T10_Bai11_1_GocTichVoHuong.html" TargetMode="External"/><Relationship Id="rId4" Type="http://schemas.openxmlformats.org/officeDocument/2006/relationships/image" Target="../media/image8.png"/><Relationship Id="rId5"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hyperlink" Target="https://trangtu66.github.io/Taode_thi_online/GGB_T10_Bai11_2_TrucTam.html" TargetMode="External"/><Relationship Id="rId4" Type="http://schemas.openxmlformats.org/officeDocument/2006/relationships/image" Target="../media/image11.png"/><Relationship Id="rId5"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14.png"/><Relationship Id="rId4" Type="http://schemas.openxmlformats.org/officeDocument/2006/relationships/hyperlink" Target="https://trangtu66.github.io/Taode_thi_online/cc_bai11_t10.html"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1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CHƯƠNG IV. VECTƠ</a:t>
            </a:r>
          </a:p>
          <a:p>
            <a:pPr>
              <a:spcAft>
                <a:spcPts val="600"/>
              </a:spcAft>
            </a:pPr>
            <a:r>
              <a:rPr sz="3000" b="1">
                <a:solidFill>
                  <a:srgbClr val="FFFFFF"/>
                </a:solidFill>
                <a:latin typeface="Cambria"/>
              </a:rPr>
              <a:t>BÀI 11</a:t>
            </a:r>
          </a:p>
          <a:p>
            <a:pPr>
              <a:spcAft>
                <a:spcPts val="600"/>
              </a:spcAft>
            </a:pPr>
            <a:r>
              <a:rPr sz="4400" b="1">
                <a:solidFill>
                  <a:srgbClr val="FFFFFF"/>
                </a:solidFill>
                <a:latin typeface="Cambria"/>
              </a:rPr>
              <a:t>TÍCH VÔ HƯỚNG CỦA HAI VECTƠ</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Toán 10 – Kết nối tri thức với cuộc sống (SGK tập một, tr.66 – 70)</a:t>
            </a:r>
          </a:p>
          <a:p>
            <a:pPr algn="l">
              <a:spcAft>
                <a:spcPts val="800"/>
              </a:spcAft>
            </a:pPr>
            <a:r>
              <a:rPr sz="2200">
                <a:solidFill>
                  <a:srgbClr val="E0E7FF"/>
                </a:solidFill>
                <a:latin typeface="Calibri"/>
              </a:rPr>
              <a:t>3 tiết: T35 – T37</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MỤC TIÊU BÀI HỌC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2</a:t>
            </a:r>
          </a:p>
        </p:txBody>
      </p:sp>
      <p:sp>
        <p:nvSpPr>
          <p:cNvPr id="7" name="Rounded Rectangle 6"/>
          <p:cNvSpPr/>
          <p:nvPr/>
        </p:nvSpPr>
        <p:spPr>
          <a:xfrm>
            <a:off x="548640" y="1417320"/>
            <a:ext cx="11064240" cy="1908047"/>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53896"/>
            <a:ext cx="10735056" cy="1834895"/>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Yêu cầu cần đạt</a:t>
            </a:r>
            <a:r>
              <a:rPr sz="2200">
                <a:solidFill>
                  <a:srgbClr val="1E293B"/>
                </a:solidFill>
                <a:latin typeface="Calibri"/>
              </a:rPr>
              <a:t> (SGK tr.66)</a:t>
            </a:r>
          </a:p>
          <a:p>
            <a:pPr algn="l" marL="365760" indent="-365760">
              <a:spcAft>
                <a:spcPts val="800"/>
              </a:spcAft>
              <a:buClr>
                <a:srgbClr val="1E40AF"/>
              </a:buClr>
              <a:buFont typeface="Arial"/>
              <a:buChar char="•"/>
            </a:pPr>
            <a:r>
              <a:rPr sz="2200">
                <a:solidFill>
                  <a:srgbClr val="1E293B"/>
                </a:solidFill>
                <a:latin typeface="Calibri"/>
              </a:rPr>
              <a:t>Tính góc, tích vô hướng của hai vectơ trong những trường hợp cụ thể.</a:t>
            </a:r>
          </a:p>
          <a:p>
            <a:pPr algn="l" marL="365760" indent="-365760">
              <a:spcAft>
                <a:spcPts val="800"/>
              </a:spcAft>
              <a:buClr>
                <a:srgbClr val="1E40AF"/>
              </a:buClr>
              <a:buFont typeface="Arial"/>
              <a:buChar char="•"/>
            </a:pPr>
            <a:r>
              <a:rPr sz="2200">
                <a:solidFill>
                  <a:srgbClr val="1E293B"/>
                </a:solidFill>
                <a:latin typeface="Calibri"/>
              </a:rPr>
              <a:t>Công thức toạ độ của tích vô hướng, tính chất của tích vô hướng.</a:t>
            </a:r>
          </a:p>
          <a:p>
            <a:pPr algn="l" marL="365760" indent="-365760">
              <a:spcAft>
                <a:spcPts val="800"/>
              </a:spcAft>
              <a:buClr>
                <a:srgbClr val="1E40AF"/>
              </a:buClr>
              <a:buFont typeface="Arial"/>
              <a:buChar char="•"/>
            </a:pPr>
            <a:r>
              <a:rPr sz="2200">
                <a:solidFill>
                  <a:srgbClr val="1E293B"/>
                </a:solidFill>
                <a:latin typeface="Calibri"/>
              </a:rPr>
              <a:t>Liên hệ khái niệm tích vô hướng với khái niệm công trong Vật lí.</a:t>
            </a:r>
          </a:p>
        </p:txBody>
      </p:sp>
      <p:sp>
        <p:nvSpPr>
          <p:cNvPr id="9" name="TextBox 8"/>
          <p:cNvSpPr txBox="1"/>
          <p:nvPr/>
        </p:nvSpPr>
        <p:spPr>
          <a:xfrm>
            <a:off x="548640" y="3553968"/>
            <a:ext cx="11064240" cy="274320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b="1">
                <a:solidFill>
                  <a:srgbClr val="1E293B"/>
                </a:solidFill>
                <a:latin typeface="Calibri"/>
              </a:rPr>
              <a:t>Năng lực toán học:</a:t>
            </a:r>
            <a:r>
              <a:rPr sz="2200">
                <a:solidFill>
                  <a:srgbClr val="1E293B"/>
                </a:solidFill>
                <a:latin typeface="Calibri"/>
              </a:rPr>
              <a:t> tư duy và lập luận (chứng minh vuông góc, đẳng thức tích vô hướng); mô hình hoá (công của lực kéo); giải quyết vấn đề (trực tâm, giải tam giác bằng toạ độ); sử dụng công cụ (GeoGebra, máy tính cầm tay).</a:t>
            </a:r>
          </a:p>
          <a:p>
            <a:pPr algn="l" marL="365760" indent="-365760">
              <a:spcAft>
                <a:spcPts val="800"/>
              </a:spcAft>
              <a:buClr>
                <a:srgbClr val="1E40AF"/>
              </a:buClr>
              <a:buFont typeface="Arial"/>
              <a:buChar char="•"/>
            </a:pPr>
            <a:r>
              <a:rPr sz="2200" b="1">
                <a:solidFill>
                  <a:srgbClr val="1E293B"/>
                </a:solidFill>
                <a:latin typeface="Calibri"/>
              </a:rPr>
              <a:t>Phẩm chất:</a:t>
            </a:r>
            <a:r>
              <a:rPr sz="2200">
                <a:solidFill>
                  <a:srgbClr val="1E293B"/>
                </a:solidFill>
                <a:latin typeface="Calibri"/>
              </a:rPr>
              <a:t> chăm chỉ, trung thực khi tự kiểm tra kết quả, trách nhiệm khi làm việc nhóm.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LỘ TRÌNH 3 TIẾT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3</a:t>
            </a:r>
          </a:p>
        </p:txBody>
      </p:sp>
      <p:sp>
        <p:nvSpPr>
          <p:cNvPr id="7" name="Rounded Rectangle 6"/>
          <p:cNvSpPr/>
          <p:nvPr/>
        </p:nvSpPr>
        <p:spPr>
          <a:xfrm>
            <a:off x="548640" y="155448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2763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T35</a:t>
            </a:r>
          </a:p>
        </p:txBody>
      </p:sp>
      <p:sp>
        <p:nvSpPr>
          <p:cNvPr id="9" name="TextBox 8"/>
          <p:cNvSpPr txBox="1"/>
          <p:nvPr/>
        </p:nvSpPr>
        <p:spPr>
          <a:xfrm>
            <a:off x="1920240" y="164592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1. Góc giữa hai vectơ. 2. Tích vô hướng của hai vectơ</a:t>
            </a:r>
          </a:p>
        </p:txBody>
      </p:sp>
      <p:sp>
        <p:nvSpPr>
          <p:cNvPr id="10" name="TextBox 9"/>
          <p:cNvSpPr txBox="1"/>
          <p:nvPr/>
        </p:nvSpPr>
        <p:spPr>
          <a:xfrm>
            <a:off x="8046720" y="164592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Đúng hay sai? · GeoGebra</a:t>
            </a:r>
          </a:p>
        </p:txBody>
      </p:sp>
      <p:sp>
        <p:nvSpPr>
          <p:cNvPr id="11" name="Rounded Rectangle 10"/>
          <p:cNvSpPr/>
          <p:nvPr/>
        </p:nvSpPr>
        <p:spPr>
          <a:xfrm>
            <a:off x="548640" y="251460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58775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T36</a:t>
            </a:r>
          </a:p>
        </p:txBody>
      </p:sp>
      <p:sp>
        <p:nvSpPr>
          <p:cNvPr id="13" name="TextBox 12"/>
          <p:cNvSpPr txBox="1"/>
          <p:nvPr/>
        </p:nvSpPr>
        <p:spPr>
          <a:xfrm>
            <a:off x="1920240" y="260604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3. Biểu thức toạ độ và tính chất của tích vô hướng; Ví dụ 4, Luyện tập 4</a:t>
            </a:r>
          </a:p>
        </p:txBody>
      </p:sp>
      <p:sp>
        <p:nvSpPr>
          <p:cNvPr id="14" name="TextBox 13"/>
          <p:cNvSpPr txBox="1"/>
          <p:nvPr/>
        </p:nvSpPr>
        <p:spPr>
          <a:xfrm>
            <a:off x="8046720" y="260604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Ai nhanh hơn · GeoGebra</a:t>
            </a:r>
          </a:p>
        </p:txBody>
      </p:sp>
      <p:sp>
        <p:nvSpPr>
          <p:cNvPr id="15" name="Rounded Rectangle 14"/>
          <p:cNvSpPr/>
          <p:nvPr/>
        </p:nvSpPr>
        <p:spPr>
          <a:xfrm>
            <a:off x="548640" y="347472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54787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T37</a:t>
            </a:r>
          </a:p>
        </p:txBody>
      </p:sp>
      <p:sp>
        <p:nvSpPr>
          <p:cNvPr id="17" name="TextBox 16"/>
          <p:cNvSpPr txBox="1"/>
          <p:nvPr/>
        </p:nvSpPr>
        <p:spPr>
          <a:xfrm>
            <a:off x="1920240" y="356616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Luyện tập: Bài tập 4.21 – 4.26; Vận dụng – công của lực</a:t>
            </a:r>
          </a:p>
        </p:txBody>
      </p:sp>
      <p:sp>
        <p:nvSpPr>
          <p:cNvPr id="18" name="TextBox 17"/>
          <p:cNvSpPr txBox="1"/>
          <p:nvPr/>
        </p:nvSpPr>
        <p:spPr>
          <a:xfrm>
            <a:off x="8046720" y="356616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Rung chuông vàng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1 (T35)</a:t>
            </a:r>
          </a:p>
          <a:p>
            <a:pPr>
              <a:spcAft>
                <a:spcPts val="600"/>
              </a:spcAft>
            </a:pPr>
            <a:r>
              <a:rPr sz="4000" b="1">
                <a:solidFill>
                  <a:srgbClr val="FFFFFF"/>
                </a:solidFill>
                <a:latin typeface="Cambria"/>
              </a:rPr>
              <a:t>Góc giữa hai vectơ. Tích vô hướng</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Xác định góc giữa hai vectơ.</a:t>
            </a:r>
          </a:p>
          <a:p>
            <a:pPr algn="l">
              <a:spcAft>
                <a:spcPts val="800"/>
              </a:spcAft>
            </a:pPr>
            <a:r>
              <a:rPr sz="2200">
                <a:solidFill>
                  <a:srgbClr val="E0E7FF"/>
                </a:solidFill>
                <a:latin typeface="Calibri"/>
              </a:rPr>
              <a:t>• Tính tích vô hướng theo định nghĩa; nhận biết dấu của tích vô hướng, điều kiện vuông góc.</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KHỞI ĐỘNG</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KHỞI ĐỘNG – CÔNG CỦA LỰC KÉO</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5</a:t>
            </a:r>
          </a:p>
        </p:txBody>
      </p:sp>
      <mc:AlternateContent xmlns:mc="http://schemas.openxmlformats.org/markup-compatibility/2006">
        <mc:Choice xmlns:a14="http://schemas.microsoft.com/office/drawing/2010/main" Requires="a14">
          <p:sp>
            <p:nvSpPr>
              <p:cNvPr id="7" name="TextBox 6"/>
              <p:cNvSpPr txBox="1"/>
              <p:nvPr/>
            </p:nvSpPr>
            <p:spPr>
              <a:xfrm>
                <a:off x="548640" y="1417320"/>
                <a:ext cx="6583680" cy="3840480"/>
              </a:xfrm>
              <a:prstGeom prst="rect">
                <a:avLst/>
              </a:prstGeom>
              <a:noFill/>
            </p:spPr>
            <p:txBody>
              <a:bodyPr wrap="square" anchor="t" lIns="45720" rIns="45720">
                <a:spAutoFit/>
              </a:bodyPr>
              <a:lstStyle/>
              <a:p>
                <a:pPr algn="l">
                  <a:spcAft>
                    <a:spcPts val="800"/>
                  </a:spcAft>
                </a:pPr>
                <a:r>
                  <a:rPr sz="2200">
                    <a:solidFill>
                      <a:srgbClr val="1E293B"/>
                    </a:solidFill>
                    <a:latin typeface="Calibri"/>
                  </a:rPr>
                  <a:t>Toán học cung cấp ngôn ngữ và công cụ cho nhiều ngành khoa học. Ta đã dùng vectơ để biểu diễn lực, vận tốc và dùng phép toán vectơ để tính hợp lực, tổng hợp vận tốc. </a:t>
                </a:r>
                <a:r>
                  <a:rPr sz="2200" b="1">
                    <a:solidFill>
                      <a:srgbClr val="1E293B"/>
                    </a:solidFill>
                    <a:latin typeface="Calibri"/>
                  </a:rPr>
                  <a:t>Một người kéo thùng hàng bằng sợi dây chếch lên: lực kéo </a:t>
                </a:r>
                <a14:m>
                  <m:oMath xmlns:m="http://schemas.openxmlformats.org/officeDocument/2006/math">
                    <m:acc>
                      <m:accPr>
                        <m:chr m:val="⃗"/>
                      </m:accPr>
                      <m:e>
                        <m:r>
                          <a:rPr lang="vi-VN" sz="2200" b="0">
                            <a:solidFill>
                              <a:srgbClr val="1E293B"/>
                            </a:solidFill>
                            <a:latin typeface="Cambria Math" panose="02040503050406030204" pitchFamily="18" charset="0"/>
                          </a:rPr>
                          <m:t>F</m:t>
                        </m:r>
                      </m:e>
                    </m:acc>
                  </m:oMath>
                </a14:m>
                <a:r>
                  <a:rPr sz="2200" b="1">
                    <a:solidFill>
                      <a:srgbClr val="1E293B"/>
                    </a:solidFill>
                    <a:latin typeface="Calibri"/>
                  </a:rPr>
                  <a:t> và hướng dịch chuyển </a:t>
                </a:r>
                <a14:m>
                  <m:oMath xmlns:m="http://schemas.openxmlformats.org/officeDocument/2006/math">
                    <m:acc>
                      <m:accPr>
                        <m:chr m:val="⃗"/>
                      </m:accPr>
                      <m:e>
                        <m:r>
                          <a:rPr lang="vi-VN" sz="2200" b="0">
                            <a:solidFill>
                              <a:srgbClr val="1E293B"/>
                            </a:solidFill>
                            <a:latin typeface="Cambria Math" panose="02040503050406030204" pitchFamily="18" charset="0"/>
                          </a:rPr>
                          <m:t>MN</m:t>
                        </m:r>
                      </m:e>
                    </m:acc>
                  </m:oMath>
                </a14:m>
                <a:r>
                  <a:rPr sz="2200" b="1">
                    <a:solidFill>
                      <a:srgbClr val="1E293B"/>
                    </a:solidFill>
                    <a:latin typeface="Calibri"/>
                  </a:rPr>
                  <a:t> không cùng hướng. Công sinh bởi lực kéo phụ thuộc vào những yếu tố nào?</a:t>
                </a:r>
              </a:p>
              <a:p>
                <a:pPr algn="l">
                  <a:spcAft>
                    <a:spcPts val="800"/>
                  </a:spcAft>
                </a:pPr>
                <a:r>
                  <a:rPr sz="2000">
                    <a:solidFill>
                      <a:srgbClr val="64748B"/>
                    </a:solidFill>
                    <a:latin typeface="Calibri"/>
                  </a:rPr>
                  <a:t>(SGK Toán 10 tập một, tr.66 – 67)</a:t>
                </a:r>
              </a:p>
            </p:txBody>
          </p:sp>
        </mc:Choice>
        <mc:Fallback>
          <p:sp>
            <p:nvSpPr>
              <p:cNvPr id="7" name="TextBox 6"/>
              <p:cNvSpPr txBox="1"/>
              <p:nvPr/>
            </p:nvSpPr>
            <p:spPr>
              <a:xfrm>
                <a:off x="548640" y="1417320"/>
                <a:ext cx="6583680" cy="3840480"/>
              </a:xfrm>
              <a:prstGeom prst="rect">
                <a:avLst/>
              </a:prstGeom>
              <a:noFill/>
            </p:spPr>
            <p:txBody>
              <a:bodyPr wrap="square" anchor="t" lIns="45720" rIns="45720">
                <a:spAutoFit/>
              </a:bodyPr>
              <a:lstStyle/>
              <a:p>
                <a:pPr algn="l">
                  <a:spcAft>
                    <a:spcPts val="800"/>
                  </a:spcAft>
                </a:pPr>
                <a:r>
                  <a:rPr sz="2200">
                    <a:solidFill>
                      <a:srgbClr val="1E293B"/>
                    </a:solidFill>
                    <a:latin typeface="Calibri"/>
                  </a:rPr>
                  <a:t>Toán học cung cấp ngôn ngữ và công cụ cho nhiều ngành khoa học. Ta đã dùng vectơ để biểu diễn lực, vận tốc và dùng phép toán vectơ để tính hợp lực, tổng hợp vận tốc. </a:t>
                </a:r>
                <a:r>
                  <a:rPr sz="2200" b="1">
                    <a:solidFill>
                      <a:srgbClr val="1E293B"/>
                    </a:solidFill>
                    <a:latin typeface="Calibri"/>
                  </a:rPr>
                  <a:t>Một người kéo thùng hàng bằng sợi dây chếch lên: lực kéo </a:t>
                </a:r>
                <a:r>
                  <a:rPr lang="vi-VN"/>
                  <a:t>\vec{F}</a:t>
                </a:r>
                <a:r>
                  <a:rPr sz="2200" b="1">
                    <a:solidFill>
                      <a:srgbClr val="1E293B"/>
                    </a:solidFill>
                    <a:latin typeface="Calibri"/>
                  </a:rPr>
                  <a:t> và hướng dịch chuyển </a:t>
                </a:r>
                <a:r>
                  <a:rPr lang="vi-VN"/>
                  <a:t>\overrightarrow{MN}</a:t>
                </a:r>
                <a:r>
                  <a:rPr sz="2200" b="1">
                    <a:solidFill>
                      <a:srgbClr val="1E293B"/>
                    </a:solidFill>
                    <a:latin typeface="Calibri"/>
                  </a:rPr>
                  <a:t> không cùng hướng. Công sinh bởi lực kéo phụ thuộc vào những yếu tố nào?</a:t>
                </a:r>
              </a:p>
              <a:p>
                <a:pPr algn="l">
                  <a:spcAft>
                    <a:spcPts val="800"/>
                  </a:spcAft>
                </a:pPr>
                <a:r>
                  <a:rPr sz="2000">
                    <a:solidFill>
                      <a:srgbClr val="64748B"/>
                    </a:solidFill>
                    <a:latin typeface="Calibri"/>
                  </a:rPr>
                  <a:t>(SGK Toán 10 tập một, tr.66 – 67)</a:t>
                </a:r>
              </a:p>
            </p:txBody>
          </p:sp>
        </mc:Fallback>
      </mc:AlternateContent>
      <p:sp>
        <p:nvSpPr>
          <p:cNvPr id="8" name="Rounded Rectangle 7">
            <a:hlinkClick r:id="rId3"/>
          </p:cNvPr>
          <p:cNvSpPr/>
          <p:nvPr/>
        </p:nvSpPr>
        <p:spPr>
          <a:xfrm>
            <a:off x="548640" y="5349240"/>
            <a:ext cx="3931920" cy="64008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VIDEO MỞ ĐẦU</a:t>
            </a:r>
          </a:p>
        </p:txBody>
      </p:sp>
      <p:pic>
        <p:nvPicPr>
          <p:cNvPr id="9" name="Picture 8" descr="qr_video.png"/>
          <p:cNvPicPr>
            <a:picLocks noChangeAspect="1"/>
          </p:cNvPicPr>
          <p:nvPr/>
        </p:nvPicPr>
        <p:blipFill>
          <a:blip r:embed="rId4"/>
          <a:stretch>
            <a:fillRect/>
          </a:stretch>
        </p:blipFill>
        <p:spPr>
          <a:xfrm>
            <a:off x="4663440" y="5074920"/>
            <a:ext cx="1188720" cy="1188720"/>
          </a:xfrm>
          <a:prstGeom prst="rect">
            <a:avLst/>
          </a:prstGeom>
        </p:spPr>
      </p:pic>
      <p:pic>
        <p:nvPicPr>
          <p:cNvPr id="10" name="Picture 9" descr="h442.png"/>
          <p:cNvPicPr>
            <a:picLocks noChangeAspect="1"/>
          </p:cNvPicPr>
          <p:nvPr/>
        </p:nvPicPr>
        <p:blipFill>
          <a:blip r:embed="rId5"/>
          <a:stretch>
            <a:fillRect/>
          </a:stretch>
        </p:blipFill>
        <p:spPr>
          <a:xfrm>
            <a:off x="7315200" y="2600724"/>
            <a:ext cx="4389120" cy="1747992"/>
          </a:xfrm>
          <a:prstGeom prst="rect">
            <a:avLst/>
          </a:prstGeom>
        </p:spPr>
      </p:pic>
      <p:sp>
        <p:nvSpPr>
          <p:cNvPr id="11" name="TextBox 10"/>
          <p:cNvSpPr txBox="1"/>
          <p:nvPr/>
        </p:nvSpPr>
        <p:spPr>
          <a:xfrm>
            <a:off x="7315200" y="5504688"/>
            <a:ext cx="438912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4.42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1. GÓC GIỮA HAI VECTƠ</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680960" cy="1179576"/>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HĐ1.</a:t>
                </a:r>
                <a:r>
                  <a:rPr sz="2200">
                    <a:solidFill>
                      <a:srgbClr val="1E293B"/>
                    </a:solidFill>
                    <a:latin typeface="Calibri"/>
                  </a:rPr>
                  <a:t> Trong Hình 4.39, số đo góc </a:t>
                </a:r>
                <a14:m>
                  <m:oMath xmlns:m="http://schemas.openxmlformats.org/officeDocument/2006/math">
                    <m:r>
                      <a:rPr lang="vi-VN" sz="2200" b="0">
                        <a:solidFill>
                          <a:srgbClr val="1E293B"/>
                        </a:solidFill>
                        <a:latin typeface="Cambria Math" panose="02040503050406030204" pitchFamily="18" charset="0"/>
                      </a:rPr>
                      <m:t>BAC</m:t>
                    </m:r>
                  </m:oMath>
                </a14:m>
                <a:r>
                  <a:rPr sz="2200">
                    <a:solidFill>
                      <a:srgbClr val="1E293B"/>
                    </a:solidFill>
                    <a:latin typeface="Calibri"/>
                  </a:rPr>
                  <a:t> cũng được gọi là số đo góc giữa hai vectơ </a:t>
                </a:r>
                <a14:m>
                  <m:oMath xmlns:m="http://schemas.openxmlformats.org/officeDocument/2006/math">
                    <m:acc>
                      <m:accPr>
                        <m:chr m:val="⃗"/>
                      </m:accPr>
                      <m:e>
                        <m:r>
                          <a:rPr lang="vi-VN" sz="2200" b="0">
                            <a:solidFill>
                              <a:srgbClr val="1E293B"/>
                            </a:solidFill>
                            <a:latin typeface="Cambria Math" panose="02040503050406030204" pitchFamily="18" charset="0"/>
                          </a:rPr>
                          <m:t>AB</m:t>
                        </m:r>
                      </m:e>
                    </m:acc>
                  </m:oMath>
                </a14:m>
                <a:r>
                  <a:rPr sz="2200">
                    <a:solidFill>
                      <a:srgbClr val="1E293B"/>
                    </a:solidFill>
                    <a:latin typeface="Calibri"/>
                  </a:rPr>
                  <a:t> và </a:t>
                </a:r>
                <a14:m>
                  <m:oMath xmlns:m="http://schemas.openxmlformats.org/officeDocument/2006/math">
                    <m:acc>
                      <m:accPr>
                        <m:chr m:val="⃗"/>
                      </m:accPr>
                      <m:e>
                        <m:r>
                          <a:rPr lang="vi-VN" sz="2200" b="0">
                            <a:solidFill>
                              <a:srgbClr val="1E293B"/>
                            </a:solidFill>
                            <a:latin typeface="Cambria Math" panose="02040503050406030204" pitchFamily="18" charset="0"/>
                          </a:rPr>
                          <m:t>AC</m:t>
                        </m:r>
                      </m:e>
                    </m:acc>
                  </m:oMath>
                </a14:m>
                <a:r>
                  <a:rPr sz="2200">
                    <a:solidFill>
                      <a:srgbClr val="1E293B"/>
                    </a:solidFill>
                    <a:latin typeface="Calibri"/>
                  </a:rPr>
                  <a:t>. Hãy tìm số đo các góc giữa </a:t>
                </a:r>
                <a14:m>
                  <m:oMath xmlns:m="http://schemas.openxmlformats.org/officeDocument/2006/math">
                    <m:acc>
                      <m:accPr>
                        <m:chr m:val="⃗"/>
                      </m:accPr>
                      <m:e>
                        <m:r>
                          <a:rPr lang="vi-VN" sz="2200" b="0">
                            <a:solidFill>
                              <a:srgbClr val="1E293B"/>
                            </a:solidFill>
                            <a:latin typeface="Cambria Math" panose="02040503050406030204" pitchFamily="18" charset="0"/>
                          </a:rPr>
                          <m:t>BC</m:t>
                        </m:r>
                      </m:e>
                    </m:acc>
                  </m:oMath>
                </a14:m>
                <a:r>
                  <a:rPr sz="2200">
                    <a:solidFill>
                      <a:srgbClr val="1E293B"/>
                    </a:solidFill>
                    <a:latin typeface="Calibri"/>
                  </a:rPr>
                  <a:t> và </a:t>
                </a:r>
                <a14:m>
                  <m:oMath xmlns:m="http://schemas.openxmlformats.org/officeDocument/2006/math">
                    <m:acc>
                      <m:accPr>
                        <m:chr m:val="⃗"/>
                      </m:accPr>
                      <m:e>
                        <m:r>
                          <a:rPr lang="vi-VN" sz="2200" b="0">
                            <a:solidFill>
                              <a:srgbClr val="1E293B"/>
                            </a:solidFill>
                            <a:latin typeface="Cambria Math" panose="02040503050406030204" pitchFamily="18" charset="0"/>
                          </a:rPr>
                          <m:t>BD</m:t>
                        </m:r>
                      </m:e>
                    </m:acc>
                  </m:oMath>
                </a14:m>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DA</m:t>
                        </m:r>
                      </m:e>
                    </m:acc>
                  </m:oMath>
                </a14:m>
                <a:r>
                  <a:rPr sz="2200">
                    <a:solidFill>
                      <a:srgbClr val="1E293B"/>
                    </a:solidFill>
                    <a:latin typeface="Calibri"/>
                  </a:rPr>
                  <a:t> và </a:t>
                </a:r>
                <a14:m>
                  <m:oMath xmlns:m="http://schemas.openxmlformats.org/officeDocument/2006/math">
                    <m:acc>
                      <m:accPr>
                        <m:chr m:val="⃗"/>
                      </m:accPr>
                      <m:e>
                        <m:r>
                          <a:rPr lang="vi-VN" sz="2200" b="0">
                            <a:solidFill>
                              <a:srgbClr val="1E293B"/>
                            </a:solidFill>
                            <a:latin typeface="Cambria Math" panose="02040503050406030204" pitchFamily="18" charset="0"/>
                          </a:rPr>
                          <m:t>DB</m:t>
                        </m:r>
                      </m:e>
                    </m:acc>
                  </m:oMath>
                </a14:m>
                <a:r>
                  <a:rPr sz="2200">
                    <a:solidFill>
                      <a:srgbClr val="1E293B"/>
                    </a:solidFill>
                    <a:latin typeface="Calibri"/>
                  </a:rPr>
                  <a:t>.</a:t>
                </a:r>
              </a:p>
            </p:txBody>
          </p:sp>
        </mc:Choice>
        <mc:Fallback>
          <p:sp>
            <p:nvSpPr>
              <p:cNvPr id="7" name="TextBox 6"/>
              <p:cNvSpPr txBox="1"/>
              <p:nvPr/>
            </p:nvSpPr>
            <p:spPr>
              <a:xfrm>
                <a:off x="548640" y="1371600"/>
                <a:ext cx="7680960" cy="1179576"/>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HĐ1.</a:t>
                </a:r>
                <a:r>
                  <a:rPr sz="2200">
                    <a:solidFill>
                      <a:srgbClr val="1E293B"/>
                    </a:solidFill>
                    <a:latin typeface="Calibri"/>
                  </a:rPr>
                  <a:t> Trong Hình 4.39, số đo góc </a:t>
                </a:r>
                <a:r>
                  <a:rPr lang="vi-VN"/>
                  <a:t>BAC</a:t>
                </a:r>
                <a:r>
                  <a:rPr sz="2200">
                    <a:solidFill>
                      <a:srgbClr val="1E293B"/>
                    </a:solidFill>
                    <a:latin typeface="Calibri"/>
                  </a:rPr>
                  <a:t> cũng được gọi là số đo góc giữa hai vectơ </a:t>
                </a:r>
                <a:r>
                  <a:rPr lang="vi-VN"/>
                  <a:t>\overrightarrow{AB}</a:t>
                </a:r>
                <a:r>
                  <a:rPr sz="2200">
                    <a:solidFill>
                      <a:srgbClr val="1E293B"/>
                    </a:solidFill>
                    <a:latin typeface="Calibri"/>
                  </a:rPr>
                  <a:t> và </a:t>
                </a:r>
                <a:r>
                  <a:rPr lang="vi-VN"/>
                  <a:t>\overrightarrow{AC}</a:t>
                </a:r>
                <a:r>
                  <a:rPr sz="2200">
                    <a:solidFill>
                      <a:srgbClr val="1E293B"/>
                    </a:solidFill>
                    <a:latin typeface="Calibri"/>
                  </a:rPr>
                  <a:t>. Hãy tìm số đo các góc giữa </a:t>
                </a:r>
                <a:r>
                  <a:rPr lang="vi-VN"/>
                  <a:t>\overrightarrow{BC}</a:t>
                </a:r>
                <a:r>
                  <a:rPr sz="2200">
                    <a:solidFill>
                      <a:srgbClr val="1E293B"/>
                    </a:solidFill>
                    <a:latin typeface="Calibri"/>
                  </a:rPr>
                  <a:t> và </a:t>
                </a:r>
                <a:r>
                  <a:rPr lang="vi-VN"/>
                  <a:t>\overrightarrow{BD}</a:t>
                </a:r>
                <a:r>
                  <a:rPr sz="2200">
                    <a:solidFill>
                      <a:srgbClr val="1E293B"/>
                    </a:solidFill>
                    <a:latin typeface="Calibri"/>
                  </a:rPr>
                  <a:t>, </a:t>
                </a:r>
                <a:r>
                  <a:rPr lang="vi-VN"/>
                  <a:t>\overrightarrow{DA}</a:t>
                </a:r>
                <a:r>
                  <a:rPr sz="2200">
                    <a:solidFill>
                      <a:srgbClr val="1E293B"/>
                    </a:solidFill>
                    <a:latin typeface="Calibri"/>
                  </a:rPr>
                  <a:t> và </a:t>
                </a:r>
                <a:r>
                  <a:rPr lang="vi-VN"/>
                  <a:t>\overrightarrow{DB}</a:t>
                </a:r>
                <a:r>
                  <a:rPr sz="2200">
                    <a:solidFill>
                      <a:srgbClr val="1E293B"/>
                    </a:solidFill>
                    <a:latin typeface="Calibri"/>
                  </a:rPr>
                  <a:t>.</a:t>
                </a:r>
              </a:p>
            </p:txBody>
          </p:sp>
        </mc:Fallback>
      </mc:AlternateContent>
      <p:sp>
        <p:nvSpPr>
          <p:cNvPr id="8" name="s1_nen"/>
          <p:cNvSpPr/>
          <p:nvPr/>
        </p:nvSpPr>
        <p:spPr>
          <a:xfrm>
            <a:off x="548640" y="2688336"/>
            <a:ext cx="768096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724912"/>
                <a:ext cx="735177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14:m>
                  <m:oMath xmlns:m="http://schemas.openxmlformats.org/officeDocument/2006/math">
                    <m:d>
                      <m:dPr>
                        <m:sepChr m:val=","/>
                      </m:dPr>
                      <m:e>
                        <m:acc>
                          <m:accPr>
                            <m:chr m:val="⃗"/>
                          </m:accPr>
                          <m:e>
                            <m:r>
                              <a:rPr lang="vi-VN" sz="2200" b="0">
                                <a:solidFill>
                                  <a:srgbClr val="1E293B"/>
                                </a:solidFill>
                                <a:latin typeface="Cambria Math" panose="02040503050406030204" pitchFamily="18" charset="0"/>
                              </a:rPr>
                              <m:t>BC</m:t>
                            </m:r>
                          </m:e>
                        </m:acc>
                      </m:e>
                      <m:e>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BD</m:t>
                            </m:r>
                          </m:e>
                        </m:acc>
                      </m:e>
                    </m:d>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CBD</m:t>
                        </m:r>
                      </m:e>
                    </m:acc>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30</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a:t>
                </a:r>
              </a:p>
            </p:txBody>
          </p:sp>
        </mc:Choice>
        <mc:Fallback>
          <p:sp>
            <p:nvSpPr>
              <p:cNvPr id="9" name="TextBox 8"/>
              <p:cNvSpPr txBox="1"/>
              <p:nvPr/>
            </p:nvSpPr>
            <p:spPr>
              <a:xfrm>
                <a:off x="713232" y="2724912"/>
                <a:ext cx="735177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\left(\overrightarrow{BC},\ \overrightarrow{BD}\right)</a:t>
                </a:r>
                <a:r>
                  <a:rPr sz="2200">
                    <a:solidFill>
                      <a:srgbClr val="1E293B"/>
                    </a:solidFill>
                    <a:latin typeface="Calibri"/>
                  </a:rPr>
                  <a:t> = </a:t>
                </a:r>
                <a:r>
                  <a:rPr lang="vi-VN"/>
                  <a:t>\widehat{CBD}=30^\circ</a:t>
                </a:r>
                <a:r>
                  <a:rPr sz="2200">
                    <a:solidFill>
                      <a:srgbClr val="1E293B"/>
                    </a:solidFill>
                    <a:latin typeface="Calibri"/>
                  </a:rPr>
                  <a:t>.</a:t>
                </a:r>
              </a:p>
            </p:txBody>
          </p:sp>
        </mc:Fallback>
      </mc:AlternateContent>
      <p:sp>
        <p:nvSpPr>
          <p:cNvPr id="10" name="s2_nen"/>
          <p:cNvSpPr/>
          <p:nvPr/>
        </p:nvSpPr>
        <p:spPr>
          <a:xfrm>
            <a:off x="548640" y="3425952"/>
            <a:ext cx="7680960" cy="935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462528"/>
                <a:ext cx="735177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BCD</m:t>
                        </m:r>
                      </m:e>
                    </m:acc>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180</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80</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100</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nên </a:t>
                </a:r>
                <a14:m>
                  <m:oMath xmlns:m="http://schemas.openxmlformats.org/officeDocument/2006/math">
                    <m:d>
                      <m:dPr>
                        <m:sepChr m:val=","/>
                      </m:dPr>
                      <m:e>
                        <m:acc>
                          <m:accPr>
                            <m:chr m:val="⃗"/>
                          </m:accPr>
                          <m:e>
                            <m:r>
                              <a:rPr lang="vi-VN" sz="2200" b="0">
                                <a:solidFill>
                                  <a:srgbClr val="1E293B"/>
                                </a:solidFill>
                                <a:latin typeface="Cambria Math" panose="02040503050406030204" pitchFamily="18" charset="0"/>
                              </a:rPr>
                              <m:t>DA</m:t>
                            </m:r>
                          </m:e>
                        </m:acc>
                      </m:e>
                      <m:e>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DB</m:t>
                            </m:r>
                          </m:e>
                        </m:acc>
                      </m:e>
                    </m:d>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ADB</m:t>
                        </m:r>
                      </m:e>
                    </m:acc>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180</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100</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30</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50</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a:t>
                </a:r>
              </a:p>
            </p:txBody>
          </p:sp>
        </mc:Choice>
        <mc:Fallback>
          <p:sp>
            <p:nvSpPr>
              <p:cNvPr id="11" name="TextBox 10"/>
              <p:cNvSpPr txBox="1"/>
              <p:nvPr/>
            </p:nvSpPr>
            <p:spPr>
              <a:xfrm>
                <a:off x="713232" y="3462528"/>
                <a:ext cx="735177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\widehat{BCD}=180^\circ-80^\circ=100^\circ</a:t>
                </a:r>
                <a:r>
                  <a:rPr sz="2200">
                    <a:solidFill>
                      <a:srgbClr val="1E293B"/>
                    </a:solidFill>
                    <a:latin typeface="Calibri"/>
                  </a:rPr>
                  <a:t> nên </a:t>
                </a:r>
                <a:r>
                  <a:rPr lang="vi-VN"/>
                  <a:t>\left(\overrightarrow{DA},\ \overrightarrow{DB}\right)</a:t>
                </a:r>
                <a:r>
                  <a:rPr sz="2200">
                    <a:solidFill>
                      <a:srgbClr val="1E293B"/>
                    </a:solidFill>
                    <a:latin typeface="Calibri"/>
                  </a:rPr>
                  <a:t> = </a:t>
                </a:r>
                <a:r>
                  <a:rPr lang="vi-VN"/>
                  <a:t>\widehat{ADB}=180^\circ-100^\circ-30^\circ=50^\circ</a:t>
                </a:r>
                <a:r>
                  <a:rPr sz="2200">
                    <a:solidFill>
                      <a:srgbClr val="1E293B"/>
                    </a:solidFill>
                    <a:latin typeface="Calibri"/>
                  </a:rPr>
                  <a:t>.</a:t>
                </a:r>
              </a:p>
            </p:txBody>
          </p:sp>
        </mc:Fallback>
      </mc:AlternateContent>
      <p:pic>
        <p:nvPicPr>
          <p:cNvPr id="12" name="Picture 11" descr="h439.png"/>
          <p:cNvPicPr>
            <a:picLocks noChangeAspect="1"/>
          </p:cNvPicPr>
          <p:nvPr/>
        </p:nvPicPr>
        <p:blipFill>
          <a:blip r:embed="rId3"/>
          <a:stretch>
            <a:fillRect/>
          </a:stretch>
        </p:blipFill>
        <p:spPr>
          <a:xfrm>
            <a:off x="8412480" y="1500564"/>
            <a:ext cx="3291840" cy="285103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GÓC GIỮA HAI VECTƠ – ĐỊNH NGHĨA</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7</a:t>
            </a:r>
          </a:p>
        </p:txBody>
      </p:sp>
      <p:sp>
        <p:nvSpPr>
          <p:cNvPr id="7" name="Rounded Rectangle 6"/>
          <p:cNvSpPr/>
          <p:nvPr/>
        </p:nvSpPr>
        <p:spPr>
          <a:xfrm>
            <a:off x="548640" y="1371600"/>
            <a:ext cx="8412480" cy="1484376"/>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08176"/>
                <a:ext cx="8083296" cy="14112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Cho hai vectơ </a:t>
                </a:r>
                <a14:m>
                  <m:oMath xmlns:m="http://schemas.openxmlformats.org/officeDocument/2006/math">
                    <m:acc>
                      <m:accPr>
                        <m:chr m:val="⃗"/>
                      </m:accPr>
                      <m:e>
                        <m:r>
                          <a:rPr lang="vi-VN" sz="2000" b="0">
                            <a:solidFill>
                              <a:srgbClr val="1E293B"/>
                            </a:solidFill>
                            <a:latin typeface="Cambria Math" panose="02040503050406030204" pitchFamily="18" charset="0"/>
                          </a:rPr>
                          <m:t>u</m:t>
                        </m:r>
                      </m:e>
                    </m:acc>
                  </m:oMath>
                </a14:m>
                <a:r>
                  <a:rPr sz="2000">
                    <a:solidFill>
                      <a:srgbClr val="1E293B"/>
                    </a:solidFill>
                    <a:latin typeface="Calibri"/>
                  </a:rPr>
                  <a:t> và </a:t>
                </a:r>
                <a14:m>
                  <m:oMath xmlns:m="http://schemas.openxmlformats.org/officeDocument/2006/math">
                    <m:acc>
                      <m:accPr>
                        <m:chr m:val="⃗"/>
                      </m:accPr>
                      <m:e>
                        <m:r>
                          <a:rPr lang="vi-VN" sz="2000" b="0">
                            <a:solidFill>
                              <a:srgbClr val="1E293B"/>
                            </a:solidFill>
                            <a:latin typeface="Cambria Math" panose="02040503050406030204" pitchFamily="18" charset="0"/>
                          </a:rPr>
                          <m:t>v</m:t>
                        </m:r>
                      </m:e>
                    </m:acc>
                  </m:oMath>
                </a14:m>
                <a:r>
                  <a:rPr sz="2000">
                    <a:solidFill>
                      <a:srgbClr val="1E293B"/>
                    </a:solidFill>
                    <a:latin typeface="Calibri"/>
                  </a:rPr>
                  <a:t> khác </a:t>
                </a:r>
                <a14:m>
                  <m:oMath xmlns:m="http://schemas.openxmlformats.org/officeDocument/2006/math">
                    <m:acc>
                      <m:accPr>
                        <m:chr m:val="⃗"/>
                      </m:accPr>
                      <m:e>
                        <m:r>
                          <a:rPr lang="vi-VN" sz="2000" b="0">
                            <a:solidFill>
                              <a:srgbClr val="1E293B"/>
                            </a:solidFill>
                            <a:latin typeface="Cambria Math" panose="02040503050406030204" pitchFamily="18" charset="0"/>
                          </a:rPr>
                          <m:t>0</m:t>
                        </m:r>
                      </m:e>
                    </m:acc>
                  </m:oMath>
                </a14:m>
                <a:r>
                  <a:rPr sz="2000">
                    <a:solidFill>
                      <a:srgbClr val="1E293B"/>
                    </a:solidFill>
                    <a:latin typeface="Calibri"/>
                  </a:rPr>
                  <a:t>. Từ một điểm </a:t>
                </a:r>
                <a14:m>
                  <m:oMath xmlns:m="http://schemas.openxmlformats.org/officeDocument/2006/math">
                    <m:r>
                      <a:rPr lang="vi-VN" sz="2000" b="0">
                        <a:solidFill>
                          <a:srgbClr val="1E293B"/>
                        </a:solidFill>
                        <a:latin typeface="Cambria Math" panose="02040503050406030204" pitchFamily="18" charset="0"/>
                      </a:rPr>
                      <m:t>A</m:t>
                    </m:r>
                  </m:oMath>
                </a14:m>
                <a:r>
                  <a:rPr sz="2000">
                    <a:solidFill>
                      <a:srgbClr val="1E293B"/>
                    </a:solidFill>
                    <a:latin typeface="Calibri"/>
                  </a:rPr>
                  <a:t> tuỳ ý, vẽ các vectơ </a:t>
                </a:r>
                <a14:m>
                  <m:oMath xmlns:m="http://schemas.openxmlformats.org/officeDocument/2006/math">
                    <m:acc>
                      <m:accPr>
                        <m:chr m:val="⃗"/>
                      </m:accPr>
                      <m:e>
                        <m:r>
                          <a:rPr lang="vi-VN" sz="2000" b="0">
                            <a:solidFill>
                              <a:srgbClr val="1E293B"/>
                            </a:solidFill>
                            <a:latin typeface="Cambria Math" panose="02040503050406030204" pitchFamily="18" charset="0"/>
                          </a:rPr>
                          <m:t>AB</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u</m:t>
                        </m:r>
                      </m:e>
                    </m:acc>
                  </m:oMath>
                </a14:m>
                <a:r>
                  <a:rPr sz="2000">
                    <a:solidFill>
                      <a:srgbClr val="1E293B"/>
                    </a:solidFill>
                    <a:latin typeface="Calibri"/>
                  </a:rPr>
                  <a:t> và </a:t>
                </a:r>
                <a14:m>
                  <m:oMath xmlns:m="http://schemas.openxmlformats.org/officeDocument/2006/math">
                    <m:acc>
                      <m:accPr>
                        <m:chr m:val="⃗"/>
                      </m:accPr>
                      <m:e>
                        <m:r>
                          <a:rPr lang="vi-VN" sz="2000" b="0">
                            <a:solidFill>
                              <a:srgbClr val="1E293B"/>
                            </a:solidFill>
                            <a:latin typeface="Cambria Math" panose="02040503050406030204" pitchFamily="18" charset="0"/>
                          </a:rPr>
                          <m:t>AC</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v</m:t>
                        </m:r>
                      </m:e>
                    </m:acc>
                  </m:oMath>
                </a14:m>
                <a:r>
                  <a:rPr sz="2000">
                    <a:solidFill>
                      <a:srgbClr val="1E293B"/>
                    </a:solidFill>
                    <a:latin typeface="Calibri"/>
                  </a:rPr>
                  <a:t> (H.4.40). Khi đó, số đo của góc </a:t>
                </a:r>
                <a14:m>
                  <m:oMath xmlns:m="http://schemas.openxmlformats.org/officeDocument/2006/math">
                    <m:r>
                      <a:rPr lang="vi-VN" sz="2000" b="0">
                        <a:solidFill>
                          <a:srgbClr val="1E293B"/>
                        </a:solidFill>
                        <a:latin typeface="Cambria Math" panose="02040503050406030204" pitchFamily="18" charset="0"/>
                      </a:rPr>
                      <m:t>BAC</m:t>
                    </m:r>
                  </m:oMath>
                </a14:m>
                <a:r>
                  <a:rPr sz="2000">
                    <a:solidFill>
                      <a:srgbClr val="1E293B"/>
                    </a:solidFill>
                    <a:latin typeface="Calibri"/>
                  </a:rPr>
                  <a:t> được gọi là số đo góc giữa hai vectơ </a:t>
                </a:r>
                <a14:m>
                  <m:oMath xmlns:m="http://schemas.openxmlformats.org/officeDocument/2006/math">
                    <m:acc>
                      <m:accPr>
                        <m:chr m:val="⃗"/>
                      </m:accPr>
                      <m:e>
                        <m:r>
                          <a:rPr lang="vi-VN" sz="2000" b="0">
                            <a:solidFill>
                              <a:srgbClr val="1E293B"/>
                            </a:solidFill>
                            <a:latin typeface="Cambria Math" panose="02040503050406030204" pitchFamily="18" charset="0"/>
                          </a:rPr>
                          <m:t>u</m:t>
                        </m:r>
                      </m:e>
                    </m:acc>
                  </m:oMath>
                </a14:m>
                <a:r>
                  <a:rPr sz="2000">
                    <a:solidFill>
                      <a:srgbClr val="1E293B"/>
                    </a:solidFill>
                    <a:latin typeface="Calibri"/>
                  </a:rPr>
                  <a:t> và </a:t>
                </a:r>
                <a14:m>
                  <m:oMath xmlns:m="http://schemas.openxmlformats.org/officeDocument/2006/math">
                    <m:acc>
                      <m:accPr>
                        <m:chr m:val="⃗"/>
                      </m:accPr>
                      <m:e>
                        <m:r>
                          <a:rPr lang="vi-VN" sz="2000" b="0">
                            <a:solidFill>
                              <a:srgbClr val="1E293B"/>
                            </a:solidFill>
                            <a:latin typeface="Cambria Math" panose="02040503050406030204" pitchFamily="18" charset="0"/>
                          </a:rPr>
                          <m:t>v</m:t>
                        </m:r>
                      </m:e>
                    </m:acc>
                  </m:oMath>
                </a14:m>
                <a:r>
                  <a:rPr sz="2000">
                    <a:solidFill>
                      <a:srgbClr val="1E293B"/>
                    </a:solidFill>
                    <a:latin typeface="Calibri"/>
                  </a:rPr>
                  <a:t> hay đơn giản là </a:t>
                </a:r>
                <a:r>
                  <a:rPr sz="2000" b="1">
                    <a:solidFill>
                      <a:srgbClr val="1E293B"/>
                    </a:solidFill>
                    <a:latin typeface="Calibri"/>
                  </a:rPr>
                  <a:t>góc giữa hai vectơ</a:t>
                </a:r>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u</m:t>
                        </m:r>
                      </m:e>
                    </m:acc>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acc>
                      <m:accPr>
                        <m:chr m:val="⃗"/>
                      </m:accPr>
                      <m:e>
                        <m:r>
                          <a:rPr lang="vi-VN" sz="2000" b="0">
                            <a:solidFill>
                              <a:srgbClr val="1E293B"/>
                            </a:solidFill>
                            <a:latin typeface="Cambria Math" panose="02040503050406030204" pitchFamily="18" charset="0"/>
                          </a:rPr>
                          <m:t>v</m:t>
                        </m:r>
                      </m:e>
                    </m:acc>
                  </m:oMath>
                </a14:m>
                <a:r>
                  <a:rPr sz="2000">
                    <a:solidFill>
                      <a:srgbClr val="1E293B"/>
                    </a:solidFill>
                    <a:latin typeface="Calibri"/>
                  </a:rPr>
                  <a:t>, kí hiệu là </a:t>
                </a:r>
                <a14:m>
                  <m:oMath xmlns:m="http://schemas.openxmlformats.org/officeDocument/2006/math">
                    <m:d>
                      <m:dPr>
                        <m:sepChr m:val=","/>
                      </m:dPr>
                      <m:e>
                        <m:acc>
                          <m:accPr>
                            <m:chr m:val="⃗"/>
                          </m:accPr>
                          <m:e>
                            <m:r>
                              <a:rPr lang="vi-VN" sz="2000" b="0">
                                <a:solidFill>
                                  <a:srgbClr val="1E293B"/>
                                </a:solidFill>
                                <a:latin typeface="Cambria Math" panose="02040503050406030204" pitchFamily="18" charset="0"/>
                              </a:rPr>
                              <m:t>u</m:t>
                            </m:r>
                          </m:e>
                        </m:acc>
                      </m:e>
                      <m:e>
                        <m:r>
                          <m:rPr>
                            <m:sty m:val="p"/>
                          </m:rPr>
                          <a:rPr lang="vi-VN" sz="2000" b="0">
                            <a:solidFill>
                              <a:srgbClr val="1E293B"/>
                            </a:solidFill>
                            <a:latin typeface="Cambria Math" panose="02040503050406030204" pitchFamily="18" charset="0"/>
                          </a:rPr>
                          <m:t> </m:t>
                        </m:r>
                        <m:acc>
                          <m:accPr>
                            <m:chr m:val="⃗"/>
                          </m:accPr>
                          <m:e>
                            <m:r>
                              <a:rPr lang="vi-VN" sz="2000" b="0">
                                <a:solidFill>
                                  <a:srgbClr val="1E293B"/>
                                </a:solidFill>
                                <a:latin typeface="Cambria Math" panose="02040503050406030204" pitchFamily="18" charset="0"/>
                              </a:rPr>
                              <m:t>v</m:t>
                            </m:r>
                          </m:e>
                        </m:acc>
                      </m:e>
                    </m:d>
                  </m:oMath>
                </a14:m>
                <a:r>
                  <a:rPr sz="2000">
                    <a:solidFill>
                      <a:srgbClr val="1E293B"/>
                    </a:solidFill>
                    <a:latin typeface="Calibri"/>
                  </a:rPr>
                  <a:t>.</a:t>
                </a:r>
              </a:p>
            </p:txBody>
          </p:sp>
        </mc:Choice>
        <mc:Fallback>
          <p:sp>
            <p:nvSpPr>
              <p:cNvPr id="8" name="TextBox 7"/>
              <p:cNvSpPr txBox="1"/>
              <p:nvPr/>
            </p:nvSpPr>
            <p:spPr>
              <a:xfrm>
                <a:off x="713232" y="1408176"/>
                <a:ext cx="8083296" cy="14112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Cho hai vectơ </a:t>
                </a:r>
                <a:r>
                  <a:rPr lang="vi-VN"/>
                  <a:t>\vec{u}</a:t>
                </a:r>
                <a:r>
                  <a:rPr sz="2000">
                    <a:solidFill>
                      <a:srgbClr val="1E293B"/>
                    </a:solidFill>
                    <a:latin typeface="Calibri"/>
                  </a:rPr>
                  <a:t> và </a:t>
                </a:r>
                <a:r>
                  <a:rPr lang="vi-VN"/>
                  <a:t>\vec{v}</a:t>
                </a:r>
                <a:r>
                  <a:rPr sz="2000">
                    <a:solidFill>
                      <a:srgbClr val="1E293B"/>
                    </a:solidFill>
                    <a:latin typeface="Calibri"/>
                  </a:rPr>
                  <a:t> khác </a:t>
                </a:r>
                <a:r>
                  <a:rPr lang="vi-VN"/>
                  <a:t>\vec{0}</a:t>
                </a:r>
                <a:r>
                  <a:rPr sz="2000">
                    <a:solidFill>
                      <a:srgbClr val="1E293B"/>
                    </a:solidFill>
                    <a:latin typeface="Calibri"/>
                  </a:rPr>
                  <a:t>. Từ một điểm </a:t>
                </a:r>
                <a:r>
                  <a:rPr lang="vi-VN"/>
                  <a:t>A</a:t>
                </a:r>
                <a:r>
                  <a:rPr sz="2000">
                    <a:solidFill>
                      <a:srgbClr val="1E293B"/>
                    </a:solidFill>
                    <a:latin typeface="Calibri"/>
                  </a:rPr>
                  <a:t> tuỳ ý, vẽ các vectơ </a:t>
                </a:r>
                <a:r>
                  <a:rPr lang="vi-VN"/>
                  <a:t>\overrightarrow{AB}</a:t>
                </a:r>
                <a:r>
                  <a:rPr sz="2000">
                    <a:solidFill>
                      <a:srgbClr val="1E293B"/>
                    </a:solidFill>
                    <a:latin typeface="Calibri"/>
                  </a:rPr>
                  <a:t> = </a:t>
                </a:r>
                <a:r>
                  <a:rPr lang="vi-VN"/>
                  <a:t>\vec{u}</a:t>
                </a:r>
                <a:r>
                  <a:rPr sz="2000">
                    <a:solidFill>
                      <a:srgbClr val="1E293B"/>
                    </a:solidFill>
                    <a:latin typeface="Calibri"/>
                  </a:rPr>
                  <a:t> và </a:t>
                </a:r>
                <a:r>
                  <a:rPr lang="vi-VN"/>
                  <a:t>\overrightarrow{AC}</a:t>
                </a:r>
                <a:r>
                  <a:rPr sz="2000">
                    <a:solidFill>
                      <a:srgbClr val="1E293B"/>
                    </a:solidFill>
                    <a:latin typeface="Calibri"/>
                  </a:rPr>
                  <a:t> = </a:t>
                </a:r>
                <a:r>
                  <a:rPr lang="vi-VN"/>
                  <a:t>\vec{v}</a:t>
                </a:r>
                <a:r>
                  <a:rPr sz="2000">
                    <a:solidFill>
                      <a:srgbClr val="1E293B"/>
                    </a:solidFill>
                    <a:latin typeface="Calibri"/>
                  </a:rPr>
                  <a:t> (H.4.40). Khi đó, số đo của góc </a:t>
                </a:r>
                <a:r>
                  <a:rPr lang="vi-VN"/>
                  <a:t>BAC</a:t>
                </a:r>
                <a:r>
                  <a:rPr sz="2000">
                    <a:solidFill>
                      <a:srgbClr val="1E293B"/>
                    </a:solidFill>
                    <a:latin typeface="Calibri"/>
                  </a:rPr>
                  <a:t> được gọi là số đo góc giữa hai vectơ </a:t>
                </a:r>
                <a:r>
                  <a:rPr lang="vi-VN"/>
                  <a:t>\vec{u}</a:t>
                </a:r>
                <a:r>
                  <a:rPr sz="2000">
                    <a:solidFill>
                      <a:srgbClr val="1E293B"/>
                    </a:solidFill>
                    <a:latin typeface="Calibri"/>
                  </a:rPr>
                  <a:t> và </a:t>
                </a:r>
                <a:r>
                  <a:rPr lang="vi-VN"/>
                  <a:t>\vec{v}</a:t>
                </a:r>
                <a:r>
                  <a:rPr sz="2000">
                    <a:solidFill>
                      <a:srgbClr val="1E293B"/>
                    </a:solidFill>
                    <a:latin typeface="Calibri"/>
                  </a:rPr>
                  <a:t> hay đơn giản là </a:t>
                </a:r>
                <a:r>
                  <a:rPr sz="2000" b="1">
                    <a:solidFill>
                      <a:srgbClr val="1E293B"/>
                    </a:solidFill>
                    <a:latin typeface="Calibri"/>
                  </a:rPr>
                  <a:t>góc giữa hai vectơ</a:t>
                </a:r>
                <a:r>
                  <a:rPr sz="2000">
                    <a:solidFill>
                      <a:srgbClr val="1E293B"/>
                    </a:solidFill>
                    <a:latin typeface="Calibri"/>
                  </a:rPr>
                  <a:t> </a:t>
                </a:r>
                <a:r>
                  <a:rPr lang="vi-VN"/>
                  <a:t>\vec{u},\ \vec{v}</a:t>
                </a:r>
                <a:r>
                  <a:rPr sz="2000">
                    <a:solidFill>
                      <a:srgbClr val="1E293B"/>
                    </a:solidFill>
                    <a:latin typeface="Calibri"/>
                  </a:rPr>
                  <a:t>, kí hiệu là </a:t>
                </a:r>
                <a:r>
                  <a:rPr lang="vi-VN"/>
                  <a:t>(\vec{u},\ \vec{v})</a:t>
                </a:r>
                <a:r>
                  <a:rPr sz="20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9" name="s1_chu"/>
              <p:cNvSpPr txBox="1"/>
              <p:nvPr/>
            </p:nvSpPr>
            <p:spPr>
              <a:xfrm>
                <a:off x="548640" y="2947416"/>
                <a:ext cx="841248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Chú ý.</a:t>
                </a:r>
                <a:r>
                  <a:rPr sz="2000">
                    <a:solidFill>
                      <a:srgbClr val="1E293B"/>
                    </a:solidFill>
                    <a:latin typeface="Calibri"/>
                  </a:rPr>
                  <a:t> Quy ước rằng góc giữa hai vectơ </a:t>
                </a:r>
                <a14:m>
                  <m:oMath xmlns:m="http://schemas.openxmlformats.org/officeDocument/2006/math">
                    <m:acc>
                      <m:accPr>
                        <m:chr m:val="⃗"/>
                      </m:accPr>
                      <m:e>
                        <m:r>
                          <a:rPr lang="vi-VN" sz="2000" b="0">
                            <a:solidFill>
                              <a:srgbClr val="1E293B"/>
                            </a:solidFill>
                            <a:latin typeface="Cambria Math" panose="02040503050406030204" pitchFamily="18" charset="0"/>
                          </a:rPr>
                          <m:t>u</m:t>
                        </m:r>
                      </m:e>
                    </m:acc>
                  </m:oMath>
                </a14:m>
                <a:r>
                  <a:rPr sz="2000">
                    <a:solidFill>
                      <a:srgbClr val="1E293B"/>
                    </a:solidFill>
                    <a:latin typeface="Calibri"/>
                  </a:rPr>
                  <a:t> và </a:t>
                </a:r>
                <a14:m>
                  <m:oMath xmlns:m="http://schemas.openxmlformats.org/officeDocument/2006/math">
                    <m:acc>
                      <m:accPr>
                        <m:chr m:val="⃗"/>
                      </m:accPr>
                      <m:e>
                        <m:r>
                          <a:rPr lang="vi-VN" sz="2000" b="0">
                            <a:solidFill>
                              <a:srgbClr val="1E293B"/>
                            </a:solidFill>
                            <a:latin typeface="Cambria Math" panose="02040503050406030204" pitchFamily="18" charset="0"/>
                          </a:rPr>
                          <m:t>0</m:t>
                        </m:r>
                      </m:e>
                    </m:acc>
                  </m:oMath>
                </a14:m>
                <a:r>
                  <a:rPr sz="2000">
                    <a:solidFill>
                      <a:srgbClr val="1E293B"/>
                    </a:solidFill>
                    <a:latin typeface="Calibri"/>
                  </a:rPr>
                  <a:t> có thể nhận một giá trị tuỳ ý từ </a:t>
                </a:r>
                <a14:m>
                  <m:oMath xmlns:m="http://schemas.openxmlformats.org/officeDocument/2006/math">
                    <m:sSup>
                      <m:e>
                        <m:r>
                          <a:rPr lang="vi-VN" sz="2000" b="0">
                            <a:solidFill>
                              <a:srgbClr val="1E293B"/>
                            </a:solidFill>
                            <a:latin typeface="Cambria Math" panose="02040503050406030204" pitchFamily="18" charset="0"/>
                          </a:rPr>
                          <m:t>0</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đến </a:t>
                </a:r>
                <a14:m>
                  <m:oMath xmlns:m="http://schemas.openxmlformats.org/officeDocument/2006/math">
                    <m:sSup>
                      <m:e>
                        <m:r>
                          <a:rPr lang="vi-VN" sz="2000" b="0">
                            <a:solidFill>
                              <a:srgbClr val="1E293B"/>
                            </a:solidFill>
                            <a:latin typeface="Cambria Math" panose="02040503050406030204" pitchFamily="18" charset="0"/>
                          </a:rPr>
                          <m:t>180</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Nếu </a:t>
                </a:r>
                <a14:m>
                  <m:oMath xmlns:m="http://schemas.openxmlformats.org/officeDocument/2006/math">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u</m:t>
                        </m:r>
                      </m:e>
                    </m:acc>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acc>
                      <m:accPr>
                        <m:chr m:val="⃗"/>
                      </m:accPr>
                      <m:e>
                        <m:r>
                          <a:rPr lang="vi-VN" sz="2000" b="0">
                            <a:solidFill>
                              <a:srgbClr val="1E293B"/>
                            </a:solidFill>
                            <a:latin typeface="Cambria Math" panose="02040503050406030204" pitchFamily="18" charset="0"/>
                          </a:rPr>
                          <m:t>v</m:t>
                        </m:r>
                      </m:e>
                    </m:acc>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90</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thì ta nói rằng </a:t>
                </a:r>
                <a14:m>
                  <m:oMath xmlns:m="http://schemas.openxmlformats.org/officeDocument/2006/math">
                    <m:acc>
                      <m:accPr>
                        <m:chr m:val="⃗"/>
                      </m:accPr>
                      <m:e>
                        <m:r>
                          <a:rPr lang="vi-VN" sz="2000" b="0">
                            <a:solidFill>
                              <a:srgbClr val="1E293B"/>
                            </a:solidFill>
                            <a:latin typeface="Cambria Math" panose="02040503050406030204" pitchFamily="18" charset="0"/>
                          </a:rPr>
                          <m:t>u</m:t>
                        </m:r>
                      </m:e>
                    </m:acc>
                  </m:oMath>
                </a14:m>
                <a:r>
                  <a:rPr sz="2000">
                    <a:solidFill>
                      <a:srgbClr val="1E293B"/>
                    </a:solidFill>
                    <a:latin typeface="Calibri"/>
                  </a:rPr>
                  <a:t> và </a:t>
                </a:r>
                <a14:m>
                  <m:oMath xmlns:m="http://schemas.openxmlformats.org/officeDocument/2006/math">
                    <m:acc>
                      <m:accPr>
                        <m:chr m:val="⃗"/>
                      </m:accPr>
                      <m:e>
                        <m:r>
                          <a:rPr lang="vi-VN" sz="2000" b="0">
                            <a:solidFill>
                              <a:srgbClr val="1E293B"/>
                            </a:solidFill>
                            <a:latin typeface="Cambria Math" panose="02040503050406030204" pitchFamily="18" charset="0"/>
                          </a:rPr>
                          <m:t>v</m:t>
                        </m:r>
                      </m:e>
                    </m:acc>
                  </m:oMath>
                </a14:m>
                <a:r>
                  <a:rPr sz="2000">
                    <a:solidFill>
                      <a:srgbClr val="1E293B"/>
                    </a:solidFill>
                    <a:latin typeface="Calibri"/>
                  </a:rPr>
                  <a:t> </a:t>
                </a:r>
                <a:r>
                  <a:rPr sz="2000" b="1">
                    <a:solidFill>
                      <a:srgbClr val="1E293B"/>
                    </a:solidFill>
                    <a:latin typeface="Calibri"/>
                  </a:rPr>
                  <a:t>vuông góc</a:t>
                </a:r>
                <a:r>
                  <a:rPr sz="2000">
                    <a:solidFill>
                      <a:srgbClr val="1E293B"/>
                    </a:solidFill>
                    <a:latin typeface="Calibri"/>
                  </a:rPr>
                  <a:t> với nhau, kí hiệu là </a:t>
                </a:r>
                <a14:m>
                  <m:oMath xmlns:m="http://schemas.openxmlformats.org/officeDocument/2006/math">
                    <m:acc>
                      <m:accPr>
                        <m:chr m:val="⃗"/>
                      </m:accPr>
                      <m:e>
                        <m:r>
                          <a:rPr lang="vi-VN" sz="2000" b="0">
                            <a:solidFill>
                              <a:srgbClr val="1E293B"/>
                            </a:solidFill>
                            <a:latin typeface="Cambria Math" panose="02040503050406030204" pitchFamily="18" charset="0"/>
                          </a:rPr>
                          <m:t>u</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v</m:t>
                        </m:r>
                      </m:e>
                    </m:acc>
                  </m:oMath>
                </a14:m>
                <a:r>
                  <a:rPr sz="2000">
                    <a:solidFill>
                      <a:srgbClr val="1E293B"/>
                    </a:solidFill>
                    <a:latin typeface="Calibri"/>
                  </a:rPr>
                  <a:t> hoặc </a:t>
                </a:r>
                <a14:m>
                  <m:oMath xmlns:m="http://schemas.openxmlformats.org/officeDocument/2006/math">
                    <m:acc>
                      <m:accPr>
                        <m:chr m:val="⃗"/>
                      </m:accPr>
                      <m:e>
                        <m:r>
                          <a:rPr lang="vi-VN" sz="2000" b="0">
                            <a:solidFill>
                              <a:srgbClr val="1E293B"/>
                            </a:solidFill>
                            <a:latin typeface="Cambria Math" panose="02040503050406030204" pitchFamily="18" charset="0"/>
                          </a:rPr>
                          <m:t>v</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u</m:t>
                        </m:r>
                      </m:e>
                    </m:acc>
                  </m:oMath>
                </a14:m>
                <a:r>
                  <a:rPr sz="2000">
                    <a:solidFill>
                      <a:srgbClr val="1E293B"/>
                    </a:solidFill>
                    <a:latin typeface="Calibri"/>
                  </a:rPr>
                  <a:t>.</a:t>
                </a:r>
              </a:p>
            </p:txBody>
          </p:sp>
        </mc:Choice>
        <mc:Fallback>
          <p:sp>
            <p:nvSpPr>
              <p:cNvPr id="9" name="TextBox 8"/>
              <p:cNvSpPr txBox="1"/>
              <p:nvPr/>
            </p:nvSpPr>
            <p:spPr>
              <a:xfrm>
                <a:off x="548640" y="2947416"/>
                <a:ext cx="841248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Chú ý.</a:t>
                </a:r>
                <a:r>
                  <a:rPr sz="2000">
                    <a:solidFill>
                      <a:srgbClr val="1E293B"/>
                    </a:solidFill>
                    <a:latin typeface="Calibri"/>
                  </a:rPr>
                  <a:t> Quy ước rằng góc giữa hai vectơ </a:t>
                </a:r>
                <a:r>
                  <a:rPr lang="vi-VN"/>
                  <a:t>\vec{u}</a:t>
                </a:r>
                <a:r>
                  <a:rPr sz="2000">
                    <a:solidFill>
                      <a:srgbClr val="1E293B"/>
                    </a:solidFill>
                    <a:latin typeface="Calibri"/>
                  </a:rPr>
                  <a:t> và </a:t>
                </a:r>
                <a:r>
                  <a:rPr lang="vi-VN"/>
                  <a:t>\vec{0}</a:t>
                </a:r>
                <a:r>
                  <a:rPr sz="2000">
                    <a:solidFill>
                      <a:srgbClr val="1E293B"/>
                    </a:solidFill>
                    <a:latin typeface="Calibri"/>
                  </a:rPr>
                  <a:t> có thể nhận một giá trị tuỳ ý từ </a:t>
                </a:r>
                <a:r>
                  <a:rPr lang="vi-VN"/>
                  <a:t>0^\circ</a:t>
                </a:r>
                <a:r>
                  <a:rPr sz="2000">
                    <a:solidFill>
                      <a:srgbClr val="1E293B"/>
                    </a:solidFill>
                    <a:latin typeface="Calibri"/>
                  </a:rPr>
                  <a:t> đến </a:t>
                </a:r>
                <a:r>
                  <a:rPr lang="vi-VN"/>
                  <a:t>180^\circ</a:t>
                </a:r>
                <a:r>
                  <a:rPr sz="2000">
                    <a:solidFill>
                      <a:srgbClr val="1E293B"/>
                    </a:solidFill>
                    <a:latin typeface="Calibri"/>
                  </a:rPr>
                  <a:t>. Nếu </a:t>
                </a:r>
                <a:r>
                  <a:rPr lang="vi-VN"/>
                  <a:t>(\vec{u},\ \vec{v})=90^\circ</a:t>
                </a:r>
                <a:r>
                  <a:rPr sz="2000">
                    <a:solidFill>
                      <a:srgbClr val="1E293B"/>
                    </a:solidFill>
                    <a:latin typeface="Calibri"/>
                  </a:rPr>
                  <a:t> thì ta nói rằng </a:t>
                </a:r>
                <a:r>
                  <a:rPr lang="vi-VN"/>
                  <a:t>\vec{u}</a:t>
                </a:r>
                <a:r>
                  <a:rPr sz="2000">
                    <a:solidFill>
                      <a:srgbClr val="1E293B"/>
                    </a:solidFill>
                    <a:latin typeface="Calibri"/>
                  </a:rPr>
                  <a:t> và </a:t>
                </a:r>
                <a:r>
                  <a:rPr lang="vi-VN"/>
                  <a:t>\vec{v}</a:t>
                </a:r>
                <a:r>
                  <a:rPr sz="2000">
                    <a:solidFill>
                      <a:srgbClr val="1E293B"/>
                    </a:solidFill>
                    <a:latin typeface="Calibri"/>
                  </a:rPr>
                  <a:t> </a:t>
                </a:r>
                <a:r>
                  <a:rPr sz="2000" b="1">
                    <a:solidFill>
                      <a:srgbClr val="1E293B"/>
                    </a:solidFill>
                    <a:latin typeface="Calibri"/>
                  </a:rPr>
                  <a:t>vuông góc</a:t>
                </a:r>
                <a:r>
                  <a:rPr sz="2000">
                    <a:solidFill>
                      <a:srgbClr val="1E293B"/>
                    </a:solidFill>
                    <a:latin typeface="Calibri"/>
                  </a:rPr>
                  <a:t> với nhau, kí hiệu là </a:t>
                </a:r>
                <a:r>
                  <a:rPr lang="vi-VN"/>
                  <a:t>\vec{u}\perp\vec{v}</a:t>
                </a:r>
                <a:r>
                  <a:rPr sz="2000">
                    <a:solidFill>
                      <a:srgbClr val="1E293B"/>
                    </a:solidFill>
                    <a:latin typeface="Calibri"/>
                  </a:rPr>
                  <a:t> hoặc </a:t>
                </a:r>
                <a:r>
                  <a:rPr lang="vi-VN"/>
                  <a:t>\vec{v}\perp\vec{u}</a:t>
                </a:r>
                <a:r>
                  <a:rPr sz="20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4126992"/>
                <a:ext cx="8412480" cy="478536"/>
              </a:xfrm>
              <a:prstGeom prst="rect">
                <a:avLst/>
              </a:prstGeom>
              <a:noFill/>
            </p:spPr>
            <p:txBody>
              <a:bodyPr wrap="square" anchor="t" lIns="45720" rIns="45720">
                <a:spAutoFit/>
              </a:bodyPr>
              <a:lstStyle/>
              <a:p>
                <a:pPr algn="l">
                  <a:spcAft>
                    <a:spcPts val="800"/>
                  </a:spcAft>
                </a:pPr>
                <a:r>
                  <a:rPr sz="2000">
                    <a:solidFill>
                      <a:srgbClr val="1E293B"/>
                    </a:solidFill>
                    <a:latin typeface="Calibri"/>
                  </a:rPr>
                  <a:t>❓ Khi nào thì góc giữa hai vectơ bằng </a:t>
                </a:r>
                <a14:m>
                  <m:oMath xmlns:m="http://schemas.openxmlformats.org/officeDocument/2006/math">
                    <m:sSup>
                      <m:e>
                        <m:r>
                          <a:rPr lang="vi-VN" sz="2000" b="0">
                            <a:solidFill>
                              <a:srgbClr val="1E293B"/>
                            </a:solidFill>
                            <a:latin typeface="Cambria Math" panose="02040503050406030204" pitchFamily="18" charset="0"/>
                          </a:rPr>
                          <m:t>0</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bằng </a:t>
                </a:r>
                <a14:m>
                  <m:oMath xmlns:m="http://schemas.openxmlformats.org/officeDocument/2006/math">
                    <m:sSup>
                      <m:e>
                        <m:r>
                          <a:rPr lang="vi-VN" sz="2000" b="0">
                            <a:solidFill>
                              <a:srgbClr val="1E293B"/>
                            </a:solidFill>
                            <a:latin typeface="Cambria Math" panose="02040503050406030204" pitchFamily="18" charset="0"/>
                          </a:rPr>
                          <m:t>180</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a:t>
                </a:r>
              </a:p>
            </p:txBody>
          </p:sp>
        </mc:Choice>
        <mc:Fallback>
          <p:sp>
            <p:nvSpPr>
              <p:cNvPr id="10" name="TextBox 9"/>
              <p:cNvSpPr txBox="1"/>
              <p:nvPr/>
            </p:nvSpPr>
            <p:spPr>
              <a:xfrm>
                <a:off x="548640" y="4126992"/>
                <a:ext cx="8412480" cy="478536"/>
              </a:xfrm>
              <a:prstGeom prst="rect">
                <a:avLst/>
              </a:prstGeom>
              <a:noFill/>
            </p:spPr>
            <p:txBody>
              <a:bodyPr wrap="square" anchor="t" lIns="45720" rIns="45720">
                <a:spAutoFit/>
              </a:bodyPr>
              <a:lstStyle/>
              <a:p>
                <a:pPr algn="l">
                  <a:spcAft>
                    <a:spcPts val="800"/>
                  </a:spcAft>
                </a:pPr>
                <a:r>
                  <a:rPr sz="2000">
                    <a:solidFill>
                      <a:srgbClr val="1E293B"/>
                    </a:solidFill>
                    <a:latin typeface="Calibri"/>
                  </a:rPr>
                  <a:t>❓ Khi nào thì góc giữa hai vectơ bằng </a:t>
                </a:r>
                <a:r>
                  <a:rPr lang="vi-VN"/>
                  <a:t>0^\circ</a:t>
                </a:r>
                <a:r>
                  <a:rPr sz="2000">
                    <a:solidFill>
                      <a:srgbClr val="1E293B"/>
                    </a:solidFill>
                    <a:latin typeface="Calibri"/>
                  </a:rPr>
                  <a:t>, bằng </a:t>
                </a:r>
                <a:r>
                  <a:rPr lang="vi-VN"/>
                  <a:t>180^\circ</a:t>
                </a:r>
                <a:r>
                  <a:rPr sz="2000">
                    <a:solidFill>
                      <a:srgbClr val="1E293B"/>
                    </a:solidFill>
                    <a:latin typeface="Calibri"/>
                  </a:rPr>
                  <a:t>?</a:t>
                </a:r>
              </a:p>
            </p:txBody>
          </p:sp>
        </mc:Fallback>
      </mc:AlternateContent>
      <p:sp>
        <p:nvSpPr>
          <p:cNvPr id="11" name="s3_nen"/>
          <p:cNvSpPr/>
          <p:nvPr/>
        </p:nvSpPr>
        <p:spPr>
          <a:xfrm>
            <a:off x="548640" y="4696968"/>
            <a:ext cx="841248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733544"/>
                <a:ext cx="808329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Bằng </a:t>
                </a:r>
                <a14:m>
                  <m:oMath xmlns:m="http://schemas.openxmlformats.org/officeDocument/2006/math">
                    <m:sSup>
                      <m:e>
                        <m:r>
                          <a:rPr lang="vi-VN" sz="2000" b="0">
                            <a:solidFill>
                              <a:srgbClr val="1E293B"/>
                            </a:solidFill>
                            <a:latin typeface="Cambria Math" panose="02040503050406030204" pitchFamily="18" charset="0"/>
                          </a:rPr>
                          <m:t>0</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khi hai vectơ cùng hướng; bằng </a:t>
                </a:r>
                <a14:m>
                  <m:oMath xmlns:m="http://schemas.openxmlformats.org/officeDocument/2006/math">
                    <m:sSup>
                      <m:e>
                        <m:r>
                          <a:rPr lang="vi-VN" sz="2000" b="0">
                            <a:solidFill>
                              <a:srgbClr val="1E293B"/>
                            </a:solidFill>
                            <a:latin typeface="Cambria Math" panose="02040503050406030204" pitchFamily="18" charset="0"/>
                          </a:rPr>
                          <m:t>180</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khi hai vectơ ngược hướng.</a:t>
                </a:r>
              </a:p>
            </p:txBody>
          </p:sp>
        </mc:Choice>
        <mc:Fallback>
          <p:sp>
            <p:nvSpPr>
              <p:cNvPr id="12" name="TextBox 11"/>
              <p:cNvSpPr txBox="1"/>
              <p:nvPr/>
            </p:nvSpPr>
            <p:spPr>
              <a:xfrm>
                <a:off x="713232" y="4733544"/>
                <a:ext cx="808329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Bằng </a:t>
                </a:r>
                <a:r>
                  <a:rPr lang="vi-VN"/>
                  <a:t>0^\circ</a:t>
                </a:r>
                <a:r>
                  <a:rPr sz="2000">
                    <a:solidFill>
                      <a:srgbClr val="1E293B"/>
                    </a:solidFill>
                    <a:latin typeface="Calibri"/>
                  </a:rPr>
                  <a:t> khi hai vectơ cùng hướng; bằng </a:t>
                </a:r>
                <a:r>
                  <a:rPr lang="vi-VN"/>
                  <a:t>180^\circ</a:t>
                </a:r>
                <a:r>
                  <a:rPr sz="2000">
                    <a:solidFill>
                      <a:srgbClr val="1E293B"/>
                    </a:solidFill>
                    <a:latin typeface="Calibri"/>
                  </a:rPr>
                  <a:t> khi hai vectơ ngược hướng.</a:t>
                </a:r>
              </a:p>
            </p:txBody>
          </p:sp>
        </mc:Fallback>
      </mc:AlternateContent>
      <p:pic>
        <p:nvPicPr>
          <p:cNvPr id="13" name="Picture 12" descr="h440.png"/>
          <p:cNvPicPr>
            <a:picLocks noChangeAspect="1"/>
          </p:cNvPicPr>
          <p:nvPr/>
        </p:nvPicPr>
        <p:blipFill>
          <a:blip r:embed="rId3"/>
          <a:stretch>
            <a:fillRect/>
          </a:stretch>
        </p:blipFill>
        <p:spPr>
          <a:xfrm>
            <a:off x="9160920" y="1463040"/>
            <a:ext cx="2526480" cy="2651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1 – LUYỆN TẬP 1 (SGK TR.66)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8</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694944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1.</a:t>
                </a:r>
                <a:r>
                  <a:rPr sz="2100">
                    <a:solidFill>
                      <a:srgbClr val="1E293B"/>
                    </a:solidFill>
                    <a:latin typeface="Calibri"/>
                  </a:rPr>
                  <a:t> Cho tam giác </a:t>
                </a:r>
                <a14:m>
                  <m:oMath xmlns:m="http://schemas.openxmlformats.org/officeDocument/2006/math">
                    <m:r>
                      <a:rPr lang="vi-VN" sz="2100" b="0">
                        <a:solidFill>
                          <a:srgbClr val="1E293B"/>
                        </a:solidFill>
                        <a:latin typeface="Cambria Math" panose="02040503050406030204" pitchFamily="18" charset="0"/>
                      </a:rPr>
                      <m:t>ABC</m:t>
                    </m:r>
                  </m:oMath>
                </a14:m>
                <a:r>
                  <a:rPr sz="2100">
                    <a:solidFill>
                      <a:srgbClr val="1E293B"/>
                    </a:solidFill>
                    <a:latin typeface="Calibri"/>
                  </a:rPr>
                  <a:t> vuông tại </a:t>
                </a:r>
                <a14:m>
                  <m:oMath xmlns:m="http://schemas.openxmlformats.org/officeDocument/2006/math">
                    <m:r>
                      <a:rPr lang="vi-VN" sz="2100" b="0">
                        <a:solidFill>
                          <a:srgbClr val="1E293B"/>
                        </a:solidFill>
                        <a:latin typeface="Cambria Math" panose="02040503050406030204" pitchFamily="18" charset="0"/>
                      </a:rPr>
                      <m:t>A</m:t>
                    </m:r>
                  </m:oMath>
                </a14:m>
                <a:r>
                  <a:rPr sz="2100">
                    <a:solidFill>
                      <a:srgbClr val="1E293B"/>
                    </a:solidFill>
                    <a:latin typeface="Calibri"/>
                  </a:rPr>
                  <a:t> và </a:t>
                </a:r>
                <a14:m>
                  <m:oMath xmlns:m="http://schemas.openxmlformats.org/officeDocument/2006/math">
                    <m:acc>
                      <m:accPr>
                        <m:chr m:val="̂"/>
                      </m:accPr>
                      <m:e>
                        <m:r>
                          <a:rPr lang="vi-VN" sz="2100" b="0">
                            <a:solidFill>
                              <a:srgbClr val="1E293B"/>
                            </a:solidFill>
                            <a:latin typeface="Cambria Math" panose="02040503050406030204" pitchFamily="18" charset="0"/>
                          </a:rPr>
                          <m:t>B</m:t>
                        </m:r>
                      </m:e>
                    </m:acc>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30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Tính </a:t>
                </a:r>
                <a14:m>
                  <m:oMath xmlns:m="http://schemas.openxmlformats.org/officeDocument/2006/math">
                    <m:d>
                      <m:dPr>
                        <m:sepChr m:val=","/>
                      </m:dPr>
                      <m:e>
                        <m:acc>
                          <m:accPr>
                            <m:chr m:val="⃗"/>
                          </m:accPr>
                          <m:e>
                            <m:r>
                              <a:rPr lang="vi-VN" sz="2100" b="0">
                                <a:solidFill>
                                  <a:srgbClr val="1E293B"/>
                                </a:solidFill>
                                <a:latin typeface="Cambria Math" panose="02040503050406030204" pitchFamily="18" charset="0"/>
                              </a:rPr>
                              <m:t>AB</m:t>
                            </m:r>
                          </m:e>
                        </m:acc>
                      </m:e>
                      <m:e>
                        <m:r>
                          <m:rPr>
                            <m:sty m:val="p"/>
                          </m:rPr>
                          <a:rPr lang="vi-VN" sz="2100" b="0">
                            <a:solidFill>
                              <a:srgbClr val="1E293B"/>
                            </a:solidFill>
                            <a:latin typeface="Cambria Math" panose="02040503050406030204" pitchFamily="18" charset="0"/>
                          </a:rPr>
                          <m:t> </m:t>
                        </m:r>
                        <m:acc>
                          <m:accPr>
                            <m:chr m:val="⃗"/>
                          </m:accPr>
                          <m:e>
                            <m:r>
                              <a:rPr lang="vi-VN" sz="2100" b="0">
                                <a:solidFill>
                                  <a:srgbClr val="1E293B"/>
                                </a:solidFill>
                                <a:latin typeface="Cambria Math" panose="02040503050406030204" pitchFamily="18" charset="0"/>
                              </a:rPr>
                              <m:t>AC</m:t>
                            </m:r>
                          </m:e>
                        </m:acc>
                      </m:e>
                    </m:d>
                  </m:oMath>
                </a14:m>
                <a:r>
                  <a:rPr sz="2100">
                    <a:solidFill>
                      <a:srgbClr val="1E293B"/>
                    </a:solidFill>
                    <a:latin typeface="Calibri"/>
                  </a:rPr>
                  <a:t>, </a:t>
                </a:r>
                <a14:m>
                  <m:oMath xmlns:m="http://schemas.openxmlformats.org/officeDocument/2006/math">
                    <m:d>
                      <m:dPr>
                        <m:sepChr m:val=","/>
                      </m:dPr>
                      <m:e>
                        <m:acc>
                          <m:accPr>
                            <m:chr m:val="⃗"/>
                          </m:accPr>
                          <m:e>
                            <m:r>
                              <a:rPr lang="vi-VN" sz="2100" b="0">
                                <a:solidFill>
                                  <a:srgbClr val="1E293B"/>
                                </a:solidFill>
                                <a:latin typeface="Cambria Math" panose="02040503050406030204" pitchFamily="18" charset="0"/>
                              </a:rPr>
                              <m:t>CA</m:t>
                            </m:r>
                          </m:e>
                        </m:acc>
                      </m:e>
                      <m:e>
                        <m:r>
                          <m:rPr>
                            <m:sty m:val="p"/>
                          </m:rPr>
                          <a:rPr lang="vi-VN" sz="2100" b="0">
                            <a:solidFill>
                              <a:srgbClr val="1E293B"/>
                            </a:solidFill>
                            <a:latin typeface="Cambria Math" panose="02040503050406030204" pitchFamily="18" charset="0"/>
                          </a:rPr>
                          <m:t> </m:t>
                        </m:r>
                        <m:acc>
                          <m:accPr>
                            <m:chr m:val="⃗"/>
                          </m:accPr>
                          <m:e>
                            <m:r>
                              <a:rPr lang="vi-VN" sz="2100" b="0">
                                <a:solidFill>
                                  <a:srgbClr val="1E293B"/>
                                </a:solidFill>
                                <a:latin typeface="Cambria Math" panose="02040503050406030204" pitchFamily="18" charset="0"/>
                              </a:rPr>
                              <m:t>CB</m:t>
                            </m:r>
                          </m:e>
                        </m:acc>
                      </m:e>
                    </m:d>
                  </m:oMath>
                </a14:m>
                <a:r>
                  <a:rPr sz="2100">
                    <a:solidFill>
                      <a:srgbClr val="1E293B"/>
                    </a:solidFill>
                    <a:latin typeface="Calibri"/>
                  </a:rPr>
                  <a:t>, </a:t>
                </a:r>
                <a14:m>
                  <m:oMath xmlns:m="http://schemas.openxmlformats.org/officeDocument/2006/math">
                    <m:d>
                      <m:dPr>
                        <m:sepChr m:val=","/>
                      </m:dPr>
                      <m:e>
                        <m:acc>
                          <m:accPr>
                            <m:chr m:val="⃗"/>
                          </m:accPr>
                          <m:e>
                            <m:r>
                              <a:rPr lang="vi-VN" sz="2100" b="0">
                                <a:solidFill>
                                  <a:srgbClr val="1E293B"/>
                                </a:solidFill>
                                <a:latin typeface="Cambria Math" panose="02040503050406030204" pitchFamily="18" charset="0"/>
                              </a:rPr>
                              <m:t>AB</m:t>
                            </m:r>
                          </m:e>
                        </m:acc>
                      </m:e>
                      <m:e>
                        <m:r>
                          <m:rPr>
                            <m:sty m:val="p"/>
                          </m:rPr>
                          <a:rPr lang="vi-VN" sz="2100" b="0">
                            <a:solidFill>
                              <a:srgbClr val="1E293B"/>
                            </a:solidFill>
                            <a:latin typeface="Cambria Math" panose="02040503050406030204" pitchFamily="18" charset="0"/>
                          </a:rPr>
                          <m:t> </m:t>
                        </m:r>
                        <m:acc>
                          <m:accPr>
                            <m:chr m:val="⃗"/>
                          </m:accPr>
                          <m:e>
                            <m:r>
                              <a:rPr lang="vi-VN" sz="2100" b="0">
                                <a:solidFill>
                                  <a:srgbClr val="1E293B"/>
                                </a:solidFill>
                                <a:latin typeface="Cambria Math" panose="02040503050406030204" pitchFamily="18" charset="0"/>
                              </a:rPr>
                              <m:t>BC</m:t>
                            </m:r>
                          </m:e>
                        </m:acc>
                      </m:e>
                    </m:d>
                  </m:oMath>
                </a14:m>
                <a:r>
                  <a:rPr sz="2100">
                    <a:solidFill>
                      <a:srgbClr val="1E293B"/>
                    </a:solidFill>
                    <a:latin typeface="Calibri"/>
                  </a:rPr>
                  <a:t>.</a:t>
                </a:r>
              </a:p>
            </p:txBody>
          </p:sp>
        </mc:Choice>
        <mc:Fallback>
          <p:sp>
            <p:nvSpPr>
              <p:cNvPr id="7" name="TextBox 6"/>
              <p:cNvSpPr txBox="1"/>
              <p:nvPr/>
            </p:nvSpPr>
            <p:spPr>
              <a:xfrm>
                <a:off x="548640" y="1371600"/>
                <a:ext cx="694944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1.</a:t>
                </a:r>
                <a:r>
                  <a:rPr sz="2100">
                    <a:solidFill>
                      <a:srgbClr val="1E293B"/>
                    </a:solidFill>
                    <a:latin typeface="Calibri"/>
                  </a:rPr>
                  <a:t> Cho tam giác </a:t>
                </a:r>
                <a:r>
                  <a:rPr lang="vi-VN"/>
                  <a:t>ABC</a:t>
                </a:r>
                <a:r>
                  <a:rPr sz="2100">
                    <a:solidFill>
                      <a:srgbClr val="1E293B"/>
                    </a:solidFill>
                    <a:latin typeface="Calibri"/>
                  </a:rPr>
                  <a:t> vuông tại </a:t>
                </a:r>
                <a:r>
                  <a:rPr lang="vi-VN"/>
                  <a:t>A</a:t>
                </a:r>
                <a:r>
                  <a:rPr sz="2100">
                    <a:solidFill>
                      <a:srgbClr val="1E293B"/>
                    </a:solidFill>
                    <a:latin typeface="Calibri"/>
                  </a:rPr>
                  <a:t> và </a:t>
                </a:r>
                <a:r>
                  <a:rPr lang="vi-VN"/>
                  <a:t>\widehat{B}=30^\circ</a:t>
                </a:r>
                <a:r>
                  <a:rPr sz="2100">
                    <a:solidFill>
                      <a:srgbClr val="1E293B"/>
                    </a:solidFill>
                    <a:latin typeface="Calibri"/>
                  </a:rPr>
                  <a:t>. Tính </a:t>
                </a:r>
                <a:r>
                  <a:rPr lang="vi-VN"/>
                  <a:t>\left(\overrightarrow{AB},\ \overrightarrow{AC}\right)</a:t>
                </a:r>
                <a:r>
                  <a:rPr sz="2100">
                    <a:solidFill>
                      <a:srgbClr val="1E293B"/>
                    </a:solidFill>
                    <a:latin typeface="Calibri"/>
                  </a:rPr>
                  <a:t>, </a:t>
                </a:r>
                <a:r>
                  <a:rPr lang="vi-VN"/>
                  <a:t>\left(\overrightarrow{CA},\ \overrightarrow{CB}\right)</a:t>
                </a:r>
                <a:r>
                  <a:rPr sz="2100">
                    <a:solidFill>
                      <a:srgbClr val="1E293B"/>
                    </a:solidFill>
                    <a:latin typeface="Calibri"/>
                  </a:rPr>
                  <a:t>, </a:t>
                </a:r>
                <a:r>
                  <a:rPr lang="vi-VN"/>
                  <a:t>\left(\overrightarrow{AB},\ \overrightarrow{BC}\right)</a:t>
                </a:r>
                <a:r>
                  <a:rPr sz="2100">
                    <a:solidFill>
                      <a:srgbClr val="1E293B"/>
                    </a:solidFill>
                    <a:latin typeface="Calibri"/>
                  </a:rPr>
                  <a:t>.</a:t>
                </a:r>
              </a:p>
            </p:txBody>
          </p:sp>
        </mc:Fallback>
      </mc:AlternateContent>
      <p:sp>
        <p:nvSpPr>
          <p:cNvPr id="8" name="s1_nen"/>
          <p:cNvSpPr/>
          <p:nvPr/>
        </p:nvSpPr>
        <p:spPr>
          <a:xfrm>
            <a:off x="548640" y="2295144"/>
            <a:ext cx="694944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331720"/>
                <a:ext cx="6620255"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d>
                      <m:dPr>
                        <m:sepChr m:val=","/>
                      </m:dPr>
                      <m:e>
                        <m:acc>
                          <m:accPr>
                            <m:chr m:val="⃗"/>
                          </m:accPr>
                          <m:e>
                            <m:r>
                              <a:rPr lang="vi-VN" sz="2100" b="0">
                                <a:solidFill>
                                  <a:srgbClr val="1E293B"/>
                                </a:solidFill>
                                <a:latin typeface="Cambria Math" panose="02040503050406030204" pitchFamily="18" charset="0"/>
                              </a:rPr>
                              <m:t>AB</m:t>
                            </m:r>
                          </m:e>
                        </m:acc>
                      </m:e>
                      <m:e>
                        <m:r>
                          <m:rPr>
                            <m:sty m:val="p"/>
                          </m:rPr>
                          <a:rPr lang="vi-VN" sz="2100" b="0">
                            <a:solidFill>
                              <a:srgbClr val="1E293B"/>
                            </a:solidFill>
                            <a:latin typeface="Cambria Math" panose="02040503050406030204" pitchFamily="18" charset="0"/>
                          </a:rPr>
                          <m:t> </m:t>
                        </m:r>
                        <m:acc>
                          <m:accPr>
                            <m:chr m:val="⃗"/>
                          </m:accPr>
                          <m:e>
                            <m:r>
                              <a:rPr lang="vi-VN" sz="2100" b="0">
                                <a:solidFill>
                                  <a:srgbClr val="1E293B"/>
                                </a:solidFill>
                                <a:latin typeface="Cambria Math" panose="02040503050406030204" pitchFamily="18" charset="0"/>
                              </a:rPr>
                              <m:t>AC</m:t>
                            </m:r>
                          </m:e>
                        </m:acc>
                      </m:e>
                    </m:d>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BAC</m:t>
                        </m:r>
                      </m:e>
                    </m:acc>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90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a:t>
                </a:r>
                <a14:m>
                  <m:oMath xmlns:m="http://schemas.openxmlformats.org/officeDocument/2006/math">
                    <m:d>
                      <m:dPr>
                        <m:sepChr m:val=","/>
                      </m:dPr>
                      <m:e>
                        <m:acc>
                          <m:accPr>
                            <m:chr m:val="⃗"/>
                          </m:accPr>
                          <m:e>
                            <m:r>
                              <a:rPr lang="vi-VN" sz="2100" b="0">
                                <a:solidFill>
                                  <a:srgbClr val="1E293B"/>
                                </a:solidFill>
                                <a:latin typeface="Cambria Math" panose="02040503050406030204" pitchFamily="18" charset="0"/>
                              </a:rPr>
                              <m:t>CA</m:t>
                            </m:r>
                          </m:e>
                        </m:acc>
                      </m:e>
                      <m:e>
                        <m:r>
                          <m:rPr>
                            <m:sty m:val="p"/>
                          </m:rPr>
                          <a:rPr lang="vi-VN" sz="2100" b="0">
                            <a:solidFill>
                              <a:srgbClr val="1E293B"/>
                            </a:solidFill>
                            <a:latin typeface="Cambria Math" panose="02040503050406030204" pitchFamily="18" charset="0"/>
                          </a:rPr>
                          <m:t> </m:t>
                        </m:r>
                        <m:acc>
                          <m:accPr>
                            <m:chr m:val="⃗"/>
                          </m:accPr>
                          <m:e>
                            <m:r>
                              <a:rPr lang="vi-VN" sz="2100" b="0">
                                <a:solidFill>
                                  <a:srgbClr val="1E293B"/>
                                </a:solidFill>
                                <a:latin typeface="Cambria Math" panose="02040503050406030204" pitchFamily="18" charset="0"/>
                              </a:rPr>
                              <m:t>CB</m:t>
                            </m:r>
                          </m:e>
                        </m:acc>
                      </m:e>
                    </m:d>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ACB</m:t>
                        </m:r>
                      </m:e>
                    </m:acc>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60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a:t>
                </a:r>
                <a14:m>
                  <m:oMath xmlns:m="http://schemas.openxmlformats.org/officeDocument/2006/math">
                    <m:d>
                      <m:dPr>
                        <m:sepChr m:val=","/>
                      </m:dPr>
                      <m:e>
                        <m:acc>
                          <m:accPr>
                            <m:chr m:val="⃗"/>
                          </m:accPr>
                          <m:e>
                            <m:r>
                              <a:rPr lang="vi-VN" sz="2100" b="0">
                                <a:solidFill>
                                  <a:srgbClr val="1E293B"/>
                                </a:solidFill>
                                <a:latin typeface="Cambria Math" panose="02040503050406030204" pitchFamily="18" charset="0"/>
                              </a:rPr>
                              <m:t>AB</m:t>
                            </m:r>
                          </m:e>
                        </m:acc>
                      </m:e>
                      <m:e>
                        <m:r>
                          <m:rPr>
                            <m:sty m:val="p"/>
                          </m:rPr>
                          <a:rPr lang="vi-VN" sz="2100" b="0">
                            <a:solidFill>
                              <a:srgbClr val="1E293B"/>
                            </a:solidFill>
                            <a:latin typeface="Cambria Math" panose="02040503050406030204" pitchFamily="18" charset="0"/>
                          </a:rPr>
                          <m:t> </m:t>
                        </m:r>
                        <m:acc>
                          <m:accPr>
                            <m:chr m:val="⃗"/>
                          </m:accPr>
                          <m:e>
                            <m:r>
                              <a:rPr lang="vi-VN" sz="2100" b="0">
                                <a:solidFill>
                                  <a:srgbClr val="1E293B"/>
                                </a:solidFill>
                                <a:latin typeface="Cambria Math" panose="02040503050406030204" pitchFamily="18" charset="0"/>
                              </a:rPr>
                              <m:t>BC</m:t>
                            </m:r>
                          </m:e>
                        </m:acc>
                      </m:e>
                    </m:d>
                  </m:oMath>
                </a14:m>
                <a:r>
                  <a:rPr sz="2100">
                    <a:solidFill>
                      <a:srgbClr val="1E293B"/>
                    </a:solidFill>
                    <a:latin typeface="Calibri"/>
                  </a:rPr>
                  <a:t> = </a:t>
                </a:r>
                <a14:m>
                  <m:oMath xmlns:m="http://schemas.openxmlformats.org/officeDocument/2006/math">
                    <m:d>
                      <m:dPr>
                        <m:sepChr m:val=","/>
                      </m:dPr>
                      <m:e>
                        <m:acc>
                          <m:accPr>
                            <m:chr m:val="⃗"/>
                          </m:accPr>
                          <m:e>
                            <m:r>
                              <a:rPr lang="vi-VN" sz="2100" b="0">
                                <a:solidFill>
                                  <a:srgbClr val="1E293B"/>
                                </a:solidFill>
                                <a:latin typeface="Cambria Math" panose="02040503050406030204" pitchFamily="18" charset="0"/>
                              </a:rPr>
                              <m:t>BD</m:t>
                            </m:r>
                          </m:e>
                        </m:acc>
                      </m:e>
                      <m:e>
                        <m:r>
                          <m:rPr>
                            <m:sty m:val="p"/>
                          </m:rPr>
                          <a:rPr lang="vi-VN" sz="2100" b="0">
                            <a:solidFill>
                              <a:srgbClr val="1E293B"/>
                            </a:solidFill>
                            <a:latin typeface="Cambria Math" panose="02040503050406030204" pitchFamily="18" charset="0"/>
                          </a:rPr>
                          <m:t> </m:t>
                        </m:r>
                        <m:acc>
                          <m:accPr>
                            <m:chr m:val="⃗"/>
                          </m:accPr>
                          <m:e>
                            <m:r>
                              <a:rPr lang="vi-VN" sz="2100" b="0">
                                <a:solidFill>
                                  <a:srgbClr val="1E293B"/>
                                </a:solidFill>
                                <a:latin typeface="Cambria Math" panose="02040503050406030204" pitchFamily="18" charset="0"/>
                              </a:rPr>
                              <m:t>BC</m:t>
                            </m:r>
                          </m:e>
                        </m:acc>
                      </m:e>
                    </m:d>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DBC</m:t>
                        </m:r>
                      </m:e>
                    </m:acc>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150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(H.4.41).</a:t>
                </a:r>
              </a:p>
            </p:txBody>
          </p:sp>
        </mc:Choice>
        <mc:Fallback>
          <p:sp>
            <p:nvSpPr>
              <p:cNvPr id="9" name="TextBox 8"/>
              <p:cNvSpPr txBox="1"/>
              <p:nvPr/>
            </p:nvSpPr>
            <p:spPr>
              <a:xfrm>
                <a:off x="713232" y="2331720"/>
                <a:ext cx="6620255"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\left(\overrightarrow{AB},\ \overrightarrow{AC}\right)</a:t>
                </a:r>
                <a:r>
                  <a:rPr sz="2100">
                    <a:solidFill>
                      <a:srgbClr val="1E293B"/>
                    </a:solidFill>
                    <a:latin typeface="Calibri"/>
                  </a:rPr>
                  <a:t> = </a:t>
                </a:r>
                <a:r>
                  <a:rPr lang="vi-VN"/>
                  <a:t>\widehat{BAC}=90^\circ</a:t>
                </a:r>
                <a:r>
                  <a:rPr sz="2100">
                    <a:solidFill>
                      <a:srgbClr val="1E293B"/>
                    </a:solidFill>
                    <a:latin typeface="Calibri"/>
                  </a:rPr>
                  <a:t>, </a:t>
                </a:r>
                <a:r>
                  <a:rPr lang="vi-VN"/>
                  <a:t>\left(\overrightarrow{CA},\ \overrightarrow{CB}\right)</a:t>
                </a:r>
                <a:r>
                  <a:rPr sz="2100">
                    <a:solidFill>
                      <a:srgbClr val="1E293B"/>
                    </a:solidFill>
                    <a:latin typeface="Calibri"/>
                  </a:rPr>
                  <a:t> = </a:t>
                </a:r>
                <a:r>
                  <a:rPr lang="vi-VN"/>
                  <a:t>\widehat{ACB}=60^\circ</a:t>
                </a:r>
                <a:r>
                  <a:rPr sz="2100">
                    <a:solidFill>
                      <a:srgbClr val="1E293B"/>
                    </a:solidFill>
                    <a:latin typeface="Calibri"/>
                  </a:rPr>
                  <a:t>, </a:t>
                </a:r>
                <a:r>
                  <a:rPr lang="vi-VN"/>
                  <a:t>\left(\overrightarrow{AB},\ \overrightarrow{BC}\right)</a:t>
                </a:r>
                <a:r>
                  <a:rPr sz="2100">
                    <a:solidFill>
                      <a:srgbClr val="1E293B"/>
                    </a:solidFill>
                    <a:latin typeface="Calibri"/>
                  </a:rPr>
                  <a:t> = </a:t>
                </a:r>
                <a:r>
                  <a:rPr lang="vi-VN"/>
                  <a:t>\left(\overrightarrow{BD},\ \overrightarrow{BC}\right)</a:t>
                </a:r>
                <a:r>
                  <a:rPr sz="2100">
                    <a:solidFill>
                      <a:srgbClr val="1E293B"/>
                    </a:solidFill>
                    <a:latin typeface="Calibri"/>
                  </a:rPr>
                  <a:t> = </a:t>
                </a:r>
                <a:r>
                  <a:rPr lang="vi-VN"/>
                  <a:t>\widehat{DBC}=150^\circ</a:t>
                </a:r>
                <a:r>
                  <a:rPr sz="2100">
                    <a:solidFill>
                      <a:srgbClr val="1E293B"/>
                    </a:solidFill>
                    <a:latin typeface="Calibri"/>
                  </a:rPr>
                  <a:t> (H.4.41).</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310127"/>
                <a:ext cx="6949440" cy="49377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1.</a:t>
                </a:r>
                <a:r>
                  <a:rPr sz="2100">
                    <a:solidFill>
                      <a:srgbClr val="1E293B"/>
                    </a:solidFill>
                    <a:latin typeface="Calibri"/>
                  </a:rPr>
                  <a:t> Cho tam giác đều </a:t>
                </a:r>
                <a14:m>
                  <m:oMath xmlns:m="http://schemas.openxmlformats.org/officeDocument/2006/math">
                    <m:r>
                      <a:rPr lang="vi-VN" sz="2100" b="0">
                        <a:solidFill>
                          <a:srgbClr val="1E293B"/>
                        </a:solidFill>
                        <a:latin typeface="Cambria Math" panose="02040503050406030204" pitchFamily="18" charset="0"/>
                      </a:rPr>
                      <m:t>ABC</m:t>
                    </m:r>
                  </m:oMath>
                </a14:m>
                <a:r>
                  <a:rPr sz="2100">
                    <a:solidFill>
                      <a:srgbClr val="1E293B"/>
                    </a:solidFill>
                    <a:latin typeface="Calibri"/>
                  </a:rPr>
                  <a:t>. Tính </a:t>
                </a:r>
                <a14:m>
                  <m:oMath xmlns:m="http://schemas.openxmlformats.org/officeDocument/2006/math">
                    <m:d>
                      <m:dPr>
                        <m:sepChr m:val=","/>
                      </m:dPr>
                      <m:e>
                        <m:acc>
                          <m:accPr>
                            <m:chr m:val="⃗"/>
                          </m:accPr>
                          <m:e>
                            <m:r>
                              <a:rPr lang="vi-VN" sz="2100" b="0">
                                <a:solidFill>
                                  <a:srgbClr val="1E293B"/>
                                </a:solidFill>
                                <a:latin typeface="Cambria Math" panose="02040503050406030204" pitchFamily="18" charset="0"/>
                              </a:rPr>
                              <m:t>AB</m:t>
                            </m:r>
                          </m:e>
                        </m:acc>
                      </m:e>
                      <m:e>
                        <m:r>
                          <m:rPr>
                            <m:sty m:val="p"/>
                          </m:rPr>
                          <a:rPr lang="vi-VN" sz="2100" b="0">
                            <a:solidFill>
                              <a:srgbClr val="1E293B"/>
                            </a:solidFill>
                            <a:latin typeface="Cambria Math" panose="02040503050406030204" pitchFamily="18" charset="0"/>
                          </a:rPr>
                          <m:t> </m:t>
                        </m:r>
                        <m:acc>
                          <m:accPr>
                            <m:chr m:val="⃗"/>
                          </m:accPr>
                          <m:e>
                            <m:r>
                              <a:rPr lang="vi-VN" sz="2100" b="0">
                                <a:solidFill>
                                  <a:srgbClr val="1E293B"/>
                                </a:solidFill>
                                <a:latin typeface="Cambria Math" panose="02040503050406030204" pitchFamily="18" charset="0"/>
                              </a:rPr>
                              <m:t>BC</m:t>
                            </m:r>
                          </m:e>
                        </m:acc>
                      </m:e>
                    </m:d>
                  </m:oMath>
                </a14:m>
                <a:r>
                  <a:rPr sz="2100">
                    <a:solidFill>
                      <a:srgbClr val="1E293B"/>
                    </a:solidFill>
                    <a:latin typeface="Calibri"/>
                  </a:rPr>
                  <a:t>.</a:t>
                </a:r>
              </a:p>
            </p:txBody>
          </p:sp>
        </mc:Choice>
        <mc:Fallback>
          <p:sp>
            <p:nvSpPr>
              <p:cNvPr id="10" name="TextBox 9"/>
              <p:cNvSpPr txBox="1"/>
              <p:nvPr/>
            </p:nvSpPr>
            <p:spPr>
              <a:xfrm>
                <a:off x="548640" y="3310127"/>
                <a:ext cx="6949440" cy="49377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1.</a:t>
                </a:r>
                <a:r>
                  <a:rPr sz="2100">
                    <a:solidFill>
                      <a:srgbClr val="1E293B"/>
                    </a:solidFill>
                    <a:latin typeface="Calibri"/>
                  </a:rPr>
                  <a:t> Cho tam giác đều </a:t>
                </a:r>
                <a:r>
                  <a:rPr lang="vi-VN"/>
                  <a:t>ABC</a:t>
                </a:r>
                <a:r>
                  <a:rPr sz="2100">
                    <a:solidFill>
                      <a:srgbClr val="1E293B"/>
                    </a:solidFill>
                    <a:latin typeface="Calibri"/>
                  </a:rPr>
                  <a:t>. Tính </a:t>
                </a:r>
                <a:r>
                  <a:rPr lang="vi-VN"/>
                  <a:t>\left(\overrightarrow{AB},\ \overrightarrow{BC}\right)</a:t>
                </a:r>
                <a:r>
                  <a:rPr sz="2100">
                    <a:solidFill>
                      <a:srgbClr val="1E293B"/>
                    </a:solidFill>
                    <a:latin typeface="Calibri"/>
                  </a:rPr>
                  <a:t>.</a:t>
                </a:r>
              </a:p>
            </p:txBody>
          </p:sp>
        </mc:Fallback>
      </mc:AlternateContent>
      <p:sp>
        <p:nvSpPr>
          <p:cNvPr id="11" name="s3_nen"/>
          <p:cNvSpPr/>
          <p:nvPr/>
        </p:nvSpPr>
        <p:spPr>
          <a:xfrm>
            <a:off x="548640" y="3913631"/>
            <a:ext cx="694944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3950207"/>
                <a:ext cx="6620255"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Vẽ </a:t>
                </a:r>
                <a14:m>
                  <m:oMath xmlns:m="http://schemas.openxmlformats.org/officeDocument/2006/math">
                    <m:acc>
                      <m:accPr>
                        <m:chr m:val="⃗"/>
                      </m:accPr>
                      <m:e>
                        <m:r>
                          <a:rPr lang="vi-VN" sz="2100" b="0">
                            <a:solidFill>
                              <a:srgbClr val="1E293B"/>
                            </a:solidFill>
                            <a:latin typeface="Cambria Math" panose="02040503050406030204" pitchFamily="18" charset="0"/>
                          </a:rPr>
                          <m:t>BD</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AB</m:t>
                        </m:r>
                      </m:e>
                    </m:acc>
                  </m:oMath>
                </a14:m>
                <a:r>
                  <a:rPr sz="2100">
                    <a:solidFill>
                      <a:srgbClr val="1E293B"/>
                    </a:solidFill>
                    <a:latin typeface="Calibri"/>
                  </a:rPr>
                  <a:t> (chung gốc </a:t>
                </a:r>
                <a14:m>
                  <m:oMath xmlns:m="http://schemas.openxmlformats.org/officeDocument/2006/math">
                    <m:r>
                      <a:rPr lang="vi-VN" sz="2100" b="0">
                        <a:solidFill>
                          <a:srgbClr val="1E293B"/>
                        </a:solidFill>
                        <a:latin typeface="Cambria Math" panose="02040503050406030204" pitchFamily="18" charset="0"/>
                      </a:rPr>
                      <m:t>B</m:t>
                    </m:r>
                  </m:oMath>
                </a14:m>
                <a:r>
                  <a:rPr sz="2100">
                    <a:solidFill>
                      <a:srgbClr val="1E293B"/>
                    </a:solidFill>
                    <a:latin typeface="Calibri"/>
                  </a:rPr>
                  <a:t> với </a:t>
                </a:r>
                <a14:m>
                  <m:oMath xmlns:m="http://schemas.openxmlformats.org/officeDocument/2006/math">
                    <m:acc>
                      <m:accPr>
                        <m:chr m:val="⃗"/>
                      </m:accPr>
                      <m:e>
                        <m:r>
                          <a:rPr lang="vi-VN" sz="2100" b="0">
                            <a:solidFill>
                              <a:srgbClr val="1E293B"/>
                            </a:solidFill>
                            <a:latin typeface="Cambria Math" panose="02040503050406030204" pitchFamily="18" charset="0"/>
                          </a:rPr>
                          <m:t>BC</m:t>
                        </m:r>
                      </m:e>
                    </m:acc>
                  </m:oMath>
                </a14:m>
                <a:r>
                  <a:rPr sz="2100">
                    <a:solidFill>
                      <a:srgbClr val="1E293B"/>
                    </a:solidFill>
                    <a:latin typeface="Calibri"/>
                  </a:rPr>
                  <a:t>): </a:t>
                </a:r>
                <a14:m>
                  <m:oMath xmlns:m="http://schemas.openxmlformats.org/officeDocument/2006/math">
                    <m:d>
                      <m:dPr>
                        <m:sepChr m:val=","/>
                      </m:dPr>
                      <m:e>
                        <m:acc>
                          <m:accPr>
                            <m:chr m:val="⃗"/>
                          </m:accPr>
                          <m:e>
                            <m:r>
                              <a:rPr lang="vi-VN" sz="2100" b="0">
                                <a:solidFill>
                                  <a:srgbClr val="1E293B"/>
                                </a:solidFill>
                                <a:latin typeface="Cambria Math" panose="02040503050406030204" pitchFamily="18" charset="0"/>
                              </a:rPr>
                              <m:t>AB</m:t>
                            </m:r>
                          </m:e>
                        </m:acc>
                      </m:e>
                      <m:e>
                        <m:r>
                          <m:rPr>
                            <m:sty m:val="p"/>
                          </m:rPr>
                          <a:rPr lang="vi-VN" sz="2100" b="0">
                            <a:solidFill>
                              <a:srgbClr val="1E293B"/>
                            </a:solidFill>
                            <a:latin typeface="Cambria Math" panose="02040503050406030204" pitchFamily="18" charset="0"/>
                          </a:rPr>
                          <m:t> </m:t>
                        </m:r>
                        <m:acc>
                          <m:accPr>
                            <m:chr m:val="⃗"/>
                          </m:accPr>
                          <m:e>
                            <m:r>
                              <a:rPr lang="vi-VN" sz="2100" b="0">
                                <a:solidFill>
                                  <a:srgbClr val="1E293B"/>
                                </a:solidFill>
                                <a:latin typeface="Cambria Math" panose="02040503050406030204" pitchFamily="18" charset="0"/>
                              </a:rPr>
                              <m:t>BC</m:t>
                            </m:r>
                          </m:e>
                        </m:acc>
                      </m:e>
                    </m:d>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DBC</m:t>
                        </m:r>
                      </m:e>
                    </m:acc>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180</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60</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120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a:t>
                </a:r>
              </a:p>
            </p:txBody>
          </p:sp>
        </mc:Choice>
        <mc:Fallback>
          <p:sp>
            <p:nvSpPr>
              <p:cNvPr id="12" name="TextBox 11"/>
              <p:cNvSpPr txBox="1"/>
              <p:nvPr/>
            </p:nvSpPr>
            <p:spPr>
              <a:xfrm>
                <a:off x="713232" y="3950207"/>
                <a:ext cx="6620255"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Vẽ </a:t>
                </a:r>
                <a:r>
                  <a:rPr lang="vi-VN"/>
                  <a:t>\overrightarrow{BD}</a:t>
                </a:r>
                <a:r>
                  <a:rPr sz="2100">
                    <a:solidFill>
                      <a:srgbClr val="1E293B"/>
                    </a:solidFill>
                    <a:latin typeface="Calibri"/>
                  </a:rPr>
                  <a:t> = </a:t>
                </a:r>
                <a:r>
                  <a:rPr lang="vi-VN"/>
                  <a:t>\overrightarrow{AB}</a:t>
                </a:r>
                <a:r>
                  <a:rPr sz="2100">
                    <a:solidFill>
                      <a:srgbClr val="1E293B"/>
                    </a:solidFill>
                    <a:latin typeface="Calibri"/>
                  </a:rPr>
                  <a:t> (chung gốc </a:t>
                </a:r>
                <a:r>
                  <a:rPr lang="vi-VN"/>
                  <a:t>B</a:t>
                </a:r>
                <a:r>
                  <a:rPr sz="2100">
                    <a:solidFill>
                      <a:srgbClr val="1E293B"/>
                    </a:solidFill>
                    <a:latin typeface="Calibri"/>
                  </a:rPr>
                  <a:t> với </a:t>
                </a:r>
                <a:r>
                  <a:rPr lang="vi-VN"/>
                  <a:t>\overrightarrow{BC}</a:t>
                </a:r>
                <a:r>
                  <a:rPr sz="2100">
                    <a:solidFill>
                      <a:srgbClr val="1E293B"/>
                    </a:solidFill>
                    <a:latin typeface="Calibri"/>
                  </a:rPr>
                  <a:t>): </a:t>
                </a:r>
                <a:r>
                  <a:rPr lang="vi-VN"/>
                  <a:t>\left(\overrightarrow{AB},\ \overrightarrow{BC}\right)</a:t>
                </a:r>
                <a:r>
                  <a:rPr sz="2100">
                    <a:solidFill>
                      <a:srgbClr val="1E293B"/>
                    </a:solidFill>
                    <a:latin typeface="Calibri"/>
                  </a:rPr>
                  <a:t> = </a:t>
                </a:r>
                <a:r>
                  <a:rPr lang="vi-VN"/>
                  <a:t>\widehat{DBC}=180^\circ-60^\circ=120^\circ</a:t>
                </a:r>
                <a:r>
                  <a:rPr sz="2100">
                    <a:solidFill>
                      <a:srgbClr val="1E293B"/>
                    </a:solidFill>
                    <a:latin typeface="Calibri"/>
                  </a:rPr>
                  <a:t>.</a:t>
                </a:r>
              </a:p>
            </p:txBody>
          </p:sp>
        </mc:Fallback>
      </mc:AlternateContent>
      <p:pic>
        <p:nvPicPr>
          <p:cNvPr id="13" name="Picture 12" descr="h441.png"/>
          <p:cNvPicPr>
            <a:picLocks noChangeAspect="1"/>
          </p:cNvPicPr>
          <p:nvPr/>
        </p:nvPicPr>
        <p:blipFill>
          <a:blip r:embed="rId3"/>
          <a:stretch>
            <a:fillRect/>
          </a:stretch>
        </p:blipFill>
        <p:spPr>
          <a:xfrm>
            <a:off x="7772400" y="1428356"/>
            <a:ext cx="3931920" cy="1898168"/>
          </a:xfrm>
          <a:prstGeom prst="rect">
            <a:avLst/>
          </a:prstGeom>
        </p:spPr>
      </p:pic>
      <p:pic>
        <p:nvPicPr>
          <p:cNvPr id="14" name="Picture 13" descr="lt1_b11.png"/>
          <p:cNvPicPr>
            <a:picLocks noChangeAspect="1"/>
          </p:cNvPicPr>
          <p:nvPr/>
        </p:nvPicPr>
        <p:blipFill>
          <a:blip r:embed="rId4"/>
          <a:stretch>
            <a:fillRect/>
          </a:stretch>
        </p:blipFill>
        <p:spPr>
          <a:xfrm>
            <a:off x="8046720" y="3873942"/>
            <a:ext cx="3474720" cy="212763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2. TÍCH VÔ HƯỚNG CỦA HAI VECTƠ</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9</a:t>
            </a:r>
          </a:p>
        </p:txBody>
      </p:sp>
      <mc:AlternateContent xmlns:mc="http://schemas.openxmlformats.org/markup-compatibility/2006">
        <mc:Choice xmlns:a14="http://schemas.microsoft.com/office/drawing/2010/main" Requires="a14">
          <p:sp>
            <p:nvSpPr>
              <p:cNvPr id="7" name="TextBox 6"/>
              <p:cNvSpPr txBox="1"/>
              <p:nvPr/>
            </p:nvSpPr>
            <p:spPr>
              <a:xfrm>
                <a:off x="548640" y="1325880"/>
                <a:ext cx="7315200" cy="1392936"/>
              </a:xfrm>
              <a:prstGeom prst="rect">
                <a:avLst/>
              </a:prstGeom>
              <a:noFill/>
            </p:spPr>
            <p:txBody>
              <a:bodyPr wrap="square" anchor="t" lIns="45720" rIns="45720">
                <a:spAutoFit/>
              </a:bodyPr>
              <a:lstStyle/>
              <a:p>
                <a:pPr algn="l">
                  <a:spcAft>
                    <a:spcPts val="800"/>
                  </a:spcAft>
                </a:pPr>
                <a:r>
                  <a:rPr sz="2000">
                    <a:solidFill>
                      <a:srgbClr val="1E293B"/>
                    </a:solidFill>
                    <a:latin typeface="Calibri"/>
                  </a:rPr>
                  <a:t>Nếu lực </a:t>
                </a:r>
                <a14:m>
                  <m:oMath xmlns:m="http://schemas.openxmlformats.org/officeDocument/2006/math">
                    <m:acc>
                      <m:accPr>
                        <m:chr m:val="⃗"/>
                      </m:accPr>
                      <m:e>
                        <m:r>
                          <a:rPr lang="vi-VN" sz="2000" b="0">
                            <a:solidFill>
                              <a:srgbClr val="1E293B"/>
                            </a:solidFill>
                            <a:latin typeface="Cambria Math" panose="02040503050406030204" pitchFamily="18" charset="0"/>
                          </a:rPr>
                          <m:t>F</m:t>
                        </m:r>
                      </m:e>
                    </m:acc>
                  </m:oMath>
                </a14:m>
                <a:r>
                  <a:rPr sz="2000">
                    <a:solidFill>
                      <a:srgbClr val="1E293B"/>
                    </a:solidFill>
                    <a:latin typeface="Calibri"/>
                  </a:rPr>
                  <a:t> không đổi tác động vào một vật và điểm đặt của lực chuyển động thẳng từ </a:t>
                </a:r>
                <a14:m>
                  <m:oMath xmlns:m="http://schemas.openxmlformats.org/officeDocument/2006/math">
                    <m:r>
                      <a:rPr lang="vi-VN" sz="2000" b="0">
                        <a:solidFill>
                          <a:srgbClr val="1E293B"/>
                        </a:solidFill>
                        <a:latin typeface="Cambria Math" panose="02040503050406030204" pitchFamily="18" charset="0"/>
                      </a:rPr>
                      <m:t>M</m:t>
                    </m:r>
                  </m:oMath>
                </a14:m>
                <a:r>
                  <a:rPr sz="2000">
                    <a:solidFill>
                      <a:srgbClr val="1E293B"/>
                    </a:solidFill>
                    <a:latin typeface="Calibri"/>
                  </a:rPr>
                  <a:t> tới </a:t>
                </a:r>
                <a14:m>
                  <m:oMath xmlns:m="http://schemas.openxmlformats.org/officeDocument/2006/math">
                    <m:r>
                      <a:rPr lang="vi-VN" sz="2000" b="0">
                        <a:solidFill>
                          <a:srgbClr val="1E293B"/>
                        </a:solidFill>
                        <a:latin typeface="Cambria Math" panose="02040503050406030204" pitchFamily="18" charset="0"/>
                      </a:rPr>
                      <m:t>N</m:t>
                    </m:r>
                  </m:oMath>
                </a14:m>
                <a:r>
                  <a:rPr sz="2000">
                    <a:solidFill>
                      <a:srgbClr val="1E293B"/>
                    </a:solidFill>
                    <a:latin typeface="Calibri"/>
                  </a:rPr>
                  <a:t> thì công: </a:t>
                </a:r>
                <a14:m>
                  <m:oMath xmlns:m="http://schemas.openxmlformats.org/officeDocument/2006/math">
                    <m:r>
                      <a:rPr lang="vi-VN" sz="2000" b="0">
                        <a:solidFill>
                          <a:srgbClr val="1E293B"/>
                        </a:solidFill>
                        <a:latin typeface="Cambria Math" panose="02040503050406030204" pitchFamily="18" charset="0"/>
                      </a:rPr>
                      <m:t>A=|</m:t>
                    </m:r>
                    <m:acc>
                      <m:accPr>
                        <m:chr m:val="⃗"/>
                      </m:accPr>
                      <m:e>
                        <m:r>
                          <a:rPr lang="vi-VN" sz="2000" b="0">
                            <a:solidFill>
                              <a:srgbClr val="1E293B"/>
                            </a:solidFill>
                            <a:latin typeface="Cambria Math" panose="02040503050406030204" pitchFamily="18" charset="0"/>
                          </a:rPr>
                          <m:t>F</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MN</m:t>
                        </m:r>
                      </m:e>
                    </m:acc>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cos</m:t>
                    </m:r>
                    <m:d>
                      <m:dPr>
                        <m:sepChr m:val=","/>
                      </m:dPr>
                      <m:e>
                        <m:acc>
                          <m:accPr>
                            <m:chr m:val="⃗"/>
                          </m:accPr>
                          <m:e>
                            <m:r>
                              <a:rPr lang="vi-VN" sz="2000" b="0">
                                <a:solidFill>
                                  <a:srgbClr val="1E293B"/>
                                </a:solidFill>
                                <a:latin typeface="Cambria Math" panose="02040503050406030204" pitchFamily="18" charset="0"/>
                              </a:rPr>
                              <m:t>F</m:t>
                            </m:r>
                          </m:e>
                        </m:acc>
                      </m:e>
                      <m:e>
                        <m:r>
                          <m:rPr>
                            <m:sty m:val="p"/>
                          </m:rPr>
                          <a:rPr lang="vi-VN" sz="2000" b="0">
                            <a:solidFill>
                              <a:srgbClr val="1E293B"/>
                            </a:solidFill>
                            <a:latin typeface="Cambria Math" panose="02040503050406030204" pitchFamily="18" charset="0"/>
                          </a:rPr>
                          <m:t> </m:t>
                        </m:r>
                        <m:acc>
                          <m:accPr>
                            <m:chr m:val="⃗"/>
                          </m:accPr>
                          <m:e>
                            <m:r>
                              <a:rPr lang="vi-VN" sz="2000" b="0">
                                <a:solidFill>
                                  <a:srgbClr val="1E293B"/>
                                </a:solidFill>
                                <a:latin typeface="Cambria Math" panose="02040503050406030204" pitchFamily="18" charset="0"/>
                              </a:rPr>
                              <m:t>MN</m:t>
                            </m:r>
                          </m:e>
                        </m:acc>
                      </m:e>
                    </m:d>
                  </m:oMath>
                </a14:m>
                <a:r>
                  <a:rPr sz="2000">
                    <a:solidFill>
                      <a:srgbClr val="1E293B"/>
                    </a:solidFill>
                    <a:latin typeface="Calibri"/>
                  </a:rPr>
                  <a:t>. Toán học gọi giá trị </a:t>
                </a:r>
                <a14:m>
                  <m:oMath xmlns:m="http://schemas.openxmlformats.org/officeDocument/2006/math">
                    <m:r>
                      <a:rPr lang="vi-VN" sz="2000" b="0">
                        <a:solidFill>
                          <a:srgbClr val="1E293B"/>
                        </a:solidFill>
                        <a:latin typeface="Cambria Math" panose="02040503050406030204" pitchFamily="18" charset="0"/>
                      </a:rPr>
                      <m:t>A</m:t>
                    </m:r>
                  </m:oMath>
                </a14:m>
                <a:r>
                  <a:rPr sz="2000">
                    <a:solidFill>
                      <a:srgbClr val="1E293B"/>
                    </a:solidFill>
                    <a:latin typeface="Calibri"/>
                  </a:rPr>
                  <a:t> (không kể đơn vị đo) là tích vô hướng của hai vectơ </a:t>
                </a:r>
                <a14:m>
                  <m:oMath xmlns:m="http://schemas.openxmlformats.org/officeDocument/2006/math">
                    <m:acc>
                      <m:accPr>
                        <m:chr m:val="⃗"/>
                      </m:accPr>
                      <m:e>
                        <m:r>
                          <a:rPr lang="vi-VN" sz="2000" b="0">
                            <a:solidFill>
                              <a:srgbClr val="1E293B"/>
                            </a:solidFill>
                            <a:latin typeface="Cambria Math" panose="02040503050406030204" pitchFamily="18" charset="0"/>
                          </a:rPr>
                          <m:t>F</m:t>
                        </m:r>
                      </m:e>
                    </m:acc>
                  </m:oMath>
                </a14:m>
                <a:r>
                  <a:rPr sz="2000">
                    <a:solidFill>
                      <a:srgbClr val="1E293B"/>
                    </a:solidFill>
                    <a:latin typeface="Calibri"/>
                  </a:rPr>
                  <a:t> và </a:t>
                </a:r>
                <a14:m>
                  <m:oMath xmlns:m="http://schemas.openxmlformats.org/officeDocument/2006/math">
                    <m:acc>
                      <m:accPr>
                        <m:chr m:val="⃗"/>
                      </m:accPr>
                      <m:e>
                        <m:r>
                          <a:rPr lang="vi-VN" sz="2000" b="0">
                            <a:solidFill>
                              <a:srgbClr val="1E293B"/>
                            </a:solidFill>
                            <a:latin typeface="Cambria Math" panose="02040503050406030204" pitchFamily="18" charset="0"/>
                          </a:rPr>
                          <m:t>MN</m:t>
                        </m:r>
                      </m:e>
                    </m:acc>
                  </m:oMath>
                </a14:m>
                <a:r>
                  <a:rPr sz="2000">
                    <a:solidFill>
                      <a:srgbClr val="1E293B"/>
                    </a:solidFill>
                    <a:latin typeface="Calibri"/>
                  </a:rPr>
                  <a:t>.</a:t>
                </a:r>
              </a:p>
            </p:txBody>
          </p:sp>
        </mc:Choice>
        <mc:Fallback>
          <p:sp>
            <p:nvSpPr>
              <p:cNvPr id="7" name="TextBox 6"/>
              <p:cNvSpPr txBox="1"/>
              <p:nvPr/>
            </p:nvSpPr>
            <p:spPr>
              <a:xfrm>
                <a:off x="548640" y="1325880"/>
                <a:ext cx="7315200" cy="1392936"/>
              </a:xfrm>
              <a:prstGeom prst="rect">
                <a:avLst/>
              </a:prstGeom>
              <a:noFill/>
            </p:spPr>
            <p:txBody>
              <a:bodyPr wrap="square" anchor="t" lIns="45720" rIns="45720">
                <a:spAutoFit/>
              </a:bodyPr>
              <a:lstStyle/>
              <a:p>
                <a:pPr algn="l">
                  <a:spcAft>
                    <a:spcPts val="800"/>
                  </a:spcAft>
                </a:pPr>
                <a:r>
                  <a:rPr sz="2000">
                    <a:solidFill>
                      <a:srgbClr val="1E293B"/>
                    </a:solidFill>
                    <a:latin typeface="Calibri"/>
                  </a:rPr>
                  <a:t>Nếu lực </a:t>
                </a:r>
                <a:r>
                  <a:rPr lang="vi-VN"/>
                  <a:t>\vec{F}</a:t>
                </a:r>
                <a:r>
                  <a:rPr sz="2000">
                    <a:solidFill>
                      <a:srgbClr val="1E293B"/>
                    </a:solidFill>
                    <a:latin typeface="Calibri"/>
                  </a:rPr>
                  <a:t> không đổi tác động vào một vật và điểm đặt của lực chuyển động thẳng từ </a:t>
                </a:r>
                <a:r>
                  <a:rPr lang="vi-VN"/>
                  <a:t>M</a:t>
                </a:r>
                <a:r>
                  <a:rPr sz="2000">
                    <a:solidFill>
                      <a:srgbClr val="1E293B"/>
                    </a:solidFill>
                    <a:latin typeface="Calibri"/>
                  </a:rPr>
                  <a:t> tới </a:t>
                </a:r>
                <a:r>
                  <a:rPr lang="vi-VN"/>
                  <a:t>N</a:t>
                </a:r>
                <a:r>
                  <a:rPr sz="2000">
                    <a:solidFill>
                      <a:srgbClr val="1E293B"/>
                    </a:solidFill>
                    <a:latin typeface="Calibri"/>
                  </a:rPr>
                  <a:t> thì công: </a:t>
                </a:r>
                <a:r>
                  <a:rPr lang="vi-VN"/>
                  <a:t>A=|\vec{F}|\cdot|\overrightarrow{MN}|\cdot\cos\left(\vec{F},\ \overrightarrow{MN}\right)</a:t>
                </a:r>
                <a:r>
                  <a:rPr sz="2000">
                    <a:solidFill>
                      <a:srgbClr val="1E293B"/>
                    </a:solidFill>
                    <a:latin typeface="Calibri"/>
                  </a:rPr>
                  <a:t>. Toán học gọi giá trị </a:t>
                </a:r>
                <a:r>
                  <a:rPr lang="vi-VN"/>
                  <a:t>A</a:t>
                </a:r>
                <a:r>
                  <a:rPr sz="2000">
                    <a:solidFill>
                      <a:srgbClr val="1E293B"/>
                    </a:solidFill>
                    <a:latin typeface="Calibri"/>
                  </a:rPr>
                  <a:t> (không kể đơn vị đo) là tích vô hướng của hai vectơ </a:t>
                </a:r>
                <a:r>
                  <a:rPr lang="vi-VN"/>
                  <a:t>\vec{F}</a:t>
                </a:r>
                <a:r>
                  <a:rPr sz="2000">
                    <a:solidFill>
                      <a:srgbClr val="1E293B"/>
                    </a:solidFill>
                    <a:latin typeface="Calibri"/>
                  </a:rPr>
                  <a:t> và </a:t>
                </a:r>
                <a:r>
                  <a:rPr lang="vi-VN"/>
                  <a:t>\overrightarrow{MN}</a:t>
                </a:r>
                <a:r>
                  <a:rPr sz="2000">
                    <a:solidFill>
                      <a:srgbClr val="1E293B"/>
                    </a:solidFill>
                    <a:latin typeface="Calibri"/>
                  </a:rPr>
                  <a:t>.</a:t>
                </a:r>
              </a:p>
            </p:txBody>
          </p:sp>
        </mc:Fallback>
      </mc:AlternateContent>
      <p:sp>
        <p:nvSpPr>
          <p:cNvPr id="8" name="s1_nen"/>
          <p:cNvSpPr/>
          <p:nvPr/>
        </p:nvSpPr>
        <p:spPr>
          <a:xfrm>
            <a:off x="548640" y="2791968"/>
            <a:ext cx="7315200" cy="1179576"/>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828544"/>
                <a:ext cx="6986016" cy="1106424"/>
              </a:xfrm>
              <a:prstGeom prst="rect">
                <a:avLst/>
              </a:prstGeom>
              <a:noFill/>
            </p:spPr>
            <p:txBody>
              <a:bodyPr wrap="square" anchor="ctr" lIns="45720" rIns="45720">
                <a:spAutoFit/>
              </a:bodyPr>
              <a:lstStyle/>
              <a:p>
                <a:pPr algn="l">
                  <a:spcAft>
                    <a:spcPts val="800"/>
                  </a:spcAft>
                </a:pPr>
                <a:r>
                  <a:rPr sz="2300" b="1">
                    <a:solidFill>
                      <a:srgbClr val="1E293B"/>
                    </a:solidFill>
                    <a:latin typeface="Calibri"/>
                  </a:rPr>
                  <a:t>Tích vô hướng</a:t>
                </a:r>
                <a:r>
                  <a:rPr sz="2300">
                    <a:solidFill>
                      <a:srgbClr val="1E293B"/>
                    </a:solidFill>
                    <a:latin typeface="Calibri"/>
                  </a:rPr>
                  <a:t> của hai vectơ </a:t>
                </a:r>
                <a14:m>
                  <m:oMath xmlns:m="http://schemas.openxmlformats.org/officeDocument/2006/math">
                    <m:acc>
                      <m:accPr>
                        <m:chr m:val="⃗"/>
                      </m:accPr>
                      <m:e>
                        <m:r>
                          <a:rPr lang="vi-VN" sz="2300" b="0">
                            <a:solidFill>
                              <a:srgbClr val="1E293B"/>
                            </a:solidFill>
                            <a:latin typeface="Cambria Math" panose="02040503050406030204" pitchFamily="18" charset="0"/>
                          </a:rPr>
                          <m:t>u</m:t>
                        </m:r>
                      </m:e>
                    </m:acc>
                  </m:oMath>
                </a14:m>
                <a:r>
                  <a:rPr sz="2300">
                    <a:solidFill>
                      <a:srgbClr val="1E293B"/>
                    </a:solidFill>
                    <a:latin typeface="Calibri"/>
                  </a:rPr>
                  <a:t> và </a:t>
                </a:r>
                <a14:m>
                  <m:oMath xmlns:m="http://schemas.openxmlformats.org/officeDocument/2006/math">
                    <m:acc>
                      <m:accPr>
                        <m:chr m:val="⃗"/>
                      </m:accPr>
                      <m:e>
                        <m:r>
                          <a:rPr lang="vi-VN" sz="2300" b="0">
                            <a:solidFill>
                              <a:srgbClr val="1E293B"/>
                            </a:solidFill>
                            <a:latin typeface="Cambria Math" panose="02040503050406030204" pitchFamily="18" charset="0"/>
                          </a:rPr>
                          <m:t>v</m:t>
                        </m:r>
                      </m:e>
                    </m:acc>
                  </m:oMath>
                </a14:m>
                <a:r>
                  <a:rPr sz="2300">
                    <a:solidFill>
                      <a:srgbClr val="1E293B"/>
                    </a:solidFill>
                    <a:latin typeface="Calibri"/>
                  </a:rPr>
                  <a:t> là một số, kí hiệu </a:t>
                </a:r>
                <a14:m>
                  <m:oMath xmlns:m="http://schemas.openxmlformats.org/officeDocument/2006/math">
                    <m:acc>
                      <m:accPr>
                        <m:chr m:val="⃗"/>
                      </m:accPr>
                      <m:e>
                        <m:r>
                          <a:rPr lang="vi-VN" sz="2300" b="0">
                            <a:solidFill>
                              <a:srgbClr val="1E293B"/>
                            </a:solidFill>
                            <a:latin typeface="Cambria Math" panose="02040503050406030204" pitchFamily="18" charset="0"/>
                          </a:rPr>
                          <m:t>u</m:t>
                        </m:r>
                      </m:e>
                    </m:acc>
                    <m:r>
                      <a:rPr lang="vi-VN" sz="2300" b="0">
                        <a:solidFill>
                          <a:srgbClr val="1E293B"/>
                        </a:solidFill>
                        <a:latin typeface="Cambria Math" panose="02040503050406030204" pitchFamily="18" charset="0"/>
                      </a:rPr>
                      <m:t>·</m:t>
                    </m:r>
                    <m:acc>
                      <m:accPr>
                        <m:chr m:val="⃗"/>
                      </m:accPr>
                      <m:e>
                        <m:r>
                          <a:rPr lang="vi-VN" sz="2300" b="0">
                            <a:solidFill>
                              <a:srgbClr val="1E293B"/>
                            </a:solidFill>
                            <a:latin typeface="Cambria Math" panose="02040503050406030204" pitchFamily="18" charset="0"/>
                          </a:rPr>
                          <m:t>v</m:t>
                        </m:r>
                      </m:e>
                    </m:acc>
                  </m:oMath>
                </a14:m>
                <a:r>
                  <a:rPr sz="2300">
                    <a:solidFill>
                      <a:srgbClr val="1E293B"/>
                    </a:solidFill>
                    <a:latin typeface="Calibri"/>
                  </a:rPr>
                  <a:t>, được xác định bởi công thức sau: </a:t>
                </a:r>
                <a14:m>
                  <m:oMath xmlns:m="http://schemas.openxmlformats.org/officeDocument/2006/math">
                    <m:acc>
                      <m:accPr>
                        <m:chr m:val="⃗"/>
                      </m:accPr>
                      <m:e>
                        <m:r>
                          <a:rPr lang="vi-VN" sz="2300" b="0">
                            <a:solidFill>
                              <a:srgbClr val="1E293B"/>
                            </a:solidFill>
                            <a:latin typeface="Cambria Math" panose="02040503050406030204" pitchFamily="18" charset="0"/>
                          </a:rPr>
                          <m:t>u</m:t>
                        </m:r>
                      </m:e>
                    </m:acc>
                    <m:r>
                      <a:rPr lang="vi-VN" sz="2300" b="0">
                        <a:solidFill>
                          <a:srgbClr val="1E293B"/>
                        </a:solidFill>
                        <a:latin typeface="Cambria Math" panose="02040503050406030204" pitchFamily="18" charset="0"/>
                      </a:rPr>
                      <m:t>·</m:t>
                    </m:r>
                    <m:acc>
                      <m:accPr>
                        <m:chr m:val="⃗"/>
                      </m:accPr>
                      <m:e>
                        <m:r>
                          <a:rPr lang="vi-VN" sz="2300" b="0">
                            <a:solidFill>
                              <a:srgbClr val="1E293B"/>
                            </a:solidFill>
                            <a:latin typeface="Cambria Math" panose="02040503050406030204" pitchFamily="18" charset="0"/>
                          </a:rPr>
                          <m:t>v</m:t>
                        </m:r>
                      </m:e>
                    </m:acc>
                    <m:r>
                      <a:rPr lang="vi-VN" sz="2300" b="0">
                        <a:solidFill>
                          <a:srgbClr val="1E293B"/>
                        </a:solidFill>
                        <a:latin typeface="Cambria Math" panose="02040503050406030204" pitchFamily="18" charset="0"/>
                      </a:rPr>
                      <m:t>=|</m:t>
                    </m:r>
                    <m:acc>
                      <m:accPr>
                        <m:chr m:val="⃗"/>
                      </m:accPr>
                      <m:e>
                        <m:r>
                          <a:rPr lang="vi-VN" sz="2300" b="0">
                            <a:solidFill>
                              <a:srgbClr val="1E293B"/>
                            </a:solidFill>
                            <a:latin typeface="Cambria Math" panose="02040503050406030204" pitchFamily="18" charset="0"/>
                          </a:rPr>
                          <m:t>u</m:t>
                        </m:r>
                      </m:e>
                    </m:acc>
                    <m:r>
                      <a:rPr lang="vi-VN" sz="2300" b="0">
                        <a:solidFill>
                          <a:srgbClr val="1E293B"/>
                        </a:solidFill>
                        <a:latin typeface="Cambria Math" panose="02040503050406030204" pitchFamily="18" charset="0"/>
                      </a:rPr>
                      <m:t>|·|</m:t>
                    </m:r>
                    <m:acc>
                      <m:accPr>
                        <m:chr m:val="⃗"/>
                      </m:accPr>
                      <m:e>
                        <m:r>
                          <a:rPr lang="vi-VN" sz="2300" b="0">
                            <a:solidFill>
                              <a:srgbClr val="1E293B"/>
                            </a:solidFill>
                            <a:latin typeface="Cambria Math" panose="02040503050406030204" pitchFamily="18" charset="0"/>
                          </a:rPr>
                          <m:t>v</m:t>
                        </m:r>
                      </m:e>
                    </m:acc>
                    <m:r>
                      <a:rPr lang="vi-VN" sz="2300" b="0">
                        <a:solidFill>
                          <a:srgbClr val="1E293B"/>
                        </a:solidFill>
                        <a:latin typeface="Cambria Math" panose="02040503050406030204" pitchFamily="18" charset="0"/>
                      </a:rPr>
                      <m:t>|·</m:t>
                    </m:r>
                    <m:r>
                      <m:rPr>
                        <m:sty m:val="p"/>
                      </m:rPr>
                      <a:rPr lang="vi-VN" sz="2300" b="0">
                        <a:solidFill>
                          <a:srgbClr val="1E293B"/>
                        </a:solidFill>
                        <a:latin typeface="Cambria Math" panose="02040503050406030204" pitchFamily="18" charset="0"/>
                      </a:rPr>
                      <m:t>cos</m:t>
                    </m:r>
                    <m:r>
                      <a:rPr lang="vi-VN" sz="2300" b="0">
                        <a:solidFill>
                          <a:srgbClr val="1E293B"/>
                        </a:solidFill>
                        <a:latin typeface="Cambria Math" panose="02040503050406030204" pitchFamily="18" charset="0"/>
                      </a:rPr>
                      <m:t>(</m:t>
                    </m:r>
                    <m:acc>
                      <m:accPr>
                        <m:chr m:val="⃗"/>
                      </m:accPr>
                      <m:e>
                        <m:r>
                          <a:rPr lang="vi-VN" sz="2300" b="0">
                            <a:solidFill>
                              <a:srgbClr val="1E293B"/>
                            </a:solidFill>
                            <a:latin typeface="Cambria Math" panose="02040503050406030204" pitchFamily="18" charset="0"/>
                          </a:rPr>
                          <m:t>u</m:t>
                        </m:r>
                      </m:e>
                    </m:acc>
                    <m:r>
                      <a:rPr lang="vi-VN" sz="2300" b="0">
                        <a:solidFill>
                          <a:srgbClr val="1E293B"/>
                        </a:solidFill>
                        <a:latin typeface="Cambria Math" panose="02040503050406030204" pitchFamily="18" charset="0"/>
                      </a:rPr>
                      <m:t>,</m:t>
                    </m:r>
                    <m:r>
                      <m:rPr>
                        <m:sty m:val="p"/>
                      </m:rPr>
                      <a:rPr lang="vi-VN" sz="2300" b="0">
                        <a:solidFill>
                          <a:srgbClr val="1E293B"/>
                        </a:solidFill>
                        <a:latin typeface="Cambria Math" panose="02040503050406030204" pitchFamily="18" charset="0"/>
                      </a:rPr>
                      <m:t> </m:t>
                    </m:r>
                    <m:acc>
                      <m:accPr>
                        <m:chr m:val="⃗"/>
                      </m:accPr>
                      <m:e>
                        <m:r>
                          <a:rPr lang="vi-VN" sz="2300" b="0">
                            <a:solidFill>
                              <a:srgbClr val="1E293B"/>
                            </a:solidFill>
                            <a:latin typeface="Cambria Math" panose="02040503050406030204" pitchFamily="18" charset="0"/>
                          </a:rPr>
                          <m:t>v</m:t>
                        </m:r>
                      </m:e>
                    </m:acc>
                    <m:r>
                      <a:rPr lang="vi-VN" sz="2300" b="0">
                        <a:solidFill>
                          <a:srgbClr val="1E293B"/>
                        </a:solidFill>
                        <a:latin typeface="Cambria Math" panose="02040503050406030204" pitchFamily="18" charset="0"/>
                      </a:rPr>
                      <m:t>)</m:t>
                    </m:r>
                  </m:oMath>
                </a14:m>
                <a:r>
                  <a:rPr sz="2300">
                    <a:solidFill>
                      <a:srgbClr val="1E293B"/>
                    </a:solidFill>
                    <a:latin typeface="Calibri"/>
                  </a:rPr>
                  <a:t>.</a:t>
                </a:r>
              </a:p>
            </p:txBody>
          </p:sp>
        </mc:Choice>
        <mc:Fallback>
          <p:sp>
            <p:nvSpPr>
              <p:cNvPr id="9" name="TextBox 8"/>
              <p:cNvSpPr txBox="1"/>
              <p:nvPr/>
            </p:nvSpPr>
            <p:spPr>
              <a:xfrm>
                <a:off x="713232" y="2828544"/>
                <a:ext cx="6986016" cy="1106424"/>
              </a:xfrm>
              <a:prstGeom prst="rect">
                <a:avLst/>
              </a:prstGeom>
              <a:noFill/>
            </p:spPr>
            <p:txBody>
              <a:bodyPr wrap="square" anchor="ctr" lIns="45720" rIns="45720">
                <a:spAutoFit/>
              </a:bodyPr>
              <a:lstStyle/>
              <a:p>
                <a:pPr algn="l">
                  <a:spcAft>
                    <a:spcPts val="800"/>
                  </a:spcAft>
                </a:pPr>
                <a:r>
                  <a:rPr sz="2300" b="1">
                    <a:solidFill>
                      <a:srgbClr val="1E293B"/>
                    </a:solidFill>
                    <a:latin typeface="Calibri"/>
                  </a:rPr>
                  <a:t>Tích vô hướng</a:t>
                </a:r>
                <a:r>
                  <a:rPr sz="2300">
                    <a:solidFill>
                      <a:srgbClr val="1E293B"/>
                    </a:solidFill>
                    <a:latin typeface="Calibri"/>
                  </a:rPr>
                  <a:t> của hai vectơ </a:t>
                </a:r>
                <a:r>
                  <a:rPr lang="vi-VN"/>
                  <a:t>\vec{u}</a:t>
                </a:r>
                <a:r>
                  <a:rPr sz="2300">
                    <a:solidFill>
                      <a:srgbClr val="1E293B"/>
                    </a:solidFill>
                    <a:latin typeface="Calibri"/>
                  </a:rPr>
                  <a:t> và </a:t>
                </a:r>
                <a:r>
                  <a:rPr lang="vi-VN"/>
                  <a:t>\vec{v}</a:t>
                </a:r>
                <a:r>
                  <a:rPr sz="2300">
                    <a:solidFill>
                      <a:srgbClr val="1E293B"/>
                    </a:solidFill>
                    <a:latin typeface="Calibri"/>
                  </a:rPr>
                  <a:t> là một số, kí hiệu </a:t>
                </a:r>
                <a:r>
                  <a:rPr lang="vi-VN"/>
                  <a:t>\vec{u}\cdot\vec{v}</a:t>
                </a:r>
                <a:r>
                  <a:rPr sz="2300">
                    <a:solidFill>
                      <a:srgbClr val="1E293B"/>
                    </a:solidFill>
                    <a:latin typeface="Calibri"/>
                  </a:rPr>
                  <a:t>, được xác định bởi công thức sau: </a:t>
                </a:r>
                <a:r>
                  <a:rPr lang="vi-VN"/>
                  <a:t>\vec{u}\cdot\vec{v}=|\vec{u}|\cdot|\vec{v}|\cdot\cos(\vec{u},\ \vec{v})</a:t>
                </a:r>
                <a:r>
                  <a:rPr sz="23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4044696"/>
                <a:ext cx="7315200" cy="783335"/>
              </a:xfrm>
              <a:prstGeom prst="rect">
                <a:avLst/>
              </a:prstGeom>
              <a:noFill/>
            </p:spPr>
            <p:txBody>
              <a:bodyPr wrap="square" anchor="t" lIns="45720" rIns="45720">
                <a:spAutoFit/>
              </a:bodyPr>
              <a:lstStyle/>
              <a:p>
                <a:pPr algn="l">
                  <a:spcAft>
                    <a:spcPts val="800"/>
                  </a:spcAft>
                </a:pPr>
                <a:r>
                  <a:rPr sz="2000">
                    <a:solidFill>
                      <a:srgbClr val="1E293B"/>
                    </a:solidFill>
                    <a:latin typeface="Calibri"/>
                  </a:rPr>
                  <a:t>❓ Khi nào thì tích vô hướng của hai vectơ khác vectơ-không </a:t>
                </a:r>
                <a14:m>
                  <m:oMath xmlns:m="http://schemas.openxmlformats.org/officeDocument/2006/math">
                    <m:acc>
                      <m:accPr>
                        <m:chr m:val="⃗"/>
                      </m:accPr>
                      <m:e>
                        <m:r>
                          <a:rPr lang="vi-VN" sz="2000" b="0">
                            <a:solidFill>
                              <a:srgbClr val="1E293B"/>
                            </a:solidFill>
                            <a:latin typeface="Cambria Math" panose="02040503050406030204" pitchFamily="18" charset="0"/>
                          </a:rPr>
                          <m:t>u</m:t>
                        </m:r>
                      </m:e>
                    </m:acc>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acc>
                      <m:accPr>
                        <m:chr m:val="⃗"/>
                      </m:accPr>
                      <m:e>
                        <m:r>
                          <a:rPr lang="vi-VN" sz="2000" b="0">
                            <a:solidFill>
                              <a:srgbClr val="1E293B"/>
                            </a:solidFill>
                            <a:latin typeface="Cambria Math" panose="02040503050406030204" pitchFamily="18" charset="0"/>
                          </a:rPr>
                          <m:t>v</m:t>
                        </m:r>
                      </m:e>
                    </m:acc>
                  </m:oMath>
                </a14:m>
                <a:r>
                  <a:rPr sz="2000">
                    <a:solidFill>
                      <a:srgbClr val="1E293B"/>
                    </a:solidFill>
                    <a:latin typeface="Calibri"/>
                  </a:rPr>
                  <a:t> là một số dương? Là một số âm?</a:t>
                </a:r>
              </a:p>
            </p:txBody>
          </p:sp>
        </mc:Choice>
        <mc:Fallback>
          <p:sp>
            <p:nvSpPr>
              <p:cNvPr id="10" name="TextBox 9"/>
              <p:cNvSpPr txBox="1"/>
              <p:nvPr/>
            </p:nvSpPr>
            <p:spPr>
              <a:xfrm>
                <a:off x="548640" y="4044696"/>
                <a:ext cx="7315200" cy="783335"/>
              </a:xfrm>
              <a:prstGeom prst="rect">
                <a:avLst/>
              </a:prstGeom>
              <a:noFill/>
            </p:spPr>
            <p:txBody>
              <a:bodyPr wrap="square" anchor="t" lIns="45720" rIns="45720">
                <a:spAutoFit/>
              </a:bodyPr>
              <a:lstStyle/>
              <a:p>
                <a:pPr algn="l">
                  <a:spcAft>
                    <a:spcPts val="800"/>
                  </a:spcAft>
                </a:pPr>
                <a:r>
                  <a:rPr sz="2000">
                    <a:solidFill>
                      <a:srgbClr val="1E293B"/>
                    </a:solidFill>
                    <a:latin typeface="Calibri"/>
                  </a:rPr>
                  <a:t>❓ Khi nào thì tích vô hướng của hai vectơ khác vectơ-không </a:t>
                </a:r>
                <a:r>
                  <a:rPr lang="vi-VN"/>
                  <a:t>\vec{u},\ \vec{v}</a:t>
                </a:r>
                <a:r>
                  <a:rPr sz="2000">
                    <a:solidFill>
                      <a:srgbClr val="1E293B"/>
                    </a:solidFill>
                    <a:latin typeface="Calibri"/>
                  </a:rPr>
                  <a:t> là một số dương? Là một số âm?</a:t>
                </a:r>
              </a:p>
            </p:txBody>
          </p:sp>
        </mc:Fallback>
      </mc:AlternateContent>
      <p:sp>
        <p:nvSpPr>
          <p:cNvPr id="11" name="s3_nen"/>
          <p:cNvSpPr/>
          <p:nvPr/>
        </p:nvSpPr>
        <p:spPr>
          <a:xfrm>
            <a:off x="548640" y="4901184"/>
            <a:ext cx="731520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937760"/>
                <a:ext cx="698601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Dương khi góc </a:t>
                </a:r>
                <a14:m>
                  <m:oMath xmlns:m="http://schemas.openxmlformats.org/officeDocument/2006/math">
                    <m:d>
                      <m:dPr>
                        <m:sepChr m:val=","/>
                      </m:dPr>
                      <m:e>
                        <m:acc>
                          <m:accPr>
                            <m:chr m:val="⃗"/>
                          </m:accPr>
                          <m:e>
                            <m:r>
                              <a:rPr lang="vi-VN" sz="2000" b="0">
                                <a:solidFill>
                                  <a:srgbClr val="1E293B"/>
                                </a:solidFill>
                                <a:latin typeface="Cambria Math" panose="02040503050406030204" pitchFamily="18" charset="0"/>
                              </a:rPr>
                              <m:t>u</m:t>
                            </m:r>
                          </m:e>
                        </m:acc>
                      </m:e>
                      <m:e>
                        <m:r>
                          <m:rPr>
                            <m:sty m:val="p"/>
                          </m:rPr>
                          <a:rPr lang="vi-VN" sz="2000" b="0">
                            <a:solidFill>
                              <a:srgbClr val="1E293B"/>
                            </a:solidFill>
                            <a:latin typeface="Cambria Math" panose="02040503050406030204" pitchFamily="18" charset="0"/>
                          </a:rPr>
                          <m:t> </m:t>
                        </m:r>
                        <m:acc>
                          <m:accPr>
                            <m:chr m:val="⃗"/>
                          </m:accPr>
                          <m:e>
                            <m:r>
                              <a:rPr lang="vi-VN" sz="2000" b="0">
                                <a:solidFill>
                                  <a:srgbClr val="1E293B"/>
                                </a:solidFill>
                                <a:latin typeface="Cambria Math" panose="02040503050406030204" pitchFamily="18" charset="0"/>
                              </a:rPr>
                              <m:t>v</m:t>
                            </m:r>
                          </m:e>
                        </m:acc>
                      </m:e>
                    </m:d>
                  </m:oMath>
                </a14:m>
                <a:r>
                  <a:rPr sz="2000">
                    <a:solidFill>
                      <a:srgbClr val="1E293B"/>
                    </a:solidFill>
                    <a:latin typeface="Calibri"/>
                  </a:rPr>
                  <a:t> nhọn (kể cả </a:t>
                </a:r>
                <a14:m>
                  <m:oMath xmlns:m="http://schemas.openxmlformats.org/officeDocument/2006/math">
                    <m:sSup>
                      <m:e>
                        <m:r>
                          <a:rPr lang="vi-VN" sz="2000" b="0">
                            <a:solidFill>
                              <a:srgbClr val="1E293B"/>
                            </a:solidFill>
                            <a:latin typeface="Cambria Math" panose="02040503050406030204" pitchFamily="18" charset="0"/>
                          </a:rPr>
                          <m:t>0</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âm khi góc tù (kể cả </a:t>
                </a:r>
                <a14:m>
                  <m:oMath xmlns:m="http://schemas.openxmlformats.org/officeDocument/2006/math">
                    <m:sSup>
                      <m:e>
                        <m:r>
                          <a:rPr lang="vi-VN" sz="2000" b="0">
                            <a:solidFill>
                              <a:srgbClr val="1E293B"/>
                            </a:solidFill>
                            <a:latin typeface="Cambria Math" panose="02040503050406030204" pitchFamily="18" charset="0"/>
                          </a:rPr>
                          <m:t>180</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a:t>
                </a:r>
              </a:p>
            </p:txBody>
          </p:sp>
        </mc:Choice>
        <mc:Fallback>
          <p:sp>
            <p:nvSpPr>
              <p:cNvPr id="12" name="TextBox 11"/>
              <p:cNvSpPr txBox="1"/>
              <p:nvPr/>
            </p:nvSpPr>
            <p:spPr>
              <a:xfrm>
                <a:off x="713232" y="4937760"/>
                <a:ext cx="698601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Dương khi góc </a:t>
                </a:r>
                <a:r>
                  <a:rPr lang="vi-VN"/>
                  <a:t>(\vec{u},\ \vec{v})</a:t>
                </a:r>
                <a:r>
                  <a:rPr sz="2000">
                    <a:solidFill>
                      <a:srgbClr val="1E293B"/>
                    </a:solidFill>
                    <a:latin typeface="Calibri"/>
                  </a:rPr>
                  <a:t> nhọn (kể cả </a:t>
                </a:r>
                <a:r>
                  <a:rPr lang="vi-VN"/>
                  <a:t>0^\circ</a:t>
                </a:r>
                <a:r>
                  <a:rPr sz="2000">
                    <a:solidFill>
                      <a:srgbClr val="1E293B"/>
                    </a:solidFill>
                    <a:latin typeface="Calibri"/>
                  </a:rPr>
                  <a:t>); âm khi góc tù (kể cả </a:t>
                </a:r>
                <a:r>
                  <a:rPr lang="vi-VN"/>
                  <a:t>180^\circ</a:t>
                </a:r>
                <a:r>
                  <a:rPr sz="2000">
                    <a:solidFill>
                      <a:srgbClr val="1E293B"/>
                    </a:solidFill>
                    <a:latin typeface="Calibri"/>
                  </a:rPr>
                  <a:t>).</a:t>
                </a:r>
              </a:p>
            </p:txBody>
          </p:sp>
        </mc:Fallback>
      </mc:AlternateContent>
      <p:pic>
        <p:nvPicPr>
          <p:cNvPr id="13" name="Picture 12" descr="h442.png"/>
          <p:cNvPicPr>
            <a:picLocks noChangeAspect="1"/>
          </p:cNvPicPr>
          <p:nvPr/>
        </p:nvPicPr>
        <p:blipFill>
          <a:blip r:embed="rId3"/>
          <a:stretch>
            <a:fillRect/>
          </a:stretch>
        </p:blipFill>
        <p:spPr>
          <a:xfrm>
            <a:off x="8046720" y="1557670"/>
            <a:ext cx="3657600" cy="1456660"/>
          </a:xfrm>
          <a:prstGeom prst="rect">
            <a:avLst/>
          </a:prstGeom>
        </p:spPr>
      </p:pic>
      <p:sp>
        <p:nvSpPr>
          <p:cNvPr id="14" name="TextBox 13"/>
          <p:cNvSpPr txBox="1"/>
          <p:nvPr/>
        </p:nvSpPr>
        <p:spPr>
          <a:xfrm>
            <a:off x="8046720" y="3035808"/>
            <a:ext cx="365760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4.42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CHÚ Ý – BÌNH PHƯƠNG VÔ HƯỚNG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10</a:t>
            </a:r>
          </a:p>
        </p:txBody>
      </p:sp>
      <p:sp>
        <p:nvSpPr>
          <p:cNvPr id="7" name="Rounded Rectangle 6"/>
          <p:cNvSpPr/>
          <p:nvPr/>
        </p:nvSpPr>
        <p:spPr>
          <a:xfrm>
            <a:off x="548640" y="1463040"/>
            <a:ext cx="11064240" cy="2218944"/>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10735056" cy="2145792"/>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14:m>
                  <m:oMath xmlns:m="http://schemas.openxmlformats.org/officeDocument/2006/math">
                    <m:acc>
                      <m:accPr>
                        <m:chr m:val="⃗"/>
                      </m:accPr>
                      <m:e>
                        <m:r>
                          <a:rPr lang="vi-VN" sz="2300" b="0">
                            <a:solidFill>
                              <a:srgbClr val="1E293B"/>
                            </a:solidFill>
                            <a:latin typeface="Cambria Math" panose="02040503050406030204" pitchFamily="18" charset="0"/>
                          </a:rPr>
                          <m:t>u</m:t>
                        </m:r>
                      </m:e>
                    </m:acc>
                    <m:r>
                      <a:rPr lang="vi-VN" sz="2300" b="0">
                        <a:solidFill>
                          <a:srgbClr val="1E293B"/>
                        </a:solidFill>
                        <a:latin typeface="Cambria Math" panose="02040503050406030204" pitchFamily="18" charset="0"/>
                      </a:rPr>
                      <m:t>⟂</m:t>
                    </m:r>
                    <m:acc>
                      <m:accPr>
                        <m:chr m:val="⃗"/>
                      </m:accPr>
                      <m:e>
                        <m:r>
                          <a:rPr lang="vi-VN" sz="2300" b="0">
                            <a:solidFill>
                              <a:srgbClr val="1E293B"/>
                            </a:solidFill>
                            <a:latin typeface="Cambria Math" panose="02040503050406030204" pitchFamily="18" charset="0"/>
                          </a:rPr>
                          <m:t>v</m:t>
                        </m:r>
                      </m:e>
                    </m:acc>
                    <m:r>
                      <a:rPr lang="vi-VN" sz="2300" b="0">
                        <a:solidFill>
                          <a:srgbClr val="1E293B"/>
                        </a:solidFill>
                        <a:latin typeface="Cambria Math" panose="02040503050406030204" pitchFamily="18" charset="0"/>
                      </a:rPr>
                      <m:t>⇔</m:t>
                    </m:r>
                    <m:acc>
                      <m:accPr>
                        <m:chr m:val="⃗"/>
                      </m:accPr>
                      <m:e>
                        <m:r>
                          <a:rPr lang="vi-VN" sz="2300" b="0">
                            <a:solidFill>
                              <a:srgbClr val="1E293B"/>
                            </a:solidFill>
                            <a:latin typeface="Cambria Math" panose="02040503050406030204" pitchFamily="18" charset="0"/>
                          </a:rPr>
                          <m:t>u</m:t>
                        </m:r>
                      </m:e>
                    </m:acc>
                    <m:r>
                      <a:rPr lang="vi-VN" sz="2300" b="0">
                        <a:solidFill>
                          <a:srgbClr val="1E293B"/>
                        </a:solidFill>
                        <a:latin typeface="Cambria Math" panose="02040503050406030204" pitchFamily="18" charset="0"/>
                      </a:rPr>
                      <m:t>·</m:t>
                    </m:r>
                    <m:acc>
                      <m:accPr>
                        <m:chr m:val="⃗"/>
                      </m:accPr>
                      <m:e>
                        <m:r>
                          <a:rPr lang="vi-VN" sz="2300" b="0">
                            <a:solidFill>
                              <a:srgbClr val="1E293B"/>
                            </a:solidFill>
                            <a:latin typeface="Cambria Math" panose="02040503050406030204" pitchFamily="18" charset="0"/>
                          </a:rPr>
                          <m:t>v</m:t>
                        </m:r>
                      </m:e>
                    </m:acc>
                    <m:r>
                      <a:rPr lang="vi-VN" sz="2300" b="0">
                        <a:solidFill>
                          <a:srgbClr val="1E293B"/>
                        </a:solidFill>
                        <a:latin typeface="Cambria Math" panose="02040503050406030204" pitchFamily="18" charset="0"/>
                      </a:rPr>
                      <m:t>=0</m:t>
                    </m:r>
                  </m:oMath>
                </a14:m>
                <a:r>
                  <a:rPr sz="2300">
                    <a:solidFill>
                      <a:srgbClr val="1E293B"/>
                    </a:solidFill>
                    <a:latin typeface="Calibri"/>
                  </a:rPr>
                  <a:t>.</a:t>
                </a:r>
              </a:p>
              <a:p>
                <a:pPr algn="l" marL="365760" indent="-365760">
                  <a:spcAft>
                    <a:spcPts val="800"/>
                  </a:spcAft>
                  <a:buClr>
                    <a:srgbClr val="1E40AF"/>
                  </a:buClr>
                  <a:buFont typeface="Arial"/>
                  <a:buChar char="•"/>
                </a:pPr>
                <a14:m>
                  <m:oMath xmlns:m="http://schemas.openxmlformats.org/officeDocument/2006/math">
                    <m:acc>
                      <m:accPr>
                        <m:chr m:val="⃗"/>
                      </m:accPr>
                      <m:e>
                        <m:r>
                          <a:rPr lang="vi-VN" sz="2300" b="0">
                            <a:solidFill>
                              <a:srgbClr val="1E293B"/>
                            </a:solidFill>
                            <a:latin typeface="Cambria Math" panose="02040503050406030204" pitchFamily="18" charset="0"/>
                          </a:rPr>
                          <m:t>u</m:t>
                        </m:r>
                      </m:e>
                    </m:acc>
                    <m:r>
                      <a:rPr lang="vi-VN" sz="2300" b="0">
                        <a:solidFill>
                          <a:srgbClr val="1E293B"/>
                        </a:solidFill>
                        <a:latin typeface="Cambria Math" panose="02040503050406030204" pitchFamily="18" charset="0"/>
                      </a:rPr>
                      <m:t>·</m:t>
                    </m:r>
                    <m:acc>
                      <m:accPr>
                        <m:chr m:val="⃗"/>
                      </m:accPr>
                      <m:e>
                        <m:r>
                          <a:rPr lang="vi-VN" sz="2300" b="0">
                            <a:solidFill>
                              <a:srgbClr val="1E293B"/>
                            </a:solidFill>
                            <a:latin typeface="Cambria Math" panose="02040503050406030204" pitchFamily="18" charset="0"/>
                          </a:rPr>
                          <m:t>u</m:t>
                        </m:r>
                      </m:e>
                    </m:acc>
                  </m:oMath>
                </a14:m>
                <a:r>
                  <a:rPr sz="2300">
                    <a:solidFill>
                      <a:srgbClr val="1E293B"/>
                    </a:solidFill>
                    <a:latin typeface="Calibri"/>
                  </a:rPr>
                  <a:t> còn được viết là </a:t>
                </a:r>
                <a14:m>
                  <m:oMath xmlns:m="http://schemas.openxmlformats.org/officeDocument/2006/math">
                    <m:sSup>
                      <m:e>
                        <m:acc>
                          <m:accPr>
                            <m:chr m:val="⃗"/>
                          </m:accPr>
                          <m:e>
                            <m:r>
                              <a:rPr lang="vi-VN" sz="2300" b="0">
                                <a:solidFill>
                                  <a:srgbClr val="1E293B"/>
                                </a:solidFill>
                                <a:latin typeface="Cambria Math" panose="02040503050406030204" pitchFamily="18" charset="0"/>
                              </a:rPr>
                              <m:t>u</m:t>
                            </m:r>
                          </m:e>
                        </m:acc>
                      </m:e>
                      <m:sup>
                        <m:r>
                          <a:rPr lang="vi-VN" sz="2300" b="0">
                            <a:solidFill>
                              <a:srgbClr val="1E293B"/>
                            </a:solidFill>
                            <a:latin typeface="Cambria Math" panose="02040503050406030204" pitchFamily="18" charset="0"/>
                          </a:rPr>
                          <m:t>2</m:t>
                        </m:r>
                      </m:sup>
                    </m:sSup>
                  </m:oMath>
                </a14:m>
                <a:r>
                  <a:rPr sz="2300">
                    <a:solidFill>
                      <a:srgbClr val="1E293B"/>
                    </a:solidFill>
                    <a:latin typeface="Calibri"/>
                  </a:rPr>
                  <a:t> và được gọi là </a:t>
                </a:r>
                <a:r>
                  <a:rPr sz="2300" b="1">
                    <a:solidFill>
                      <a:srgbClr val="1E293B"/>
                    </a:solidFill>
                    <a:latin typeface="Calibri"/>
                  </a:rPr>
                  <a:t>bình phương vô hướng</a:t>
                </a:r>
                <a:r>
                  <a:rPr sz="2300">
                    <a:solidFill>
                      <a:srgbClr val="1E293B"/>
                    </a:solidFill>
                    <a:latin typeface="Calibri"/>
                  </a:rPr>
                  <a:t> của vectơ </a:t>
                </a:r>
                <a14:m>
                  <m:oMath xmlns:m="http://schemas.openxmlformats.org/officeDocument/2006/math">
                    <m:acc>
                      <m:accPr>
                        <m:chr m:val="⃗"/>
                      </m:accPr>
                      <m:e>
                        <m:r>
                          <a:rPr lang="vi-VN" sz="2300" b="0">
                            <a:solidFill>
                              <a:srgbClr val="1E293B"/>
                            </a:solidFill>
                            <a:latin typeface="Cambria Math" panose="02040503050406030204" pitchFamily="18" charset="0"/>
                          </a:rPr>
                          <m:t>u</m:t>
                        </m:r>
                      </m:e>
                    </m:acc>
                  </m:oMath>
                </a14:m>
                <a:r>
                  <a:rPr sz="2300">
                    <a:solidFill>
                      <a:srgbClr val="1E293B"/>
                    </a:solidFill>
                    <a:latin typeface="Calibri"/>
                  </a:rPr>
                  <a:t>. Ta có </a:t>
                </a:r>
                <a14:m>
                  <m:oMath xmlns:m="http://schemas.openxmlformats.org/officeDocument/2006/math">
                    <m:sSup>
                      <m:e>
                        <m:acc>
                          <m:accPr>
                            <m:chr m:val="⃗"/>
                          </m:accPr>
                          <m:e>
                            <m:r>
                              <a:rPr lang="vi-VN" sz="2300" b="0">
                                <a:solidFill>
                                  <a:srgbClr val="1E293B"/>
                                </a:solidFill>
                                <a:latin typeface="Cambria Math" panose="02040503050406030204" pitchFamily="18" charset="0"/>
                              </a:rPr>
                              <m:t>u</m:t>
                            </m:r>
                          </m:e>
                        </m:acc>
                      </m:e>
                      <m:sup>
                        <m:r>
                          <a:rPr lang="vi-VN" sz="2300" b="0">
                            <a:solidFill>
                              <a:srgbClr val="1E293B"/>
                            </a:solidFill>
                            <a:latin typeface="Cambria Math" panose="02040503050406030204" pitchFamily="18" charset="0"/>
                          </a:rPr>
                          <m:t>2</m:t>
                        </m:r>
                      </m:sup>
                    </m:sSup>
                    <m:r>
                      <a:rPr lang="vi-VN" sz="2300" b="0">
                        <a:solidFill>
                          <a:srgbClr val="1E293B"/>
                        </a:solidFill>
                        <a:latin typeface="Cambria Math" panose="02040503050406030204" pitchFamily="18" charset="0"/>
                      </a:rPr>
                      <m:t>=|</m:t>
                    </m:r>
                    <m:acc>
                      <m:accPr>
                        <m:chr m:val="⃗"/>
                      </m:accPr>
                      <m:e>
                        <m:r>
                          <a:rPr lang="vi-VN" sz="2300" b="0">
                            <a:solidFill>
                              <a:srgbClr val="1E293B"/>
                            </a:solidFill>
                            <a:latin typeface="Cambria Math" panose="02040503050406030204" pitchFamily="18" charset="0"/>
                          </a:rPr>
                          <m:t>u</m:t>
                        </m:r>
                      </m:e>
                    </m:acc>
                    <m:r>
                      <a:rPr lang="vi-VN" sz="2300" b="0">
                        <a:solidFill>
                          <a:srgbClr val="1E293B"/>
                        </a:solidFill>
                        <a:latin typeface="Cambria Math" panose="02040503050406030204" pitchFamily="18" charset="0"/>
                      </a:rPr>
                      <m:t>|·|</m:t>
                    </m:r>
                    <m:acc>
                      <m:accPr>
                        <m:chr m:val="⃗"/>
                      </m:accPr>
                      <m:e>
                        <m:r>
                          <a:rPr lang="vi-VN" sz="2300" b="0">
                            <a:solidFill>
                              <a:srgbClr val="1E293B"/>
                            </a:solidFill>
                            <a:latin typeface="Cambria Math" panose="02040503050406030204" pitchFamily="18" charset="0"/>
                          </a:rPr>
                          <m:t>u</m:t>
                        </m:r>
                      </m:e>
                    </m:acc>
                    <m:r>
                      <a:rPr lang="vi-VN" sz="2300" b="0">
                        <a:solidFill>
                          <a:srgbClr val="1E293B"/>
                        </a:solidFill>
                        <a:latin typeface="Cambria Math" panose="02040503050406030204" pitchFamily="18" charset="0"/>
                      </a:rPr>
                      <m:t>|·</m:t>
                    </m:r>
                    <m:r>
                      <m:rPr>
                        <m:sty m:val="p"/>
                      </m:rPr>
                      <a:rPr lang="vi-VN" sz="2300" b="0">
                        <a:solidFill>
                          <a:srgbClr val="1E293B"/>
                        </a:solidFill>
                        <a:latin typeface="Cambria Math" panose="02040503050406030204" pitchFamily="18" charset="0"/>
                      </a:rPr>
                      <m:t>cos</m:t>
                    </m:r>
                    <m:r>
                      <m:rPr>
                        <m:sty m:val="p"/>
                      </m:rPr>
                      <a:rPr lang="vi-VN" sz="2300" b="0">
                        <a:solidFill>
                          <a:srgbClr val="1E293B"/>
                        </a:solidFill>
                        <a:latin typeface="Cambria Math" panose="02040503050406030204" pitchFamily="18" charset="0"/>
                      </a:rPr>
                      <m:t> </m:t>
                    </m:r>
                    <m:sSup>
                      <m:e>
                        <m:r>
                          <a:rPr lang="vi-VN" sz="2300" b="0">
                            <a:solidFill>
                              <a:srgbClr val="1E293B"/>
                            </a:solidFill>
                            <a:latin typeface="Cambria Math" panose="02040503050406030204" pitchFamily="18" charset="0"/>
                          </a:rPr>
                          <m:t>0</m:t>
                        </m:r>
                      </m:e>
                      <m:sup>
                        <m:r>
                          <a:rPr lang="vi-VN" sz="2300" b="0">
                            <a:solidFill>
                              <a:srgbClr val="1E293B"/>
                            </a:solidFill>
                            <a:latin typeface="Cambria Math" panose="02040503050406030204" pitchFamily="18" charset="0"/>
                          </a:rPr>
                          <m:t>∘</m:t>
                        </m:r>
                      </m:sup>
                    </m:sSup>
                    <m:r>
                      <a:rPr lang="vi-VN" sz="2300" b="0">
                        <a:solidFill>
                          <a:srgbClr val="1E293B"/>
                        </a:solidFill>
                        <a:latin typeface="Cambria Math" panose="02040503050406030204" pitchFamily="18" charset="0"/>
                      </a:rPr>
                      <m:t>=|</m:t>
                    </m:r>
                    <m:acc>
                      <m:accPr>
                        <m:chr m:val="⃗"/>
                      </m:accPr>
                      <m:e>
                        <m:r>
                          <a:rPr lang="vi-VN" sz="2300" b="0">
                            <a:solidFill>
                              <a:srgbClr val="1E293B"/>
                            </a:solidFill>
                            <a:latin typeface="Cambria Math" panose="02040503050406030204" pitchFamily="18" charset="0"/>
                          </a:rPr>
                          <m:t>u</m:t>
                        </m:r>
                      </m:e>
                    </m:acc>
                    <m:sSup>
                      <m:e>
                        <m:r>
                          <a:rPr lang="vi-VN" sz="2300" b="0">
                            <a:solidFill>
                              <a:srgbClr val="1E293B"/>
                            </a:solidFill>
                            <a:latin typeface="Cambria Math" panose="02040503050406030204" pitchFamily="18" charset="0"/>
                          </a:rPr>
                          <m:t>|</m:t>
                        </m:r>
                      </m:e>
                      <m:sup>
                        <m:r>
                          <a:rPr lang="vi-VN" sz="2300" b="0">
                            <a:solidFill>
                              <a:srgbClr val="1E293B"/>
                            </a:solidFill>
                            <a:latin typeface="Cambria Math" panose="02040503050406030204" pitchFamily="18" charset="0"/>
                          </a:rPr>
                          <m:t>2</m:t>
                        </m:r>
                      </m:sup>
                    </m:sSup>
                  </m:oMath>
                </a14:m>
                <a:r>
                  <a:rPr sz="2300">
                    <a:solidFill>
                      <a:srgbClr val="1E293B"/>
                    </a:solidFill>
                    <a:latin typeface="Calibri"/>
                  </a:rPr>
                  <a:t>.</a:t>
                </a:r>
              </a:p>
              <a:p>
                <a:pPr algn="l">
                  <a:spcAft>
                    <a:spcPts val="800"/>
                  </a:spcAft>
                </a:pPr>
                <a:r>
                  <a:rPr sz="2100">
                    <a:solidFill>
                      <a:srgbClr val="64748B"/>
                    </a:solidFill>
                    <a:latin typeface="Calibri"/>
                  </a:rPr>
                  <a:t>Bình phương vô hướng của một vectơ bằng bình phương độ dài của vectơ đó.</a:t>
                </a:r>
              </a:p>
            </p:txBody>
          </p:sp>
        </mc:Choice>
        <mc:Fallback>
          <p:sp>
            <p:nvSpPr>
              <p:cNvPr id="8" name="TextBox 7"/>
              <p:cNvSpPr txBox="1"/>
              <p:nvPr/>
            </p:nvSpPr>
            <p:spPr>
              <a:xfrm>
                <a:off x="713232" y="1499616"/>
                <a:ext cx="10735056" cy="2145792"/>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lang="vi-VN"/>
                  <a:t>\vec{u}\perp\vec{v}\Leftrightarrow\vec{u}\cdot\vec{v}=0</a:t>
                </a:r>
                <a:r>
                  <a:rPr sz="2300">
                    <a:solidFill>
                      <a:srgbClr val="1E293B"/>
                    </a:solidFill>
                    <a:latin typeface="Calibri"/>
                  </a:rPr>
                  <a:t>.</a:t>
                </a:r>
              </a:p>
              <a:p>
                <a:pPr algn="l" marL="365760" indent="-365760">
                  <a:spcAft>
                    <a:spcPts val="800"/>
                  </a:spcAft>
                  <a:buClr>
                    <a:srgbClr val="1E40AF"/>
                  </a:buClr>
                  <a:buFont typeface="Arial"/>
                  <a:buChar char="•"/>
                </a:pPr>
                <a:r>
                  <a:rPr lang="vi-VN"/>
                  <a:t>\vec{u}\cdot\vec{u}</a:t>
                </a:r>
                <a:r>
                  <a:rPr sz="2300">
                    <a:solidFill>
                      <a:srgbClr val="1E293B"/>
                    </a:solidFill>
                    <a:latin typeface="Calibri"/>
                  </a:rPr>
                  <a:t> còn được viết là </a:t>
                </a:r>
                <a:r>
                  <a:rPr lang="vi-VN"/>
                  <a:t>\vec{u}^2</a:t>
                </a:r>
                <a:r>
                  <a:rPr sz="2300">
                    <a:solidFill>
                      <a:srgbClr val="1E293B"/>
                    </a:solidFill>
                    <a:latin typeface="Calibri"/>
                  </a:rPr>
                  <a:t> và được gọi là </a:t>
                </a:r>
                <a:r>
                  <a:rPr sz="2300" b="1">
                    <a:solidFill>
                      <a:srgbClr val="1E293B"/>
                    </a:solidFill>
                    <a:latin typeface="Calibri"/>
                  </a:rPr>
                  <a:t>bình phương vô hướng</a:t>
                </a:r>
                <a:r>
                  <a:rPr sz="2300">
                    <a:solidFill>
                      <a:srgbClr val="1E293B"/>
                    </a:solidFill>
                    <a:latin typeface="Calibri"/>
                  </a:rPr>
                  <a:t> của vectơ </a:t>
                </a:r>
                <a:r>
                  <a:rPr lang="vi-VN"/>
                  <a:t>\vec{u}</a:t>
                </a:r>
                <a:r>
                  <a:rPr sz="2300">
                    <a:solidFill>
                      <a:srgbClr val="1E293B"/>
                    </a:solidFill>
                    <a:latin typeface="Calibri"/>
                  </a:rPr>
                  <a:t>. Ta có </a:t>
                </a:r>
                <a:r>
                  <a:rPr lang="vi-VN"/>
                  <a:t>\vec{u}^2=|\vec{u}|\cdot|\vec{u}|\cdot\cos 0^\circ=|\vec{u}|^2</a:t>
                </a:r>
                <a:r>
                  <a:rPr sz="2300">
                    <a:solidFill>
                      <a:srgbClr val="1E293B"/>
                    </a:solidFill>
                    <a:latin typeface="Calibri"/>
                  </a:rPr>
                  <a:t>.</a:t>
                </a:r>
              </a:p>
              <a:p>
                <a:pPr algn="l">
                  <a:spcAft>
                    <a:spcPts val="800"/>
                  </a:spcAft>
                </a:pPr>
                <a:r>
                  <a:rPr sz="2100">
                    <a:solidFill>
                      <a:srgbClr val="64748B"/>
                    </a:solidFill>
                    <a:latin typeface="Calibri"/>
                  </a:rPr>
                  <a:t>Bình phương vô hướng của một vectơ bằng bình phương độ dài của vectơ đó.</a:t>
                </a:r>
              </a:p>
            </p:txBody>
          </p:sp>
        </mc:Fallback>
      </mc:AlternateContent>
      <mc:AlternateContent xmlns:mc="http://schemas.openxmlformats.org/markup-compatibility/2006">
        <mc:Choice xmlns:a14="http://schemas.microsoft.com/office/drawing/2010/main" Requires="a14">
          <p:sp>
            <p:nvSpPr>
              <p:cNvPr id="9" name="s1_chu"/>
              <p:cNvSpPr txBox="1"/>
              <p:nvPr/>
            </p:nvSpPr>
            <p:spPr>
              <a:xfrm>
                <a:off x="548640" y="3846576"/>
                <a:ext cx="11064240" cy="524255"/>
              </a:xfrm>
              <a:prstGeom prst="rect">
                <a:avLst/>
              </a:prstGeom>
              <a:noFill/>
            </p:spPr>
            <p:txBody>
              <a:bodyPr wrap="square" anchor="t" lIns="45720" rIns="45720">
                <a:spAutoFit/>
              </a:bodyPr>
              <a:lstStyle/>
              <a:p>
                <a:pPr algn="l">
                  <a:spcAft>
                    <a:spcPts val="800"/>
                  </a:spcAft>
                </a:pPr>
                <a:r>
                  <a:rPr sz="2300">
                    <a:solidFill>
                      <a:srgbClr val="1E293B"/>
                    </a:solidFill>
                    <a:latin typeface="Calibri"/>
                  </a:rPr>
                  <a:t>❓ Khi nào thì </a:t>
                </a:r>
                <a14:m>
                  <m:oMath xmlns:m="http://schemas.openxmlformats.org/officeDocument/2006/math">
                    <m:d>
                      <m:dPr>
                        <m:sepChr m:val=""/>
                        <m:endChr m:val=""/>
                      </m:dPr>
                      <m:e>
                        <m:acc>
                          <m:accPr>
                            <m:chr m:val="⃗"/>
                          </m:accPr>
                          <m:e>
                            <m:r>
                              <a:rPr lang="vi-VN" sz="2300" b="0">
                                <a:solidFill>
                                  <a:srgbClr val="1E293B"/>
                                </a:solidFill>
                                <a:latin typeface="Cambria Math" panose="02040503050406030204" pitchFamily="18" charset="0"/>
                              </a:rPr>
                              <m:t>u</m:t>
                            </m:r>
                          </m:e>
                        </m:acc>
                        <m:r>
                          <a:rPr lang="vi-VN" sz="2300" b="0">
                            <a:solidFill>
                              <a:srgbClr val="1E293B"/>
                            </a:solidFill>
                            <a:latin typeface="Cambria Math" panose="02040503050406030204" pitchFamily="18" charset="0"/>
                          </a:rPr>
                          <m:t>·</m:t>
                        </m:r>
                        <m:acc>
                          <m:accPr>
                            <m:chr m:val="⃗"/>
                          </m:accPr>
                          <m:e>
                            <m:r>
                              <a:rPr lang="vi-VN" sz="2300" b="0">
                                <a:solidFill>
                                  <a:srgbClr val="1E293B"/>
                                </a:solidFill>
                                <a:latin typeface="Cambria Math" panose="02040503050406030204" pitchFamily="18" charset="0"/>
                              </a:rPr>
                              <m:t>v</m:t>
                            </m:r>
                          </m:e>
                        </m:acc>
                        <m:sSup>
                          <m:e>
                            <m:r>
                              <a:rPr lang="vi-VN" sz="2300" b="0">
                                <a:solidFill>
                                  <a:srgbClr val="1E293B"/>
                                </a:solidFill>
                                <a:latin typeface="Cambria Math" panose="02040503050406030204" pitchFamily="18" charset="0"/>
                              </a:rPr>
                              <m:t>)</m:t>
                            </m:r>
                          </m:e>
                          <m:sup>
                            <m:r>
                              <a:rPr lang="vi-VN" sz="2300" b="0">
                                <a:solidFill>
                                  <a:srgbClr val="1E293B"/>
                                </a:solidFill>
                                <a:latin typeface="Cambria Math" panose="02040503050406030204" pitchFamily="18" charset="0"/>
                              </a:rPr>
                              <m:t>2</m:t>
                            </m:r>
                          </m:sup>
                        </m:sSup>
                        <m:r>
                          <a:rPr lang="vi-VN" sz="2300" b="0">
                            <a:solidFill>
                              <a:srgbClr val="1E293B"/>
                            </a:solidFill>
                            <a:latin typeface="Cambria Math" panose="02040503050406030204" pitchFamily="18" charset="0"/>
                          </a:rPr>
                          <m:t>=</m:t>
                        </m:r>
                        <m:sSup>
                          <m:e>
                            <m:acc>
                              <m:accPr>
                                <m:chr m:val="⃗"/>
                              </m:accPr>
                              <m:e>
                                <m:r>
                                  <a:rPr lang="vi-VN" sz="2300" b="0">
                                    <a:solidFill>
                                      <a:srgbClr val="1E293B"/>
                                    </a:solidFill>
                                    <a:latin typeface="Cambria Math" panose="02040503050406030204" pitchFamily="18" charset="0"/>
                                  </a:rPr>
                                  <m:t>u</m:t>
                                </m:r>
                              </m:e>
                            </m:acc>
                          </m:e>
                          <m:sup>
                            <m:r>
                              <a:rPr lang="vi-VN" sz="2300" b="0">
                                <a:solidFill>
                                  <a:srgbClr val="1E293B"/>
                                </a:solidFill>
                                <a:latin typeface="Cambria Math" panose="02040503050406030204" pitchFamily="18" charset="0"/>
                              </a:rPr>
                              <m:t>2</m:t>
                            </m:r>
                          </m:sup>
                        </m:sSup>
                        <m:r>
                          <a:rPr lang="vi-VN" sz="2300" b="0">
                            <a:solidFill>
                              <a:srgbClr val="1E293B"/>
                            </a:solidFill>
                            <a:latin typeface="Cambria Math" panose="02040503050406030204" pitchFamily="18" charset="0"/>
                          </a:rPr>
                          <m:t>·</m:t>
                        </m:r>
                        <m:sSup>
                          <m:e>
                            <m:acc>
                              <m:accPr>
                                <m:chr m:val="⃗"/>
                              </m:accPr>
                              <m:e>
                                <m:r>
                                  <a:rPr lang="vi-VN" sz="2300" b="0">
                                    <a:solidFill>
                                      <a:srgbClr val="1E293B"/>
                                    </a:solidFill>
                                    <a:latin typeface="Cambria Math" panose="02040503050406030204" pitchFamily="18" charset="0"/>
                                  </a:rPr>
                                  <m:t>v</m:t>
                                </m:r>
                              </m:e>
                            </m:acc>
                          </m:e>
                          <m:sup>
                            <m:r>
                              <a:rPr lang="vi-VN" sz="2300" b="0">
                                <a:solidFill>
                                  <a:srgbClr val="1E293B"/>
                                </a:solidFill>
                                <a:latin typeface="Cambria Math" panose="02040503050406030204" pitchFamily="18" charset="0"/>
                              </a:rPr>
                              <m:t>2</m:t>
                            </m:r>
                          </m:sup>
                        </m:sSup>
                      </m:e>
                    </m:d>
                  </m:oMath>
                </a14:m>
                <a:r>
                  <a:rPr sz="2300">
                    <a:solidFill>
                      <a:srgbClr val="1E293B"/>
                    </a:solidFill>
                    <a:latin typeface="Calibri"/>
                  </a:rPr>
                  <a:t>?</a:t>
                </a:r>
              </a:p>
            </p:txBody>
          </p:sp>
        </mc:Choice>
        <mc:Fallback>
          <p:sp>
            <p:nvSpPr>
              <p:cNvPr id="9" name="TextBox 8"/>
              <p:cNvSpPr txBox="1"/>
              <p:nvPr/>
            </p:nvSpPr>
            <p:spPr>
              <a:xfrm>
                <a:off x="548640" y="3846576"/>
                <a:ext cx="11064240" cy="524255"/>
              </a:xfrm>
              <a:prstGeom prst="rect">
                <a:avLst/>
              </a:prstGeom>
              <a:noFill/>
            </p:spPr>
            <p:txBody>
              <a:bodyPr wrap="square" anchor="t" lIns="45720" rIns="45720">
                <a:spAutoFit/>
              </a:bodyPr>
              <a:lstStyle/>
              <a:p>
                <a:pPr algn="l">
                  <a:spcAft>
                    <a:spcPts val="800"/>
                  </a:spcAft>
                </a:pPr>
                <a:r>
                  <a:rPr sz="2300">
                    <a:solidFill>
                      <a:srgbClr val="1E293B"/>
                    </a:solidFill>
                    <a:latin typeface="Calibri"/>
                  </a:rPr>
                  <a:t>❓ Khi nào thì </a:t>
                </a:r>
                <a:r>
                  <a:rPr lang="vi-VN"/>
                  <a:t>(\vec{u}\cdot\vec{v})^2=\vec{u}^2\cdot\vec{v}^2</a:t>
                </a:r>
                <a:r>
                  <a:rPr sz="2300">
                    <a:solidFill>
                      <a:srgbClr val="1E293B"/>
                    </a:solidFill>
                    <a:latin typeface="Calibri"/>
                  </a:rPr>
                  <a:t>?</a:t>
                </a:r>
              </a:p>
            </p:txBody>
          </p:sp>
        </mc:Fallback>
      </mc:AlternateContent>
      <p:sp>
        <p:nvSpPr>
          <p:cNvPr id="10" name="s2_nen"/>
          <p:cNvSpPr/>
          <p:nvPr/>
        </p:nvSpPr>
        <p:spPr>
          <a:xfrm>
            <a:off x="548640" y="4535424"/>
            <a:ext cx="11064240" cy="96621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572000"/>
                <a:ext cx="10735056" cy="893064"/>
              </a:xfrm>
              <a:prstGeom prst="rect">
                <a:avLst/>
              </a:prstGeom>
              <a:noFill/>
            </p:spPr>
            <p:txBody>
              <a:bodyPr wrap="square" anchor="ctr" lIns="45720" rIns="45720">
                <a:spAutoFit/>
              </a:bodyPr>
              <a:lstStyle/>
              <a:p>
                <a:pPr algn="l">
                  <a:spcAft>
                    <a:spcPts val="800"/>
                  </a:spcAft>
                </a:pPr>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m:t>
                    </m:r>
                    <m:acc>
                      <m:accPr>
                        <m:chr m:val="⃗"/>
                      </m:accPr>
                      <m:e>
                        <m:r>
                          <a:rPr lang="vi-VN" sz="2300" b="0">
                            <a:solidFill>
                              <a:srgbClr val="1E293B"/>
                            </a:solidFill>
                            <a:latin typeface="Cambria Math" panose="02040503050406030204" pitchFamily="18" charset="0"/>
                          </a:rPr>
                          <m:t>u</m:t>
                        </m:r>
                      </m:e>
                    </m:acc>
                    <m:r>
                      <a:rPr lang="vi-VN" sz="2300" b="0">
                        <a:solidFill>
                          <a:srgbClr val="1E293B"/>
                        </a:solidFill>
                        <a:latin typeface="Cambria Math" panose="02040503050406030204" pitchFamily="18" charset="0"/>
                      </a:rPr>
                      <m:t>·</m:t>
                    </m:r>
                    <m:acc>
                      <m:accPr>
                        <m:chr m:val="⃗"/>
                      </m:accPr>
                      <m:e>
                        <m:r>
                          <a:rPr lang="vi-VN" sz="2300" b="0">
                            <a:solidFill>
                              <a:srgbClr val="1E293B"/>
                            </a:solidFill>
                            <a:latin typeface="Cambria Math" panose="02040503050406030204" pitchFamily="18" charset="0"/>
                          </a:rPr>
                          <m:t>v</m:t>
                        </m:r>
                      </m:e>
                    </m:acc>
                    <m:sSup>
                      <m:e>
                        <m:r>
                          <a:rPr lang="vi-VN" sz="2300" b="0">
                            <a:solidFill>
                              <a:srgbClr val="1E293B"/>
                            </a:solidFill>
                            <a:latin typeface="Cambria Math" panose="02040503050406030204" pitchFamily="18" charset="0"/>
                          </a:rPr>
                          <m:t>)</m:t>
                        </m:r>
                      </m:e>
                      <m:sup>
                        <m:r>
                          <a:rPr lang="vi-VN" sz="2300" b="0">
                            <a:solidFill>
                              <a:srgbClr val="1E293B"/>
                            </a:solidFill>
                            <a:latin typeface="Cambria Math" panose="02040503050406030204" pitchFamily="18" charset="0"/>
                          </a:rPr>
                          <m:t>2</m:t>
                        </m:r>
                      </m:sup>
                    </m:sSup>
                    <m:r>
                      <a:rPr lang="vi-VN" sz="2300" b="0">
                        <a:solidFill>
                          <a:srgbClr val="1E293B"/>
                        </a:solidFill>
                        <a:latin typeface="Cambria Math" panose="02040503050406030204" pitchFamily="18" charset="0"/>
                      </a:rPr>
                      <m:t>=</m:t>
                    </m:r>
                    <m:sSup>
                      <m:e>
                        <m:acc>
                          <m:accPr>
                            <m:chr m:val="⃗"/>
                          </m:accPr>
                          <m:e>
                            <m:r>
                              <a:rPr lang="vi-VN" sz="2300" b="0">
                                <a:solidFill>
                                  <a:srgbClr val="1E293B"/>
                                </a:solidFill>
                                <a:latin typeface="Cambria Math" panose="02040503050406030204" pitchFamily="18" charset="0"/>
                              </a:rPr>
                              <m:t>u</m:t>
                            </m:r>
                          </m:e>
                        </m:acc>
                      </m:e>
                      <m:sup>
                        <m:r>
                          <a:rPr lang="vi-VN" sz="2300" b="0">
                            <a:solidFill>
                              <a:srgbClr val="1E293B"/>
                            </a:solidFill>
                            <a:latin typeface="Cambria Math" panose="02040503050406030204" pitchFamily="18" charset="0"/>
                          </a:rPr>
                          <m:t>2</m:t>
                        </m:r>
                      </m:sup>
                    </m:sSup>
                    <m:r>
                      <a:rPr lang="vi-VN" sz="2300" b="0">
                        <a:solidFill>
                          <a:srgbClr val="1E293B"/>
                        </a:solidFill>
                        <a:latin typeface="Cambria Math" panose="02040503050406030204" pitchFamily="18" charset="0"/>
                      </a:rPr>
                      <m:t>·</m:t>
                    </m:r>
                    <m:sSup>
                      <m:e>
                        <m:acc>
                          <m:accPr>
                            <m:chr m:val="⃗"/>
                          </m:accPr>
                          <m:e>
                            <m:r>
                              <a:rPr lang="vi-VN" sz="2300" b="0">
                                <a:solidFill>
                                  <a:srgbClr val="1E293B"/>
                                </a:solidFill>
                                <a:latin typeface="Cambria Math" panose="02040503050406030204" pitchFamily="18" charset="0"/>
                              </a:rPr>
                              <m:t>v</m:t>
                            </m:r>
                          </m:e>
                        </m:acc>
                      </m:e>
                      <m:sup>
                        <m:r>
                          <a:rPr lang="vi-VN" sz="2300" b="0">
                            <a:solidFill>
                              <a:srgbClr val="1E293B"/>
                            </a:solidFill>
                            <a:latin typeface="Cambria Math" panose="02040503050406030204" pitchFamily="18" charset="0"/>
                          </a:rPr>
                          <m:t>2</m:t>
                        </m:r>
                      </m:sup>
                    </m:sSup>
                    <m:r>
                      <a:rPr lang="vi-VN" sz="2300" b="0">
                        <a:solidFill>
                          <a:srgbClr val="1E293B"/>
                        </a:solidFill>
                        <a:latin typeface="Cambria Math" panose="02040503050406030204" pitchFamily="18" charset="0"/>
                      </a:rPr>
                      <m:t>⇔</m:t>
                    </m:r>
                    <m:sSup>
                      <m:e>
                        <m:r>
                          <m:rPr>
                            <m:sty m:val="p"/>
                          </m:rPr>
                          <a:rPr lang="vi-VN" sz="2300" b="0">
                            <a:solidFill>
                              <a:srgbClr val="1E293B"/>
                            </a:solidFill>
                            <a:latin typeface="Cambria Math" panose="02040503050406030204" pitchFamily="18" charset="0"/>
                          </a:rPr>
                          <m:t>cos</m:t>
                        </m:r>
                      </m:e>
                      <m:sup>
                        <m:r>
                          <a:rPr lang="vi-VN" sz="2300" b="0">
                            <a:solidFill>
                              <a:srgbClr val="1E293B"/>
                            </a:solidFill>
                            <a:latin typeface="Cambria Math" panose="02040503050406030204" pitchFamily="18" charset="0"/>
                          </a:rPr>
                          <m:t>2</m:t>
                        </m:r>
                      </m:sup>
                    </m:sSup>
                    <m:r>
                      <a:rPr lang="vi-VN" sz="2300" b="0">
                        <a:solidFill>
                          <a:srgbClr val="1E293B"/>
                        </a:solidFill>
                        <a:latin typeface="Cambria Math" panose="02040503050406030204" pitchFamily="18" charset="0"/>
                      </a:rPr>
                      <m:t>(</m:t>
                    </m:r>
                    <m:acc>
                      <m:accPr>
                        <m:chr m:val="⃗"/>
                      </m:accPr>
                      <m:e>
                        <m:r>
                          <a:rPr lang="vi-VN" sz="2300" b="0">
                            <a:solidFill>
                              <a:srgbClr val="1E293B"/>
                            </a:solidFill>
                            <a:latin typeface="Cambria Math" panose="02040503050406030204" pitchFamily="18" charset="0"/>
                          </a:rPr>
                          <m:t>u</m:t>
                        </m:r>
                      </m:e>
                    </m:acc>
                    <m:r>
                      <a:rPr lang="vi-VN" sz="2300" b="0">
                        <a:solidFill>
                          <a:srgbClr val="1E293B"/>
                        </a:solidFill>
                        <a:latin typeface="Cambria Math" panose="02040503050406030204" pitchFamily="18" charset="0"/>
                      </a:rPr>
                      <m:t>,</m:t>
                    </m:r>
                    <m:r>
                      <m:rPr>
                        <m:sty m:val="p"/>
                      </m:rPr>
                      <a:rPr lang="vi-VN" sz="2300" b="0">
                        <a:solidFill>
                          <a:srgbClr val="1E293B"/>
                        </a:solidFill>
                        <a:latin typeface="Cambria Math" panose="02040503050406030204" pitchFamily="18" charset="0"/>
                      </a:rPr>
                      <m:t> </m:t>
                    </m:r>
                    <m:acc>
                      <m:accPr>
                        <m:chr m:val="⃗"/>
                      </m:accPr>
                      <m:e>
                        <m:r>
                          <a:rPr lang="vi-VN" sz="2300" b="0">
                            <a:solidFill>
                              <a:srgbClr val="1E293B"/>
                            </a:solidFill>
                            <a:latin typeface="Cambria Math" panose="02040503050406030204" pitchFamily="18" charset="0"/>
                          </a:rPr>
                          <m:t>v</m:t>
                        </m:r>
                      </m:e>
                    </m:acc>
                    <m:r>
                      <a:rPr lang="vi-VN" sz="2300" b="0">
                        <a:solidFill>
                          <a:srgbClr val="1E293B"/>
                        </a:solidFill>
                        <a:latin typeface="Cambria Math" panose="02040503050406030204" pitchFamily="18" charset="0"/>
                      </a:rPr>
                      <m:t>)=1</m:t>
                    </m:r>
                  </m:oMath>
                </a14:m>
                <a:r>
                  <a:rPr sz="2300">
                    <a:solidFill>
                      <a:srgbClr val="1E293B"/>
                    </a:solidFill>
                    <a:latin typeface="Calibri"/>
                  </a:rPr>
                  <a:t> (hoặc có một vectơ bằng </a:t>
                </a:r>
                <a14:m>
                  <m:oMath xmlns:m="http://schemas.openxmlformats.org/officeDocument/2006/math">
                    <m:acc>
                      <m:accPr>
                        <m:chr m:val="⃗"/>
                      </m:accPr>
                      <m:e>
                        <m:r>
                          <a:rPr lang="vi-VN" sz="2300" b="0">
                            <a:solidFill>
                              <a:srgbClr val="1E293B"/>
                            </a:solidFill>
                            <a:latin typeface="Cambria Math" panose="02040503050406030204" pitchFamily="18" charset="0"/>
                          </a:rPr>
                          <m:t>0</m:t>
                        </m:r>
                      </m:e>
                    </m:acc>
                  </m:oMath>
                </a14:m>
                <a:r>
                  <a:rPr sz="2300">
                    <a:solidFill>
                      <a:srgbClr val="1E293B"/>
                    </a:solidFill>
                    <a:latin typeface="Calibri"/>
                  </a:rPr>
                  <a:t>), tức là </a:t>
                </a:r>
                <a14:m>
                  <m:oMath xmlns:m="http://schemas.openxmlformats.org/officeDocument/2006/math">
                    <m:acc>
                      <m:accPr>
                        <m:chr m:val="⃗"/>
                      </m:accPr>
                      <m:e>
                        <m:r>
                          <a:rPr lang="vi-VN" sz="2300" b="0">
                            <a:solidFill>
                              <a:srgbClr val="1E293B"/>
                            </a:solidFill>
                            <a:latin typeface="Cambria Math" panose="02040503050406030204" pitchFamily="18" charset="0"/>
                          </a:rPr>
                          <m:t>u</m:t>
                        </m:r>
                      </m:e>
                    </m:acc>
                    <m:r>
                      <a:rPr lang="vi-VN" sz="2300" b="0">
                        <a:solidFill>
                          <a:srgbClr val="1E293B"/>
                        </a:solidFill>
                        <a:latin typeface="Cambria Math" panose="02040503050406030204" pitchFamily="18" charset="0"/>
                      </a:rPr>
                      <m:t>,</m:t>
                    </m:r>
                    <m:r>
                      <m:rPr>
                        <m:sty m:val="p"/>
                      </m:rPr>
                      <a:rPr lang="vi-VN" sz="2300" b="0">
                        <a:solidFill>
                          <a:srgbClr val="1E293B"/>
                        </a:solidFill>
                        <a:latin typeface="Cambria Math" panose="02040503050406030204" pitchFamily="18" charset="0"/>
                      </a:rPr>
                      <m:t> </m:t>
                    </m:r>
                    <m:acc>
                      <m:accPr>
                        <m:chr m:val="⃗"/>
                      </m:accPr>
                      <m:e>
                        <m:r>
                          <a:rPr lang="vi-VN" sz="2300" b="0">
                            <a:solidFill>
                              <a:srgbClr val="1E293B"/>
                            </a:solidFill>
                            <a:latin typeface="Cambria Math" panose="02040503050406030204" pitchFamily="18" charset="0"/>
                          </a:rPr>
                          <m:t>v</m:t>
                        </m:r>
                      </m:e>
                    </m:acc>
                  </m:oMath>
                </a14:m>
                <a:r>
                  <a:rPr sz="2300">
                    <a:solidFill>
                      <a:srgbClr val="1E293B"/>
                    </a:solidFill>
                    <a:latin typeface="Calibri"/>
                  </a:rPr>
                  <a:t> cùng phương.</a:t>
                </a:r>
              </a:p>
            </p:txBody>
          </p:sp>
        </mc:Choice>
        <mc:Fallback>
          <p:sp>
            <p:nvSpPr>
              <p:cNvPr id="11" name="TextBox 10"/>
              <p:cNvSpPr txBox="1"/>
              <p:nvPr/>
            </p:nvSpPr>
            <p:spPr>
              <a:xfrm>
                <a:off x="713232" y="4572000"/>
                <a:ext cx="10735056" cy="893064"/>
              </a:xfrm>
              <a:prstGeom prst="rect">
                <a:avLst/>
              </a:prstGeom>
              <a:noFill/>
            </p:spPr>
            <p:txBody>
              <a:bodyPr wrap="square" anchor="ctr" lIns="45720" rIns="45720">
                <a:spAutoFit/>
              </a:bodyPr>
              <a:lstStyle/>
              <a:p>
                <a:pPr algn="l">
                  <a:spcAft>
                    <a:spcPts val="800"/>
                  </a:spcAft>
                </a:pPr>
                <a:r>
                  <a:rPr sz="2300">
                    <a:solidFill>
                      <a:srgbClr val="1E293B"/>
                    </a:solidFill>
                    <a:latin typeface="Calibri"/>
                  </a:rPr>
                  <a:t> </a:t>
                </a:r>
                <a:r>
                  <a:rPr lang="vi-VN"/>
                  <a:t>(\vec{u}\cdot\vec{v})^2=\vec{u}^2\cdot\vec{v}^2\Leftrightarrow\cos^2(\vec{u},\ \vec{v})=1</a:t>
                </a:r>
                <a:r>
                  <a:rPr sz="2300">
                    <a:solidFill>
                      <a:srgbClr val="1E293B"/>
                    </a:solidFill>
                    <a:latin typeface="Calibri"/>
                  </a:rPr>
                  <a:t> (hoặc có một vectơ bằng </a:t>
                </a:r>
                <a:r>
                  <a:rPr lang="vi-VN"/>
                  <a:t>\vec{0}</a:t>
                </a:r>
                <a:r>
                  <a:rPr sz="2300">
                    <a:solidFill>
                      <a:srgbClr val="1E293B"/>
                    </a:solidFill>
                    <a:latin typeface="Calibri"/>
                  </a:rPr>
                  <a:t>), tức là </a:t>
                </a:r>
                <a:r>
                  <a:rPr lang="vi-VN"/>
                  <a:t>\vec{u},\ \vec{v}</a:t>
                </a:r>
                <a:r>
                  <a:rPr sz="2300">
                    <a:solidFill>
                      <a:srgbClr val="1E293B"/>
                    </a:solidFill>
                    <a:latin typeface="Calibri"/>
                  </a:rPr>
                  <a:t> cùng phương.</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2 (SGK TR.67)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11</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595360" cy="844295"/>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hình vuông </a:t>
                </a:r>
                <a14:m>
                  <m:oMath xmlns:m="http://schemas.openxmlformats.org/officeDocument/2006/math">
                    <m:r>
                      <a:rPr lang="vi-VN" sz="2200" b="0">
                        <a:solidFill>
                          <a:srgbClr val="1E293B"/>
                        </a:solidFill>
                        <a:latin typeface="Cambria Math" panose="02040503050406030204" pitchFamily="18" charset="0"/>
                      </a:rPr>
                      <m:t>ABCD</m:t>
                    </m:r>
                  </m:oMath>
                </a14:m>
                <a:r>
                  <a:rPr sz="2200">
                    <a:solidFill>
                      <a:srgbClr val="1E293B"/>
                    </a:solidFill>
                    <a:latin typeface="Calibri"/>
                  </a:rPr>
                  <a:t> có cạnh bằng </a:t>
                </a:r>
                <a14:m>
                  <m:oMath xmlns:m="http://schemas.openxmlformats.org/officeDocument/2006/math">
                    <m:r>
                      <a:rPr lang="vi-VN" sz="2200" b="0">
                        <a:solidFill>
                          <a:srgbClr val="1E293B"/>
                        </a:solidFill>
                        <a:latin typeface="Cambria Math" panose="02040503050406030204" pitchFamily="18" charset="0"/>
                      </a:rPr>
                      <m:t>a</m:t>
                    </m:r>
                  </m:oMath>
                </a14:m>
                <a:r>
                  <a:rPr sz="2200">
                    <a:solidFill>
                      <a:srgbClr val="1E293B"/>
                    </a:solidFill>
                    <a:latin typeface="Calibri"/>
                  </a:rPr>
                  <a:t>. Tính các tích vô hướng sau: </a:t>
                </a:r>
                <a14:m>
                  <m:oMath xmlns:m="http://schemas.openxmlformats.org/officeDocument/2006/math">
                    <m:acc>
                      <m:accPr>
                        <m:chr m:val="⃗"/>
                      </m:accPr>
                      <m:e>
                        <m:r>
                          <a:rPr lang="vi-VN" sz="2200" b="0">
                            <a:solidFill>
                              <a:srgbClr val="1E293B"/>
                            </a:solidFill>
                            <a:latin typeface="Cambria Math" panose="02040503050406030204" pitchFamily="18" charset="0"/>
                          </a:rPr>
                          <m:t>AB</m:t>
                        </m:r>
                      </m:e>
                    </m:acc>
                  </m:oMath>
                </a14:m>
                <a14:m>
                  <m:oMath xmlns:m="http://schemas.openxmlformats.org/officeDocument/2006/math">
                    <m:r>
                      <a:rPr lang="vi-VN" sz="2200" b="0">
                        <a:solidFill>
                          <a:srgbClr val="1E293B"/>
                        </a:solidFill>
                        <a:latin typeface="Cambria Math" panose="02040503050406030204" pitchFamily="18" charset="0"/>
                      </a:rPr>
                      <m:t>·</m:t>
                    </m:r>
                  </m:oMath>
                </a14:m>
                <a14:m>
                  <m:oMath xmlns:m="http://schemas.openxmlformats.org/officeDocument/2006/math">
                    <m:acc>
                      <m:accPr>
                        <m:chr m:val="⃗"/>
                      </m:accPr>
                      <m:e>
                        <m:r>
                          <a:rPr lang="vi-VN" sz="2200" b="0">
                            <a:solidFill>
                              <a:srgbClr val="1E293B"/>
                            </a:solidFill>
                            <a:latin typeface="Cambria Math" panose="02040503050406030204" pitchFamily="18" charset="0"/>
                          </a:rPr>
                          <m:t>AD</m:t>
                        </m:r>
                      </m:e>
                    </m:acc>
                  </m:oMath>
                </a14:m>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AB</m:t>
                        </m:r>
                      </m:e>
                    </m:acc>
                  </m:oMath>
                </a14:m>
                <a14:m>
                  <m:oMath xmlns:m="http://schemas.openxmlformats.org/officeDocument/2006/math">
                    <m:r>
                      <a:rPr lang="vi-VN" sz="2200" b="0">
                        <a:solidFill>
                          <a:srgbClr val="1E293B"/>
                        </a:solidFill>
                        <a:latin typeface="Cambria Math" panose="02040503050406030204" pitchFamily="18" charset="0"/>
                      </a:rPr>
                      <m:t>·</m:t>
                    </m:r>
                  </m:oMath>
                </a14:m>
                <a14:m>
                  <m:oMath xmlns:m="http://schemas.openxmlformats.org/officeDocument/2006/math">
                    <m:acc>
                      <m:accPr>
                        <m:chr m:val="⃗"/>
                      </m:accPr>
                      <m:e>
                        <m:r>
                          <a:rPr lang="vi-VN" sz="2200" b="0">
                            <a:solidFill>
                              <a:srgbClr val="1E293B"/>
                            </a:solidFill>
                            <a:latin typeface="Cambria Math" panose="02040503050406030204" pitchFamily="18" charset="0"/>
                          </a:rPr>
                          <m:t>AC</m:t>
                        </m:r>
                      </m:e>
                    </m:acc>
                  </m:oMath>
                </a14:m>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AB</m:t>
                        </m:r>
                      </m:e>
                    </m:acc>
                  </m:oMath>
                </a14:m>
                <a14:m>
                  <m:oMath xmlns:m="http://schemas.openxmlformats.org/officeDocument/2006/math">
                    <m:r>
                      <a:rPr lang="vi-VN" sz="2200" b="0">
                        <a:solidFill>
                          <a:srgbClr val="1E293B"/>
                        </a:solidFill>
                        <a:latin typeface="Cambria Math" panose="02040503050406030204" pitchFamily="18" charset="0"/>
                      </a:rPr>
                      <m:t>·</m:t>
                    </m:r>
                  </m:oMath>
                </a14:m>
                <a14:m>
                  <m:oMath xmlns:m="http://schemas.openxmlformats.org/officeDocument/2006/math">
                    <m:acc>
                      <m:accPr>
                        <m:chr m:val="⃗"/>
                      </m:accPr>
                      <m:e>
                        <m:r>
                          <a:rPr lang="vi-VN" sz="2200" b="0">
                            <a:solidFill>
                              <a:srgbClr val="1E293B"/>
                            </a:solidFill>
                            <a:latin typeface="Cambria Math" panose="02040503050406030204" pitchFamily="18" charset="0"/>
                          </a:rPr>
                          <m:t>BD</m:t>
                        </m:r>
                      </m:e>
                    </m:acc>
                  </m:oMath>
                </a14:m>
                <a:r>
                  <a:rPr sz="2200">
                    <a:solidFill>
                      <a:srgbClr val="1E293B"/>
                    </a:solidFill>
                    <a:latin typeface="Calibri"/>
                  </a:rPr>
                  <a:t>.</a:t>
                </a:r>
              </a:p>
            </p:txBody>
          </p:sp>
        </mc:Choice>
        <mc:Fallback>
          <p:sp>
            <p:nvSpPr>
              <p:cNvPr id="7" name="TextBox 6"/>
              <p:cNvSpPr txBox="1"/>
              <p:nvPr/>
            </p:nvSpPr>
            <p:spPr>
              <a:xfrm>
                <a:off x="548640" y="1371600"/>
                <a:ext cx="8595360" cy="844295"/>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hình vuông </a:t>
                </a:r>
                <a:r>
                  <a:rPr lang="vi-VN"/>
                  <a:t>ABCD</a:t>
                </a:r>
                <a:r>
                  <a:rPr sz="2200">
                    <a:solidFill>
                      <a:srgbClr val="1E293B"/>
                    </a:solidFill>
                    <a:latin typeface="Calibri"/>
                  </a:rPr>
                  <a:t> có cạnh bằng </a:t>
                </a:r>
                <a:r>
                  <a:rPr lang="vi-VN"/>
                  <a:t>a</a:t>
                </a:r>
                <a:r>
                  <a:rPr sz="2200">
                    <a:solidFill>
                      <a:srgbClr val="1E293B"/>
                    </a:solidFill>
                    <a:latin typeface="Calibri"/>
                  </a:rPr>
                  <a:t>. Tính các tích vô hướng sau: </a:t>
                </a:r>
                <a:r>
                  <a:rPr lang="vi-VN"/>
                  <a:t>\overrightarrow{AB}</a:t>
                </a:r>
                <a:r>
                  <a:rPr lang="vi-VN"/>
                  <a:t>\cdot</a:t>
                </a:r>
                <a:r>
                  <a:rPr lang="vi-VN"/>
                  <a:t>\overrightarrow{AD}</a:t>
                </a:r>
                <a:r>
                  <a:rPr sz="2200">
                    <a:solidFill>
                      <a:srgbClr val="1E293B"/>
                    </a:solidFill>
                    <a:latin typeface="Calibri"/>
                  </a:rPr>
                  <a:t>, </a:t>
                </a:r>
                <a:r>
                  <a:rPr lang="vi-VN"/>
                  <a:t>\overrightarrow{AB}</a:t>
                </a:r>
                <a:r>
                  <a:rPr lang="vi-VN"/>
                  <a:t>\cdot</a:t>
                </a:r>
                <a:r>
                  <a:rPr lang="vi-VN"/>
                  <a:t>\overrightarrow{AC}</a:t>
                </a:r>
                <a:r>
                  <a:rPr sz="2200">
                    <a:solidFill>
                      <a:srgbClr val="1E293B"/>
                    </a:solidFill>
                    <a:latin typeface="Calibri"/>
                  </a:rPr>
                  <a:t>, </a:t>
                </a:r>
                <a:r>
                  <a:rPr lang="vi-VN"/>
                  <a:t>\overrightarrow{AB}</a:t>
                </a:r>
                <a:r>
                  <a:rPr lang="vi-VN"/>
                  <a:t>\cdot</a:t>
                </a:r>
                <a:r>
                  <a:rPr lang="vi-VN"/>
                  <a:t>\overrightarrow{BD}</a:t>
                </a:r>
                <a:r>
                  <a:rPr sz="2200">
                    <a:solidFill>
                      <a:srgbClr val="1E293B"/>
                    </a:solidFill>
                    <a:latin typeface="Calibri"/>
                  </a:rPr>
                  <a:t>.</a:t>
                </a:r>
              </a:p>
            </p:txBody>
          </p:sp>
        </mc:Fallback>
      </mc:AlternateContent>
      <p:sp>
        <p:nvSpPr>
          <p:cNvPr id="8" name="s1_nen"/>
          <p:cNvSpPr/>
          <p:nvPr/>
        </p:nvSpPr>
        <p:spPr>
          <a:xfrm>
            <a:off x="548640" y="2325623"/>
            <a:ext cx="8595360" cy="935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362199"/>
                <a:ext cx="826617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Vì </a:t>
                </a:r>
                <a14:m>
                  <m:oMath xmlns:m="http://schemas.openxmlformats.org/officeDocument/2006/math">
                    <m:d>
                      <m:dPr>
                        <m:sepChr m:val=","/>
                      </m:dPr>
                      <m:e>
                        <m:acc>
                          <m:accPr>
                            <m:chr m:val="⃗"/>
                          </m:accPr>
                          <m:e>
                            <m:r>
                              <a:rPr lang="vi-VN" sz="2200" b="0">
                                <a:solidFill>
                                  <a:srgbClr val="1E293B"/>
                                </a:solidFill>
                                <a:latin typeface="Cambria Math" panose="02040503050406030204" pitchFamily="18" charset="0"/>
                              </a:rPr>
                              <m:t>AB</m:t>
                            </m:r>
                          </m:e>
                        </m:acc>
                      </m:e>
                      <m:e>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AD</m:t>
                            </m:r>
                          </m:e>
                        </m:acc>
                      </m:e>
                    </m:d>
                  </m:oMath>
                </a14:m>
                <a:r>
                  <a:rPr sz="2200">
                    <a:solidFill>
                      <a:srgbClr val="1E293B"/>
                    </a:solidFill>
                    <a:latin typeface="Calibri"/>
                  </a:rPr>
                  <a:t> = </a:t>
                </a:r>
                <a14:m>
                  <m:oMath xmlns:m="http://schemas.openxmlformats.org/officeDocument/2006/math">
                    <m:sSup>
                      <m:e>
                        <m:r>
                          <a:rPr lang="vi-VN" sz="2200" b="0">
                            <a:solidFill>
                              <a:srgbClr val="1E293B"/>
                            </a:solidFill>
                            <a:latin typeface="Cambria Math" panose="02040503050406030204" pitchFamily="18" charset="0"/>
                          </a:rPr>
                          <m:t>90</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nên </a:t>
                </a:r>
                <a14:m>
                  <m:oMath xmlns:m="http://schemas.openxmlformats.org/officeDocument/2006/math">
                    <m:acc>
                      <m:accPr>
                        <m:chr m:val="⃗"/>
                      </m:accPr>
                      <m:e>
                        <m:r>
                          <a:rPr lang="vi-VN" sz="2200" b="0">
                            <a:solidFill>
                              <a:srgbClr val="1E293B"/>
                            </a:solidFill>
                            <a:latin typeface="Cambria Math" panose="02040503050406030204" pitchFamily="18" charset="0"/>
                          </a:rPr>
                          <m:t>AB</m:t>
                        </m:r>
                      </m:e>
                    </m:acc>
                  </m:oMath>
                </a14:m>
                <a14:m>
                  <m:oMath xmlns:m="http://schemas.openxmlformats.org/officeDocument/2006/math">
                    <m:r>
                      <a:rPr lang="vi-VN" sz="2200" b="0">
                        <a:solidFill>
                          <a:srgbClr val="1E293B"/>
                        </a:solidFill>
                        <a:latin typeface="Cambria Math" panose="02040503050406030204" pitchFamily="18" charset="0"/>
                      </a:rPr>
                      <m:t>·</m:t>
                    </m:r>
                  </m:oMath>
                </a14:m>
                <a14:m>
                  <m:oMath xmlns:m="http://schemas.openxmlformats.org/officeDocument/2006/math">
                    <m:acc>
                      <m:accPr>
                        <m:chr m:val="⃗"/>
                      </m:accPr>
                      <m:e>
                        <m:r>
                          <a:rPr lang="vi-VN" sz="2200" b="0">
                            <a:solidFill>
                              <a:srgbClr val="1E293B"/>
                            </a:solidFill>
                            <a:latin typeface="Cambria Math" panose="02040503050406030204" pitchFamily="18" charset="0"/>
                          </a:rPr>
                          <m:t>AD</m:t>
                        </m:r>
                      </m:e>
                    </m:acc>
                  </m:oMath>
                </a14:m>
                <a:r>
                  <a:rPr sz="2200">
                    <a:solidFill>
                      <a:srgbClr val="1E293B"/>
                    </a:solidFill>
                    <a:latin typeface="Calibri"/>
                  </a:rPr>
                  <a:t> = 0. Hình vuông cạnh </a:t>
                </a:r>
                <a14:m>
                  <m:oMath xmlns:m="http://schemas.openxmlformats.org/officeDocument/2006/math">
                    <m:r>
                      <a:rPr lang="vi-VN" sz="2200" b="0">
                        <a:solidFill>
                          <a:srgbClr val="1E293B"/>
                        </a:solidFill>
                        <a:latin typeface="Cambria Math" panose="02040503050406030204" pitchFamily="18" charset="0"/>
                      </a:rPr>
                      <m:t>a</m:t>
                    </m:r>
                  </m:oMath>
                </a14:m>
                <a:r>
                  <a:rPr sz="2200">
                    <a:solidFill>
                      <a:srgbClr val="1E293B"/>
                    </a:solidFill>
                    <a:latin typeface="Calibri"/>
                  </a:rPr>
                  <a:t> có đường chéo bằng </a:t>
                </a:r>
                <a14:m>
                  <m:oMath xmlns:m="http://schemas.openxmlformats.org/officeDocument/2006/math">
                    <m:r>
                      <a:rPr lang="vi-VN" sz="2200" b="0">
                        <a:solidFill>
                          <a:srgbClr val="1E293B"/>
                        </a:solidFill>
                        <a:latin typeface="Cambria Math" panose="02040503050406030204" pitchFamily="18" charset="0"/>
                      </a:rPr>
                      <m:t>a</m:t>
                    </m:r>
                    <m:rad>
                      <m:radPr>
                        <m:degHide m:val="on"/>
                      </m:radPr>
                      <m:deg/>
                      <m:e>
                        <m:r>
                          <a:rPr lang="vi-VN" sz="2200" b="0">
                            <a:solidFill>
                              <a:srgbClr val="1E293B"/>
                            </a:solidFill>
                            <a:latin typeface="Cambria Math" panose="02040503050406030204" pitchFamily="18" charset="0"/>
                          </a:rPr>
                          <m:t>2</m:t>
                        </m:r>
                      </m:e>
                    </m:rad>
                  </m:oMath>
                </a14:m>
                <a:r>
                  <a:rPr sz="2200">
                    <a:solidFill>
                      <a:srgbClr val="1E293B"/>
                    </a:solidFill>
                    <a:latin typeface="Calibri"/>
                  </a:rPr>
                  <a:t>.</a:t>
                </a:r>
              </a:p>
            </p:txBody>
          </p:sp>
        </mc:Choice>
        <mc:Fallback>
          <p:sp>
            <p:nvSpPr>
              <p:cNvPr id="9" name="TextBox 8"/>
              <p:cNvSpPr txBox="1"/>
              <p:nvPr/>
            </p:nvSpPr>
            <p:spPr>
              <a:xfrm>
                <a:off x="713232" y="2362199"/>
                <a:ext cx="826617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Vì </a:t>
                </a:r>
                <a:r>
                  <a:rPr lang="vi-VN"/>
                  <a:t>\left(\overrightarrow{AB},\ \overrightarrow{AD}\right)</a:t>
                </a:r>
                <a:r>
                  <a:rPr sz="2200">
                    <a:solidFill>
                      <a:srgbClr val="1E293B"/>
                    </a:solidFill>
                    <a:latin typeface="Calibri"/>
                  </a:rPr>
                  <a:t> = </a:t>
                </a:r>
                <a:r>
                  <a:rPr lang="vi-VN"/>
                  <a:t>90^\circ</a:t>
                </a:r>
                <a:r>
                  <a:rPr sz="2200">
                    <a:solidFill>
                      <a:srgbClr val="1E293B"/>
                    </a:solidFill>
                    <a:latin typeface="Calibri"/>
                  </a:rPr>
                  <a:t> nên </a:t>
                </a:r>
                <a:r>
                  <a:rPr lang="vi-VN"/>
                  <a:t>\overrightarrow{AB}</a:t>
                </a:r>
                <a:r>
                  <a:rPr lang="vi-VN"/>
                  <a:t>\cdot</a:t>
                </a:r>
                <a:r>
                  <a:rPr lang="vi-VN"/>
                  <a:t>\overrightarrow{AD}</a:t>
                </a:r>
                <a:r>
                  <a:rPr sz="2200">
                    <a:solidFill>
                      <a:srgbClr val="1E293B"/>
                    </a:solidFill>
                    <a:latin typeface="Calibri"/>
                  </a:rPr>
                  <a:t> = 0. Hình vuông cạnh </a:t>
                </a:r>
                <a:r>
                  <a:rPr lang="vi-VN"/>
                  <a:t>a</a:t>
                </a:r>
                <a:r>
                  <a:rPr sz="2200">
                    <a:solidFill>
                      <a:srgbClr val="1E293B"/>
                    </a:solidFill>
                    <a:latin typeface="Calibri"/>
                  </a:rPr>
                  <a:t> có đường chéo bằng </a:t>
                </a:r>
                <a:r>
                  <a:rPr lang="vi-VN"/>
                  <a:t>a\sqrt{2}</a:t>
                </a:r>
                <a:r>
                  <a:rPr sz="2200">
                    <a:solidFill>
                      <a:srgbClr val="1E293B"/>
                    </a:solidFill>
                    <a:latin typeface="Calibri"/>
                  </a:rPr>
                  <a:t>.</a:t>
                </a:r>
              </a:p>
            </p:txBody>
          </p:sp>
        </mc:Fallback>
      </mc:AlternateContent>
      <p:sp>
        <p:nvSpPr>
          <p:cNvPr id="10" name="s2_nen"/>
          <p:cNvSpPr/>
          <p:nvPr/>
        </p:nvSpPr>
        <p:spPr>
          <a:xfrm>
            <a:off x="548640" y="3371088"/>
            <a:ext cx="8595360" cy="751331"/>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407664"/>
                <a:ext cx="8266176" cy="678179"/>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14:m>
                  <m:oMath xmlns:m="http://schemas.openxmlformats.org/officeDocument/2006/math">
                    <m:d>
                      <m:dPr>
                        <m:sepChr m:val=","/>
                      </m:dPr>
                      <m:e>
                        <m:acc>
                          <m:accPr>
                            <m:chr m:val="⃗"/>
                          </m:accPr>
                          <m:e>
                            <m:r>
                              <a:rPr lang="vi-VN" sz="2200" b="0">
                                <a:solidFill>
                                  <a:srgbClr val="1E293B"/>
                                </a:solidFill>
                                <a:latin typeface="Cambria Math" panose="02040503050406030204" pitchFamily="18" charset="0"/>
                              </a:rPr>
                              <m:t>AB</m:t>
                            </m:r>
                          </m:e>
                        </m:acc>
                      </m:e>
                      <m:e>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AC</m:t>
                            </m:r>
                          </m:e>
                        </m:acc>
                      </m:e>
                    </m:d>
                  </m:oMath>
                </a14:m>
                <a:r>
                  <a:rPr sz="2200">
                    <a:solidFill>
                      <a:srgbClr val="1E293B"/>
                    </a:solidFill>
                    <a:latin typeface="Calibri"/>
                  </a:rPr>
                  <a:t> = </a:t>
                </a:r>
                <a14:m>
                  <m:oMath xmlns:m="http://schemas.openxmlformats.org/officeDocument/2006/math">
                    <m:sSup>
                      <m:e>
                        <m:r>
                          <a:rPr lang="vi-VN" sz="2200" b="0">
                            <a:solidFill>
                              <a:srgbClr val="1E293B"/>
                            </a:solidFill>
                            <a:latin typeface="Cambria Math" panose="02040503050406030204" pitchFamily="18" charset="0"/>
                          </a:rPr>
                          <m:t>45</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AB</m:t>
                        </m:r>
                      </m:e>
                    </m:acc>
                  </m:oMath>
                </a14:m>
                <a14:m>
                  <m:oMath xmlns:m="http://schemas.openxmlformats.org/officeDocument/2006/math">
                    <m:r>
                      <a:rPr lang="vi-VN" sz="2200" b="0">
                        <a:solidFill>
                          <a:srgbClr val="1E293B"/>
                        </a:solidFill>
                        <a:latin typeface="Cambria Math" panose="02040503050406030204" pitchFamily="18" charset="0"/>
                      </a:rPr>
                      <m:t>·</m:t>
                    </m:r>
                  </m:oMath>
                </a14:m>
                <a14:m>
                  <m:oMath xmlns:m="http://schemas.openxmlformats.org/officeDocument/2006/math">
                    <m:acc>
                      <m:accPr>
                        <m:chr m:val="⃗"/>
                      </m:accPr>
                      <m:e>
                        <m:r>
                          <a:rPr lang="vi-VN" sz="2200" b="0">
                            <a:solidFill>
                              <a:srgbClr val="1E293B"/>
                            </a:solidFill>
                            <a:latin typeface="Cambria Math" panose="02040503050406030204" pitchFamily="18" charset="0"/>
                          </a:rPr>
                          <m:t>AC</m:t>
                        </m:r>
                      </m:e>
                    </m:acc>
                  </m:oMath>
                </a14:m>
                <a:r>
                  <a:rPr sz="2200">
                    <a:solidFill>
                      <a:srgbClr val="1E293B"/>
                    </a:solidFill>
                    <a:latin typeface="Calibri"/>
                  </a:rPr>
                  <a:t> = </a:t>
                </a:r>
                <a14:m>
                  <m:oMath xmlns:m="http://schemas.openxmlformats.org/officeDocument/2006/math">
                    <m:r>
                      <a:rPr lang="vi-VN" sz="2200" b="0">
                        <a:solidFill>
                          <a:srgbClr val="1E293B"/>
                        </a:solidFill>
                        <a:latin typeface="Cambria Math" panose="02040503050406030204" pitchFamily="18" charset="0"/>
                      </a:rPr>
                      <m:t>AB·AC·</m:t>
                    </m:r>
                    <m:r>
                      <m:rPr>
                        <m:sty m:val="p"/>
                      </m:rPr>
                      <a:rPr lang="vi-VN" sz="2200" b="0">
                        <a:solidFill>
                          <a:srgbClr val="1E293B"/>
                        </a:solidFill>
                        <a:latin typeface="Cambria Math" panose="02040503050406030204" pitchFamily="18" charset="0"/>
                      </a:rPr>
                      <m:t>cos</m:t>
                    </m:r>
                    <m:r>
                      <m:rPr>
                        <m:sty m:val="p"/>
                      </m:rPr>
                      <a:rPr lang="vi-VN" sz="2200" b="0">
                        <a:solidFill>
                          <a:srgbClr val="1E293B"/>
                        </a:solidFill>
                        <a:latin typeface="Cambria Math" panose="02040503050406030204" pitchFamily="18" charset="0"/>
                      </a:rPr>
                      <m:t> </m:t>
                    </m:r>
                    <m:sSup>
                      <m:e>
                        <m:r>
                          <a:rPr lang="vi-VN" sz="2200" b="0">
                            <a:solidFill>
                              <a:srgbClr val="1E293B"/>
                            </a:solidFill>
                            <a:latin typeface="Cambria Math" panose="02040503050406030204" pitchFamily="18" charset="0"/>
                          </a:rPr>
                          <m:t>45</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=a·a</m:t>
                    </m:r>
                    <m:rad>
                      <m:radPr>
                        <m:degHide m:val="on"/>
                      </m:radPr>
                      <m:deg/>
                      <m:e>
                        <m:r>
                          <a:rPr lang="vi-VN" sz="2200" b="0">
                            <a:solidFill>
                              <a:srgbClr val="1E293B"/>
                            </a:solidFill>
                            <a:latin typeface="Cambria Math" panose="02040503050406030204" pitchFamily="18" charset="0"/>
                          </a:rPr>
                          <m:t>2</m:t>
                        </m:r>
                      </m:e>
                    </m:rad>
                    <m:r>
                      <a:rPr lang="vi-VN" sz="2200" b="0">
                        <a:solidFill>
                          <a:srgbClr val="1E293B"/>
                        </a:solidFill>
                        <a:latin typeface="Cambria Math" panose="02040503050406030204" pitchFamily="18" charset="0"/>
                      </a:rPr>
                      <m:t>·</m:t>
                    </m:r>
                    <m:f>
                      <m:fPr>
                        <m:type m:val="bar"/>
                      </m:fPr>
                      <m:num>
                        <m:rad>
                          <m:radPr>
                            <m:degHide m:val="on"/>
                          </m:radPr>
                          <m:deg/>
                          <m:e>
                            <m:r>
                              <a:rPr lang="vi-VN" sz="2200" b="0">
                                <a:solidFill>
                                  <a:srgbClr val="1E293B"/>
                                </a:solidFill>
                                <a:latin typeface="Cambria Math" panose="02040503050406030204" pitchFamily="18" charset="0"/>
                              </a:rPr>
                              <m:t>2</m:t>
                            </m:r>
                          </m:e>
                        </m:rad>
                      </m:num>
                      <m:den>
                        <m:r>
                          <a:rPr lang="vi-VN" sz="2200" b="0">
                            <a:solidFill>
                              <a:srgbClr val="1E293B"/>
                            </a:solidFill>
                            <a:latin typeface="Cambria Math" panose="02040503050406030204" pitchFamily="18" charset="0"/>
                          </a:rPr>
                          <m:t>2</m:t>
                        </m:r>
                      </m:den>
                    </m:f>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2</m:t>
                        </m:r>
                      </m:sup>
                    </m:sSup>
                  </m:oMath>
                </a14:m>
                <a:r>
                  <a:rPr sz="2200">
                    <a:solidFill>
                      <a:srgbClr val="1E293B"/>
                    </a:solidFill>
                    <a:latin typeface="Calibri"/>
                  </a:rPr>
                  <a:t>.</a:t>
                </a:r>
              </a:p>
            </p:txBody>
          </p:sp>
        </mc:Choice>
        <mc:Fallback>
          <p:sp>
            <p:nvSpPr>
              <p:cNvPr id="11" name="TextBox 10"/>
              <p:cNvSpPr txBox="1"/>
              <p:nvPr/>
            </p:nvSpPr>
            <p:spPr>
              <a:xfrm>
                <a:off x="713232" y="3407664"/>
                <a:ext cx="8266176" cy="678179"/>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\left(\overrightarrow{AB},\ \overrightarrow{AC}\right)</a:t>
                </a:r>
                <a:r>
                  <a:rPr sz="2200">
                    <a:solidFill>
                      <a:srgbClr val="1E293B"/>
                    </a:solidFill>
                    <a:latin typeface="Calibri"/>
                  </a:rPr>
                  <a:t> = </a:t>
                </a:r>
                <a:r>
                  <a:rPr lang="vi-VN"/>
                  <a:t>45^\circ</a:t>
                </a:r>
                <a:r>
                  <a:rPr sz="2200">
                    <a:solidFill>
                      <a:srgbClr val="1E293B"/>
                    </a:solidFill>
                    <a:latin typeface="Calibri"/>
                  </a:rPr>
                  <a:t>: </a:t>
                </a:r>
                <a:r>
                  <a:rPr lang="vi-VN"/>
                  <a:t>\overrightarrow{AB}</a:t>
                </a:r>
                <a:r>
                  <a:rPr lang="vi-VN"/>
                  <a:t>\cdot</a:t>
                </a:r>
                <a:r>
                  <a:rPr lang="vi-VN"/>
                  <a:t>\overrightarrow{AC}</a:t>
                </a:r>
                <a:r>
                  <a:rPr sz="2200">
                    <a:solidFill>
                      <a:srgbClr val="1E293B"/>
                    </a:solidFill>
                    <a:latin typeface="Calibri"/>
                  </a:rPr>
                  <a:t> = </a:t>
                </a:r>
                <a:r>
                  <a:rPr lang="vi-VN"/>
                  <a:t>AB\cdot AC\cdot\cos 45^\circ=a\cdot a\sqrt{2}\cdot\frac{\sqrt{2}}{2}=a^2</a:t>
                </a:r>
                <a:r>
                  <a:rPr sz="2200">
                    <a:solidFill>
                      <a:srgbClr val="1E293B"/>
                    </a:solidFill>
                    <a:latin typeface="Calibri"/>
                  </a:rPr>
                  <a:t>.</a:t>
                </a:r>
              </a:p>
            </p:txBody>
          </p:sp>
        </mc:Fallback>
      </mc:AlternateContent>
      <p:sp>
        <p:nvSpPr>
          <p:cNvPr id="12" name="s3_nen"/>
          <p:cNvSpPr/>
          <p:nvPr/>
        </p:nvSpPr>
        <p:spPr>
          <a:xfrm>
            <a:off x="548640" y="4232148"/>
            <a:ext cx="8595360" cy="751331"/>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4268724"/>
                <a:ext cx="8266176" cy="678179"/>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14:m>
                  <m:oMath xmlns:m="http://schemas.openxmlformats.org/officeDocument/2006/math">
                    <m:d>
                      <m:dPr>
                        <m:sepChr m:val=","/>
                      </m:dPr>
                      <m:e>
                        <m:acc>
                          <m:accPr>
                            <m:chr m:val="⃗"/>
                          </m:accPr>
                          <m:e>
                            <m:r>
                              <a:rPr lang="vi-VN" sz="2200" b="0">
                                <a:solidFill>
                                  <a:srgbClr val="1E293B"/>
                                </a:solidFill>
                                <a:latin typeface="Cambria Math" panose="02040503050406030204" pitchFamily="18" charset="0"/>
                              </a:rPr>
                              <m:t>AB</m:t>
                            </m:r>
                          </m:e>
                        </m:acc>
                      </m:e>
                      <m:e>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BD</m:t>
                            </m:r>
                          </m:e>
                        </m:acc>
                      </m:e>
                    </m:d>
                  </m:oMath>
                </a14:m>
                <a:r>
                  <a:rPr sz="2200">
                    <a:solidFill>
                      <a:srgbClr val="1E293B"/>
                    </a:solidFill>
                    <a:latin typeface="Calibri"/>
                  </a:rPr>
                  <a:t> = </a:t>
                </a:r>
                <a14:m>
                  <m:oMath xmlns:m="http://schemas.openxmlformats.org/officeDocument/2006/math">
                    <m:sSup>
                      <m:e>
                        <m:r>
                          <a:rPr lang="vi-VN" sz="2200" b="0">
                            <a:solidFill>
                              <a:srgbClr val="1E293B"/>
                            </a:solidFill>
                            <a:latin typeface="Cambria Math" panose="02040503050406030204" pitchFamily="18" charset="0"/>
                          </a:rPr>
                          <m:t>135</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AB</m:t>
                        </m:r>
                      </m:e>
                    </m:acc>
                  </m:oMath>
                </a14:m>
                <a14:m>
                  <m:oMath xmlns:m="http://schemas.openxmlformats.org/officeDocument/2006/math">
                    <m:r>
                      <a:rPr lang="vi-VN" sz="2200" b="0">
                        <a:solidFill>
                          <a:srgbClr val="1E293B"/>
                        </a:solidFill>
                        <a:latin typeface="Cambria Math" panose="02040503050406030204" pitchFamily="18" charset="0"/>
                      </a:rPr>
                      <m:t>·</m:t>
                    </m:r>
                  </m:oMath>
                </a14:m>
                <a14:m>
                  <m:oMath xmlns:m="http://schemas.openxmlformats.org/officeDocument/2006/math">
                    <m:acc>
                      <m:accPr>
                        <m:chr m:val="⃗"/>
                      </m:accPr>
                      <m:e>
                        <m:r>
                          <a:rPr lang="vi-VN" sz="2200" b="0">
                            <a:solidFill>
                              <a:srgbClr val="1E293B"/>
                            </a:solidFill>
                            <a:latin typeface="Cambria Math" panose="02040503050406030204" pitchFamily="18" charset="0"/>
                          </a:rPr>
                          <m:t>BD</m:t>
                        </m:r>
                      </m:e>
                    </m:acc>
                  </m:oMath>
                </a14:m>
                <a:r>
                  <a:rPr sz="2200">
                    <a:solidFill>
                      <a:srgbClr val="1E293B"/>
                    </a:solidFill>
                    <a:latin typeface="Calibri"/>
                  </a:rPr>
                  <a:t> = </a:t>
                </a:r>
                <a14:m>
                  <m:oMath xmlns:m="http://schemas.openxmlformats.org/officeDocument/2006/math">
                    <m:r>
                      <a:rPr lang="vi-VN" sz="2200" b="0">
                        <a:solidFill>
                          <a:srgbClr val="1E293B"/>
                        </a:solidFill>
                        <a:latin typeface="Cambria Math" panose="02040503050406030204" pitchFamily="18" charset="0"/>
                      </a:rPr>
                      <m:t>a·a</m:t>
                    </m:r>
                    <m:rad>
                      <m:radPr>
                        <m:degHide m:val="on"/>
                      </m:radPr>
                      <m:deg/>
                      <m:e>
                        <m:r>
                          <a:rPr lang="vi-VN" sz="2200" b="0">
                            <a:solidFill>
                              <a:srgbClr val="1E293B"/>
                            </a:solidFill>
                            <a:latin typeface="Cambria Math" panose="02040503050406030204" pitchFamily="18" charset="0"/>
                          </a:rPr>
                          <m:t>2</m:t>
                        </m:r>
                      </m:e>
                    </m:rad>
                    <m:r>
                      <a:rPr lang="vi-VN" sz="2200" b="0">
                        <a:solidFill>
                          <a:srgbClr val="1E293B"/>
                        </a:solidFill>
                        <a:latin typeface="Cambria Math" panose="02040503050406030204" pitchFamily="18" charset="0"/>
                      </a:rPr>
                      <m:t>·</m:t>
                    </m:r>
                    <m:d>
                      <m:dPr>
                        <m:sepChr m:val=""/>
                      </m:dPr>
                      <m:e>
                        <m:r>
                          <a:rPr lang="vi-VN" sz="2200" b="0">
                            <a:solidFill>
                              <a:srgbClr val="1E293B"/>
                            </a:solidFill>
                            <a:latin typeface="Cambria Math" panose="02040503050406030204" pitchFamily="18" charset="0"/>
                          </a:rPr>
                          <m:t>−</m:t>
                        </m:r>
                        <m:f>
                          <m:fPr>
                            <m:type m:val="bar"/>
                          </m:fPr>
                          <m:num>
                            <m:rad>
                              <m:radPr>
                                <m:degHide m:val="on"/>
                              </m:radPr>
                              <m:deg/>
                              <m:e>
                                <m:r>
                                  <a:rPr lang="vi-VN" sz="2200" b="0">
                                    <a:solidFill>
                                      <a:srgbClr val="1E293B"/>
                                    </a:solidFill>
                                    <a:latin typeface="Cambria Math" panose="02040503050406030204" pitchFamily="18" charset="0"/>
                                  </a:rPr>
                                  <m:t>2</m:t>
                                </m:r>
                              </m:e>
                            </m:rad>
                          </m:num>
                          <m:den>
                            <m:r>
                              <a:rPr lang="vi-VN" sz="2200" b="0">
                                <a:solidFill>
                                  <a:srgbClr val="1E293B"/>
                                </a:solidFill>
                                <a:latin typeface="Cambria Math" panose="02040503050406030204" pitchFamily="18" charset="0"/>
                              </a:rPr>
                              <m:t>2</m:t>
                            </m:r>
                          </m:den>
                        </m:f>
                      </m:e>
                    </m:d>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2</m:t>
                        </m:r>
                      </m:sup>
                    </m:sSup>
                  </m:oMath>
                </a14:m>
                <a:r>
                  <a:rPr sz="2200">
                    <a:solidFill>
                      <a:srgbClr val="1E293B"/>
                    </a:solidFill>
                    <a:latin typeface="Calibri"/>
                  </a:rPr>
                  <a:t>.</a:t>
                </a:r>
              </a:p>
            </p:txBody>
          </p:sp>
        </mc:Choice>
        <mc:Fallback>
          <p:sp>
            <p:nvSpPr>
              <p:cNvPr id="13" name="TextBox 12"/>
              <p:cNvSpPr txBox="1"/>
              <p:nvPr/>
            </p:nvSpPr>
            <p:spPr>
              <a:xfrm>
                <a:off x="713232" y="4268724"/>
                <a:ext cx="8266176" cy="678179"/>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\left(\overrightarrow{AB},\ \overrightarrow{BD}\right)</a:t>
                </a:r>
                <a:r>
                  <a:rPr sz="2200">
                    <a:solidFill>
                      <a:srgbClr val="1E293B"/>
                    </a:solidFill>
                    <a:latin typeface="Calibri"/>
                  </a:rPr>
                  <a:t> = </a:t>
                </a:r>
                <a:r>
                  <a:rPr lang="vi-VN"/>
                  <a:t>135^\circ</a:t>
                </a:r>
                <a:r>
                  <a:rPr sz="2200">
                    <a:solidFill>
                      <a:srgbClr val="1E293B"/>
                    </a:solidFill>
                    <a:latin typeface="Calibri"/>
                  </a:rPr>
                  <a:t>: </a:t>
                </a:r>
                <a:r>
                  <a:rPr lang="vi-VN"/>
                  <a:t>\overrightarrow{AB}</a:t>
                </a:r>
                <a:r>
                  <a:rPr lang="vi-VN"/>
                  <a:t>\cdot</a:t>
                </a:r>
                <a:r>
                  <a:rPr lang="vi-VN"/>
                  <a:t>\overrightarrow{BD}</a:t>
                </a:r>
                <a:r>
                  <a:rPr sz="2200">
                    <a:solidFill>
                      <a:srgbClr val="1E293B"/>
                    </a:solidFill>
                    <a:latin typeface="Calibri"/>
                  </a:rPr>
                  <a:t> = </a:t>
                </a:r>
                <a:r>
                  <a:rPr lang="vi-VN"/>
                  <a:t>a\cdot a\sqrt{2}\cdot\left(-\frac{\sqrt{2}}{2}\right)=-a^2</a:t>
                </a:r>
                <a:r>
                  <a:rPr sz="2200">
                    <a:solidFill>
                      <a:srgbClr val="1E293B"/>
                    </a:solidFill>
                    <a:latin typeface="Calibri"/>
                  </a:rPr>
                  <a:t>.</a:t>
                </a:r>
              </a:p>
            </p:txBody>
          </p:sp>
        </mc:Fallback>
      </mc:AlternateContent>
      <p:pic>
        <p:nvPicPr>
          <p:cNvPr id="14" name="Picture 13" descr="h443.png"/>
          <p:cNvPicPr>
            <a:picLocks noChangeAspect="1"/>
          </p:cNvPicPr>
          <p:nvPr/>
        </p:nvPicPr>
        <p:blipFill>
          <a:blip r:embed="rId3"/>
          <a:stretch>
            <a:fillRect/>
          </a:stretch>
        </p:blipFill>
        <p:spPr>
          <a:xfrm>
            <a:off x="9326880" y="1470000"/>
            <a:ext cx="2377440" cy="3095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LUYỆN TẬP 2 (SGK TR.67)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12</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tam giác </a:t>
                </a:r>
                <a14:m>
                  <m:oMath xmlns:m="http://schemas.openxmlformats.org/officeDocument/2006/math">
                    <m:r>
                      <a:rPr lang="vi-VN" sz="2600" b="0">
                        <a:solidFill>
                          <a:srgbClr val="1E293B"/>
                        </a:solidFill>
                        <a:latin typeface="Cambria Math" panose="02040503050406030204" pitchFamily="18" charset="0"/>
                      </a:rPr>
                      <m:t>ABC</m:t>
                    </m:r>
                  </m:oMath>
                </a14:m>
                <a:r>
                  <a:rPr sz="2600">
                    <a:solidFill>
                      <a:srgbClr val="1E293B"/>
                    </a:solidFill>
                    <a:latin typeface="Calibri"/>
                  </a:rPr>
                  <a:t> có </a:t>
                </a:r>
                <a14:m>
                  <m:oMath xmlns:m="http://schemas.openxmlformats.org/officeDocument/2006/math">
                    <m:r>
                      <a:rPr lang="vi-VN" sz="2600" b="0">
                        <a:solidFill>
                          <a:srgbClr val="1E293B"/>
                        </a:solidFill>
                        <a:latin typeface="Cambria Math" panose="02040503050406030204" pitchFamily="18" charset="0"/>
                      </a:rPr>
                      <m:t>BC=a,</m:t>
                    </m:r>
                    <m:r>
                      <m:rPr>
                        <m:sty m:val="p"/>
                      </m:rPr>
                      <a:rPr lang="vi-VN" sz="2600" b="0">
                        <a:solidFill>
                          <a:srgbClr val="1E293B"/>
                        </a:solidFill>
                        <a:latin typeface="Cambria Math" panose="02040503050406030204" pitchFamily="18" charset="0"/>
                      </a:rPr>
                      <m:t> </m:t>
                    </m:r>
                    <m:r>
                      <a:rPr lang="vi-VN" sz="2600" b="0">
                        <a:solidFill>
                          <a:srgbClr val="1E293B"/>
                        </a:solidFill>
                        <a:latin typeface="Cambria Math" panose="02040503050406030204" pitchFamily="18" charset="0"/>
                      </a:rPr>
                      <m:t>CA=b,</m:t>
                    </m:r>
                    <m:r>
                      <m:rPr>
                        <m:sty m:val="p"/>
                      </m:rPr>
                      <a:rPr lang="vi-VN" sz="2600" b="0">
                        <a:solidFill>
                          <a:srgbClr val="1E293B"/>
                        </a:solidFill>
                        <a:latin typeface="Cambria Math" panose="02040503050406030204" pitchFamily="18" charset="0"/>
                      </a:rPr>
                      <m:t> </m:t>
                    </m:r>
                    <m:r>
                      <a:rPr lang="vi-VN" sz="2600" b="0">
                        <a:solidFill>
                          <a:srgbClr val="1E293B"/>
                        </a:solidFill>
                        <a:latin typeface="Cambria Math" panose="02040503050406030204" pitchFamily="18" charset="0"/>
                      </a:rPr>
                      <m:t>AB=c</m:t>
                    </m:r>
                  </m:oMath>
                </a14:m>
                <a:r>
                  <a:rPr sz="2600">
                    <a:solidFill>
                      <a:srgbClr val="1E293B"/>
                    </a:solidFill>
                    <a:latin typeface="Calibri"/>
                  </a:rPr>
                  <a:t>. Hãy tính </a:t>
                </a:r>
                <a14:m>
                  <m:oMath xmlns:m="http://schemas.openxmlformats.org/officeDocument/2006/math">
                    <m:acc>
                      <m:accPr>
                        <m:chr m:val="⃗"/>
                      </m:accPr>
                      <m:e>
                        <m:r>
                          <a:rPr lang="vi-VN" sz="2600" b="0">
                            <a:solidFill>
                              <a:srgbClr val="1E293B"/>
                            </a:solidFill>
                            <a:latin typeface="Cambria Math" panose="02040503050406030204" pitchFamily="18" charset="0"/>
                          </a:rPr>
                          <m:t>AB</m:t>
                        </m:r>
                      </m:e>
                    </m:acc>
                  </m:oMath>
                </a14:m>
                <a14:m>
                  <m:oMath xmlns:m="http://schemas.openxmlformats.org/officeDocument/2006/math">
                    <m:r>
                      <a:rPr lang="vi-VN" sz="2600" b="0">
                        <a:solidFill>
                          <a:srgbClr val="1E293B"/>
                        </a:solidFill>
                        <a:latin typeface="Cambria Math" panose="02040503050406030204" pitchFamily="18" charset="0"/>
                      </a:rPr>
                      <m:t>·</m:t>
                    </m:r>
                  </m:oMath>
                </a14:m>
                <a14:m>
                  <m:oMath xmlns:m="http://schemas.openxmlformats.org/officeDocument/2006/math">
                    <m:acc>
                      <m:accPr>
                        <m:chr m:val="⃗"/>
                      </m:accPr>
                      <m:e>
                        <m:r>
                          <a:rPr lang="vi-VN" sz="2600" b="0">
                            <a:solidFill>
                              <a:srgbClr val="1E293B"/>
                            </a:solidFill>
                            <a:latin typeface="Cambria Math" panose="02040503050406030204" pitchFamily="18" charset="0"/>
                          </a:rPr>
                          <m:t>AC</m:t>
                        </m:r>
                      </m:e>
                    </m:acc>
                  </m:oMath>
                </a14:m>
                <a:r>
                  <a:rPr sz="2600">
                    <a:solidFill>
                      <a:srgbClr val="1E293B"/>
                    </a:solidFill>
                    <a:latin typeface="Calibri"/>
                  </a:rPr>
                  <a:t> theo </a:t>
                </a:r>
                <a14:m>
                  <m:oMath xmlns:m="http://schemas.openxmlformats.org/officeDocument/2006/math">
                    <m:r>
                      <a:rPr lang="vi-VN" sz="2600" b="0">
                        <a:solidFill>
                          <a:srgbClr val="1E293B"/>
                        </a:solidFill>
                        <a:latin typeface="Cambria Math" panose="02040503050406030204" pitchFamily="18" charset="0"/>
                      </a:rPr>
                      <m:t>a,</m:t>
                    </m:r>
                    <m:r>
                      <m:rPr>
                        <m:sty m:val="p"/>
                      </m:rPr>
                      <a:rPr lang="vi-VN" sz="2600" b="0">
                        <a:solidFill>
                          <a:srgbClr val="1E293B"/>
                        </a:solidFill>
                        <a:latin typeface="Cambria Math" panose="02040503050406030204" pitchFamily="18" charset="0"/>
                      </a:rPr>
                      <m:t> </m:t>
                    </m:r>
                    <m:r>
                      <a:rPr lang="vi-VN" sz="2600" b="0">
                        <a:solidFill>
                          <a:srgbClr val="1E293B"/>
                        </a:solidFill>
                        <a:latin typeface="Cambria Math" panose="02040503050406030204" pitchFamily="18" charset="0"/>
                      </a:rPr>
                      <m:t>b,</m:t>
                    </m:r>
                    <m:r>
                      <m:rPr>
                        <m:sty m:val="p"/>
                      </m:rPr>
                      <a:rPr lang="vi-VN" sz="2600" b="0">
                        <a:solidFill>
                          <a:srgbClr val="1E293B"/>
                        </a:solidFill>
                        <a:latin typeface="Cambria Math" panose="02040503050406030204" pitchFamily="18" charset="0"/>
                      </a:rPr>
                      <m:t> </m:t>
                    </m:r>
                    <m:r>
                      <a:rPr lang="vi-VN" sz="2600" b="0">
                        <a:solidFill>
                          <a:srgbClr val="1E293B"/>
                        </a:solidFill>
                        <a:latin typeface="Cambria Math" panose="02040503050406030204" pitchFamily="18" charset="0"/>
                      </a:rPr>
                      <m:t>c</m:t>
                    </m:r>
                  </m:oMath>
                </a14:m>
                <a:r>
                  <a:rPr sz="2600">
                    <a:solidFill>
                      <a:srgbClr val="1E293B"/>
                    </a:solidFill>
                    <a:latin typeface="Calibri"/>
                  </a:rPr>
                  <a:t>.</a:t>
                </a:r>
              </a:p>
            </p:txBody>
          </p:sp>
        </mc:Choice>
        <mc:Fallback>
          <p:sp>
            <p:nvSpPr>
              <p:cNvPr id="7" name="TextBox 6"/>
              <p:cNvSpPr txBox="1"/>
              <p:nvPr/>
            </p:nvSpPr>
            <p:spPr>
              <a:xfrm>
                <a:off x="548640" y="146304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tam giác </a:t>
                </a:r>
                <a:r>
                  <a:rPr lang="vi-VN"/>
                  <a:t>ABC</a:t>
                </a:r>
                <a:r>
                  <a:rPr sz="2600">
                    <a:solidFill>
                      <a:srgbClr val="1E293B"/>
                    </a:solidFill>
                    <a:latin typeface="Calibri"/>
                  </a:rPr>
                  <a:t> có </a:t>
                </a:r>
                <a:r>
                  <a:rPr lang="vi-VN"/>
                  <a:t>BC=a,\ CA=b,\ AB=c</a:t>
                </a:r>
                <a:r>
                  <a:rPr sz="2600">
                    <a:solidFill>
                      <a:srgbClr val="1E293B"/>
                    </a:solidFill>
                    <a:latin typeface="Calibri"/>
                  </a:rPr>
                  <a:t>. Hãy tính </a:t>
                </a:r>
                <a:r>
                  <a:rPr lang="vi-VN"/>
                  <a:t>\overrightarrow{AB}</a:t>
                </a:r>
                <a:r>
                  <a:rPr lang="vi-VN"/>
                  <a:t>\cdot</a:t>
                </a:r>
                <a:r>
                  <a:rPr lang="vi-VN"/>
                  <a:t>\overrightarrow{AC}</a:t>
                </a:r>
                <a:r>
                  <a:rPr sz="2600">
                    <a:solidFill>
                      <a:srgbClr val="1E293B"/>
                    </a:solidFill>
                    <a:latin typeface="Calibri"/>
                  </a:rPr>
                  <a:t> theo </a:t>
                </a:r>
                <a:r>
                  <a:rPr lang="vi-VN"/>
                  <a:t>a,\ b,\ c</a:t>
                </a:r>
                <a:r>
                  <a:rPr sz="2600">
                    <a:solidFill>
                      <a:srgbClr val="1E293B"/>
                    </a:solidFill>
                    <a:latin typeface="Calibri"/>
                  </a:rPr>
                  <a:t>.</a:t>
                </a:r>
              </a:p>
            </p:txBody>
          </p:sp>
        </mc:Fallback>
      </mc:AlternateContent>
      <p:sp>
        <p:nvSpPr>
          <p:cNvPr id="8" name="s1_nen"/>
          <p:cNvSpPr/>
          <p:nvPr/>
        </p:nvSpPr>
        <p:spPr>
          <a:xfrm>
            <a:off x="548640" y="2657856"/>
            <a:ext cx="11064240" cy="839723"/>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694432"/>
                <a:ext cx="10735056" cy="766571"/>
              </a:xfrm>
              <a:prstGeom prst="rect">
                <a:avLst/>
              </a:prstGeom>
              <a:noFill/>
            </p:spPr>
            <p:txBody>
              <a:bodyPr wrap="square" anchor="ctr" lIns="45720" rIns="45720">
                <a:spAutoFit/>
              </a:bodyPr>
              <a:lstStyle/>
              <a:p>
                <a:pPr algn="l">
                  <a:spcAft>
                    <a:spcPts val="800"/>
                  </a:spcAft>
                </a:pPr>
                <a:r>
                  <a:rPr sz="2600">
                    <a:solidFill>
                      <a:srgbClr val="1E293B"/>
                    </a:solidFill>
                    <a:latin typeface="Calibri"/>
                  </a:rPr>
                  <a:t>Theo định lí côsin: </a:t>
                </a:r>
                <a14:m>
                  <m:oMath xmlns:m="http://schemas.openxmlformats.org/officeDocument/2006/math">
                    <m:r>
                      <m:rPr>
                        <m:sty m:val="p"/>
                      </m:rPr>
                      <a:rPr lang="vi-VN" sz="2600" b="0">
                        <a:solidFill>
                          <a:srgbClr val="1E293B"/>
                        </a:solidFill>
                        <a:latin typeface="Cambria Math" panose="02040503050406030204" pitchFamily="18" charset="0"/>
                      </a:rPr>
                      <m:t>cos</m:t>
                    </m:r>
                    <m:r>
                      <m:rPr>
                        <m:sty m:val="p"/>
                      </m:rPr>
                      <a:rPr lang="vi-VN" sz="2600" b="0">
                        <a:solidFill>
                          <a:srgbClr val="1E293B"/>
                        </a:solidFill>
                        <a:latin typeface="Cambria Math" panose="02040503050406030204" pitchFamily="18" charset="0"/>
                      </a:rPr>
                      <m:t> </m:t>
                    </m:r>
                    <m:r>
                      <a:rPr lang="vi-VN" sz="2600" b="0">
                        <a:solidFill>
                          <a:srgbClr val="1E293B"/>
                        </a:solidFill>
                        <a:latin typeface="Cambria Math" panose="02040503050406030204" pitchFamily="18" charset="0"/>
                      </a:rPr>
                      <m:t>A=</m:t>
                    </m:r>
                    <m:f>
                      <m:fPr>
                        <m:type m:val="bar"/>
                      </m:fPr>
                      <m:num>
                        <m:sSup>
                          <m:e>
                            <m:r>
                              <a:rPr lang="vi-VN" sz="2600" b="0">
                                <a:solidFill>
                                  <a:srgbClr val="1E293B"/>
                                </a:solidFill>
                                <a:latin typeface="Cambria Math" panose="02040503050406030204" pitchFamily="18" charset="0"/>
                              </a:rPr>
                              <m:t>b</m:t>
                            </m:r>
                          </m:e>
                          <m:sup>
                            <m:r>
                              <a:rPr lang="vi-VN" sz="2600" b="0">
                                <a:solidFill>
                                  <a:srgbClr val="1E293B"/>
                                </a:solidFill>
                                <a:latin typeface="Cambria Math" panose="02040503050406030204" pitchFamily="18" charset="0"/>
                              </a:rPr>
                              <m:t>2</m:t>
                            </m:r>
                          </m:sup>
                        </m:sSup>
                        <m:r>
                          <a:rPr lang="vi-VN" sz="2600" b="0">
                            <a:solidFill>
                              <a:srgbClr val="1E293B"/>
                            </a:solidFill>
                            <a:latin typeface="Cambria Math" panose="02040503050406030204" pitchFamily="18" charset="0"/>
                          </a:rPr>
                          <m:t>+</m:t>
                        </m:r>
                        <m:sSup>
                          <m:e>
                            <m:r>
                              <a:rPr lang="vi-VN" sz="2600" b="0">
                                <a:solidFill>
                                  <a:srgbClr val="1E293B"/>
                                </a:solidFill>
                                <a:latin typeface="Cambria Math" panose="02040503050406030204" pitchFamily="18" charset="0"/>
                              </a:rPr>
                              <m:t>c</m:t>
                            </m:r>
                          </m:e>
                          <m:sup>
                            <m:r>
                              <a:rPr lang="vi-VN" sz="2600" b="0">
                                <a:solidFill>
                                  <a:srgbClr val="1E293B"/>
                                </a:solidFill>
                                <a:latin typeface="Cambria Math" panose="02040503050406030204" pitchFamily="18" charset="0"/>
                              </a:rPr>
                              <m:t>2</m:t>
                            </m:r>
                          </m:sup>
                        </m:sSup>
                        <m:r>
                          <a:rPr lang="vi-VN" sz="2600" b="0">
                            <a:solidFill>
                              <a:srgbClr val="1E293B"/>
                            </a:solidFill>
                            <a:latin typeface="Cambria Math" panose="02040503050406030204" pitchFamily="18" charset="0"/>
                          </a:rPr>
                          <m:t>−</m:t>
                        </m:r>
                        <m:sSup>
                          <m:e>
                            <m:r>
                              <a:rPr lang="vi-VN" sz="2600" b="0">
                                <a:solidFill>
                                  <a:srgbClr val="1E293B"/>
                                </a:solidFill>
                                <a:latin typeface="Cambria Math" panose="02040503050406030204" pitchFamily="18" charset="0"/>
                              </a:rPr>
                              <m:t>a</m:t>
                            </m:r>
                          </m:e>
                          <m:sup>
                            <m:r>
                              <a:rPr lang="vi-VN" sz="2600" b="0">
                                <a:solidFill>
                                  <a:srgbClr val="1E293B"/>
                                </a:solidFill>
                                <a:latin typeface="Cambria Math" panose="02040503050406030204" pitchFamily="18" charset="0"/>
                              </a:rPr>
                              <m:t>2</m:t>
                            </m:r>
                          </m:sup>
                        </m:sSup>
                      </m:num>
                      <m:den>
                        <m:r>
                          <a:rPr lang="vi-VN" sz="2600" b="0">
                            <a:solidFill>
                              <a:srgbClr val="1E293B"/>
                            </a:solidFill>
                            <a:latin typeface="Cambria Math" panose="02040503050406030204" pitchFamily="18" charset="0"/>
                          </a:rPr>
                          <m:t>2bc</m:t>
                        </m:r>
                      </m:den>
                    </m:f>
                  </m:oMath>
                </a14:m>
                <a:r>
                  <a:rPr sz="2600">
                    <a:solidFill>
                      <a:srgbClr val="1E293B"/>
                    </a:solidFill>
                    <a:latin typeface="Calibri"/>
                  </a:rPr>
                  <a:t>.</a:t>
                </a:r>
              </a:p>
            </p:txBody>
          </p:sp>
        </mc:Choice>
        <mc:Fallback>
          <p:sp>
            <p:nvSpPr>
              <p:cNvPr id="9" name="TextBox 8"/>
              <p:cNvSpPr txBox="1"/>
              <p:nvPr/>
            </p:nvSpPr>
            <p:spPr>
              <a:xfrm>
                <a:off x="713232" y="2694432"/>
                <a:ext cx="10735056" cy="766571"/>
              </a:xfrm>
              <a:prstGeom prst="rect">
                <a:avLst/>
              </a:prstGeom>
              <a:noFill/>
            </p:spPr>
            <p:txBody>
              <a:bodyPr wrap="square" anchor="ctr" lIns="45720" rIns="45720">
                <a:spAutoFit/>
              </a:bodyPr>
              <a:lstStyle/>
              <a:p>
                <a:pPr algn="l">
                  <a:spcAft>
                    <a:spcPts val="800"/>
                  </a:spcAft>
                </a:pPr>
                <a:r>
                  <a:rPr sz="2600">
                    <a:solidFill>
                      <a:srgbClr val="1E293B"/>
                    </a:solidFill>
                    <a:latin typeface="Calibri"/>
                  </a:rPr>
                  <a:t>Theo định lí côsin: </a:t>
                </a:r>
                <a:r>
                  <a:rPr lang="vi-VN"/>
                  <a:t>\cos A=\frac{b^2+c^2-a^2}{2bc}</a:t>
                </a:r>
                <a:r>
                  <a:rPr sz="2600">
                    <a:solidFill>
                      <a:srgbClr val="1E293B"/>
                    </a:solidFill>
                    <a:latin typeface="Calibri"/>
                  </a:rPr>
                  <a:t>.</a:t>
                </a:r>
              </a:p>
            </p:txBody>
          </p:sp>
        </mc:Fallback>
      </mc:AlternateContent>
      <p:sp>
        <p:nvSpPr>
          <p:cNvPr id="10" name="s2_nen"/>
          <p:cNvSpPr/>
          <p:nvPr/>
        </p:nvSpPr>
        <p:spPr>
          <a:xfrm>
            <a:off x="548640" y="3726180"/>
            <a:ext cx="11064240" cy="101803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762756"/>
                <a:ext cx="10735056" cy="944879"/>
              </a:xfrm>
              <a:prstGeom prst="rect">
                <a:avLst/>
              </a:prstGeom>
              <a:noFill/>
            </p:spPr>
            <p:txBody>
              <a:bodyPr wrap="square" anchor="ctr" lIns="45720" rIns="45720">
                <a:spAutoFit/>
              </a:bodyPr>
              <a:lstStyle/>
              <a:p>
                <a:pPr algn="l">
                  <a:spcAft>
                    <a:spcPts val="800"/>
                  </a:spcAft>
                </a:pPr>
                <a:r>
                  <a:rPr sz="2600">
                    <a:solidFill>
                      <a:srgbClr val="1E293B"/>
                    </a:solidFill>
                    <a:latin typeface="Calibri"/>
                  </a:rPr>
                  <a:t> </a:t>
                </a:r>
                <a14:m>
                  <m:oMath xmlns:m="http://schemas.openxmlformats.org/officeDocument/2006/math">
                    <m:acc>
                      <m:accPr>
                        <m:chr m:val="⃗"/>
                      </m:accPr>
                      <m:e>
                        <m:r>
                          <a:rPr lang="vi-VN" sz="2600" b="0">
                            <a:solidFill>
                              <a:srgbClr val="1E293B"/>
                            </a:solidFill>
                            <a:latin typeface="Cambria Math" panose="02040503050406030204" pitchFamily="18" charset="0"/>
                          </a:rPr>
                          <m:t>AB</m:t>
                        </m:r>
                      </m:e>
                    </m:acc>
                  </m:oMath>
                </a14:m>
                <a14:m>
                  <m:oMath xmlns:m="http://schemas.openxmlformats.org/officeDocument/2006/math">
                    <m:r>
                      <a:rPr lang="vi-VN" sz="2600" b="0">
                        <a:solidFill>
                          <a:srgbClr val="1E293B"/>
                        </a:solidFill>
                        <a:latin typeface="Cambria Math" panose="02040503050406030204" pitchFamily="18" charset="0"/>
                      </a:rPr>
                      <m:t>·</m:t>
                    </m:r>
                  </m:oMath>
                </a14:m>
                <a14:m>
                  <m:oMath xmlns:m="http://schemas.openxmlformats.org/officeDocument/2006/math">
                    <m:acc>
                      <m:accPr>
                        <m:chr m:val="⃗"/>
                      </m:accPr>
                      <m:e>
                        <m:r>
                          <a:rPr lang="vi-VN" sz="2600" b="0">
                            <a:solidFill>
                              <a:srgbClr val="1E293B"/>
                            </a:solidFill>
                            <a:latin typeface="Cambria Math" panose="02040503050406030204" pitchFamily="18" charset="0"/>
                          </a:rPr>
                          <m:t>AC</m:t>
                        </m:r>
                      </m:e>
                    </m:acc>
                  </m:oMath>
                </a14:m>
                <a:r>
                  <a:rPr sz="2600">
                    <a:solidFill>
                      <a:srgbClr val="1E293B"/>
                    </a:solidFill>
                    <a:latin typeface="Calibri"/>
                  </a:rPr>
                  <a:t> = </a:t>
                </a:r>
                <a14:m>
                  <m:oMath xmlns:m="http://schemas.openxmlformats.org/officeDocument/2006/math">
                    <m:r>
                      <a:rPr lang="vi-VN" sz="2600" b="0">
                        <a:solidFill>
                          <a:srgbClr val="1E293B"/>
                        </a:solidFill>
                        <a:latin typeface="Cambria Math" panose="02040503050406030204" pitchFamily="18" charset="0"/>
                      </a:rPr>
                      <m:t>c·b·</m:t>
                    </m:r>
                    <m:r>
                      <m:rPr>
                        <m:sty m:val="p"/>
                      </m:rPr>
                      <a:rPr lang="vi-VN" sz="2600" b="0">
                        <a:solidFill>
                          <a:srgbClr val="1E293B"/>
                        </a:solidFill>
                        <a:latin typeface="Cambria Math" panose="02040503050406030204" pitchFamily="18" charset="0"/>
                      </a:rPr>
                      <m:t>cos</m:t>
                    </m:r>
                    <m:r>
                      <m:rPr>
                        <m:sty m:val="p"/>
                      </m:rPr>
                      <a:rPr lang="vi-VN" sz="2600" b="0">
                        <a:solidFill>
                          <a:srgbClr val="1E293B"/>
                        </a:solidFill>
                        <a:latin typeface="Cambria Math" panose="02040503050406030204" pitchFamily="18" charset="0"/>
                      </a:rPr>
                      <m:t> </m:t>
                    </m:r>
                    <m:r>
                      <a:rPr lang="vi-VN" sz="2600" b="0">
                        <a:solidFill>
                          <a:srgbClr val="1E293B"/>
                        </a:solidFill>
                        <a:latin typeface="Cambria Math" panose="02040503050406030204" pitchFamily="18" charset="0"/>
                      </a:rPr>
                      <m:t>A=bc·</m:t>
                    </m:r>
                    <m:f>
                      <m:fPr>
                        <m:type m:val="bar"/>
                      </m:fPr>
                      <m:num>
                        <m:sSup>
                          <m:e>
                            <m:r>
                              <a:rPr lang="vi-VN" sz="2600" b="0">
                                <a:solidFill>
                                  <a:srgbClr val="1E293B"/>
                                </a:solidFill>
                                <a:latin typeface="Cambria Math" panose="02040503050406030204" pitchFamily="18" charset="0"/>
                              </a:rPr>
                              <m:t>b</m:t>
                            </m:r>
                          </m:e>
                          <m:sup>
                            <m:r>
                              <a:rPr lang="vi-VN" sz="2600" b="0">
                                <a:solidFill>
                                  <a:srgbClr val="1E293B"/>
                                </a:solidFill>
                                <a:latin typeface="Cambria Math" panose="02040503050406030204" pitchFamily="18" charset="0"/>
                              </a:rPr>
                              <m:t>2</m:t>
                            </m:r>
                          </m:sup>
                        </m:sSup>
                        <m:r>
                          <a:rPr lang="vi-VN" sz="2600" b="0">
                            <a:solidFill>
                              <a:srgbClr val="1E293B"/>
                            </a:solidFill>
                            <a:latin typeface="Cambria Math" panose="02040503050406030204" pitchFamily="18" charset="0"/>
                          </a:rPr>
                          <m:t>+</m:t>
                        </m:r>
                        <m:sSup>
                          <m:e>
                            <m:r>
                              <a:rPr lang="vi-VN" sz="2600" b="0">
                                <a:solidFill>
                                  <a:srgbClr val="1E293B"/>
                                </a:solidFill>
                                <a:latin typeface="Cambria Math" panose="02040503050406030204" pitchFamily="18" charset="0"/>
                              </a:rPr>
                              <m:t>c</m:t>
                            </m:r>
                          </m:e>
                          <m:sup>
                            <m:r>
                              <a:rPr lang="vi-VN" sz="2600" b="0">
                                <a:solidFill>
                                  <a:srgbClr val="1E293B"/>
                                </a:solidFill>
                                <a:latin typeface="Cambria Math" panose="02040503050406030204" pitchFamily="18" charset="0"/>
                              </a:rPr>
                              <m:t>2</m:t>
                            </m:r>
                          </m:sup>
                        </m:sSup>
                        <m:r>
                          <a:rPr lang="vi-VN" sz="2600" b="0">
                            <a:solidFill>
                              <a:srgbClr val="1E293B"/>
                            </a:solidFill>
                            <a:latin typeface="Cambria Math" panose="02040503050406030204" pitchFamily="18" charset="0"/>
                          </a:rPr>
                          <m:t>−</m:t>
                        </m:r>
                        <m:sSup>
                          <m:e>
                            <m:r>
                              <a:rPr lang="vi-VN" sz="2600" b="0">
                                <a:solidFill>
                                  <a:srgbClr val="1E293B"/>
                                </a:solidFill>
                                <a:latin typeface="Cambria Math" panose="02040503050406030204" pitchFamily="18" charset="0"/>
                              </a:rPr>
                              <m:t>a</m:t>
                            </m:r>
                          </m:e>
                          <m:sup>
                            <m:r>
                              <a:rPr lang="vi-VN" sz="2600" b="0">
                                <a:solidFill>
                                  <a:srgbClr val="1E293B"/>
                                </a:solidFill>
                                <a:latin typeface="Cambria Math" panose="02040503050406030204" pitchFamily="18" charset="0"/>
                              </a:rPr>
                              <m:t>2</m:t>
                            </m:r>
                          </m:sup>
                        </m:sSup>
                      </m:num>
                      <m:den>
                        <m:r>
                          <a:rPr lang="vi-VN" sz="2600" b="0">
                            <a:solidFill>
                              <a:srgbClr val="1E293B"/>
                            </a:solidFill>
                            <a:latin typeface="Cambria Math" panose="02040503050406030204" pitchFamily="18" charset="0"/>
                          </a:rPr>
                          <m:t>2bc</m:t>
                        </m:r>
                      </m:den>
                    </m:f>
                    <m:r>
                      <a:rPr lang="vi-VN" sz="2600" b="0">
                        <a:solidFill>
                          <a:srgbClr val="1E293B"/>
                        </a:solidFill>
                        <a:latin typeface="Cambria Math" panose="02040503050406030204" pitchFamily="18" charset="0"/>
                      </a:rPr>
                      <m:t>=</m:t>
                    </m:r>
                    <m:f>
                      <m:fPr>
                        <m:type m:val="bar"/>
                      </m:fPr>
                      <m:num>
                        <m:sSup>
                          <m:e>
                            <m:r>
                              <a:rPr lang="vi-VN" sz="2600" b="0">
                                <a:solidFill>
                                  <a:srgbClr val="1E293B"/>
                                </a:solidFill>
                                <a:latin typeface="Cambria Math" panose="02040503050406030204" pitchFamily="18" charset="0"/>
                              </a:rPr>
                              <m:t>b</m:t>
                            </m:r>
                          </m:e>
                          <m:sup>
                            <m:r>
                              <a:rPr lang="vi-VN" sz="2600" b="0">
                                <a:solidFill>
                                  <a:srgbClr val="1E293B"/>
                                </a:solidFill>
                                <a:latin typeface="Cambria Math" panose="02040503050406030204" pitchFamily="18" charset="0"/>
                              </a:rPr>
                              <m:t>2</m:t>
                            </m:r>
                          </m:sup>
                        </m:sSup>
                        <m:r>
                          <a:rPr lang="vi-VN" sz="2600" b="0">
                            <a:solidFill>
                              <a:srgbClr val="1E293B"/>
                            </a:solidFill>
                            <a:latin typeface="Cambria Math" panose="02040503050406030204" pitchFamily="18" charset="0"/>
                          </a:rPr>
                          <m:t>+</m:t>
                        </m:r>
                        <m:sSup>
                          <m:e>
                            <m:r>
                              <a:rPr lang="vi-VN" sz="2600" b="0">
                                <a:solidFill>
                                  <a:srgbClr val="1E293B"/>
                                </a:solidFill>
                                <a:latin typeface="Cambria Math" panose="02040503050406030204" pitchFamily="18" charset="0"/>
                              </a:rPr>
                              <m:t>c</m:t>
                            </m:r>
                          </m:e>
                          <m:sup>
                            <m:r>
                              <a:rPr lang="vi-VN" sz="2600" b="0">
                                <a:solidFill>
                                  <a:srgbClr val="1E293B"/>
                                </a:solidFill>
                                <a:latin typeface="Cambria Math" panose="02040503050406030204" pitchFamily="18" charset="0"/>
                              </a:rPr>
                              <m:t>2</m:t>
                            </m:r>
                          </m:sup>
                        </m:sSup>
                        <m:r>
                          <a:rPr lang="vi-VN" sz="2600" b="0">
                            <a:solidFill>
                              <a:srgbClr val="1E293B"/>
                            </a:solidFill>
                            <a:latin typeface="Cambria Math" panose="02040503050406030204" pitchFamily="18" charset="0"/>
                          </a:rPr>
                          <m:t>−</m:t>
                        </m:r>
                        <m:sSup>
                          <m:e>
                            <m:r>
                              <a:rPr lang="vi-VN" sz="2600" b="0">
                                <a:solidFill>
                                  <a:srgbClr val="1E293B"/>
                                </a:solidFill>
                                <a:latin typeface="Cambria Math" panose="02040503050406030204" pitchFamily="18" charset="0"/>
                              </a:rPr>
                              <m:t>a</m:t>
                            </m:r>
                          </m:e>
                          <m:sup>
                            <m:r>
                              <a:rPr lang="vi-VN" sz="2600" b="0">
                                <a:solidFill>
                                  <a:srgbClr val="1E293B"/>
                                </a:solidFill>
                                <a:latin typeface="Cambria Math" panose="02040503050406030204" pitchFamily="18" charset="0"/>
                              </a:rPr>
                              <m:t>2</m:t>
                            </m:r>
                          </m:sup>
                        </m:sSup>
                      </m:num>
                      <m:den>
                        <m:r>
                          <a:rPr lang="vi-VN" sz="2600" b="0">
                            <a:solidFill>
                              <a:srgbClr val="1E293B"/>
                            </a:solidFill>
                            <a:latin typeface="Cambria Math" panose="02040503050406030204" pitchFamily="18" charset="0"/>
                          </a:rPr>
                          <m:t>2</m:t>
                        </m:r>
                      </m:den>
                    </m:f>
                  </m:oMath>
                </a14:m>
                <a:r>
                  <a:rPr sz="2600">
                    <a:solidFill>
                      <a:srgbClr val="1E293B"/>
                    </a:solidFill>
                    <a:latin typeface="Calibri"/>
                  </a:rPr>
                  <a:t>.</a:t>
                </a:r>
              </a:p>
            </p:txBody>
          </p:sp>
        </mc:Choice>
        <mc:Fallback>
          <p:sp>
            <p:nvSpPr>
              <p:cNvPr id="11" name="TextBox 10"/>
              <p:cNvSpPr txBox="1"/>
              <p:nvPr/>
            </p:nvSpPr>
            <p:spPr>
              <a:xfrm>
                <a:off x="713232" y="3762756"/>
                <a:ext cx="10735056" cy="944879"/>
              </a:xfrm>
              <a:prstGeom prst="rect">
                <a:avLst/>
              </a:prstGeom>
              <a:noFill/>
            </p:spPr>
            <p:txBody>
              <a:bodyPr wrap="square" anchor="ctr" lIns="45720" rIns="45720">
                <a:spAutoFit/>
              </a:bodyPr>
              <a:lstStyle/>
              <a:p>
                <a:pPr algn="l">
                  <a:spcAft>
                    <a:spcPts val="800"/>
                  </a:spcAft>
                </a:pPr>
                <a:r>
                  <a:rPr sz="2600">
                    <a:solidFill>
                      <a:srgbClr val="1E293B"/>
                    </a:solidFill>
                    <a:latin typeface="Calibri"/>
                  </a:rPr>
                  <a:t> </a:t>
                </a:r>
                <a:r>
                  <a:rPr lang="vi-VN"/>
                  <a:t>\overrightarrow{AB}</a:t>
                </a:r>
                <a:r>
                  <a:rPr lang="vi-VN"/>
                  <a:t>\cdot</a:t>
                </a:r>
                <a:r>
                  <a:rPr lang="vi-VN"/>
                  <a:t>\overrightarrow{AC}</a:t>
                </a:r>
                <a:r>
                  <a:rPr sz="2600">
                    <a:solidFill>
                      <a:srgbClr val="1E293B"/>
                    </a:solidFill>
                    <a:latin typeface="Calibri"/>
                  </a:rPr>
                  <a:t> = </a:t>
                </a:r>
                <a:r>
                  <a:rPr lang="vi-VN"/>
                  <a:t>c\cdot b\cdot\cos A=bc\cdot\frac{b^2+c^2-a^2}{2bc}=\frac{b^2+c^2-a^2}{2}</a:t>
                </a:r>
                <a:r>
                  <a:rPr sz="26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ĐÚNG HAY SAI?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13</a:t>
            </a:r>
          </a:p>
        </p:txBody>
      </p:sp>
      <p:sp>
        <p:nvSpPr>
          <p:cNvPr id="7" name="TextBox 6"/>
          <p:cNvSpPr txBox="1"/>
          <p:nvPr/>
        </p:nvSpPr>
        <p:spPr>
          <a:xfrm>
            <a:off x="548640" y="1325880"/>
            <a:ext cx="11064240" cy="457200"/>
          </a:xfrm>
          <a:prstGeom prst="rect">
            <a:avLst/>
          </a:prstGeom>
          <a:noFill/>
        </p:spPr>
        <p:txBody>
          <a:bodyPr wrap="square" anchor="t" lIns="45720" rIns="45720">
            <a:spAutoFit/>
          </a:bodyPr>
          <a:lstStyle/>
          <a:p>
            <a:pPr algn="l">
              <a:spcAft>
                <a:spcPts val="800"/>
              </a:spcAft>
            </a:pPr>
            <a:r>
              <a:rPr sz="1800">
                <a:solidFill>
                  <a:srgbClr val="64748B"/>
                </a:solidFill>
                <a:latin typeface="Calibri"/>
              </a:rPr>
              <a:t>📋 Cả lớp giơ thẻ Đ/S trong 15 giây mỗi câu.</a:t>
            </a:r>
          </a:p>
        </p:txBody>
      </p:sp>
      <mc:AlternateContent xmlns:mc="http://schemas.openxmlformats.org/markup-compatibility/2006">
        <mc:Choice xmlns:a14="http://schemas.microsoft.com/office/drawing/2010/main" Requires="a14">
          <p:sp>
            <p:nvSpPr>
              <p:cNvPr id="8" name="TextBox 7"/>
              <p:cNvSpPr txBox="1"/>
              <p:nvPr/>
            </p:nvSpPr>
            <p:spPr>
              <a:xfrm>
                <a:off x="548640" y="1828800"/>
                <a:ext cx="5394960" cy="844295"/>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hình vuông </a:t>
                </a:r>
                <a14:m>
                  <m:oMath xmlns:m="http://schemas.openxmlformats.org/officeDocument/2006/math">
                    <m:r>
                      <a:rPr lang="vi-VN" sz="2200" b="0">
                        <a:solidFill>
                          <a:srgbClr val="1E293B"/>
                        </a:solidFill>
                        <a:latin typeface="Cambria Math" panose="02040503050406030204" pitchFamily="18" charset="0"/>
                      </a:rPr>
                      <m:t>ABCD</m:t>
                    </m:r>
                  </m:oMath>
                </a14:m>
                <a:r>
                  <a:rPr sz="2200">
                    <a:solidFill>
                      <a:srgbClr val="1E293B"/>
                    </a:solidFill>
                    <a:latin typeface="Calibri"/>
                  </a:rPr>
                  <a:t> cạnh </a:t>
                </a:r>
                <a14:m>
                  <m:oMath xmlns:m="http://schemas.openxmlformats.org/officeDocument/2006/math">
                    <m:r>
                      <a:rPr lang="vi-VN" sz="2200" b="0">
                        <a:solidFill>
                          <a:srgbClr val="1E293B"/>
                        </a:solidFill>
                        <a:latin typeface="Cambria Math" panose="02040503050406030204" pitchFamily="18" charset="0"/>
                      </a:rPr>
                      <m:t>a</m:t>
                    </m:r>
                  </m:oMath>
                </a14:m>
                <a:r>
                  <a:rPr sz="2200">
                    <a:solidFill>
                      <a:srgbClr val="1E293B"/>
                    </a:solidFill>
                    <a:latin typeface="Calibri"/>
                  </a:rPr>
                  <a:t> (Hình 4.43).</a:t>
                </a:r>
              </a:p>
            </p:txBody>
          </p:sp>
        </mc:Choice>
        <mc:Fallback>
          <p:sp>
            <p:nvSpPr>
              <p:cNvPr id="8" name="TextBox 7"/>
              <p:cNvSpPr txBox="1"/>
              <p:nvPr/>
            </p:nvSpPr>
            <p:spPr>
              <a:xfrm>
                <a:off x="548640" y="1828800"/>
                <a:ext cx="5394960" cy="844295"/>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hình vuông </a:t>
                </a:r>
                <a:r>
                  <a:rPr lang="vi-VN"/>
                  <a:t>ABCD</a:t>
                </a:r>
                <a:r>
                  <a:rPr sz="2200">
                    <a:solidFill>
                      <a:srgbClr val="1E293B"/>
                    </a:solidFill>
                    <a:latin typeface="Calibri"/>
                  </a:rPr>
                  <a:t> cạnh </a:t>
                </a:r>
                <a:r>
                  <a:rPr lang="vi-VN"/>
                  <a:t>a</a:t>
                </a:r>
                <a:r>
                  <a:rPr sz="2200">
                    <a:solidFill>
                      <a:srgbClr val="1E293B"/>
                    </a:solidFill>
                    <a:latin typeface="Calibri"/>
                  </a:rPr>
                  <a:t> (Hình 4.43).</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548640" y="2810256"/>
                <a:ext cx="5394960" cy="79476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1.</a:t>
                </a:r>
                <a:r>
                  <a:rPr sz="2100">
                    <a:solidFill>
                      <a:srgbClr val="1E293B"/>
                    </a:solidFill>
                    <a:latin typeface="Calibri"/>
                  </a:rPr>
                  <a:t> </a:t>
                </a:r>
                <a14:m>
                  <m:oMath xmlns:m="http://schemas.openxmlformats.org/officeDocument/2006/math">
                    <m:d>
                      <m:dPr>
                        <m:sepChr m:val=","/>
                      </m:dPr>
                      <m:e>
                        <m:acc>
                          <m:accPr>
                            <m:chr m:val="⃗"/>
                          </m:accPr>
                          <m:e>
                            <m:r>
                              <a:rPr lang="vi-VN" sz="2100" b="0">
                                <a:solidFill>
                                  <a:srgbClr val="1E293B"/>
                                </a:solidFill>
                                <a:latin typeface="Cambria Math" panose="02040503050406030204" pitchFamily="18" charset="0"/>
                              </a:rPr>
                              <m:t>AB</m:t>
                            </m:r>
                          </m:e>
                        </m:acc>
                      </m:e>
                      <m:e>
                        <m:r>
                          <m:rPr>
                            <m:sty m:val="p"/>
                          </m:rPr>
                          <a:rPr lang="vi-VN" sz="2100" b="0">
                            <a:solidFill>
                              <a:srgbClr val="1E293B"/>
                            </a:solidFill>
                            <a:latin typeface="Cambria Math" panose="02040503050406030204" pitchFamily="18" charset="0"/>
                          </a:rPr>
                          <m:t> </m:t>
                        </m:r>
                        <m:acc>
                          <m:accPr>
                            <m:chr m:val="⃗"/>
                          </m:accPr>
                          <m:e>
                            <m:r>
                              <a:rPr lang="vi-VN" sz="2100" b="0">
                                <a:solidFill>
                                  <a:srgbClr val="1E293B"/>
                                </a:solidFill>
                                <a:latin typeface="Cambria Math" panose="02040503050406030204" pitchFamily="18" charset="0"/>
                              </a:rPr>
                              <m:t>DC</m:t>
                            </m:r>
                          </m:e>
                        </m:acc>
                      </m:e>
                    </m:d>
                  </m:oMath>
                </a14:m>
                <a:r>
                  <a:rPr sz="2100">
                    <a:solidFill>
                      <a:srgbClr val="1E293B"/>
                    </a:solidFill>
                    <a:latin typeface="Calibri"/>
                  </a:rPr>
                  <a:t> = </a:t>
                </a:r>
                <a14:m>
                  <m:oMath xmlns:m="http://schemas.openxmlformats.org/officeDocument/2006/math">
                    <m:sSup>
                      <m:e>
                        <m:r>
                          <a:rPr lang="vi-VN" sz="2100" b="0">
                            <a:solidFill>
                              <a:srgbClr val="1E293B"/>
                            </a:solidFill>
                            <a:latin typeface="Cambria Math" panose="02040503050406030204" pitchFamily="18" charset="0"/>
                          </a:rPr>
                          <m:t>0</m:t>
                        </m:r>
                      </m:e>
                      <m:sup>
                        <m:r>
                          <a:rPr lang="vi-VN" sz="2100" b="0">
                            <a:solidFill>
                              <a:srgbClr val="1E293B"/>
                            </a:solidFill>
                            <a:latin typeface="Cambria Math" panose="02040503050406030204" pitchFamily="18" charset="0"/>
                          </a:rPr>
                          <m:t>∘</m:t>
                        </m:r>
                      </m:sup>
                    </m:sSup>
                  </m:oMath>
                </a14:m>
              </a:p>
            </p:txBody>
          </p:sp>
        </mc:Choice>
        <mc:Fallback>
          <p:sp>
            <p:nvSpPr>
              <p:cNvPr id="9" name="TextBox 8"/>
              <p:cNvSpPr txBox="1"/>
              <p:nvPr/>
            </p:nvSpPr>
            <p:spPr>
              <a:xfrm>
                <a:off x="548640" y="2810256"/>
                <a:ext cx="5394960" cy="79476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1.</a:t>
                </a:r>
                <a:r>
                  <a:rPr sz="2100">
                    <a:solidFill>
                      <a:srgbClr val="1E293B"/>
                    </a:solidFill>
                    <a:latin typeface="Calibri"/>
                  </a:rPr>
                  <a:t> </a:t>
                </a:r>
                <a:r>
                  <a:rPr lang="vi-VN"/>
                  <a:t>\left(\overrightarrow{AB},\ \overrightarrow{DC}\right)</a:t>
                </a:r>
                <a:r>
                  <a:rPr sz="2100">
                    <a:solidFill>
                      <a:srgbClr val="1E293B"/>
                    </a:solidFill>
                    <a:latin typeface="Calibri"/>
                  </a:rPr>
                  <a:t> = </a:t>
                </a:r>
                <a:r>
                  <a:rPr lang="vi-VN"/>
                  <a:t>0^\circ</a:t>
                </a:r>
              </a:p>
            </p:txBody>
          </p:sp>
        </mc:Fallback>
      </mc:AlternateContent>
      <p:sp>
        <p:nvSpPr>
          <p:cNvPr id="10" name="s1_nen"/>
          <p:cNvSpPr/>
          <p:nvPr/>
        </p:nvSpPr>
        <p:spPr>
          <a:xfrm>
            <a:off x="6126480" y="2810256"/>
            <a:ext cx="2377440" cy="6858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1_chu"/>
          <p:cNvSpPr txBox="1"/>
          <p:nvPr/>
        </p:nvSpPr>
        <p:spPr>
          <a:xfrm>
            <a:off x="6126480" y="2865120"/>
            <a:ext cx="2377440" cy="640080"/>
          </a:xfrm>
          <a:prstGeom prst="rect">
            <a:avLst/>
          </a:prstGeom>
          <a:noFill/>
        </p:spPr>
        <p:txBody>
          <a:bodyPr wrap="square" anchor="t" lIns="45720" rIns="45720">
            <a:spAutoFit/>
          </a:bodyPr>
          <a:lstStyle/>
          <a:p>
            <a:pPr algn="ctr">
              <a:spcAft>
                <a:spcPts val="800"/>
              </a:spcAft>
            </a:pPr>
            <a:r>
              <a:rPr sz="1700" b="1">
                <a:solidFill>
                  <a:srgbClr val="FFFFFF"/>
                </a:solidFill>
                <a:latin typeface="Calibri"/>
              </a:rPr>
              <a:t>ĐÚNG</a:t>
            </a:r>
            <a:r>
              <a:rPr sz="1700">
                <a:solidFill>
                  <a:srgbClr val="FFFFFF"/>
                </a:solidFill>
                <a:latin typeface="Calibri"/>
              </a:rPr>
              <a:t> (cùng hướng)</a:t>
            </a:r>
          </a:p>
        </p:txBody>
      </p:sp>
      <mc:AlternateContent xmlns:mc="http://schemas.openxmlformats.org/markup-compatibility/2006">
        <mc:Choice xmlns:a14="http://schemas.microsoft.com/office/drawing/2010/main" Requires="a14">
          <p:sp>
            <p:nvSpPr>
              <p:cNvPr id="12" name="TextBox 11"/>
              <p:cNvSpPr txBox="1"/>
              <p:nvPr/>
            </p:nvSpPr>
            <p:spPr>
              <a:xfrm>
                <a:off x="548640" y="3650741"/>
                <a:ext cx="5394960" cy="79476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2.</a:t>
                </a:r>
                <a:r>
                  <a:rPr sz="2100">
                    <a:solidFill>
                      <a:srgbClr val="1E293B"/>
                    </a:solidFill>
                    <a:latin typeface="Calibri"/>
                  </a:rPr>
                  <a:t> </a:t>
                </a:r>
                <a14:m>
                  <m:oMath xmlns:m="http://schemas.openxmlformats.org/officeDocument/2006/math">
                    <m:d>
                      <m:dPr>
                        <m:sepChr m:val=","/>
                      </m:dPr>
                      <m:e>
                        <m:acc>
                          <m:accPr>
                            <m:chr m:val="⃗"/>
                          </m:accPr>
                          <m:e>
                            <m:r>
                              <a:rPr lang="vi-VN" sz="2100" b="0">
                                <a:solidFill>
                                  <a:srgbClr val="1E293B"/>
                                </a:solidFill>
                                <a:latin typeface="Cambria Math" panose="02040503050406030204" pitchFamily="18" charset="0"/>
                              </a:rPr>
                              <m:t>AB</m:t>
                            </m:r>
                          </m:e>
                        </m:acc>
                      </m:e>
                      <m:e>
                        <m:r>
                          <m:rPr>
                            <m:sty m:val="p"/>
                          </m:rPr>
                          <a:rPr lang="vi-VN" sz="2100" b="0">
                            <a:solidFill>
                              <a:srgbClr val="1E293B"/>
                            </a:solidFill>
                            <a:latin typeface="Cambria Math" panose="02040503050406030204" pitchFamily="18" charset="0"/>
                          </a:rPr>
                          <m:t> </m:t>
                        </m:r>
                        <m:acc>
                          <m:accPr>
                            <m:chr m:val="⃗"/>
                          </m:accPr>
                          <m:e>
                            <m:r>
                              <a:rPr lang="vi-VN" sz="2100" b="0">
                                <a:solidFill>
                                  <a:srgbClr val="1E293B"/>
                                </a:solidFill>
                                <a:latin typeface="Cambria Math" panose="02040503050406030204" pitchFamily="18" charset="0"/>
                              </a:rPr>
                              <m:t>CD</m:t>
                            </m:r>
                          </m:e>
                        </m:acc>
                      </m:e>
                    </m:d>
                  </m:oMath>
                </a14:m>
                <a:r>
                  <a:rPr sz="2100">
                    <a:solidFill>
                      <a:srgbClr val="1E293B"/>
                    </a:solidFill>
                    <a:latin typeface="Calibri"/>
                  </a:rPr>
                  <a:t> = </a:t>
                </a:r>
                <a14:m>
                  <m:oMath xmlns:m="http://schemas.openxmlformats.org/officeDocument/2006/math">
                    <m:sSup>
                      <m:e>
                        <m:r>
                          <a:rPr lang="vi-VN" sz="2100" b="0">
                            <a:solidFill>
                              <a:srgbClr val="1E293B"/>
                            </a:solidFill>
                            <a:latin typeface="Cambria Math" panose="02040503050406030204" pitchFamily="18" charset="0"/>
                          </a:rPr>
                          <m:t>0</m:t>
                        </m:r>
                      </m:e>
                      <m:sup>
                        <m:r>
                          <a:rPr lang="vi-VN" sz="2100" b="0">
                            <a:solidFill>
                              <a:srgbClr val="1E293B"/>
                            </a:solidFill>
                            <a:latin typeface="Cambria Math" panose="02040503050406030204" pitchFamily="18" charset="0"/>
                          </a:rPr>
                          <m:t>∘</m:t>
                        </m:r>
                      </m:sup>
                    </m:sSup>
                  </m:oMath>
                </a14:m>
              </a:p>
            </p:txBody>
          </p:sp>
        </mc:Choice>
        <mc:Fallback>
          <p:sp>
            <p:nvSpPr>
              <p:cNvPr id="12" name="TextBox 11"/>
              <p:cNvSpPr txBox="1"/>
              <p:nvPr/>
            </p:nvSpPr>
            <p:spPr>
              <a:xfrm>
                <a:off x="548640" y="3650741"/>
                <a:ext cx="5394960" cy="79476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2.</a:t>
                </a:r>
                <a:r>
                  <a:rPr sz="2100">
                    <a:solidFill>
                      <a:srgbClr val="1E293B"/>
                    </a:solidFill>
                    <a:latin typeface="Calibri"/>
                  </a:rPr>
                  <a:t> </a:t>
                </a:r>
                <a:r>
                  <a:rPr lang="vi-VN"/>
                  <a:t>\left(\overrightarrow{AB},\ \overrightarrow{CD}\right)</a:t>
                </a:r>
                <a:r>
                  <a:rPr sz="2100">
                    <a:solidFill>
                      <a:srgbClr val="1E293B"/>
                    </a:solidFill>
                    <a:latin typeface="Calibri"/>
                  </a:rPr>
                  <a:t> = </a:t>
                </a:r>
                <a:r>
                  <a:rPr lang="vi-VN"/>
                  <a:t>0^\circ</a:t>
                </a:r>
              </a:p>
            </p:txBody>
          </p:sp>
        </mc:Fallback>
      </mc:AlternateContent>
      <p:sp>
        <p:nvSpPr>
          <p:cNvPr id="13" name="s2_nen"/>
          <p:cNvSpPr/>
          <p:nvPr/>
        </p:nvSpPr>
        <p:spPr>
          <a:xfrm>
            <a:off x="6126480" y="3650741"/>
            <a:ext cx="2377440" cy="6858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2_chu"/>
          <p:cNvSpPr txBox="1"/>
          <p:nvPr/>
        </p:nvSpPr>
        <p:spPr>
          <a:xfrm>
            <a:off x="6126480" y="3705605"/>
            <a:ext cx="2377440" cy="640080"/>
          </a:xfrm>
          <a:prstGeom prst="rect">
            <a:avLst/>
          </a:prstGeom>
          <a:noFill/>
        </p:spPr>
        <p:txBody>
          <a:bodyPr wrap="square" anchor="t" lIns="45720" rIns="45720">
            <a:spAutoFit/>
          </a:bodyPr>
          <a:lstStyle/>
          <a:p>
            <a:pPr algn="ctr">
              <a:spcAft>
                <a:spcPts val="800"/>
              </a:spcAft>
            </a:pPr>
            <a:r>
              <a:rPr sz="1700" b="1">
                <a:solidFill>
                  <a:srgbClr val="FFFFFF"/>
                </a:solidFill>
                <a:latin typeface="Calibri"/>
              </a:rPr>
              <a:t>SAI</a:t>
            </a:r>
            <a:r>
              <a:rPr sz="1700">
                <a:solidFill>
                  <a:srgbClr val="FFFFFF"/>
                </a:solidFill>
                <a:latin typeface="Calibri"/>
              </a:rPr>
              <a:t> (180°)</a:t>
            </a:r>
          </a:p>
        </p:txBody>
      </p:sp>
      <mc:AlternateContent xmlns:mc="http://schemas.openxmlformats.org/markup-compatibility/2006">
        <mc:Choice xmlns:a14="http://schemas.microsoft.com/office/drawing/2010/main" Requires="a14">
          <p:sp>
            <p:nvSpPr>
              <p:cNvPr id="15" name="TextBox 14"/>
              <p:cNvSpPr txBox="1"/>
              <p:nvPr/>
            </p:nvSpPr>
            <p:spPr>
              <a:xfrm>
                <a:off x="548640" y="4491228"/>
                <a:ext cx="5394960" cy="79476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3.</a:t>
                </a:r>
                <a:r>
                  <a:rPr sz="2100">
                    <a:solidFill>
                      <a:srgbClr val="1E293B"/>
                    </a:solidFill>
                    <a:latin typeface="Calibri"/>
                  </a:rPr>
                  <a:t> </a:t>
                </a:r>
                <a14:m>
                  <m:oMath xmlns:m="http://schemas.openxmlformats.org/officeDocument/2006/math">
                    <m:acc>
                      <m:accPr>
                        <m:chr m:val="⃗"/>
                      </m:accPr>
                      <m:e>
                        <m:r>
                          <a:rPr lang="vi-VN" sz="2100" b="0">
                            <a:solidFill>
                              <a:srgbClr val="1E293B"/>
                            </a:solidFill>
                            <a:latin typeface="Cambria Math" panose="02040503050406030204" pitchFamily="18" charset="0"/>
                          </a:rPr>
                          <m:t>AB</m:t>
                        </m:r>
                      </m:e>
                    </m:acc>
                  </m:oMath>
                </a14:m>
                <a14:m>
                  <m:oMath xmlns:m="http://schemas.openxmlformats.org/officeDocument/2006/math">
                    <m:r>
                      <a:rPr lang="vi-VN" sz="2100" b="0">
                        <a:solidFill>
                          <a:srgbClr val="1E293B"/>
                        </a:solidFill>
                        <a:latin typeface="Cambria Math" panose="02040503050406030204" pitchFamily="18" charset="0"/>
                      </a:rPr>
                      <m:t>·</m:t>
                    </m:r>
                  </m:oMath>
                </a14:m>
                <a14:m>
                  <m:oMath xmlns:m="http://schemas.openxmlformats.org/officeDocument/2006/math">
                    <m:acc>
                      <m:accPr>
                        <m:chr m:val="⃗"/>
                      </m:accPr>
                      <m:e>
                        <m:r>
                          <a:rPr lang="vi-VN" sz="2100" b="0">
                            <a:solidFill>
                              <a:srgbClr val="1E293B"/>
                            </a:solidFill>
                            <a:latin typeface="Cambria Math" panose="02040503050406030204" pitchFamily="18" charset="0"/>
                          </a:rPr>
                          <m:t>AC</m:t>
                        </m:r>
                      </m:e>
                    </m:acc>
                  </m:oMath>
                </a14:m>
                <a:r>
                  <a:rPr sz="2100">
                    <a:solidFill>
                      <a:srgbClr val="1E293B"/>
                    </a:solidFill>
                    <a:latin typeface="Calibri"/>
                  </a:rPr>
                  <a:t> &gt; 0</a:t>
                </a:r>
              </a:p>
            </p:txBody>
          </p:sp>
        </mc:Choice>
        <mc:Fallback>
          <p:sp>
            <p:nvSpPr>
              <p:cNvPr id="15" name="TextBox 14"/>
              <p:cNvSpPr txBox="1"/>
              <p:nvPr/>
            </p:nvSpPr>
            <p:spPr>
              <a:xfrm>
                <a:off x="548640" y="4491228"/>
                <a:ext cx="5394960" cy="79476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3.</a:t>
                </a:r>
                <a:r>
                  <a:rPr sz="2100">
                    <a:solidFill>
                      <a:srgbClr val="1E293B"/>
                    </a:solidFill>
                    <a:latin typeface="Calibri"/>
                  </a:rPr>
                  <a:t> </a:t>
                </a:r>
                <a:r>
                  <a:rPr lang="vi-VN"/>
                  <a:t>\overrightarrow{AB}</a:t>
                </a:r>
                <a:r>
                  <a:rPr lang="vi-VN"/>
                  <a:t>\cdot</a:t>
                </a:r>
                <a:r>
                  <a:rPr lang="vi-VN"/>
                  <a:t>\overrightarrow{AC}</a:t>
                </a:r>
                <a:r>
                  <a:rPr sz="2100">
                    <a:solidFill>
                      <a:srgbClr val="1E293B"/>
                    </a:solidFill>
                    <a:latin typeface="Calibri"/>
                  </a:rPr>
                  <a:t> &gt; 0</a:t>
                </a:r>
              </a:p>
            </p:txBody>
          </p:sp>
        </mc:Fallback>
      </mc:AlternateContent>
      <p:sp>
        <p:nvSpPr>
          <p:cNvPr id="16" name="s3_nen"/>
          <p:cNvSpPr/>
          <p:nvPr/>
        </p:nvSpPr>
        <p:spPr>
          <a:xfrm>
            <a:off x="6126480" y="4491228"/>
            <a:ext cx="2377440" cy="6858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3_chu"/>
          <p:cNvSpPr txBox="1"/>
          <p:nvPr/>
        </p:nvSpPr>
        <p:spPr>
          <a:xfrm>
            <a:off x="6126480" y="4546092"/>
            <a:ext cx="2377440" cy="640080"/>
          </a:xfrm>
          <a:prstGeom prst="rect">
            <a:avLst/>
          </a:prstGeom>
          <a:noFill/>
        </p:spPr>
        <p:txBody>
          <a:bodyPr wrap="square" anchor="t" lIns="45720" rIns="45720">
            <a:spAutoFit/>
          </a:bodyPr>
          <a:lstStyle/>
          <a:p>
            <a:pPr algn="ctr">
              <a:spcAft>
                <a:spcPts val="800"/>
              </a:spcAft>
            </a:pPr>
            <a:r>
              <a:rPr sz="1700" b="1">
                <a:solidFill>
                  <a:srgbClr val="FFFFFF"/>
                </a:solidFill>
                <a:latin typeface="Calibri"/>
              </a:rPr>
              <a:t>ĐÚNG</a:t>
            </a:r>
            <a:r>
              <a:rPr sz="1700">
                <a:solidFill>
                  <a:srgbClr val="FFFFFF"/>
                </a:solidFill>
                <a:latin typeface="Calibri"/>
              </a:rPr>
              <a:t> (góc 45°)</a:t>
            </a:r>
          </a:p>
        </p:txBody>
      </p:sp>
      <mc:AlternateContent xmlns:mc="http://schemas.openxmlformats.org/markup-compatibility/2006">
        <mc:Choice xmlns:a14="http://schemas.microsoft.com/office/drawing/2010/main" Requires="a14">
          <p:sp>
            <p:nvSpPr>
              <p:cNvPr id="18" name="TextBox 17"/>
              <p:cNvSpPr txBox="1"/>
              <p:nvPr/>
            </p:nvSpPr>
            <p:spPr>
              <a:xfrm>
                <a:off x="548640" y="5331714"/>
                <a:ext cx="5394960" cy="79476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4.</a:t>
                </a:r>
                <a:r>
                  <a:rPr sz="2100">
                    <a:solidFill>
                      <a:srgbClr val="1E293B"/>
                    </a:solidFill>
                    <a:latin typeface="Calibri"/>
                  </a:rPr>
                  <a:t> </a:t>
                </a:r>
                <a14:m>
                  <m:oMath xmlns:m="http://schemas.openxmlformats.org/officeDocument/2006/math">
                    <m:acc>
                      <m:accPr>
                        <m:chr m:val="⃗"/>
                      </m:accPr>
                      <m:e>
                        <m:r>
                          <a:rPr lang="vi-VN" sz="2100" b="0">
                            <a:solidFill>
                              <a:srgbClr val="1E293B"/>
                            </a:solidFill>
                            <a:latin typeface="Cambria Math" panose="02040503050406030204" pitchFamily="18" charset="0"/>
                          </a:rPr>
                          <m:t>AB</m:t>
                        </m:r>
                      </m:e>
                    </m:acc>
                  </m:oMath>
                </a14:m>
                <a14:m>
                  <m:oMath xmlns:m="http://schemas.openxmlformats.org/officeDocument/2006/math">
                    <m:r>
                      <a:rPr lang="vi-VN" sz="2100" b="0">
                        <a:solidFill>
                          <a:srgbClr val="1E293B"/>
                        </a:solidFill>
                        <a:latin typeface="Cambria Math" panose="02040503050406030204" pitchFamily="18" charset="0"/>
                      </a:rPr>
                      <m:t>·</m:t>
                    </m:r>
                  </m:oMath>
                </a14:m>
                <a14:m>
                  <m:oMath xmlns:m="http://schemas.openxmlformats.org/officeDocument/2006/math">
                    <m:acc>
                      <m:accPr>
                        <m:chr m:val="⃗"/>
                      </m:accPr>
                      <m:e>
                        <m:r>
                          <a:rPr lang="vi-VN" sz="2100" b="0">
                            <a:solidFill>
                              <a:srgbClr val="1E293B"/>
                            </a:solidFill>
                            <a:latin typeface="Cambria Math" panose="02040503050406030204" pitchFamily="18" charset="0"/>
                          </a:rPr>
                          <m:t>BC</m:t>
                        </m:r>
                      </m:e>
                    </m:acc>
                  </m:oMath>
                </a14:m>
                <a:r>
                  <a:rPr sz="2100">
                    <a:solidFill>
                      <a:srgbClr val="1E293B"/>
                    </a:solidFill>
                    <a:latin typeface="Calibri"/>
                  </a:rPr>
                  <a:t> = </a:t>
                </a:r>
                <a14:m>
                  <m:oMath xmlns:m="http://schemas.openxmlformats.org/officeDocument/2006/math">
                    <m:sSup>
                      <m:e>
                        <m:r>
                          <a:rPr lang="vi-VN" sz="2100" b="0">
                            <a:solidFill>
                              <a:srgbClr val="1E293B"/>
                            </a:solidFill>
                            <a:latin typeface="Cambria Math" panose="02040503050406030204" pitchFamily="18" charset="0"/>
                          </a:rPr>
                          <m:t>a</m:t>
                        </m:r>
                      </m:e>
                      <m:sup>
                        <m:r>
                          <a:rPr lang="vi-VN" sz="2100" b="0">
                            <a:solidFill>
                              <a:srgbClr val="1E293B"/>
                            </a:solidFill>
                            <a:latin typeface="Cambria Math" panose="02040503050406030204" pitchFamily="18" charset="0"/>
                          </a:rPr>
                          <m:t>2</m:t>
                        </m:r>
                      </m:sup>
                    </m:sSup>
                  </m:oMath>
                </a14:m>
              </a:p>
            </p:txBody>
          </p:sp>
        </mc:Choice>
        <mc:Fallback>
          <p:sp>
            <p:nvSpPr>
              <p:cNvPr id="18" name="TextBox 17"/>
              <p:cNvSpPr txBox="1"/>
              <p:nvPr/>
            </p:nvSpPr>
            <p:spPr>
              <a:xfrm>
                <a:off x="548640" y="5331714"/>
                <a:ext cx="5394960" cy="79476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4.</a:t>
                </a:r>
                <a:r>
                  <a:rPr sz="2100">
                    <a:solidFill>
                      <a:srgbClr val="1E293B"/>
                    </a:solidFill>
                    <a:latin typeface="Calibri"/>
                  </a:rPr>
                  <a:t> </a:t>
                </a:r>
                <a:r>
                  <a:rPr lang="vi-VN"/>
                  <a:t>\overrightarrow{AB}</a:t>
                </a:r>
                <a:r>
                  <a:rPr lang="vi-VN"/>
                  <a:t>\cdot</a:t>
                </a:r>
                <a:r>
                  <a:rPr lang="vi-VN"/>
                  <a:t>\overrightarrow{BC}</a:t>
                </a:r>
                <a:r>
                  <a:rPr sz="2100">
                    <a:solidFill>
                      <a:srgbClr val="1E293B"/>
                    </a:solidFill>
                    <a:latin typeface="Calibri"/>
                  </a:rPr>
                  <a:t> = </a:t>
                </a:r>
                <a:r>
                  <a:rPr lang="vi-VN"/>
                  <a:t>a^2</a:t>
                </a:r>
              </a:p>
            </p:txBody>
          </p:sp>
        </mc:Fallback>
      </mc:AlternateContent>
      <p:sp>
        <p:nvSpPr>
          <p:cNvPr id="19" name="s4_nen"/>
          <p:cNvSpPr/>
          <p:nvPr/>
        </p:nvSpPr>
        <p:spPr>
          <a:xfrm>
            <a:off x="6126480" y="5331714"/>
            <a:ext cx="2377440" cy="6858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4_chu"/>
          <p:cNvSpPr txBox="1"/>
          <p:nvPr/>
        </p:nvSpPr>
        <p:spPr>
          <a:xfrm>
            <a:off x="6126480" y="5386578"/>
            <a:ext cx="2377440" cy="640080"/>
          </a:xfrm>
          <a:prstGeom prst="rect">
            <a:avLst/>
          </a:prstGeom>
          <a:noFill/>
        </p:spPr>
        <p:txBody>
          <a:bodyPr wrap="square" anchor="t" lIns="45720" rIns="45720">
            <a:spAutoFit/>
          </a:bodyPr>
          <a:lstStyle/>
          <a:p>
            <a:pPr algn="ctr">
              <a:spcAft>
                <a:spcPts val="800"/>
              </a:spcAft>
            </a:pPr>
            <a:r>
              <a:rPr sz="1700" b="1">
                <a:solidFill>
                  <a:srgbClr val="FFFFFF"/>
                </a:solidFill>
                <a:latin typeface="Calibri"/>
              </a:rPr>
              <a:t>SAI</a:t>
            </a:r>
            <a:r>
              <a:rPr sz="1700">
                <a:solidFill>
                  <a:srgbClr val="FFFFFF"/>
                </a:solidFill>
                <a:latin typeface="Calibri"/>
              </a:rPr>
              <a:t> (= 0)</a:t>
            </a:r>
          </a:p>
        </p:txBody>
      </p:sp>
      <p:pic>
        <p:nvPicPr>
          <p:cNvPr id="21" name="Picture 20" descr="h443.png"/>
          <p:cNvPicPr>
            <a:picLocks noChangeAspect="1"/>
          </p:cNvPicPr>
          <p:nvPr/>
        </p:nvPicPr>
        <p:blipFill>
          <a:blip r:embed="rId3"/>
          <a:stretch>
            <a:fillRect/>
          </a:stretch>
        </p:blipFill>
        <p:spPr>
          <a:xfrm>
            <a:off x="8976975" y="2011680"/>
            <a:ext cx="2528610" cy="32918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GEOGEBRA</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GEOGEBRA – GÓC VÀ TÍCH VÔ HƯỚNG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14</a:t>
            </a:r>
          </a:p>
        </p:txBody>
      </p:sp>
      <mc:AlternateContent xmlns:mc="http://schemas.openxmlformats.org/markup-compatibility/2006">
        <mc:Choice xmlns:a14="http://schemas.microsoft.com/office/drawing/2010/main" Requires="a14">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Kéo điểm </a:t>
                </a:r>
                <a14:m>
                  <m:oMath xmlns:m="http://schemas.openxmlformats.org/officeDocument/2006/math">
                    <m:r>
                      <a:rPr lang="vi-VN" sz="2200" b="0">
                        <a:solidFill>
                          <a:srgbClr val="1E293B"/>
                        </a:solidFill>
                        <a:latin typeface="Cambria Math" panose="02040503050406030204" pitchFamily="18" charset="0"/>
                      </a:rPr>
                      <m:t>A</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B</m:t>
                    </m:r>
                  </m:oMath>
                </a14:m>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u</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OA</m:t>
                        </m:r>
                      </m:e>
                    </m:acc>
                  </m:oMath>
                </a14:m>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v</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OB</m:t>
                        </m:r>
                      </m:e>
                    </m:acc>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Quan sát số đo góc </a:t>
                </a:r>
                <a14:m>
                  <m:oMath xmlns:m="http://schemas.openxmlformats.org/officeDocument/2006/math">
                    <m:d>
                      <m:dPr>
                        <m:sepChr m:val=","/>
                      </m:dPr>
                      <m:e>
                        <m:acc>
                          <m:accPr>
                            <m:chr m:val="⃗"/>
                          </m:accPr>
                          <m:e>
                            <m:r>
                              <a:rPr lang="vi-VN" sz="2200" b="0">
                                <a:solidFill>
                                  <a:srgbClr val="1E293B"/>
                                </a:solidFill>
                                <a:latin typeface="Cambria Math" panose="02040503050406030204" pitchFamily="18" charset="0"/>
                              </a:rPr>
                              <m:t>u</m:t>
                            </m:r>
                          </m:e>
                        </m:acc>
                      </m:e>
                      <m:e>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v</m:t>
                            </m:r>
                          </m:e>
                        </m:acc>
                      </m:e>
                    </m:d>
                  </m:oMath>
                </a14:m>
                <a:r>
                  <a:rPr sz="2200">
                    <a:solidFill>
                      <a:srgbClr val="1E293B"/>
                    </a:solidFill>
                    <a:latin typeface="Calibri"/>
                  </a:rPr>
                  <a:t> và giá trị </a:t>
                </a:r>
                <a14:m>
                  <m:oMath xmlns:m="http://schemas.openxmlformats.org/officeDocument/2006/math">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v</m:t>
                        </m:r>
                      </m:e>
                    </m:acc>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Góc nhọn: </a:t>
                </a:r>
                <a14:m>
                  <m:oMath xmlns:m="http://schemas.openxmlformats.org/officeDocument/2006/math">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v</m:t>
                        </m:r>
                      </m:e>
                    </m:acc>
                  </m:oMath>
                </a14:m>
                <a:r>
                  <a:rPr sz="2200">
                    <a:solidFill>
                      <a:srgbClr val="1E293B"/>
                    </a:solidFill>
                    <a:latin typeface="Calibri"/>
                  </a:rPr>
                  <a:t> &gt; 0; góc vuông: </a:t>
                </a:r>
                <a14:m>
                  <m:oMath xmlns:m="http://schemas.openxmlformats.org/officeDocument/2006/math">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v</m:t>
                        </m:r>
                      </m:e>
                    </m:acc>
                  </m:oMath>
                </a14:m>
                <a:r>
                  <a:rPr sz="2200">
                    <a:solidFill>
                      <a:srgbClr val="1E293B"/>
                    </a:solidFill>
                    <a:latin typeface="Calibri"/>
                  </a:rPr>
                  <a:t> = 0; góc tù: </a:t>
                </a:r>
                <a14:m>
                  <m:oMath xmlns:m="http://schemas.openxmlformats.org/officeDocument/2006/math">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v</m:t>
                        </m:r>
                      </m:e>
                    </m:acc>
                  </m:oMath>
                </a14:m>
                <a:r>
                  <a:rPr sz="2200">
                    <a:solidFill>
                      <a:srgbClr val="1E293B"/>
                    </a:solidFill>
                    <a:latin typeface="Calibri"/>
                  </a:rPr>
                  <a:t> &lt; 0.</a:t>
                </a:r>
              </a:p>
            </p:txBody>
          </p:sp>
        </mc:Choice>
        <mc:Fallback>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Kéo điểm </a:t>
                </a:r>
                <a:r>
                  <a:rPr lang="vi-VN"/>
                  <a:t>A</a:t>
                </a:r>
                <a:r>
                  <a:rPr sz="2200">
                    <a:solidFill>
                      <a:srgbClr val="1E293B"/>
                    </a:solidFill>
                    <a:latin typeface="Calibri"/>
                  </a:rPr>
                  <a:t>, </a:t>
                </a:r>
                <a:r>
                  <a:rPr lang="vi-VN"/>
                  <a:t>B</a:t>
                </a:r>
                <a:r>
                  <a:rPr sz="2200">
                    <a:solidFill>
                      <a:srgbClr val="1E293B"/>
                    </a:solidFill>
                    <a:latin typeface="Calibri"/>
                  </a:rPr>
                  <a:t>: </a:t>
                </a:r>
                <a:r>
                  <a:rPr lang="vi-VN"/>
                  <a:t>\vec{u}</a:t>
                </a:r>
                <a:r>
                  <a:rPr sz="2200">
                    <a:solidFill>
                      <a:srgbClr val="1E293B"/>
                    </a:solidFill>
                    <a:latin typeface="Calibri"/>
                  </a:rPr>
                  <a:t> = </a:t>
                </a:r>
                <a:r>
                  <a:rPr lang="vi-VN"/>
                  <a:t>\overrightarrow{OA}</a:t>
                </a:r>
                <a:r>
                  <a:rPr sz="2200">
                    <a:solidFill>
                      <a:srgbClr val="1E293B"/>
                    </a:solidFill>
                    <a:latin typeface="Calibri"/>
                  </a:rPr>
                  <a:t>, </a:t>
                </a:r>
                <a:r>
                  <a:rPr lang="vi-VN"/>
                  <a:t>\vec{v}</a:t>
                </a:r>
                <a:r>
                  <a:rPr sz="2200">
                    <a:solidFill>
                      <a:srgbClr val="1E293B"/>
                    </a:solidFill>
                    <a:latin typeface="Calibri"/>
                  </a:rPr>
                  <a:t> = </a:t>
                </a:r>
                <a:r>
                  <a:rPr lang="vi-VN"/>
                  <a:t>\overrightarrow{OB}</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Quan sát số đo góc </a:t>
                </a:r>
                <a:r>
                  <a:rPr lang="vi-VN"/>
                  <a:t>(\vec{u},\ \vec{v})</a:t>
                </a:r>
                <a:r>
                  <a:rPr sz="2200">
                    <a:solidFill>
                      <a:srgbClr val="1E293B"/>
                    </a:solidFill>
                    <a:latin typeface="Calibri"/>
                  </a:rPr>
                  <a:t> và giá trị </a:t>
                </a:r>
                <a:r>
                  <a:rPr lang="vi-VN"/>
                  <a:t>\vec{u}\cdot\vec{v}</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Góc nhọn: </a:t>
                </a:r>
                <a:r>
                  <a:rPr lang="vi-VN"/>
                  <a:t>\vec{u}\cdot\vec{v}</a:t>
                </a:r>
                <a:r>
                  <a:rPr sz="2200">
                    <a:solidFill>
                      <a:srgbClr val="1E293B"/>
                    </a:solidFill>
                    <a:latin typeface="Calibri"/>
                  </a:rPr>
                  <a:t> &gt; 0; góc vuông: </a:t>
                </a:r>
                <a:r>
                  <a:rPr lang="vi-VN"/>
                  <a:t>\vec{u}\cdot\vec{v}</a:t>
                </a:r>
                <a:r>
                  <a:rPr sz="2200">
                    <a:solidFill>
                      <a:srgbClr val="1E293B"/>
                    </a:solidFill>
                    <a:latin typeface="Calibri"/>
                  </a:rPr>
                  <a:t> = 0; góc tù: </a:t>
                </a:r>
                <a:r>
                  <a:rPr lang="vi-VN"/>
                  <a:t>\vec{u}\cdot\vec{v}</a:t>
                </a:r>
                <a:r>
                  <a:rPr sz="2200">
                    <a:solidFill>
                      <a:srgbClr val="1E293B"/>
                    </a:solidFill>
                    <a:latin typeface="Calibri"/>
                  </a:rPr>
                  <a:t> &lt; 0.</a:t>
                </a:r>
              </a:p>
            </p:txBody>
          </p:sp>
        </mc:Fallback>
      </mc:AlternateContent>
      <p:sp>
        <p:nvSpPr>
          <p:cNvPr id="8" name="Rounded Rectangle 7">
            <a:hlinkClick r:id="rId3"/>
          </p:cNvPr>
          <p:cNvSpPr/>
          <p:nvPr/>
        </p:nvSpPr>
        <p:spPr>
          <a:xfrm>
            <a:off x="548640" y="5074920"/>
            <a:ext cx="3840480" cy="6858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  MỞ GEOGEBRA</a:t>
            </a:r>
          </a:p>
        </p:txBody>
      </p:sp>
      <p:pic>
        <p:nvPicPr>
          <p:cNvPr id="9" name="Picture 8" descr="qr_ggb_1.png"/>
          <p:cNvPicPr>
            <a:picLocks noChangeAspect="1"/>
          </p:cNvPicPr>
          <p:nvPr/>
        </p:nvPicPr>
        <p:blipFill>
          <a:blip r:embed="rId4"/>
          <a:stretch>
            <a:fillRect/>
          </a:stretch>
        </p:blipFill>
        <p:spPr>
          <a:xfrm>
            <a:off x="4572000" y="4572000"/>
            <a:ext cx="1325880" cy="1325880"/>
          </a:xfrm>
          <a:prstGeom prst="rect">
            <a:avLst/>
          </a:prstGeom>
        </p:spPr>
      </p:pic>
      <p:sp>
        <p:nvSpPr>
          <p:cNvPr id="10" name="TextBox 9"/>
          <p:cNvSpPr txBox="1"/>
          <p:nvPr/>
        </p:nvSpPr>
        <p:spPr>
          <a:xfrm>
            <a:off x="548640" y="5806440"/>
            <a:ext cx="3931920" cy="457200"/>
          </a:xfrm>
          <a:prstGeom prst="rect">
            <a:avLst/>
          </a:prstGeom>
          <a:noFill/>
        </p:spPr>
        <p:txBody>
          <a:bodyPr wrap="square" anchor="t" lIns="45720" rIns="45720">
            <a:spAutoFit/>
          </a:bodyPr>
          <a:lstStyle/>
          <a:p>
            <a:pPr algn="l">
              <a:spcAft>
                <a:spcPts val="800"/>
              </a:spcAft>
            </a:pPr>
            <a:r>
              <a:rPr sz="1400">
                <a:solidFill>
                  <a:srgbClr val="64748B"/>
                </a:solidFill>
                <a:latin typeface="Calibri"/>
              </a:rPr>
              <a:t>Quét QR mở trên điện thoại. Kéo điểm để thay đổi hình.</a:t>
            </a:r>
          </a:p>
        </p:txBody>
      </p:sp>
      <p:pic>
        <p:nvPicPr>
          <p:cNvPr id="11" name="Picture 10" descr="h440.png"/>
          <p:cNvPicPr>
            <a:picLocks noChangeAspect="1"/>
          </p:cNvPicPr>
          <p:nvPr/>
        </p:nvPicPr>
        <p:blipFill>
          <a:blip r:embed="rId5"/>
          <a:stretch>
            <a:fillRect/>
          </a:stretch>
        </p:blipFill>
        <p:spPr>
          <a:xfrm>
            <a:off x="7146720" y="1463040"/>
            <a:ext cx="4268880" cy="448056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15</a:t>
            </a:r>
          </a:p>
        </p:txBody>
      </p:sp>
      <p:sp>
        <p:nvSpPr>
          <p:cNvPr id="7" name="Rounded Rectangle 6"/>
          <p:cNvSpPr/>
          <p:nvPr/>
        </p:nvSpPr>
        <p:spPr>
          <a:xfrm>
            <a:off x="548640" y="1463040"/>
            <a:ext cx="11064240" cy="103632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10735056" cy="963167"/>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Góc giữa hai vectơ: đưa về </a:t>
                </a:r>
                <a:r>
                  <a:rPr sz="2200" b="1">
                    <a:solidFill>
                      <a:srgbClr val="1E293B"/>
                    </a:solidFill>
                    <a:latin typeface="Calibri"/>
                  </a:rPr>
                  <a:t>chung điểm đầu</a:t>
                </a:r>
                <a:r>
                  <a:rPr sz="2200">
                    <a:solidFill>
                      <a:srgbClr val="1E293B"/>
                    </a:solidFill>
                    <a:latin typeface="Calibri"/>
                  </a:rPr>
                  <a:t>, nhận giá trị từ </a:t>
                </a:r>
                <a14:m>
                  <m:oMath xmlns:m="http://schemas.openxmlformats.org/officeDocument/2006/math">
                    <m:sSup>
                      <m:e>
                        <m:r>
                          <a:rPr lang="vi-VN" sz="2200" b="0">
                            <a:solidFill>
                              <a:srgbClr val="1E293B"/>
                            </a:solidFill>
                            <a:latin typeface="Cambria Math" panose="02040503050406030204" pitchFamily="18" charset="0"/>
                          </a:rPr>
                          <m:t>0</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đến </a:t>
                </a:r>
                <a14:m>
                  <m:oMath xmlns:m="http://schemas.openxmlformats.org/officeDocument/2006/math">
                    <m:sSup>
                      <m:e>
                        <m:r>
                          <a:rPr lang="vi-VN" sz="2200" b="0">
                            <a:solidFill>
                              <a:srgbClr val="1E293B"/>
                            </a:solidFill>
                            <a:latin typeface="Cambria Math" panose="02040503050406030204" pitchFamily="18" charset="0"/>
                          </a:rPr>
                          <m:t>180</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a:t>
                </a:r>
              </a:p>
              <a:p>
                <a:pPr algn="l" marL="365760" indent="-365760">
                  <a:spcAft>
                    <a:spcPts val="800"/>
                  </a:spcAft>
                  <a:buClr>
                    <a:srgbClr val="1E40AF"/>
                  </a:buClr>
                  <a:buFont typeface="Arial"/>
                  <a:buChar char="•"/>
                </a:pPr>
                <a14:m>
                  <m:oMath xmlns:m="http://schemas.openxmlformats.org/officeDocument/2006/math">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v</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v</m:t>
                        </m:r>
                      </m:e>
                    </m:acc>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cos</m:t>
                    </m:r>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v</m:t>
                        </m:r>
                      </m:e>
                    </m:acc>
                    <m:r>
                      <a:rPr lang="vi-VN" sz="2200" b="0">
                        <a:solidFill>
                          <a:srgbClr val="1E293B"/>
                        </a:solidFill>
                        <a:latin typeface="Cambria Math" panose="02040503050406030204" pitchFamily="18" charset="0"/>
                      </a:rPr>
                      <m:t>)</m:t>
                    </m:r>
                  </m:oMath>
                </a14:m>
                <a:r>
                  <a:rPr sz="2200">
                    <a:solidFill>
                      <a:srgbClr val="1E293B"/>
                    </a:solidFill>
                    <a:latin typeface="Calibri"/>
                  </a:rPr>
                  <a:t> – là một </a:t>
                </a:r>
                <a:r>
                  <a:rPr sz="2200" b="1">
                    <a:solidFill>
                      <a:srgbClr val="1E293B"/>
                    </a:solidFill>
                    <a:latin typeface="Calibri"/>
                  </a:rPr>
                  <a:t>số</a:t>
                </a:r>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v</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v</m:t>
                        </m:r>
                      </m:e>
                    </m:acc>
                    <m:r>
                      <a:rPr lang="vi-VN" sz="2200" b="0">
                        <a:solidFill>
                          <a:srgbClr val="1E293B"/>
                        </a:solidFill>
                        <a:latin typeface="Cambria Math" panose="02040503050406030204" pitchFamily="18" charset="0"/>
                      </a:rPr>
                      <m:t>=0</m:t>
                    </m:r>
                  </m:oMath>
                </a14:m>
                <a:r>
                  <a:rPr sz="2200">
                    <a:solidFill>
                      <a:srgbClr val="1E293B"/>
                    </a:solidFill>
                    <a:latin typeface="Calibri"/>
                  </a:rPr>
                  <a:t>; </a:t>
                </a:r>
                <a14:m>
                  <m:oMath xmlns:m="http://schemas.openxmlformats.org/officeDocument/2006/math">
                    <m:sSup>
                      <m:e>
                        <m:acc>
                          <m:accPr>
                            <m:chr m:val="⃗"/>
                          </m:accPr>
                          <m:e>
                            <m:r>
                              <a:rPr lang="vi-VN" sz="2200" b="0">
                                <a:solidFill>
                                  <a:srgbClr val="1E293B"/>
                                </a:solidFill>
                                <a:latin typeface="Cambria Math" panose="02040503050406030204" pitchFamily="18" charset="0"/>
                              </a:rPr>
                              <m:t>u</m:t>
                            </m:r>
                          </m:e>
                        </m:acc>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u</m:t>
                        </m:r>
                      </m:e>
                    </m:acc>
                    <m:sSup>
                      <m:e>
                        <m:r>
                          <a:rPr lang="vi-VN" sz="2200" b="0">
                            <a:solidFill>
                              <a:srgbClr val="1E293B"/>
                            </a:solidFill>
                            <a:latin typeface="Cambria Math" panose="02040503050406030204" pitchFamily="18" charset="0"/>
                          </a:rPr>
                          <m:t>|</m:t>
                        </m:r>
                      </m:e>
                      <m:sup>
                        <m:r>
                          <a:rPr lang="vi-VN" sz="2200" b="0">
                            <a:solidFill>
                              <a:srgbClr val="1E293B"/>
                            </a:solidFill>
                            <a:latin typeface="Cambria Math" panose="02040503050406030204" pitchFamily="18" charset="0"/>
                          </a:rPr>
                          <m:t>2</m:t>
                        </m:r>
                      </m:sup>
                    </m:sSup>
                  </m:oMath>
                </a14:m>
                <a:r>
                  <a:rPr sz="2200">
                    <a:solidFill>
                      <a:srgbClr val="1E293B"/>
                    </a:solidFill>
                    <a:latin typeface="Calibri"/>
                  </a:rPr>
                  <a:t>.</a:t>
                </a:r>
              </a:p>
            </p:txBody>
          </p:sp>
        </mc:Choice>
        <mc:Fallback>
          <p:sp>
            <p:nvSpPr>
              <p:cNvPr id="8" name="TextBox 7"/>
              <p:cNvSpPr txBox="1"/>
              <p:nvPr/>
            </p:nvSpPr>
            <p:spPr>
              <a:xfrm>
                <a:off x="713232" y="1499616"/>
                <a:ext cx="10735056" cy="963167"/>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Góc giữa hai vectơ: đưa về </a:t>
                </a:r>
                <a:r>
                  <a:rPr sz="2200" b="1">
                    <a:solidFill>
                      <a:srgbClr val="1E293B"/>
                    </a:solidFill>
                    <a:latin typeface="Calibri"/>
                  </a:rPr>
                  <a:t>chung điểm đầu</a:t>
                </a:r>
                <a:r>
                  <a:rPr sz="2200">
                    <a:solidFill>
                      <a:srgbClr val="1E293B"/>
                    </a:solidFill>
                    <a:latin typeface="Calibri"/>
                  </a:rPr>
                  <a:t>, nhận giá trị từ </a:t>
                </a:r>
                <a:r>
                  <a:rPr lang="vi-VN"/>
                  <a:t>0^\circ</a:t>
                </a:r>
                <a:r>
                  <a:rPr sz="2200">
                    <a:solidFill>
                      <a:srgbClr val="1E293B"/>
                    </a:solidFill>
                    <a:latin typeface="Calibri"/>
                  </a:rPr>
                  <a:t> đến </a:t>
                </a:r>
                <a:r>
                  <a:rPr lang="vi-VN"/>
                  <a:t>180^\circ</a:t>
                </a:r>
                <a:r>
                  <a:rPr sz="2200">
                    <a:solidFill>
                      <a:srgbClr val="1E293B"/>
                    </a:solidFill>
                    <a:latin typeface="Calibri"/>
                  </a:rPr>
                  <a:t>.</a:t>
                </a:r>
              </a:p>
              <a:p>
                <a:pPr algn="l" marL="365760" indent="-365760">
                  <a:spcAft>
                    <a:spcPts val="800"/>
                  </a:spcAft>
                  <a:buClr>
                    <a:srgbClr val="1E40AF"/>
                  </a:buClr>
                  <a:buFont typeface="Arial"/>
                  <a:buChar char="•"/>
                </a:pPr>
                <a:r>
                  <a:rPr lang="vi-VN"/>
                  <a:t>\vec{u}\cdot\vec{v}=|\vec{u}|\cdot|\vec{v}|\cdot\cos(\vec{u},\ \vec{v})</a:t>
                </a:r>
                <a:r>
                  <a:rPr sz="2200">
                    <a:solidFill>
                      <a:srgbClr val="1E293B"/>
                    </a:solidFill>
                    <a:latin typeface="Calibri"/>
                  </a:rPr>
                  <a:t> – là một </a:t>
                </a:r>
                <a:r>
                  <a:rPr sz="2200" b="1">
                    <a:solidFill>
                      <a:srgbClr val="1E293B"/>
                    </a:solidFill>
                    <a:latin typeface="Calibri"/>
                  </a:rPr>
                  <a:t>số</a:t>
                </a:r>
                <a:r>
                  <a:rPr sz="2200">
                    <a:solidFill>
                      <a:srgbClr val="1E293B"/>
                    </a:solidFill>
                    <a:latin typeface="Calibri"/>
                  </a:rPr>
                  <a:t>; </a:t>
                </a:r>
                <a:r>
                  <a:rPr lang="vi-VN"/>
                  <a:t>\vec{u}\perp\vec{v}\Leftrightarrow\vec{u}\cdot\vec{v}=0</a:t>
                </a:r>
                <a:r>
                  <a:rPr sz="2200">
                    <a:solidFill>
                      <a:srgbClr val="1E293B"/>
                    </a:solidFill>
                    <a:latin typeface="Calibri"/>
                  </a:rPr>
                  <a:t>; </a:t>
                </a:r>
                <a:r>
                  <a:rPr lang="vi-VN"/>
                  <a:t>\vec{u}^2=|\vec{u}|^2</a:t>
                </a:r>
                <a:r>
                  <a:rPr sz="2200">
                    <a:solidFill>
                      <a:srgbClr val="1E293B"/>
                    </a:solidFill>
                    <a:latin typeface="Calibri"/>
                  </a:rPr>
                  <a:t>.</a:t>
                </a:r>
              </a:p>
            </p:txBody>
          </p:sp>
        </mc:Fallback>
      </mc:AlternateContent>
      <p:sp>
        <p:nvSpPr>
          <p:cNvPr id="9" name="Rounded Rectangle 8"/>
          <p:cNvSpPr/>
          <p:nvPr/>
        </p:nvSpPr>
        <p:spPr>
          <a:xfrm>
            <a:off x="548640" y="2727960"/>
            <a:ext cx="11064240" cy="147218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764536"/>
            <a:ext cx="10735056" cy="139903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Ôn khung kiến thức; xem lại Ví dụ 2, Luyện tập 2.</a:t>
            </a:r>
          </a:p>
          <a:p>
            <a:pPr algn="l" marL="365760" indent="-365760">
              <a:spcAft>
                <a:spcPts val="800"/>
              </a:spcAft>
              <a:buClr>
                <a:srgbClr val="1E40AF"/>
              </a:buClr>
              <a:buFont typeface="Arial"/>
              <a:buChar char="•"/>
            </a:pPr>
            <a:r>
              <a:rPr sz="2200">
                <a:solidFill>
                  <a:srgbClr val="1E293B"/>
                </a:solidFill>
                <a:latin typeface="Calibri"/>
              </a:rPr>
              <a:t>Đọc trước mục 3 (SGK tr.68 – 69); ôn toạ độ vectơ (Bài 10).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2 (T36)</a:t>
            </a:r>
          </a:p>
          <a:p>
            <a:pPr>
              <a:spcAft>
                <a:spcPts val="600"/>
              </a:spcAft>
            </a:pPr>
            <a:r>
              <a:rPr sz="4000" b="1">
                <a:solidFill>
                  <a:srgbClr val="FFFFFF"/>
                </a:solidFill>
                <a:latin typeface="Cambria"/>
              </a:rPr>
              <a:t>Biểu thức toạ độ và tính chất của tích vô hướng</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Tính tích vô hướng, góc giữa hai vectơ theo toạ độ.</a:t>
            </a:r>
          </a:p>
          <a:p>
            <a:pPr algn="l">
              <a:spcAft>
                <a:spcPts val="800"/>
              </a:spcAft>
            </a:pPr>
            <a:r>
              <a:rPr sz="2200">
                <a:solidFill>
                  <a:srgbClr val="E0E7FF"/>
                </a:solidFill>
                <a:latin typeface="Calibri"/>
              </a:rPr>
              <a:t>• Vận dụng tính chất của tích vô hướng: chứng minh vuông góc, tìm trực tâm, giải tam giác.</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KHỞI ĐỘNG: AI NHANH HƠN?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17</a:t>
            </a:r>
          </a:p>
        </p:txBody>
      </p:sp>
      <p:sp>
        <p:nvSpPr>
          <p:cNvPr id="7" name="TextBox 6"/>
          <p:cNvSpPr txBox="1"/>
          <p:nvPr/>
        </p:nvSpPr>
        <p:spPr>
          <a:xfrm>
            <a:off x="548640" y="1325880"/>
            <a:ext cx="11064240" cy="457200"/>
          </a:xfrm>
          <a:prstGeom prst="rect">
            <a:avLst/>
          </a:prstGeom>
          <a:noFill/>
        </p:spPr>
        <p:txBody>
          <a:bodyPr wrap="square" anchor="t" lIns="45720" rIns="45720">
            <a:spAutoFit/>
          </a:bodyPr>
          <a:lstStyle/>
          <a:p>
            <a:pPr algn="l">
              <a:spcAft>
                <a:spcPts val="800"/>
              </a:spcAft>
            </a:pPr>
            <a:r>
              <a:rPr sz="1800">
                <a:solidFill>
                  <a:srgbClr val="64748B"/>
                </a:solidFill>
                <a:latin typeface="Calibri"/>
              </a:rPr>
              <a:t>📋 Từng cặp ghi đáp số lên bảng con. Mỗi câu 20 giây.</a:t>
            </a:r>
          </a:p>
        </p:txBody>
      </p:sp>
      <mc:AlternateContent xmlns:mc="http://schemas.openxmlformats.org/markup-compatibility/2006">
        <mc:Choice xmlns:a14="http://schemas.microsoft.com/office/drawing/2010/main" Requires="a14">
          <p:sp>
            <p:nvSpPr>
              <p:cNvPr id="8" name="TextBox 7"/>
              <p:cNvSpPr txBox="1"/>
              <p:nvPr/>
            </p:nvSpPr>
            <p:spPr>
              <a:xfrm>
                <a:off x="548640" y="1783080"/>
                <a:ext cx="7589520" cy="640080"/>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a:t>
                </a:r>
                <a14:m>
                  <m:oMath xmlns:m="http://schemas.openxmlformats.org/officeDocument/2006/math">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|=2,</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|=3</m:t>
                    </m:r>
                  </m:oMath>
                </a14:m>
                <a:r>
                  <a:rPr sz="2200">
                    <a:solidFill>
                      <a:srgbClr val="1E293B"/>
                    </a:solidFill>
                    <a:latin typeface="Calibri"/>
                  </a:rPr>
                  <a:t>. Tính </a:t>
                </a:r>
                <a14:m>
                  <m:oMath xmlns:m="http://schemas.openxmlformats.org/officeDocument/2006/math">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oMath>
                </a14:m>
                <a:r>
                  <a:rPr sz="2200">
                    <a:solidFill>
                      <a:srgbClr val="1E293B"/>
                    </a:solidFill>
                    <a:latin typeface="Calibri"/>
                  </a:rPr>
                  <a:t> khi:</a:t>
                </a:r>
              </a:p>
            </p:txBody>
          </p:sp>
        </mc:Choice>
        <mc:Fallback>
          <p:sp>
            <p:nvSpPr>
              <p:cNvPr id="8" name="TextBox 7"/>
              <p:cNvSpPr txBox="1"/>
              <p:nvPr/>
            </p:nvSpPr>
            <p:spPr>
              <a:xfrm>
                <a:off x="548640" y="1783080"/>
                <a:ext cx="7589520" cy="640080"/>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a:t>
                </a:r>
                <a:r>
                  <a:rPr lang="vi-VN"/>
                  <a:t>|\vec{a}|=2,\ |\vec{b}|=3</a:t>
                </a:r>
                <a:r>
                  <a:rPr sz="2200">
                    <a:solidFill>
                      <a:srgbClr val="1E293B"/>
                    </a:solidFill>
                    <a:latin typeface="Calibri"/>
                  </a:rPr>
                  <a:t>. Tính </a:t>
                </a:r>
                <a:r>
                  <a:rPr lang="vi-VN"/>
                  <a:t>\vec{a}\cdot\vec{b}</a:t>
                </a:r>
                <a:r>
                  <a:rPr sz="2200">
                    <a:solidFill>
                      <a:srgbClr val="1E293B"/>
                    </a:solidFill>
                    <a:latin typeface="Calibri"/>
                  </a:rPr>
                  <a:t> khi:</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548640" y="2468879"/>
                <a:ext cx="42062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a</m:t>
                        </m:r>
                      </m:e>
                    </m:acc>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acc>
                      <m:accPr>
                        <m:chr m:val="⃗"/>
                      </m:accPr>
                      <m:e>
                        <m:r>
                          <a:rPr lang="vi-VN" sz="2400" b="0">
                            <a:solidFill>
                              <a:srgbClr val="1E293B"/>
                            </a:solidFill>
                            <a:latin typeface="Cambria Math" panose="02040503050406030204" pitchFamily="18" charset="0"/>
                          </a:rPr>
                          <m:t>b</m:t>
                        </m:r>
                      </m:e>
                    </m:acc>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0</m:t>
                        </m:r>
                      </m:e>
                      <m:sup>
                        <m:r>
                          <a:rPr lang="vi-VN" sz="2400" b="0">
                            <a:solidFill>
                              <a:srgbClr val="1E293B"/>
                            </a:solidFill>
                            <a:latin typeface="Cambria Math" panose="02040503050406030204" pitchFamily="18" charset="0"/>
                          </a:rPr>
                          <m:t>∘</m:t>
                        </m:r>
                      </m:sup>
                    </m:sSup>
                  </m:oMath>
                </a14:m>
              </a:p>
            </p:txBody>
          </p:sp>
        </mc:Choice>
        <mc:Fallback>
          <p:sp>
            <p:nvSpPr>
              <p:cNvPr id="9" name="TextBox 8"/>
              <p:cNvSpPr txBox="1"/>
              <p:nvPr/>
            </p:nvSpPr>
            <p:spPr>
              <a:xfrm>
                <a:off x="548640" y="2468879"/>
                <a:ext cx="42062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a:t>
                </a:r>
                <a:r>
                  <a:rPr sz="2400">
                    <a:solidFill>
                      <a:srgbClr val="1E293B"/>
                    </a:solidFill>
                    <a:latin typeface="Calibri"/>
                  </a:rPr>
                  <a:t> </a:t>
                </a:r>
                <a:r>
                  <a:rPr lang="vi-VN"/>
                  <a:t>(\vec{a},\ \vec{b})=0^\circ</a:t>
                </a:r>
              </a:p>
            </p:txBody>
          </p:sp>
        </mc:Fallback>
      </mc:AlternateContent>
      <p:sp>
        <p:nvSpPr>
          <p:cNvPr id="10" name="s1_nen"/>
          <p:cNvSpPr/>
          <p:nvPr/>
        </p:nvSpPr>
        <p:spPr>
          <a:xfrm>
            <a:off x="4846320" y="2423160"/>
            <a:ext cx="237744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1_chu"/>
              <p:cNvSpPr txBox="1"/>
              <p:nvPr/>
            </p:nvSpPr>
            <p:spPr>
              <a:xfrm>
                <a:off x="5010912" y="2459736"/>
                <a:ext cx="20482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6</m:t>
                    </m:r>
                  </m:oMath>
                </a14:m>
              </a:p>
            </p:txBody>
          </p:sp>
        </mc:Choice>
        <mc:Fallback>
          <p:sp>
            <p:nvSpPr>
              <p:cNvPr id="11" name="TextBox 10"/>
              <p:cNvSpPr txBox="1"/>
              <p:nvPr/>
            </p:nvSpPr>
            <p:spPr>
              <a:xfrm>
                <a:off x="5010912" y="2459736"/>
                <a:ext cx="20482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6</a:t>
                </a:r>
              </a:p>
            </p:txBody>
          </p:sp>
        </mc:Fallback>
      </mc:AlternateContent>
      <mc:AlternateContent xmlns:mc="http://schemas.openxmlformats.org/markup-compatibility/2006">
        <mc:Choice xmlns:a14="http://schemas.microsoft.com/office/drawing/2010/main" Requires="a14">
          <p:sp>
            <p:nvSpPr>
              <p:cNvPr id="12" name="TextBox 11"/>
              <p:cNvSpPr txBox="1"/>
              <p:nvPr/>
            </p:nvSpPr>
            <p:spPr>
              <a:xfrm>
                <a:off x="548640" y="3417570"/>
                <a:ext cx="42062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2.</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a</m:t>
                        </m:r>
                      </m:e>
                    </m:acc>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acc>
                      <m:accPr>
                        <m:chr m:val="⃗"/>
                      </m:accPr>
                      <m:e>
                        <m:r>
                          <a:rPr lang="vi-VN" sz="2400" b="0">
                            <a:solidFill>
                              <a:srgbClr val="1E293B"/>
                            </a:solidFill>
                            <a:latin typeface="Cambria Math" panose="02040503050406030204" pitchFamily="18" charset="0"/>
                          </a:rPr>
                          <m:t>b</m:t>
                        </m:r>
                      </m:e>
                    </m:acc>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90</m:t>
                        </m:r>
                      </m:e>
                      <m:sup>
                        <m:r>
                          <a:rPr lang="vi-VN" sz="2400" b="0">
                            <a:solidFill>
                              <a:srgbClr val="1E293B"/>
                            </a:solidFill>
                            <a:latin typeface="Cambria Math" panose="02040503050406030204" pitchFamily="18" charset="0"/>
                          </a:rPr>
                          <m:t>∘</m:t>
                        </m:r>
                      </m:sup>
                    </m:sSup>
                  </m:oMath>
                </a14:m>
              </a:p>
            </p:txBody>
          </p:sp>
        </mc:Choice>
        <mc:Fallback>
          <p:sp>
            <p:nvSpPr>
              <p:cNvPr id="12" name="TextBox 11"/>
              <p:cNvSpPr txBox="1"/>
              <p:nvPr/>
            </p:nvSpPr>
            <p:spPr>
              <a:xfrm>
                <a:off x="548640" y="3417570"/>
                <a:ext cx="42062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2.</a:t>
                </a:r>
                <a:r>
                  <a:rPr sz="2400">
                    <a:solidFill>
                      <a:srgbClr val="1E293B"/>
                    </a:solidFill>
                    <a:latin typeface="Calibri"/>
                  </a:rPr>
                  <a:t> </a:t>
                </a:r>
                <a:r>
                  <a:rPr lang="vi-VN"/>
                  <a:t>(\vec{a},\ \vec{b})=90^\circ</a:t>
                </a:r>
              </a:p>
            </p:txBody>
          </p:sp>
        </mc:Fallback>
      </mc:AlternateContent>
      <p:sp>
        <p:nvSpPr>
          <p:cNvPr id="13" name="s2_nen"/>
          <p:cNvSpPr/>
          <p:nvPr/>
        </p:nvSpPr>
        <p:spPr>
          <a:xfrm>
            <a:off x="4846320" y="3371850"/>
            <a:ext cx="237744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4" name="s2_chu"/>
              <p:cNvSpPr txBox="1"/>
              <p:nvPr/>
            </p:nvSpPr>
            <p:spPr>
              <a:xfrm>
                <a:off x="5010912" y="3408426"/>
                <a:ext cx="20482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0</m:t>
                    </m:r>
                  </m:oMath>
                </a14:m>
              </a:p>
            </p:txBody>
          </p:sp>
        </mc:Choice>
        <mc:Fallback>
          <p:sp>
            <p:nvSpPr>
              <p:cNvPr id="14" name="TextBox 13"/>
              <p:cNvSpPr txBox="1"/>
              <p:nvPr/>
            </p:nvSpPr>
            <p:spPr>
              <a:xfrm>
                <a:off x="5010912" y="3408426"/>
                <a:ext cx="20482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0</a:t>
                </a:r>
              </a:p>
            </p:txBody>
          </p:sp>
        </mc:Fallback>
      </mc:AlternateContent>
      <mc:AlternateContent xmlns:mc="http://schemas.openxmlformats.org/markup-compatibility/2006">
        <mc:Choice xmlns:a14="http://schemas.microsoft.com/office/drawing/2010/main" Requires="a14">
          <p:sp>
            <p:nvSpPr>
              <p:cNvPr id="15" name="TextBox 14"/>
              <p:cNvSpPr txBox="1"/>
              <p:nvPr/>
            </p:nvSpPr>
            <p:spPr>
              <a:xfrm>
                <a:off x="548640" y="4366259"/>
                <a:ext cx="42062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3.</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a</m:t>
                        </m:r>
                      </m:e>
                    </m:acc>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acc>
                      <m:accPr>
                        <m:chr m:val="⃗"/>
                      </m:accPr>
                      <m:e>
                        <m:r>
                          <a:rPr lang="vi-VN" sz="2400" b="0">
                            <a:solidFill>
                              <a:srgbClr val="1E293B"/>
                            </a:solidFill>
                            <a:latin typeface="Cambria Math" panose="02040503050406030204" pitchFamily="18" charset="0"/>
                          </a:rPr>
                          <m:t>b</m:t>
                        </m:r>
                      </m:e>
                    </m:acc>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180</m:t>
                        </m:r>
                      </m:e>
                      <m:sup>
                        <m:r>
                          <a:rPr lang="vi-VN" sz="2400" b="0">
                            <a:solidFill>
                              <a:srgbClr val="1E293B"/>
                            </a:solidFill>
                            <a:latin typeface="Cambria Math" panose="02040503050406030204" pitchFamily="18" charset="0"/>
                          </a:rPr>
                          <m:t>∘</m:t>
                        </m:r>
                      </m:sup>
                    </m:sSup>
                  </m:oMath>
                </a14:m>
              </a:p>
            </p:txBody>
          </p:sp>
        </mc:Choice>
        <mc:Fallback>
          <p:sp>
            <p:nvSpPr>
              <p:cNvPr id="15" name="TextBox 14"/>
              <p:cNvSpPr txBox="1"/>
              <p:nvPr/>
            </p:nvSpPr>
            <p:spPr>
              <a:xfrm>
                <a:off x="548640" y="4366259"/>
                <a:ext cx="42062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3.</a:t>
                </a:r>
                <a:r>
                  <a:rPr sz="2400">
                    <a:solidFill>
                      <a:srgbClr val="1E293B"/>
                    </a:solidFill>
                    <a:latin typeface="Calibri"/>
                  </a:rPr>
                  <a:t> </a:t>
                </a:r>
                <a:r>
                  <a:rPr lang="vi-VN"/>
                  <a:t>(\vec{a},\ \vec{b})=180^\circ</a:t>
                </a:r>
              </a:p>
            </p:txBody>
          </p:sp>
        </mc:Fallback>
      </mc:AlternateContent>
      <p:sp>
        <p:nvSpPr>
          <p:cNvPr id="16" name="s3_nen"/>
          <p:cNvSpPr/>
          <p:nvPr/>
        </p:nvSpPr>
        <p:spPr>
          <a:xfrm>
            <a:off x="4846320" y="4320540"/>
            <a:ext cx="237744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3_chu"/>
              <p:cNvSpPr txBox="1"/>
              <p:nvPr/>
            </p:nvSpPr>
            <p:spPr>
              <a:xfrm>
                <a:off x="5010912" y="4357116"/>
                <a:ext cx="20482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−6</m:t>
                    </m:r>
                  </m:oMath>
                </a14:m>
              </a:p>
            </p:txBody>
          </p:sp>
        </mc:Choice>
        <mc:Fallback>
          <p:sp>
            <p:nvSpPr>
              <p:cNvPr id="17" name="TextBox 16"/>
              <p:cNvSpPr txBox="1"/>
              <p:nvPr/>
            </p:nvSpPr>
            <p:spPr>
              <a:xfrm>
                <a:off x="5010912" y="4357116"/>
                <a:ext cx="20482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-6</a:t>
                </a:r>
              </a:p>
            </p:txBody>
          </p:sp>
        </mc:Fallback>
      </mc:AlternateContent>
      <mc:AlternateContent xmlns:mc="http://schemas.openxmlformats.org/markup-compatibility/2006">
        <mc:Choice xmlns:a14="http://schemas.microsoft.com/office/drawing/2010/main" Requires="a14">
          <p:sp>
            <p:nvSpPr>
              <p:cNvPr id="18" name="TextBox 17"/>
              <p:cNvSpPr txBox="1"/>
              <p:nvPr/>
            </p:nvSpPr>
            <p:spPr>
              <a:xfrm>
                <a:off x="548640" y="5314950"/>
                <a:ext cx="42062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4.</a:t>
                </a:r>
                <a:r>
                  <a:rPr sz="2400">
                    <a:solidFill>
                      <a:srgbClr val="1E293B"/>
                    </a:solidFill>
                    <a:latin typeface="Calibri"/>
                  </a:rPr>
                  <a:t> </a:t>
                </a:r>
                <a14:m>
                  <m:oMath xmlns:m="http://schemas.openxmlformats.org/officeDocument/2006/math">
                    <m:sSup>
                      <m:e>
                        <m:acc>
                          <m:accPr>
                            <m:chr m:val="⃗"/>
                          </m:accPr>
                          <m:e>
                            <m:r>
                              <a:rPr lang="vi-VN" sz="2400" b="0">
                                <a:solidFill>
                                  <a:srgbClr val="1E293B"/>
                                </a:solidFill>
                                <a:latin typeface="Cambria Math" panose="02040503050406030204" pitchFamily="18" charset="0"/>
                              </a:rPr>
                              <m:t>a</m:t>
                            </m:r>
                          </m:e>
                        </m:acc>
                      </m:e>
                      <m:sup>
                        <m:r>
                          <a:rPr lang="vi-VN" sz="2400" b="0">
                            <a:solidFill>
                              <a:srgbClr val="1E293B"/>
                            </a:solidFill>
                            <a:latin typeface="Cambria Math" panose="02040503050406030204" pitchFamily="18" charset="0"/>
                          </a:rPr>
                          <m:t>2</m:t>
                        </m:r>
                      </m:sup>
                    </m:sSup>
                  </m:oMath>
                </a14:m>
                <a:r>
                  <a:rPr sz="2400">
                    <a:solidFill>
                      <a:srgbClr val="1E293B"/>
                    </a:solidFill>
                    <a:latin typeface="Calibri"/>
                  </a:rPr>
                  <a:t> = ?</a:t>
                </a:r>
              </a:p>
            </p:txBody>
          </p:sp>
        </mc:Choice>
        <mc:Fallback>
          <p:sp>
            <p:nvSpPr>
              <p:cNvPr id="18" name="TextBox 17"/>
              <p:cNvSpPr txBox="1"/>
              <p:nvPr/>
            </p:nvSpPr>
            <p:spPr>
              <a:xfrm>
                <a:off x="548640" y="5314950"/>
                <a:ext cx="42062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4.</a:t>
                </a:r>
                <a:r>
                  <a:rPr sz="2400">
                    <a:solidFill>
                      <a:srgbClr val="1E293B"/>
                    </a:solidFill>
                    <a:latin typeface="Calibri"/>
                  </a:rPr>
                  <a:t> </a:t>
                </a:r>
                <a:r>
                  <a:rPr lang="vi-VN"/>
                  <a:t>\vec{a}^2</a:t>
                </a:r>
                <a:r>
                  <a:rPr sz="2400">
                    <a:solidFill>
                      <a:srgbClr val="1E293B"/>
                    </a:solidFill>
                    <a:latin typeface="Calibri"/>
                  </a:rPr>
                  <a:t> = ?</a:t>
                </a:r>
              </a:p>
            </p:txBody>
          </p:sp>
        </mc:Fallback>
      </mc:AlternateContent>
      <p:sp>
        <p:nvSpPr>
          <p:cNvPr id="19" name="s4_nen"/>
          <p:cNvSpPr/>
          <p:nvPr/>
        </p:nvSpPr>
        <p:spPr>
          <a:xfrm>
            <a:off x="4846320" y="5269230"/>
            <a:ext cx="237744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20" name="s4_chu"/>
              <p:cNvSpPr txBox="1"/>
              <p:nvPr/>
            </p:nvSpPr>
            <p:spPr>
              <a:xfrm>
                <a:off x="5010912" y="5305806"/>
                <a:ext cx="20482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4</m:t>
                    </m:r>
                  </m:oMath>
                </a14:m>
              </a:p>
            </p:txBody>
          </p:sp>
        </mc:Choice>
        <mc:Fallback>
          <p:sp>
            <p:nvSpPr>
              <p:cNvPr id="20" name="TextBox 19"/>
              <p:cNvSpPr txBox="1"/>
              <p:nvPr/>
            </p:nvSpPr>
            <p:spPr>
              <a:xfrm>
                <a:off x="5010912" y="5305806"/>
                <a:ext cx="20482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4</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3. BIỂU THỨC TOẠ ĐỘ CỦA TÍCH VÔ HƯỚNG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18</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1179576"/>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HĐ2.</a:t>
                </a:r>
                <a:r>
                  <a:rPr sz="2200">
                    <a:solidFill>
                      <a:srgbClr val="1E293B"/>
                    </a:solidFill>
                    <a:latin typeface="Calibri"/>
                  </a:rPr>
                  <a:t> Cho hai vectơ cùng phương </a:t>
                </a:r>
                <a14:m>
                  <m:oMath xmlns:m="http://schemas.openxmlformats.org/officeDocument/2006/math">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=(x;</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y)</m:t>
                    </m:r>
                  </m:oMath>
                </a14:m>
                <a:r>
                  <a:rPr sz="2200">
                    <a:solidFill>
                      <a:srgbClr val="1E293B"/>
                    </a:solidFill>
                    <a:latin typeface="Calibri"/>
                  </a:rPr>
                  <a:t> và </a:t>
                </a:r>
                <a14:m>
                  <m:oMath xmlns:m="http://schemas.openxmlformats.org/officeDocument/2006/math">
                    <m:acc>
                      <m:accPr>
                        <m:chr m:val="⃗"/>
                      </m:accPr>
                      <m:e>
                        <m:r>
                          <a:rPr lang="vi-VN" sz="2200" b="0">
                            <a:solidFill>
                              <a:srgbClr val="1E293B"/>
                            </a:solidFill>
                            <a:latin typeface="Cambria Math" panose="02040503050406030204" pitchFamily="18" charset="0"/>
                          </a:rPr>
                          <m:t>v</m:t>
                        </m:r>
                      </m:e>
                    </m:acc>
                    <m:r>
                      <a:rPr lang="vi-VN" sz="2200" b="0">
                        <a:solidFill>
                          <a:srgbClr val="1E293B"/>
                        </a:solidFill>
                        <a:latin typeface="Cambria Math" panose="02040503050406030204" pitchFamily="18" charset="0"/>
                      </a:rPr>
                      <m:t>=(kx;</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ky)</m:t>
                    </m:r>
                  </m:oMath>
                </a14:m>
                <a:r>
                  <a:rPr sz="2200">
                    <a:solidFill>
                      <a:srgbClr val="1E293B"/>
                    </a:solidFill>
                    <a:latin typeface="Calibri"/>
                  </a:rPr>
                  <a:t>. Hãy kiểm tra công thức </a:t>
                </a:r>
                <a14:m>
                  <m:oMath xmlns:m="http://schemas.openxmlformats.org/officeDocument/2006/math">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v</m:t>
                        </m:r>
                      </m:e>
                    </m:acc>
                    <m:r>
                      <a:rPr lang="vi-VN" sz="2200" b="0">
                        <a:solidFill>
                          <a:srgbClr val="1E293B"/>
                        </a:solidFill>
                        <a:latin typeface="Cambria Math" panose="02040503050406030204" pitchFamily="18" charset="0"/>
                      </a:rPr>
                      <m:t>=k(</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oMath>
                </a14:m>
                <a:r>
                  <a:rPr sz="2200">
                    <a:solidFill>
                      <a:srgbClr val="1E293B"/>
                    </a:solidFill>
                    <a:latin typeface="Calibri"/>
                  </a:rPr>
                  <a:t> theo từng trường hợp sau: a) </a:t>
                </a:r>
                <a14:m>
                  <m:oMath xmlns:m="http://schemas.openxmlformats.org/officeDocument/2006/math">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0</m:t>
                        </m:r>
                      </m:e>
                    </m:acc>
                  </m:oMath>
                </a14:m>
                <a:r>
                  <a:rPr sz="2200">
                    <a:solidFill>
                      <a:srgbClr val="1E293B"/>
                    </a:solidFill>
                    <a:latin typeface="Calibri"/>
                  </a:rPr>
                  <a:t>; b) </a:t>
                </a:r>
                <a14:m>
                  <m:oMath xmlns:m="http://schemas.openxmlformats.org/officeDocument/2006/math">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0</m:t>
                        </m:r>
                      </m:e>
                    </m:acc>
                  </m:oMath>
                </a14:m>
                <a:r>
                  <a:rPr sz="2200">
                    <a:solidFill>
                      <a:srgbClr val="1E293B"/>
                    </a:solidFill>
                    <a:latin typeface="Calibri"/>
                  </a:rPr>
                  <a:t> và </a:t>
                </a:r>
                <a14:m>
                  <m:oMath xmlns:m="http://schemas.openxmlformats.org/officeDocument/2006/math">
                    <m:r>
                      <a:rPr lang="vi-VN" sz="2200" b="0">
                        <a:solidFill>
                          <a:srgbClr val="1E293B"/>
                        </a:solidFill>
                        <a:latin typeface="Cambria Math" panose="02040503050406030204" pitchFamily="18" charset="0"/>
                      </a:rPr>
                      <m:t>k≥0</m:t>
                    </m:r>
                  </m:oMath>
                </a14:m>
                <a:r>
                  <a:rPr sz="2200">
                    <a:solidFill>
                      <a:srgbClr val="1E293B"/>
                    </a:solidFill>
                    <a:latin typeface="Calibri"/>
                  </a:rPr>
                  <a:t>; c) </a:t>
                </a:r>
                <a14:m>
                  <m:oMath xmlns:m="http://schemas.openxmlformats.org/officeDocument/2006/math">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0</m:t>
                        </m:r>
                      </m:e>
                    </m:acc>
                  </m:oMath>
                </a14:m>
                <a:r>
                  <a:rPr sz="2200">
                    <a:solidFill>
                      <a:srgbClr val="1E293B"/>
                    </a:solidFill>
                    <a:latin typeface="Calibri"/>
                  </a:rPr>
                  <a:t> và </a:t>
                </a:r>
                <a14:m>
                  <m:oMath xmlns:m="http://schemas.openxmlformats.org/officeDocument/2006/math">
                    <m:r>
                      <a:rPr lang="vi-VN" sz="2200" b="0">
                        <a:solidFill>
                          <a:srgbClr val="1E293B"/>
                        </a:solidFill>
                        <a:latin typeface="Cambria Math" panose="02040503050406030204" pitchFamily="18" charset="0"/>
                      </a:rPr>
                      <m:t>k&lt;0</m:t>
                    </m:r>
                  </m:oMath>
                </a14:m>
                <a:r>
                  <a:rPr sz="2200">
                    <a:solidFill>
                      <a:srgbClr val="1E293B"/>
                    </a:solidFill>
                    <a:latin typeface="Calibri"/>
                  </a:rPr>
                  <a:t>.</a:t>
                </a:r>
              </a:p>
            </p:txBody>
          </p:sp>
        </mc:Choice>
        <mc:Fallback>
          <p:sp>
            <p:nvSpPr>
              <p:cNvPr id="7" name="TextBox 6"/>
              <p:cNvSpPr txBox="1"/>
              <p:nvPr/>
            </p:nvSpPr>
            <p:spPr>
              <a:xfrm>
                <a:off x="548640" y="1371600"/>
                <a:ext cx="11064240" cy="1179576"/>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HĐ2.</a:t>
                </a:r>
                <a:r>
                  <a:rPr sz="2200">
                    <a:solidFill>
                      <a:srgbClr val="1E293B"/>
                    </a:solidFill>
                    <a:latin typeface="Calibri"/>
                  </a:rPr>
                  <a:t> Cho hai vectơ cùng phương </a:t>
                </a:r>
                <a:r>
                  <a:rPr lang="vi-VN"/>
                  <a:t>\vec{u}=(x;\ y)</a:t>
                </a:r>
                <a:r>
                  <a:rPr sz="2200">
                    <a:solidFill>
                      <a:srgbClr val="1E293B"/>
                    </a:solidFill>
                    <a:latin typeface="Calibri"/>
                  </a:rPr>
                  <a:t> và </a:t>
                </a:r>
                <a:r>
                  <a:rPr lang="vi-VN"/>
                  <a:t>\vec{v}=(kx;\ ky)</a:t>
                </a:r>
                <a:r>
                  <a:rPr sz="2200">
                    <a:solidFill>
                      <a:srgbClr val="1E293B"/>
                    </a:solidFill>
                    <a:latin typeface="Calibri"/>
                  </a:rPr>
                  <a:t>. Hãy kiểm tra công thức </a:t>
                </a:r>
                <a:r>
                  <a:rPr lang="vi-VN"/>
                  <a:t>\vec{u}\cdot\vec{v}=k(x^2+y^2)</a:t>
                </a:r>
                <a:r>
                  <a:rPr sz="2200">
                    <a:solidFill>
                      <a:srgbClr val="1E293B"/>
                    </a:solidFill>
                    <a:latin typeface="Calibri"/>
                  </a:rPr>
                  <a:t> theo từng trường hợp sau: a) </a:t>
                </a:r>
                <a:r>
                  <a:rPr lang="vi-VN"/>
                  <a:t>\vec{u}=\vec{0}</a:t>
                </a:r>
                <a:r>
                  <a:rPr sz="2200">
                    <a:solidFill>
                      <a:srgbClr val="1E293B"/>
                    </a:solidFill>
                    <a:latin typeface="Calibri"/>
                  </a:rPr>
                  <a:t>; b) </a:t>
                </a:r>
                <a:r>
                  <a:rPr lang="vi-VN"/>
                  <a:t>\vec{u}\ne\vec{0}</a:t>
                </a:r>
                <a:r>
                  <a:rPr sz="2200">
                    <a:solidFill>
                      <a:srgbClr val="1E293B"/>
                    </a:solidFill>
                    <a:latin typeface="Calibri"/>
                  </a:rPr>
                  <a:t> và </a:t>
                </a:r>
                <a:r>
                  <a:rPr lang="vi-VN"/>
                  <a:t>k\ge 0</a:t>
                </a:r>
                <a:r>
                  <a:rPr sz="2200">
                    <a:solidFill>
                      <a:srgbClr val="1E293B"/>
                    </a:solidFill>
                    <a:latin typeface="Calibri"/>
                  </a:rPr>
                  <a:t>; c) </a:t>
                </a:r>
                <a:r>
                  <a:rPr lang="vi-VN"/>
                  <a:t>\vec{u}\ne\vec{0}</a:t>
                </a:r>
                <a:r>
                  <a:rPr sz="2200">
                    <a:solidFill>
                      <a:srgbClr val="1E293B"/>
                    </a:solidFill>
                    <a:latin typeface="Calibri"/>
                  </a:rPr>
                  <a:t> và </a:t>
                </a:r>
                <a:r>
                  <a:rPr lang="vi-VN"/>
                  <a:t>k&lt;0</a:t>
                </a:r>
                <a:r>
                  <a:rPr sz="2200">
                    <a:solidFill>
                      <a:srgbClr val="1E293B"/>
                    </a:solidFill>
                    <a:latin typeface="Calibri"/>
                  </a:rPr>
                  <a:t>.</a:t>
                </a:r>
              </a:p>
            </p:txBody>
          </p:sp>
        </mc:Fallback>
      </mc:AlternateContent>
      <p:sp>
        <p:nvSpPr>
          <p:cNvPr id="8" name="s1_nen"/>
          <p:cNvSpPr/>
          <p:nvPr/>
        </p:nvSpPr>
        <p:spPr>
          <a:xfrm>
            <a:off x="548640" y="2660904"/>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697480"/>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a) </a:t>
                </a:r>
                <a14:m>
                  <m:oMath xmlns:m="http://schemas.openxmlformats.org/officeDocument/2006/math">
                    <m:r>
                      <a:rPr lang="vi-VN" sz="2200" b="0">
                        <a:solidFill>
                          <a:srgbClr val="1E293B"/>
                        </a:solidFill>
                        <a:latin typeface="Cambria Math" panose="02040503050406030204" pitchFamily="18" charset="0"/>
                      </a:rPr>
                      <m:t>x=y=0</m:t>
                    </m:r>
                  </m:oMath>
                </a14:m>
                <a:r>
                  <a:rPr sz="2200">
                    <a:solidFill>
                      <a:srgbClr val="1E293B"/>
                    </a:solidFill>
                    <a:latin typeface="Calibri"/>
                  </a:rPr>
                  <a:t>: hai vế đều bằng 0.</a:t>
                </a:r>
              </a:p>
            </p:txBody>
          </p:sp>
        </mc:Choice>
        <mc:Fallback>
          <p:sp>
            <p:nvSpPr>
              <p:cNvPr id="9" name="TextBox 8"/>
              <p:cNvSpPr txBox="1"/>
              <p:nvPr/>
            </p:nvSpPr>
            <p:spPr>
              <a:xfrm>
                <a:off x="713232" y="2697480"/>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a) </a:t>
                </a:r>
                <a:r>
                  <a:rPr lang="vi-VN"/>
                  <a:t>x=y=0</a:t>
                </a:r>
                <a:r>
                  <a:rPr sz="2200">
                    <a:solidFill>
                      <a:srgbClr val="1E293B"/>
                    </a:solidFill>
                    <a:latin typeface="Calibri"/>
                  </a:rPr>
                  <a:t>: hai vế đều bằng 0.</a:t>
                </a:r>
              </a:p>
            </p:txBody>
          </p:sp>
        </mc:Fallback>
      </mc:AlternateContent>
      <p:sp>
        <p:nvSpPr>
          <p:cNvPr id="10" name="s2_nen"/>
          <p:cNvSpPr/>
          <p:nvPr/>
        </p:nvSpPr>
        <p:spPr>
          <a:xfrm>
            <a:off x="548640" y="3371088"/>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407664"/>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b) </a:t>
                </a:r>
                <a14:m>
                  <m:oMath xmlns:m="http://schemas.openxmlformats.org/officeDocument/2006/math">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v</m:t>
                        </m:r>
                      </m:e>
                    </m:acc>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0</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a:t>
                </a:r>
                <a14:m>
                  <m:oMath xmlns:m="http://schemas.openxmlformats.org/officeDocument/2006/math">
                    <m:d>
                      <m:dPr>
                        <m:begChr m:val="|"/>
                        <m:sepChr m:val=""/>
                        <m:endChr m:val="|"/>
                      </m:dPr>
                      <m:e>
                        <m:acc>
                          <m:accPr>
                            <m:chr m:val="⃗"/>
                          </m:accPr>
                          <m:e>
                            <m:r>
                              <a:rPr lang="vi-VN" sz="2200" b="0">
                                <a:solidFill>
                                  <a:srgbClr val="1E293B"/>
                                </a:solidFill>
                                <a:latin typeface="Cambria Math" panose="02040503050406030204" pitchFamily="18" charset="0"/>
                              </a:rPr>
                              <m:t>v</m:t>
                            </m:r>
                          </m:e>
                        </m:acc>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k</m:t>
                        </m:r>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u</m:t>
                            </m:r>
                          </m:e>
                        </m:acc>
                      </m:e>
                    </m:d>
                  </m:oMath>
                </a14:m>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v</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|·k|</m:t>
                    </m:r>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|=k(</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oMath>
                </a14:m>
                <a:r>
                  <a:rPr sz="2200">
                    <a:solidFill>
                      <a:srgbClr val="1E293B"/>
                    </a:solidFill>
                    <a:latin typeface="Calibri"/>
                  </a:rPr>
                  <a:t>.</a:t>
                </a:r>
              </a:p>
            </p:txBody>
          </p:sp>
        </mc:Choice>
        <mc:Fallback>
          <p:sp>
            <p:nvSpPr>
              <p:cNvPr id="11" name="TextBox 10"/>
              <p:cNvSpPr txBox="1"/>
              <p:nvPr/>
            </p:nvSpPr>
            <p:spPr>
              <a:xfrm>
                <a:off x="713232" y="3407664"/>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b) </a:t>
                </a:r>
                <a:r>
                  <a:rPr lang="vi-VN"/>
                  <a:t>(\vec{u},\ \vec{v})=0^\circ</a:t>
                </a:r>
                <a:r>
                  <a:rPr sz="2200">
                    <a:solidFill>
                      <a:srgbClr val="1E293B"/>
                    </a:solidFill>
                    <a:latin typeface="Calibri"/>
                  </a:rPr>
                  <a:t>, </a:t>
                </a:r>
                <a:r>
                  <a:rPr lang="vi-VN"/>
                  <a:t>|\vec{v}|=k|\vec{u}|</a:t>
                </a:r>
                <a:r>
                  <a:rPr sz="2200">
                    <a:solidFill>
                      <a:srgbClr val="1E293B"/>
                    </a:solidFill>
                    <a:latin typeface="Calibri"/>
                  </a:rPr>
                  <a:t>: </a:t>
                </a:r>
                <a:r>
                  <a:rPr lang="vi-VN"/>
                  <a:t>\vec{u}\cdot\vec{v}=|\vec{u}|\cdot k|\vec{u}|=k(x^2+y^2)</a:t>
                </a:r>
                <a:r>
                  <a:rPr sz="2200">
                    <a:solidFill>
                      <a:srgbClr val="1E293B"/>
                    </a:solidFill>
                    <a:latin typeface="Calibri"/>
                  </a:rPr>
                  <a:t>.</a:t>
                </a:r>
              </a:p>
            </p:txBody>
          </p:sp>
        </mc:Fallback>
      </mc:AlternateContent>
      <p:sp>
        <p:nvSpPr>
          <p:cNvPr id="12" name="s3_nen"/>
          <p:cNvSpPr/>
          <p:nvPr/>
        </p:nvSpPr>
        <p:spPr>
          <a:xfrm>
            <a:off x="548640" y="4081272"/>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4117848"/>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c) </a:t>
                </a:r>
                <a14:m>
                  <m:oMath xmlns:m="http://schemas.openxmlformats.org/officeDocument/2006/math">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v</m:t>
                        </m:r>
                      </m:e>
                    </m:acc>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180</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a:t>
                </a:r>
                <a14:m>
                  <m:oMath xmlns:m="http://schemas.openxmlformats.org/officeDocument/2006/math">
                    <m:d>
                      <m:dPr>
                        <m:begChr m:val="|"/>
                        <m:sepChr m:val=""/>
                        <m:endChr m:val="|"/>
                      </m:dPr>
                      <m:e>
                        <m:acc>
                          <m:accPr>
                            <m:chr m:val="⃗"/>
                          </m:accPr>
                          <m:e>
                            <m:r>
                              <a:rPr lang="vi-VN" sz="2200" b="0">
                                <a:solidFill>
                                  <a:srgbClr val="1E293B"/>
                                </a:solidFill>
                                <a:latin typeface="Cambria Math" panose="02040503050406030204" pitchFamily="18" charset="0"/>
                              </a:rPr>
                              <m:t>v</m:t>
                            </m:r>
                          </m:e>
                        </m:acc>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k</m:t>
                        </m:r>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u</m:t>
                            </m:r>
                          </m:e>
                        </m:acc>
                      </m:e>
                    </m:d>
                  </m:oMath>
                </a14:m>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v</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|·(−k)|</m:t>
                    </m:r>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|·(−1)=k(</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oMath>
                </a14:m>
                <a:r>
                  <a:rPr sz="2200">
                    <a:solidFill>
                      <a:srgbClr val="1E293B"/>
                    </a:solidFill>
                    <a:latin typeface="Calibri"/>
                  </a:rPr>
                  <a:t>.</a:t>
                </a:r>
              </a:p>
            </p:txBody>
          </p:sp>
        </mc:Choice>
        <mc:Fallback>
          <p:sp>
            <p:nvSpPr>
              <p:cNvPr id="13" name="TextBox 12"/>
              <p:cNvSpPr txBox="1"/>
              <p:nvPr/>
            </p:nvSpPr>
            <p:spPr>
              <a:xfrm>
                <a:off x="713232" y="4117848"/>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c) </a:t>
                </a:r>
                <a:r>
                  <a:rPr lang="vi-VN"/>
                  <a:t>(\vec{u},\ \vec{v})=180^\circ</a:t>
                </a:r>
                <a:r>
                  <a:rPr sz="2200">
                    <a:solidFill>
                      <a:srgbClr val="1E293B"/>
                    </a:solidFill>
                    <a:latin typeface="Calibri"/>
                  </a:rPr>
                  <a:t>, </a:t>
                </a:r>
                <a:r>
                  <a:rPr lang="vi-VN"/>
                  <a:t>|\vec{v}|=-k|\vec{u}|</a:t>
                </a:r>
                <a:r>
                  <a:rPr sz="2200">
                    <a:solidFill>
                      <a:srgbClr val="1E293B"/>
                    </a:solidFill>
                    <a:latin typeface="Calibri"/>
                  </a:rPr>
                  <a:t>: </a:t>
                </a:r>
                <a:r>
                  <a:rPr lang="vi-VN"/>
                  <a:t>\vec{u}\cdot\vec{v}=|\vec{u}|\cdot(-k)|\vec{u}|\cdot(-1)=k(x^2+y^2)</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HĐ3 (SGK TR.68) – CÔNG THỨC TOẠ ĐỘ</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19</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1179576"/>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HĐ3.</a:t>
                </a:r>
                <a:r>
                  <a:rPr sz="2200">
                    <a:solidFill>
                      <a:srgbClr val="1E293B"/>
                    </a:solidFill>
                    <a:latin typeface="Calibri"/>
                  </a:rPr>
                  <a:t> Cho hai vectơ không cùng phương </a:t>
                </a:r>
                <a14:m>
                  <m:oMath xmlns:m="http://schemas.openxmlformats.org/officeDocument/2006/math">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=(x;</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y)</m:t>
                    </m:r>
                  </m:oMath>
                </a14:m>
                <a:r>
                  <a:rPr sz="2200">
                    <a:solidFill>
                      <a:srgbClr val="1E293B"/>
                    </a:solidFill>
                    <a:latin typeface="Calibri"/>
                  </a:rPr>
                  <a:t> và </a:t>
                </a:r>
                <a14:m>
                  <m:oMath xmlns:m="http://schemas.openxmlformats.org/officeDocument/2006/math">
                    <m:acc>
                      <m:accPr>
                        <m:chr m:val="⃗"/>
                      </m:accPr>
                      <m:e>
                        <m:r>
                          <a:rPr lang="vi-VN" sz="2200" b="0">
                            <a:solidFill>
                              <a:srgbClr val="1E293B"/>
                            </a:solidFill>
                            <a:latin typeface="Cambria Math" panose="02040503050406030204" pitchFamily="18" charset="0"/>
                          </a:rPr>
                          <m:t>v</m:t>
                        </m:r>
                      </m:e>
                    </m:acc>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oMath>
                </a14:m>
                <a:r>
                  <a:rPr sz="2200">
                    <a:solidFill>
                      <a:srgbClr val="1E293B"/>
                    </a:solidFill>
                    <a:latin typeface="Calibri"/>
                  </a:rPr>
                  <a:t>. a) Xác định toạ độ của các điểm </a:t>
                </a:r>
                <a14:m>
                  <m:oMath xmlns:m="http://schemas.openxmlformats.org/officeDocument/2006/math">
                    <m:r>
                      <a:rPr lang="vi-VN" sz="2200" b="0">
                        <a:solidFill>
                          <a:srgbClr val="1E293B"/>
                        </a:solidFill>
                        <a:latin typeface="Cambria Math" panose="02040503050406030204" pitchFamily="18" charset="0"/>
                      </a:rPr>
                      <m:t>A</m:t>
                    </m:r>
                  </m:oMath>
                </a14:m>
                <a:r>
                  <a:rPr sz="2200">
                    <a:solidFill>
                      <a:srgbClr val="1E293B"/>
                    </a:solidFill>
                    <a:latin typeface="Calibri"/>
                  </a:rPr>
                  <a:t> và </a:t>
                </a:r>
                <a14:m>
                  <m:oMath xmlns:m="http://schemas.openxmlformats.org/officeDocument/2006/math">
                    <m:r>
                      <a:rPr lang="vi-VN" sz="2200" b="0">
                        <a:solidFill>
                          <a:srgbClr val="1E293B"/>
                        </a:solidFill>
                        <a:latin typeface="Cambria Math" panose="02040503050406030204" pitchFamily="18" charset="0"/>
                      </a:rPr>
                      <m:t>B</m:t>
                    </m:r>
                  </m:oMath>
                </a14:m>
                <a:r>
                  <a:rPr sz="2200">
                    <a:solidFill>
                      <a:srgbClr val="1E293B"/>
                    </a:solidFill>
                    <a:latin typeface="Calibri"/>
                  </a:rPr>
                  <a:t> sao cho </a:t>
                </a:r>
                <a14:m>
                  <m:oMath xmlns:m="http://schemas.openxmlformats.org/officeDocument/2006/math">
                    <m:acc>
                      <m:accPr>
                        <m:chr m:val="⃗"/>
                      </m:accPr>
                      <m:e>
                        <m:r>
                          <a:rPr lang="vi-VN" sz="2200" b="0">
                            <a:solidFill>
                              <a:srgbClr val="1E293B"/>
                            </a:solidFill>
                            <a:latin typeface="Cambria Math" panose="02040503050406030204" pitchFamily="18" charset="0"/>
                          </a:rPr>
                          <m:t>OA</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u</m:t>
                        </m:r>
                      </m:e>
                    </m:acc>
                  </m:oMath>
                </a14:m>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OB</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v</m:t>
                        </m:r>
                      </m:e>
                    </m:acc>
                  </m:oMath>
                </a14:m>
                <a:r>
                  <a:rPr sz="2200">
                    <a:solidFill>
                      <a:srgbClr val="1E293B"/>
                    </a:solidFill>
                    <a:latin typeface="Calibri"/>
                  </a:rPr>
                  <a:t>. b) Tính </a:t>
                </a:r>
                <a14:m>
                  <m:oMath xmlns:m="http://schemas.openxmlformats.org/officeDocument/2006/math">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O</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O</m:t>
                    </m:r>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2</m:t>
                        </m:r>
                      </m:sup>
                    </m:sSup>
                  </m:oMath>
                </a14:m>
                <a:r>
                  <a:rPr sz="2200">
                    <a:solidFill>
                      <a:srgbClr val="1E293B"/>
                    </a:solidFill>
                    <a:latin typeface="Calibri"/>
                  </a:rPr>
                  <a:t> theo toạ độ của </a:t>
                </a:r>
                <a14:m>
                  <m:oMath xmlns:m="http://schemas.openxmlformats.org/officeDocument/2006/math">
                    <m:r>
                      <a:rPr lang="vi-VN" sz="2200" b="0">
                        <a:solidFill>
                          <a:srgbClr val="1E293B"/>
                        </a:solidFill>
                        <a:latin typeface="Cambria Math" panose="02040503050406030204" pitchFamily="18" charset="0"/>
                      </a:rPr>
                      <m:t>A</m:t>
                    </m:r>
                  </m:oMath>
                </a14:m>
                <a:r>
                  <a:rPr sz="2200">
                    <a:solidFill>
                      <a:srgbClr val="1E293B"/>
                    </a:solidFill>
                    <a:latin typeface="Calibri"/>
                  </a:rPr>
                  <a:t> và </a:t>
                </a:r>
                <a14:m>
                  <m:oMath xmlns:m="http://schemas.openxmlformats.org/officeDocument/2006/math">
                    <m:r>
                      <a:rPr lang="vi-VN" sz="2200" b="0">
                        <a:solidFill>
                          <a:srgbClr val="1E293B"/>
                        </a:solidFill>
                        <a:latin typeface="Cambria Math" panose="02040503050406030204" pitchFamily="18" charset="0"/>
                      </a:rPr>
                      <m:t>B</m:t>
                    </m:r>
                  </m:oMath>
                </a14:m>
                <a:r>
                  <a:rPr sz="2200">
                    <a:solidFill>
                      <a:srgbClr val="1E293B"/>
                    </a:solidFill>
                    <a:latin typeface="Calibri"/>
                  </a:rPr>
                  <a:t>. c) Tính </a:t>
                </a:r>
                <a14:m>
                  <m:oMath xmlns:m="http://schemas.openxmlformats.org/officeDocument/2006/math">
                    <m:acc>
                      <m:accPr>
                        <m:chr m:val="⃗"/>
                      </m:accPr>
                      <m:e>
                        <m:r>
                          <a:rPr lang="vi-VN" sz="2200" b="0">
                            <a:solidFill>
                              <a:srgbClr val="1E293B"/>
                            </a:solidFill>
                            <a:latin typeface="Cambria Math" panose="02040503050406030204" pitchFamily="18" charset="0"/>
                          </a:rPr>
                          <m:t>OA</m:t>
                        </m:r>
                      </m:e>
                    </m:acc>
                  </m:oMath>
                </a14:m>
                <a14:m>
                  <m:oMath xmlns:m="http://schemas.openxmlformats.org/officeDocument/2006/math">
                    <m:r>
                      <a:rPr lang="vi-VN" sz="2200" b="0">
                        <a:solidFill>
                          <a:srgbClr val="1E293B"/>
                        </a:solidFill>
                        <a:latin typeface="Cambria Math" panose="02040503050406030204" pitchFamily="18" charset="0"/>
                      </a:rPr>
                      <m:t>·</m:t>
                    </m:r>
                  </m:oMath>
                </a14:m>
                <a14:m>
                  <m:oMath xmlns:m="http://schemas.openxmlformats.org/officeDocument/2006/math">
                    <m:acc>
                      <m:accPr>
                        <m:chr m:val="⃗"/>
                      </m:accPr>
                      <m:e>
                        <m:r>
                          <a:rPr lang="vi-VN" sz="2200" b="0">
                            <a:solidFill>
                              <a:srgbClr val="1E293B"/>
                            </a:solidFill>
                            <a:latin typeface="Cambria Math" panose="02040503050406030204" pitchFamily="18" charset="0"/>
                          </a:rPr>
                          <m:t>OB</m:t>
                        </m:r>
                      </m:e>
                    </m:acc>
                  </m:oMath>
                </a14:m>
                <a:r>
                  <a:rPr sz="2200">
                    <a:solidFill>
                      <a:srgbClr val="1E293B"/>
                    </a:solidFill>
                    <a:latin typeface="Calibri"/>
                  </a:rPr>
                  <a:t> theo toạ độ của </a:t>
                </a:r>
                <a14:m>
                  <m:oMath xmlns:m="http://schemas.openxmlformats.org/officeDocument/2006/math">
                    <m:r>
                      <a:rPr lang="vi-VN" sz="2200" b="0">
                        <a:solidFill>
                          <a:srgbClr val="1E293B"/>
                        </a:solidFill>
                        <a:latin typeface="Cambria Math" panose="02040503050406030204" pitchFamily="18" charset="0"/>
                      </a:rPr>
                      <m:t>A,</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B</m:t>
                    </m:r>
                  </m:oMath>
                </a14:m>
                <a:r>
                  <a:rPr sz="2200">
                    <a:solidFill>
                      <a:srgbClr val="1E293B"/>
                    </a:solidFill>
                    <a:latin typeface="Calibri"/>
                  </a:rPr>
                  <a:t>.</a:t>
                </a:r>
              </a:p>
            </p:txBody>
          </p:sp>
        </mc:Choice>
        <mc:Fallback>
          <p:sp>
            <p:nvSpPr>
              <p:cNvPr id="7" name="TextBox 6"/>
              <p:cNvSpPr txBox="1"/>
              <p:nvPr/>
            </p:nvSpPr>
            <p:spPr>
              <a:xfrm>
                <a:off x="548640" y="1371600"/>
                <a:ext cx="11064240" cy="1179576"/>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HĐ3.</a:t>
                </a:r>
                <a:r>
                  <a:rPr sz="2200">
                    <a:solidFill>
                      <a:srgbClr val="1E293B"/>
                    </a:solidFill>
                    <a:latin typeface="Calibri"/>
                  </a:rPr>
                  <a:t> Cho hai vectơ không cùng phương </a:t>
                </a:r>
                <a:r>
                  <a:rPr lang="vi-VN"/>
                  <a:t>\vec{u}=(x;\ y)</a:t>
                </a:r>
                <a:r>
                  <a:rPr sz="2200">
                    <a:solidFill>
                      <a:srgbClr val="1E293B"/>
                    </a:solidFill>
                    <a:latin typeface="Calibri"/>
                  </a:rPr>
                  <a:t> và </a:t>
                </a:r>
                <a:r>
                  <a:rPr lang="vi-VN"/>
                  <a:t>\vec{v}=(x';\ y')</a:t>
                </a:r>
                <a:r>
                  <a:rPr sz="2200">
                    <a:solidFill>
                      <a:srgbClr val="1E293B"/>
                    </a:solidFill>
                    <a:latin typeface="Calibri"/>
                  </a:rPr>
                  <a:t>. a) Xác định toạ độ của các điểm </a:t>
                </a:r>
                <a:r>
                  <a:rPr lang="vi-VN"/>
                  <a:t>A</a:t>
                </a:r>
                <a:r>
                  <a:rPr sz="2200">
                    <a:solidFill>
                      <a:srgbClr val="1E293B"/>
                    </a:solidFill>
                    <a:latin typeface="Calibri"/>
                  </a:rPr>
                  <a:t> và </a:t>
                </a:r>
                <a:r>
                  <a:rPr lang="vi-VN"/>
                  <a:t>B</a:t>
                </a:r>
                <a:r>
                  <a:rPr sz="2200">
                    <a:solidFill>
                      <a:srgbClr val="1E293B"/>
                    </a:solidFill>
                    <a:latin typeface="Calibri"/>
                  </a:rPr>
                  <a:t> sao cho </a:t>
                </a:r>
                <a:r>
                  <a:rPr lang="vi-VN"/>
                  <a:t>\overrightarrow{OA}</a:t>
                </a:r>
                <a:r>
                  <a:rPr sz="2200">
                    <a:solidFill>
                      <a:srgbClr val="1E293B"/>
                    </a:solidFill>
                    <a:latin typeface="Calibri"/>
                  </a:rPr>
                  <a:t> = </a:t>
                </a:r>
                <a:r>
                  <a:rPr lang="vi-VN"/>
                  <a:t>\vec{u}</a:t>
                </a:r>
                <a:r>
                  <a:rPr sz="2200">
                    <a:solidFill>
                      <a:srgbClr val="1E293B"/>
                    </a:solidFill>
                    <a:latin typeface="Calibri"/>
                  </a:rPr>
                  <a:t>, </a:t>
                </a:r>
                <a:r>
                  <a:rPr lang="vi-VN"/>
                  <a:t>\overrightarrow{OB}</a:t>
                </a:r>
                <a:r>
                  <a:rPr sz="2200">
                    <a:solidFill>
                      <a:srgbClr val="1E293B"/>
                    </a:solidFill>
                    <a:latin typeface="Calibri"/>
                  </a:rPr>
                  <a:t> = </a:t>
                </a:r>
                <a:r>
                  <a:rPr lang="vi-VN"/>
                  <a:t>\vec{v}</a:t>
                </a:r>
                <a:r>
                  <a:rPr sz="2200">
                    <a:solidFill>
                      <a:srgbClr val="1E293B"/>
                    </a:solidFill>
                    <a:latin typeface="Calibri"/>
                  </a:rPr>
                  <a:t>. b) Tính </a:t>
                </a:r>
                <a:r>
                  <a:rPr lang="vi-VN"/>
                  <a:t>AB^2,\ OA^2,\ OB^2</a:t>
                </a:r>
                <a:r>
                  <a:rPr sz="2200">
                    <a:solidFill>
                      <a:srgbClr val="1E293B"/>
                    </a:solidFill>
                    <a:latin typeface="Calibri"/>
                  </a:rPr>
                  <a:t> theo toạ độ của </a:t>
                </a:r>
                <a:r>
                  <a:rPr lang="vi-VN"/>
                  <a:t>A</a:t>
                </a:r>
                <a:r>
                  <a:rPr sz="2200">
                    <a:solidFill>
                      <a:srgbClr val="1E293B"/>
                    </a:solidFill>
                    <a:latin typeface="Calibri"/>
                  </a:rPr>
                  <a:t> và </a:t>
                </a:r>
                <a:r>
                  <a:rPr lang="vi-VN"/>
                  <a:t>B</a:t>
                </a:r>
                <a:r>
                  <a:rPr sz="2200">
                    <a:solidFill>
                      <a:srgbClr val="1E293B"/>
                    </a:solidFill>
                    <a:latin typeface="Calibri"/>
                  </a:rPr>
                  <a:t>. c) Tính </a:t>
                </a:r>
                <a:r>
                  <a:rPr lang="vi-VN"/>
                  <a:t>\overrightarrow{OA}</a:t>
                </a:r>
                <a:r>
                  <a:rPr lang="vi-VN"/>
                  <a:t>\cdot</a:t>
                </a:r>
                <a:r>
                  <a:rPr lang="vi-VN"/>
                  <a:t>\overrightarrow{OB}</a:t>
                </a:r>
                <a:r>
                  <a:rPr sz="2200">
                    <a:solidFill>
                      <a:srgbClr val="1E293B"/>
                    </a:solidFill>
                    <a:latin typeface="Calibri"/>
                  </a:rPr>
                  <a:t> theo toạ độ của </a:t>
                </a:r>
                <a:r>
                  <a:rPr lang="vi-VN"/>
                  <a:t>A,\ B</a:t>
                </a:r>
                <a:r>
                  <a:rPr sz="2200">
                    <a:solidFill>
                      <a:srgbClr val="1E293B"/>
                    </a:solidFill>
                    <a:latin typeface="Calibri"/>
                  </a:rPr>
                  <a:t>.</a:t>
                </a:r>
              </a:p>
            </p:txBody>
          </p:sp>
        </mc:Fallback>
      </mc:AlternateContent>
      <p:sp>
        <p:nvSpPr>
          <p:cNvPr id="8" name="s1_nen"/>
          <p:cNvSpPr/>
          <p:nvPr/>
        </p:nvSpPr>
        <p:spPr>
          <a:xfrm>
            <a:off x="548640" y="2660904"/>
            <a:ext cx="11064240" cy="935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697480"/>
                <a:ext cx="107350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a) </a:t>
                </a:r>
                <a14:m>
                  <m:oMath xmlns:m="http://schemas.openxmlformats.org/officeDocument/2006/math">
                    <m:r>
                      <a:rPr lang="vi-VN" sz="2200" b="0">
                        <a:solidFill>
                          <a:srgbClr val="1E293B"/>
                        </a:solidFill>
                        <a:latin typeface="Cambria Math" panose="02040503050406030204" pitchFamily="18" charset="0"/>
                      </a:rPr>
                      <m:t>A(x;</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y)</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B(</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oMath>
                </a14:m>
                <a:r>
                  <a:rPr sz="2200">
                    <a:solidFill>
                      <a:srgbClr val="1E293B"/>
                    </a:solidFill>
                    <a:latin typeface="Calibri"/>
                  </a:rPr>
                  <a:t>. b) </a:t>
                </a:r>
                <a14:m>
                  <m:oMath xmlns:m="http://schemas.openxmlformats.org/officeDocument/2006/math">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−x</m:t>
                    </m:r>
                    <m:sSup>
                      <m:e>
                        <m:r>
                          <a:rPr lang="vi-VN" sz="2200" b="0">
                            <a:solidFill>
                              <a:srgbClr val="1E293B"/>
                            </a:solidFill>
                            <a:latin typeface="Cambria Math" panose="02040503050406030204" pitchFamily="18" charset="0"/>
                          </a:rPr>
                          <m:t>)</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−y</m:t>
                    </m:r>
                    <m:sSup>
                      <m:e>
                        <m:r>
                          <a:rPr lang="vi-VN" sz="2200" b="0">
                            <a:solidFill>
                              <a:srgbClr val="1E293B"/>
                            </a:solidFill>
                            <a:latin typeface="Cambria Math" panose="02040503050406030204" pitchFamily="18" charset="0"/>
                          </a:rPr>
                          <m:t>)</m:t>
                        </m:r>
                      </m:e>
                      <m:sup>
                        <m:r>
                          <a:rPr lang="vi-VN" sz="2200" b="0">
                            <a:solidFill>
                              <a:srgbClr val="1E293B"/>
                            </a:solidFill>
                            <a:latin typeface="Cambria Math" panose="02040503050406030204" pitchFamily="18" charset="0"/>
                          </a:rPr>
                          <m:t>2</m:t>
                        </m:r>
                      </m:sup>
                    </m:sSup>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O</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2</m:t>
                        </m:r>
                      </m:sup>
                    </m:sSup>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O</m:t>
                    </m:r>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′2</m:t>
                        </m:r>
                      </m:sup>
                    </m:sSup>
                  </m:oMath>
                </a14:m>
                <a:r>
                  <a:rPr sz="2200">
                    <a:solidFill>
                      <a:srgbClr val="1E293B"/>
                    </a:solidFill>
                    <a:latin typeface="Calibri"/>
                  </a:rPr>
                  <a:t>.</a:t>
                </a:r>
              </a:p>
            </p:txBody>
          </p:sp>
        </mc:Choice>
        <mc:Fallback>
          <p:sp>
            <p:nvSpPr>
              <p:cNvPr id="9" name="TextBox 8"/>
              <p:cNvSpPr txBox="1"/>
              <p:nvPr/>
            </p:nvSpPr>
            <p:spPr>
              <a:xfrm>
                <a:off x="713232" y="2697480"/>
                <a:ext cx="107350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a) </a:t>
                </a:r>
                <a:r>
                  <a:rPr lang="vi-VN"/>
                  <a:t>A(x;\ y)</a:t>
                </a:r>
                <a:r>
                  <a:rPr sz="2200">
                    <a:solidFill>
                      <a:srgbClr val="1E293B"/>
                    </a:solidFill>
                    <a:latin typeface="Calibri"/>
                  </a:rPr>
                  <a:t>, </a:t>
                </a:r>
                <a:r>
                  <a:rPr lang="vi-VN"/>
                  <a:t>B(x';\ y')</a:t>
                </a:r>
                <a:r>
                  <a:rPr sz="2200">
                    <a:solidFill>
                      <a:srgbClr val="1E293B"/>
                    </a:solidFill>
                    <a:latin typeface="Calibri"/>
                  </a:rPr>
                  <a:t>. b) </a:t>
                </a:r>
                <a:r>
                  <a:rPr lang="vi-VN"/>
                  <a:t>AB^2=(x'-x)^2+(y'-y)^2</a:t>
                </a:r>
                <a:r>
                  <a:rPr sz="2200">
                    <a:solidFill>
                      <a:srgbClr val="1E293B"/>
                    </a:solidFill>
                    <a:latin typeface="Calibri"/>
                  </a:rPr>
                  <a:t>, </a:t>
                </a:r>
                <a:r>
                  <a:rPr lang="vi-VN"/>
                  <a:t>OA^2=x^2+y^2</a:t>
                </a:r>
                <a:r>
                  <a:rPr sz="2200">
                    <a:solidFill>
                      <a:srgbClr val="1E293B"/>
                    </a:solidFill>
                    <a:latin typeface="Calibri"/>
                  </a:rPr>
                  <a:t>, </a:t>
                </a:r>
                <a:r>
                  <a:rPr lang="vi-VN"/>
                  <a:t>OB^2=x'^2+y'^2</a:t>
                </a:r>
                <a:r>
                  <a:rPr sz="2200">
                    <a:solidFill>
                      <a:srgbClr val="1E293B"/>
                    </a:solidFill>
                    <a:latin typeface="Calibri"/>
                  </a:rPr>
                  <a:t>.</a:t>
                </a:r>
              </a:p>
            </p:txBody>
          </p:sp>
        </mc:Fallback>
      </mc:AlternateContent>
      <p:sp>
        <p:nvSpPr>
          <p:cNvPr id="10" name="s2_nen"/>
          <p:cNvSpPr/>
          <p:nvPr/>
        </p:nvSpPr>
        <p:spPr>
          <a:xfrm>
            <a:off x="548640" y="3706368"/>
            <a:ext cx="11064240" cy="751331"/>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742944"/>
                <a:ext cx="10735056" cy="678179"/>
              </a:xfrm>
              <a:prstGeom prst="rect">
                <a:avLst/>
              </a:prstGeom>
              <a:noFill/>
            </p:spPr>
            <p:txBody>
              <a:bodyPr wrap="square" anchor="ctr" lIns="45720" rIns="45720">
                <a:spAutoFit/>
              </a:bodyPr>
              <a:lstStyle/>
              <a:p>
                <a:pPr algn="l">
                  <a:spcAft>
                    <a:spcPts val="800"/>
                  </a:spcAft>
                </a:pPr>
                <a:r>
                  <a:rPr sz="2200">
                    <a:solidFill>
                      <a:srgbClr val="1E293B"/>
                    </a:solidFill>
                    <a:latin typeface="Calibri"/>
                  </a:rPr>
                  <a:t>c) </a:t>
                </a:r>
                <a14:m>
                  <m:oMath xmlns:m="http://schemas.openxmlformats.org/officeDocument/2006/math">
                    <m:acc>
                      <m:accPr>
                        <m:chr m:val="⃗"/>
                      </m:accPr>
                      <m:e>
                        <m:r>
                          <a:rPr lang="vi-VN" sz="2200" b="0">
                            <a:solidFill>
                              <a:srgbClr val="1E293B"/>
                            </a:solidFill>
                            <a:latin typeface="Cambria Math" panose="02040503050406030204" pitchFamily="18" charset="0"/>
                          </a:rPr>
                          <m:t>OA</m:t>
                        </m:r>
                      </m:e>
                    </m:acc>
                  </m:oMath>
                </a14:m>
                <a14:m>
                  <m:oMath xmlns:m="http://schemas.openxmlformats.org/officeDocument/2006/math">
                    <m:r>
                      <a:rPr lang="vi-VN" sz="2200" b="0">
                        <a:solidFill>
                          <a:srgbClr val="1E293B"/>
                        </a:solidFill>
                        <a:latin typeface="Cambria Math" panose="02040503050406030204" pitchFamily="18" charset="0"/>
                      </a:rPr>
                      <m:t>·</m:t>
                    </m:r>
                  </m:oMath>
                </a14:m>
                <a14:m>
                  <m:oMath xmlns:m="http://schemas.openxmlformats.org/officeDocument/2006/math">
                    <m:acc>
                      <m:accPr>
                        <m:chr m:val="⃗"/>
                      </m:accPr>
                      <m:e>
                        <m:r>
                          <a:rPr lang="vi-VN" sz="2200" b="0">
                            <a:solidFill>
                              <a:srgbClr val="1E293B"/>
                            </a:solidFill>
                            <a:latin typeface="Cambria Math" panose="02040503050406030204" pitchFamily="18" charset="0"/>
                          </a:rPr>
                          <m:t>OB</m:t>
                        </m:r>
                      </m:e>
                    </m:acc>
                  </m:oMath>
                </a14:m>
                <a:r>
                  <a:rPr sz="2200">
                    <a:solidFill>
                      <a:srgbClr val="1E293B"/>
                    </a:solidFill>
                    <a:latin typeface="Calibri"/>
                  </a:rPr>
                  <a:t> = </a:t>
                </a:r>
                <a14:m>
                  <m:oMath xmlns:m="http://schemas.openxmlformats.org/officeDocument/2006/math">
                    <m:f>
                      <m:fPr>
                        <m:type m:val="bar"/>
                      </m:fPr>
                      <m:num>
                        <m:r>
                          <a:rPr lang="vi-VN" sz="2200" b="0">
                            <a:solidFill>
                              <a:srgbClr val="1E293B"/>
                            </a:solidFill>
                            <a:latin typeface="Cambria Math" panose="02040503050406030204" pitchFamily="18" charset="0"/>
                          </a:rPr>
                          <m:t>O</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+O</m:t>
                        </m:r>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2</m:t>
                            </m:r>
                          </m:sup>
                        </m:sSup>
                      </m:num>
                      <m:den>
                        <m:r>
                          <a:rPr lang="vi-VN" sz="2200" b="0">
                            <a:solidFill>
                              <a:srgbClr val="1E293B"/>
                            </a:solidFill>
                            <a:latin typeface="Cambria Math" panose="02040503050406030204" pitchFamily="18" charset="0"/>
                          </a:rPr>
                          <m:t>2</m:t>
                        </m:r>
                      </m:den>
                    </m:f>
                    <m:r>
                      <a:rPr lang="vi-VN" sz="2200" b="0">
                        <a:solidFill>
                          <a:srgbClr val="1E293B"/>
                        </a:solidFill>
                        <a:latin typeface="Cambria Math" panose="02040503050406030204" pitchFamily="18" charset="0"/>
                      </a:rPr>
                      <m:t>=x</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+y</m:t>
                    </m:r>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a:t>
                </a:r>
              </a:p>
            </p:txBody>
          </p:sp>
        </mc:Choice>
        <mc:Fallback>
          <p:sp>
            <p:nvSpPr>
              <p:cNvPr id="11" name="TextBox 10"/>
              <p:cNvSpPr txBox="1"/>
              <p:nvPr/>
            </p:nvSpPr>
            <p:spPr>
              <a:xfrm>
                <a:off x="713232" y="3742944"/>
                <a:ext cx="10735056" cy="678179"/>
              </a:xfrm>
              <a:prstGeom prst="rect">
                <a:avLst/>
              </a:prstGeom>
              <a:noFill/>
            </p:spPr>
            <p:txBody>
              <a:bodyPr wrap="square" anchor="ctr" lIns="45720" rIns="45720">
                <a:spAutoFit/>
              </a:bodyPr>
              <a:lstStyle/>
              <a:p>
                <a:pPr algn="l">
                  <a:spcAft>
                    <a:spcPts val="800"/>
                  </a:spcAft>
                </a:pPr>
                <a:r>
                  <a:rPr sz="2200">
                    <a:solidFill>
                      <a:srgbClr val="1E293B"/>
                    </a:solidFill>
                    <a:latin typeface="Calibri"/>
                  </a:rPr>
                  <a:t>c) </a:t>
                </a:r>
                <a:r>
                  <a:rPr lang="vi-VN"/>
                  <a:t>\overrightarrow{OA}</a:t>
                </a:r>
                <a:r>
                  <a:rPr lang="vi-VN"/>
                  <a:t>\cdot</a:t>
                </a:r>
                <a:r>
                  <a:rPr lang="vi-VN"/>
                  <a:t>\overrightarrow{OB}</a:t>
                </a:r>
                <a:r>
                  <a:rPr sz="2200">
                    <a:solidFill>
                      <a:srgbClr val="1E293B"/>
                    </a:solidFill>
                    <a:latin typeface="Calibri"/>
                  </a:rPr>
                  <a:t> = </a:t>
                </a:r>
                <a:r>
                  <a:rPr lang="vi-VN"/>
                  <a:t>\frac{OA^2+OB^2-AB^2}{2}=xx'+yy'</a:t>
                </a:r>
                <a:r>
                  <a:rPr sz="2200">
                    <a:solidFill>
                      <a:srgbClr val="1E293B"/>
                    </a:solidFill>
                    <a:latin typeface="Calibri"/>
                  </a:rPr>
                  <a:t>.</a:t>
                </a:r>
              </a:p>
            </p:txBody>
          </p:sp>
        </mc:Fallback>
      </mc:AlternateContent>
      <p:sp>
        <p:nvSpPr>
          <p:cNvPr id="12" name="s3_nen"/>
          <p:cNvSpPr/>
          <p:nvPr/>
        </p:nvSpPr>
        <p:spPr>
          <a:xfrm>
            <a:off x="548640" y="4567428"/>
            <a:ext cx="11064240" cy="935735"/>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4604004"/>
                <a:ext cx="10735056" cy="862583"/>
              </a:xfrm>
              <a:prstGeom prst="rect">
                <a:avLst/>
              </a:prstGeom>
              <a:noFill/>
            </p:spPr>
            <p:txBody>
              <a:bodyPr wrap="square" anchor="ctr" lIns="45720" rIns="45720">
                <a:spAutoFit/>
              </a:bodyPr>
              <a:lstStyle/>
              <a:p>
                <a:pPr algn="l">
                  <a:spcAft>
                    <a:spcPts val="800"/>
                  </a:spcAft>
                </a:pPr>
                <a:r>
                  <a:rPr sz="2400">
                    <a:solidFill>
                      <a:srgbClr val="1E293B"/>
                    </a:solidFill>
                    <a:latin typeface="Calibri"/>
                  </a:rPr>
                  <a:t>Tích vô hướng của hai vectơ </a:t>
                </a:r>
                <a14:m>
                  <m:oMath xmlns:m="http://schemas.openxmlformats.org/officeDocument/2006/math">
                    <m:acc>
                      <m:accPr>
                        <m:chr m:val="⃗"/>
                      </m:accPr>
                      <m:e>
                        <m:r>
                          <a:rPr lang="vi-VN" sz="2400" b="0">
                            <a:solidFill>
                              <a:srgbClr val="1E293B"/>
                            </a:solidFill>
                            <a:latin typeface="Cambria Math" panose="02040503050406030204" pitchFamily="18" charset="0"/>
                          </a:rPr>
                          <m:t>u</m:t>
                        </m:r>
                      </m:e>
                    </m:acc>
                    <m:r>
                      <a:rPr lang="vi-VN" sz="2400" b="0">
                        <a:solidFill>
                          <a:srgbClr val="1E293B"/>
                        </a:solidFill>
                        <a:latin typeface="Cambria Math" panose="02040503050406030204" pitchFamily="18" charset="0"/>
                      </a:rPr>
                      <m:t>=(x;</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y)</m:t>
                    </m:r>
                  </m:oMath>
                </a14:m>
                <a:r>
                  <a:rPr sz="2400">
                    <a:solidFill>
                      <a:srgbClr val="1E293B"/>
                    </a:solidFill>
                    <a:latin typeface="Calibri"/>
                  </a:rPr>
                  <a:t> và </a:t>
                </a:r>
                <a14:m>
                  <m:oMath xmlns:m="http://schemas.openxmlformats.org/officeDocument/2006/math">
                    <m:acc>
                      <m:accPr>
                        <m:chr m:val="⃗"/>
                      </m:accPr>
                      <m:e>
                        <m:r>
                          <a:rPr lang="vi-VN" sz="2400" b="0">
                            <a:solidFill>
                              <a:srgbClr val="1E293B"/>
                            </a:solidFill>
                            <a:latin typeface="Cambria Math" panose="02040503050406030204" pitchFamily="18" charset="0"/>
                          </a:rPr>
                          <m:t>v</m:t>
                        </m:r>
                      </m:e>
                    </m:acc>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sSup>
                      <m:e>
                        <m:r>
                          <a:rPr lang="vi-VN" sz="2400" b="0">
                            <a:solidFill>
                              <a:srgbClr val="1E293B"/>
                            </a:solidFill>
                            <a:latin typeface="Cambria Math" panose="02040503050406030204" pitchFamily="18" charset="0"/>
                          </a:rPr>
                          <m:t>y</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m:t>
                    </m:r>
                  </m:oMath>
                </a14:m>
                <a:r>
                  <a:rPr sz="2400">
                    <a:solidFill>
                      <a:srgbClr val="1E293B"/>
                    </a:solidFill>
                    <a:latin typeface="Calibri"/>
                  </a:rPr>
                  <a:t> được tính theo công thức: </a:t>
                </a:r>
                <a14:m>
                  <m:oMath xmlns:m="http://schemas.openxmlformats.org/officeDocument/2006/math">
                    <m:acc>
                      <m:accPr>
                        <m:chr m:val="⃗"/>
                      </m:accPr>
                      <m:e>
                        <m:r>
                          <a:rPr lang="vi-VN" sz="2400" b="0">
                            <a:solidFill>
                              <a:srgbClr val="1E293B"/>
                            </a:solidFill>
                            <a:latin typeface="Cambria Math" panose="02040503050406030204" pitchFamily="18" charset="0"/>
                          </a:rPr>
                          <m:t>u</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v</m:t>
                        </m:r>
                      </m:e>
                    </m:acc>
                    <m:r>
                      <a:rPr lang="vi-VN" sz="2400" b="0">
                        <a:solidFill>
                          <a:srgbClr val="1E293B"/>
                        </a:solidFill>
                        <a:latin typeface="Cambria Math" panose="02040503050406030204" pitchFamily="18" charset="0"/>
                      </a:rPr>
                      <m:t>=x</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+y</m:t>
                    </m:r>
                    <m:sSup>
                      <m:e>
                        <m:r>
                          <a:rPr lang="vi-VN" sz="2400" b="0">
                            <a:solidFill>
                              <a:srgbClr val="1E293B"/>
                            </a:solidFill>
                            <a:latin typeface="Cambria Math" panose="02040503050406030204" pitchFamily="18" charset="0"/>
                          </a:rPr>
                          <m:t>y</m:t>
                        </m:r>
                      </m:e>
                      <m:sup>
                        <m:r>
                          <a:rPr lang="vi-VN" sz="2400" b="0">
                            <a:solidFill>
                              <a:srgbClr val="1E293B"/>
                            </a:solidFill>
                            <a:latin typeface="Cambria Math" panose="02040503050406030204" pitchFamily="18" charset="0"/>
                          </a:rPr>
                          <m:t>′</m:t>
                        </m:r>
                      </m:sup>
                    </m:sSup>
                  </m:oMath>
                </a14:m>
                <a:r>
                  <a:rPr sz="2400">
                    <a:solidFill>
                      <a:srgbClr val="1E293B"/>
                    </a:solidFill>
                    <a:latin typeface="Calibri"/>
                  </a:rPr>
                  <a:t>.</a:t>
                </a:r>
              </a:p>
            </p:txBody>
          </p:sp>
        </mc:Choice>
        <mc:Fallback>
          <p:sp>
            <p:nvSpPr>
              <p:cNvPr id="13" name="TextBox 12"/>
              <p:cNvSpPr txBox="1"/>
              <p:nvPr/>
            </p:nvSpPr>
            <p:spPr>
              <a:xfrm>
                <a:off x="713232" y="4604004"/>
                <a:ext cx="10735056" cy="862583"/>
              </a:xfrm>
              <a:prstGeom prst="rect">
                <a:avLst/>
              </a:prstGeom>
              <a:noFill/>
            </p:spPr>
            <p:txBody>
              <a:bodyPr wrap="square" anchor="ctr" lIns="45720" rIns="45720">
                <a:spAutoFit/>
              </a:bodyPr>
              <a:lstStyle/>
              <a:p>
                <a:pPr algn="l">
                  <a:spcAft>
                    <a:spcPts val="800"/>
                  </a:spcAft>
                </a:pPr>
                <a:r>
                  <a:rPr sz="2400">
                    <a:solidFill>
                      <a:srgbClr val="1E293B"/>
                    </a:solidFill>
                    <a:latin typeface="Calibri"/>
                  </a:rPr>
                  <a:t>Tích vô hướng của hai vectơ </a:t>
                </a:r>
                <a:r>
                  <a:rPr lang="vi-VN"/>
                  <a:t>\vec{u}=(x;\ y)</a:t>
                </a:r>
                <a:r>
                  <a:rPr sz="2400">
                    <a:solidFill>
                      <a:srgbClr val="1E293B"/>
                    </a:solidFill>
                    <a:latin typeface="Calibri"/>
                  </a:rPr>
                  <a:t> và </a:t>
                </a:r>
                <a:r>
                  <a:rPr lang="vi-VN"/>
                  <a:t>\vec{v}=(x';\ y')</a:t>
                </a:r>
                <a:r>
                  <a:rPr sz="2400">
                    <a:solidFill>
                      <a:srgbClr val="1E293B"/>
                    </a:solidFill>
                    <a:latin typeface="Calibri"/>
                  </a:rPr>
                  <a:t> được tính theo công thức: </a:t>
                </a:r>
                <a:r>
                  <a:rPr lang="vi-VN"/>
                  <a:t>\vec{u}\cdot\vec{v}=xx'+yy'</a:t>
                </a:r>
                <a:r>
                  <a:rPr sz="24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NHẬN XÉT (SGK TR.68)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20</a:t>
            </a:r>
          </a:p>
        </p:txBody>
      </p:sp>
      <p:sp>
        <p:nvSpPr>
          <p:cNvPr id="7" name="Rounded Rectangle 6"/>
          <p:cNvSpPr/>
          <p:nvPr/>
        </p:nvSpPr>
        <p:spPr>
          <a:xfrm>
            <a:off x="548640" y="1645920"/>
            <a:ext cx="11064240" cy="280416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682496"/>
                <a:ext cx="10735056" cy="2731008"/>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600">
                    <a:solidFill>
                      <a:srgbClr val="1E293B"/>
                    </a:solidFill>
                    <a:latin typeface="Calibri"/>
                  </a:rPr>
                  <a:t>Hai vectơ </a:t>
                </a:r>
                <a14:m>
                  <m:oMath xmlns:m="http://schemas.openxmlformats.org/officeDocument/2006/math">
                    <m:acc>
                      <m:accPr>
                        <m:chr m:val="⃗"/>
                      </m:accPr>
                      <m:e>
                        <m:r>
                          <a:rPr lang="vi-VN" sz="2600" b="0">
                            <a:solidFill>
                              <a:srgbClr val="1E293B"/>
                            </a:solidFill>
                            <a:latin typeface="Cambria Math" panose="02040503050406030204" pitchFamily="18" charset="0"/>
                          </a:rPr>
                          <m:t>u</m:t>
                        </m:r>
                      </m:e>
                    </m:acc>
                  </m:oMath>
                </a14:m>
                <a:r>
                  <a:rPr sz="2600">
                    <a:solidFill>
                      <a:srgbClr val="1E293B"/>
                    </a:solidFill>
                    <a:latin typeface="Calibri"/>
                  </a:rPr>
                  <a:t> và </a:t>
                </a:r>
                <a14:m>
                  <m:oMath xmlns:m="http://schemas.openxmlformats.org/officeDocument/2006/math">
                    <m:acc>
                      <m:accPr>
                        <m:chr m:val="⃗"/>
                      </m:accPr>
                      <m:e>
                        <m:r>
                          <a:rPr lang="vi-VN" sz="2600" b="0">
                            <a:solidFill>
                              <a:srgbClr val="1E293B"/>
                            </a:solidFill>
                            <a:latin typeface="Cambria Math" panose="02040503050406030204" pitchFamily="18" charset="0"/>
                          </a:rPr>
                          <m:t>v</m:t>
                        </m:r>
                      </m:e>
                    </m:acc>
                  </m:oMath>
                </a14:m>
                <a:r>
                  <a:rPr sz="2600">
                    <a:solidFill>
                      <a:srgbClr val="1E293B"/>
                    </a:solidFill>
                    <a:latin typeface="Calibri"/>
                  </a:rPr>
                  <a:t> vuông góc với nhau khi và chỉ khi </a:t>
                </a:r>
                <a14:m>
                  <m:oMath xmlns:m="http://schemas.openxmlformats.org/officeDocument/2006/math">
                    <m:r>
                      <a:rPr lang="vi-VN" sz="2600" b="0">
                        <a:solidFill>
                          <a:srgbClr val="1E293B"/>
                        </a:solidFill>
                        <a:latin typeface="Cambria Math" panose="02040503050406030204" pitchFamily="18" charset="0"/>
                      </a:rPr>
                      <m:t>x</m:t>
                    </m:r>
                    <m:sSup>
                      <m:e>
                        <m:r>
                          <a:rPr lang="vi-VN" sz="2600" b="0">
                            <a:solidFill>
                              <a:srgbClr val="1E293B"/>
                            </a:solidFill>
                            <a:latin typeface="Cambria Math" panose="02040503050406030204" pitchFamily="18" charset="0"/>
                          </a:rPr>
                          <m:t>x</m:t>
                        </m:r>
                      </m:e>
                      <m:sup>
                        <m:r>
                          <a:rPr lang="vi-VN" sz="2600" b="0">
                            <a:solidFill>
                              <a:srgbClr val="1E293B"/>
                            </a:solidFill>
                            <a:latin typeface="Cambria Math" panose="02040503050406030204" pitchFamily="18" charset="0"/>
                          </a:rPr>
                          <m:t>′</m:t>
                        </m:r>
                      </m:sup>
                    </m:sSup>
                    <m:r>
                      <a:rPr lang="vi-VN" sz="2600" b="0">
                        <a:solidFill>
                          <a:srgbClr val="1E293B"/>
                        </a:solidFill>
                        <a:latin typeface="Cambria Math" panose="02040503050406030204" pitchFamily="18" charset="0"/>
                      </a:rPr>
                      <m:t>+y</m:t>
                    </m:r>
                    <m:sSup>
                      <m:e>
                        <m:r>
                          <a:rPr lang="vi-VN" sz="2600" b="0">
                            <a:solidFill>
                              <a:srgbClr val="1E293B"/>
                            </a:solidFill>
                            <a:latin typeface="Cambria Math" panose="02040503050406030204" pitchFamily="18" charset="0"/>
                          </a:rPr>
                          <m:t>y</m:t>
                        </m:r>
                      </m:e>
                      <m:sup>
                        <m:r>
                          <a:rPr lang="vi-VN" sz="2600" b="0">
                            <a:solidFill>
                              <a:srgbClr val="1E293B"/>
                            </a:solidFill>
                            <a:latin typeface="Cambria Math" panose="02040503050406030204" pitchFamily="18" charset="0"/>
                          </a:rPr>
                          <m:t>′</m:t>
                        </m:r>
                      </m:sup>
                    </m:sSup>
                    <m:r>
                      <a:rPr lang="vi-VN" sz="2600" b="0">
                        <a:solidFill>
                          <a:srgbClr val="1E293B"/>
                        </a:solidFill>
                        <a:latin typeface="Cambria Math" panose="02040503050406030204" pitchFamily="18" charset="0"/>
                      </a:rPr>
                      <m:t>=0</m:t>
                    </m:r>
                  </m:oMath>
                </a14:m>
                <a:r>
                  <a:rPr sz="2600">
                    <a:solidFill>
                      <a:srgbClr val="1E293B"/>
                    </a:solidFill>
                    <a:latin typeface="Calibri"/>
                  </a:rPr>
                  <a:t>.</a:t>
                </a:r>
              </a:p>
              <a:p>
                <a:pPr algn="l" marL="365760" indent="-365760">
                  <a:spcAft>
                    <a:spcPts val="800"/>
                  </a:spcAft>
                  <a:buClr>
                    <a:srgbClr val="1E40AF"/>
                  </a:buClr>
                  <a:buFont typeface="Arial"/>
                  <a:buChar char="•"/>
                </a:pPr>
                <a:r>
                  <a:rPr sz="2600">
                    <a:solidFill>
                      <a:srgbClr val="1E293B"/>
                    </a:solidFill>
                    <a:latin typeface="Calibri"/>
                  </a:rPr>
                  <a:t>Bình phương vô hướng của </a:t>
                </a:r>
                <a14:m>
                  <m:oMath xmlns:m="http://schemas.openxmlformats.org/officeDocument/2006/math">
                    <m:acc>
                      <m:accPr>
                        <m:chr m:val="⃗"/>
                      </m:accPr>
                      <m:e>
                        <m:r>
                          <a:rPr lang="vi-VN" sz="2600" b="0">
                            <a:solidFill>
                              <a:srgbClr val="1E293B"/>
                            </a:solidFill>
                            <a:latin typeface="Cambria Math" panose="02040503050406030204" pitchFamily="18" charset="0"/>
                          </a:rPr>
                          <m:t>u</m:t>
                        </m:r>
                      </m:e>
                    </m:acc>
                    <m:r>
                      <a:rPr lang="vi-VN" sz="2600" b="0">
                        <a:solidFill>
                          <a:srgbClr val="1E293B"/>
                        </a:solidFill>
                        <a:latin typeface="Cambria Math" panose="02040503050406030204" pitchFamily="18" charset="0"/>
                      </a:rPr>
                      <m:t>(x;</m:t>
                    </m:r>
                    <m:r>
                      <m:rPr>
                        <m:sty m:val="p"/>
                      </m:rPr>
                      <a:rPr lang="vi-VN" sz="2600" b="0">
                        <a:solidFill>
                          <a:srgbClr val="1E293B"/>
                        </a:solidFill>
                        <a:latin typeface="Cambria Math" panose="02040503050406030204" pitchFamily="18" charset="0"/>
                      </a:rPr>
                      <m:t> </m:t>
                    </m:r>
                    <m:r>
                      <a:rPr lang="vi-VN" sz="2600" b="0">
                        <a:solidFill>
                          <a:srgbClr val="1E293B"/>
                        </a:solidFill>
                        <a:latin typeface="Cambria Math" panose="02040503050406030204" pitchFamily="18" charset="0"/>
                      </a:rPr>
                      <m:t>y)</m:t>
                    </m:r>
                  </m:oMath>
                </a14:m>
                <a:r>
                  <a:rPr sz="2600">
                    <a:solidFill>
                      <a:srgbClr val="1E293B"/>
                    </a:solidFill>
                    <a:latin typeface="Calibri"/>
                  </a:rPr>
                  <a:t> là </a:t>
                </a:r>
                <a14:m>
                  <m:oMath xmlns:m="http://schemas.openxmlformats.org/officeDocument/2006/math">
                    <m:sSup>
                      <m:e>
                        <m:acc>
                          <m:accPr>
                            <m:chr m:val="⃗"/>
                          </m:accPr>
                          <m:e>
                            <m:r>
                              <a:rPr lang="vi-VN" sz="2600" b="0">
                                <a:solidFill>
                                  <a:srgbClr val="1E293B"/>
                                </a:solidFill>
                                <a:latin typeface="Cambria Math" panose="02040503050406030204" pitchFamily="18" charset="0"/>
                              </a:rPr>
                              <m:t>u</m:t>
                            </m:r>
                          </m:e>
                        </m:acc>
                      </m:e>
                      <m:sup>
                        <m:r>
                          <a:rPr lang="vi-VN" sz="2600" b="0">
                            <a:solidFill>
                              <a:srgbClr val="1E293B"/>
                            </a:solidFill>
                            <a:latin typeface="Cambria Math" panose="02040503050406030204" pitchFamily="18" charset="0"/>
                          </a:rPr>
                          <m:t>2</m:t>
                        </m:r>
                      </m:sup>
                    </m:sSup>
                    <m:r>
                      <a:rPr lang="vi-VN" sz="2600" b="0">
                        <a:solidFill>
                          <a:srgbClr val="1E293B"/>
                        </a:solidFill>
                        <a:latin typeface="Cambria Math" panose="02040503050406030204" pitchFamily="18" charset="0"/>
                      </a:rPr>
                      <m:t>=</m:t>
                    </m:r>
                    <m:sSup>
                      <m:e>
                        <m:r>
                          <a:rPr lang="vi-VN" sz="2600" b="0">
                            <a:solidFill>
                              <a:srgbClr val="1E293B"/>
                            </a:solidFill>
                            <a:latin typeface="Cambria Math" panose="02040503050406030204" pitchFamily="18" charset="0"/>
                          </a:rPr>
                          <m:t>x</m:t>
                        </m:r>
                      </m:e>
                      <m:sup>
                        <m:r>
                          <a:rPr lang="vi-VN" sz="2600" b="0">
                            <a:solidFill>
                              <a:srgbClr val="1E293B"/>
                            </a:solidFill>
                            <a:latin typeface="Cambria Math" panose="02040503050406030204" pitchFamily="18" charset="0"/>
                          </a:rPr>
                          <m:t>2</m:t>
                        </m:r>
                      </m:sup>
                    </m:sSup>
                    <m:r>
                      <a:rPr lang="vi-VN" sz="2600" b="0">
                        <a:solidFill>
                          <a:srgbClr val="1E293B"/>
                        </a:solidFill>
                        <a:latin typeface="Cambria Math" panose="02040503050406030204" pitchFamily="18" charset="0"/>
                      </a:rPr>
                      <m:t>+</m:t>
                    </m:r>
                    <m:sSup>
                      <m:e>
                        <m:r>
                          <a:rPr lang="vi-VN" sz="2600" b="0">
                            <a:solidFill>
                              <a:srgbClr val="1E293B"/>
                            </a:solidFill>
                            <a:latin typeface="Cambria Math" panose="02040503050406030204" pitchFamily="18" charset="0"/>
                          </a:rPr>
                          <m:t>y</m:t>
                        </m:r>
                      </m:e>
                      <m:sup>
                        <m:r>
                          <a:rPr lang="vi-VN" sz="2600" b="0">
                            <a:solidFill>
                              <a:srgbClr val="1E293B"/>
                            </a:solidFill>
                            <a:latin typeface="Cambria Math" panose="02040503050406030204" pitchFamily="18" charset="0"/>
                          </a:rPr>
                          <m:t>2</m:t>
                        </m:r>
                      </m:sup>
                    </m:sSup>
                  </m:oMath>
                </a14:m>
                <a:r>
                  <a:rPr sz="2600">
                    <a:solidFill>
                      <a:srgbClr val="1E293B"/>
                    </a:solidFill>
                    <a:latin typeface="Calibri"/>
                  </a:rPr>
                  <a:t>.</a:t>
                </a:r>
              </a:p>
              <a:p>
                <a:pPr algn="l" marL="365760" indent="-365760">
                  <a:spcAft>
                    <a:spcPts val="800"/>
                  </a:spcAft>
                  <a:buClr>
                    <a:srgbClr val="1E40AF"/>
                  </a:buClr>
                  <a:buFont typeface="Arial"/>
                  <a:buChar char="•"/>
                </a:pPr>
                <a:r>
                  <a:rPr sz="2600">
                    <a:solidFill>
                      <a:srgbClr val="1E293B"/>
                    </a:solidFill>
                    <a:latin typeface="Calibri"/>
                  </a:rPr>
                  <a:t>Nếu </a:t>
                </a:r>
                <a14:m>
                  <m:oMath xmlns:m="http://schemas.openxmlformats.org/officeDocument/2006/math">
                    <m:acc>
                      <m:accPr>
                        <m:chr m:val="⃗"/>
                      </m:accPr>
                      <m:e>
                        <m:r>
                          <a:rPr lang="vi-VN" sz="2600" b="0">
                            <a:solidFill>
                              <a:srgbClr val="1E293B"/>
                            </a:solidFill>
                            <a:latin typeface="Cambria Math" panose="02040503050406030204" pitchFamily="18" charset="0"/>
                          </a:rPr>
                          <m:t>u</m:t>
                        </m:r>
                      </m:e>
                    </m:acc>
                    <m:r>
                      <a:rPr lang="vi-VN" sz="2600" b="0">
                        <a:solidFill>
                          <a:srgbClr val="1E293B"/>
                        </a:solidFill>
                        <a:latin typeface="Cambria Math" panose="02040503050406030204" pitchFamily="18" charset="0"/>
                      </a:rPr>
                      <m:t>≠</m:t>
                    </m:r>
                    <m:acc>
                      <m:accPr>
                        <m:chr m:val="⃗"/>
                      </m:accPr>
                      <m:e>
                        <m:r>
                          <a:rPr lang="vi-VN" sz="2600" b="0">
                            <a:solidFill>
                              <a:srgbClr val="1E293B"/>
                            </a:solidFill>
                            <a:latin typeface="Cambria Math" panose="02040503050406030204" pitchFamily="18" charset="0"/>
                          </a:rPr>
                          <m:t>0</m:t>
                        </m:r>
                      </m:e>
                    </m:acc>
                  </m:oMath>
                </a14:m>
                <a:r>
                  <a:rPr sz="2600">
                    <a:solidFill>
                      <a:srgbClr val="1E293B"/>
                    </a:solidFill>
                    <a:latin typeface="Calibri"/>
                  </a:rPr>
                  <a:t> và </a:t>
                </a:r>
                <a14:m>
                  <m:oMath xmlns:m="http://schemas.openxmlformats.org/officeDocument/2006/math">
                    <m:acc>
                      <m:accPr>
                        <m:chr m:val="⃗"/>
                      </m:accPr>
                      <m:e>
                        <m:r>
                          <a:rPr lang="vi-VN" sz="2600" b="0">
                            <a:solidFill>
                              <a:srgbClr val="1E293B"/>
                            </a:solidFill>
                            <a:latin typeface="Cambria Math" panose="02040503050406030204" pitchFamily="18" charset="0"/>
                          </a:rPr>
                          <m:t>v</m:t>
                        </m:r>
                      </m:e>
                    </m:acc>
                    <m:r>
                      <a:rPr lang="vi-VN" sz="2600" b="0">
                        <a:solidFill>
                          <a:srgbClr val="1E293B"/>
                        </a:solidFill>
                        <a:latin typeface="Cambria Math" panose="02040503050406030204" pitchFamily="18" charset="0"/>
                      </a:rPr>
                      <m:t>≠</m:t>
                    </m:r>
                    <m:acc>
                      <m:accPr>
                        <m:chr m:val="⃗"/>
                      </m:accPr>
                      <m:e>
                        <m:r>
                          <a:rPr lang="vi-VN" sz="2600" b="0">
                            <a:solidFill>
                              <a:srgbClr val="1E293B"/>
                            </a:solidFill>
                            <a:latin typeface="Cambria Math" panose="02040503050406030204" pitchFamily="18" charset="0"/>
                          </a:rPr>
                          <m:t>0</m:t>
                        </m:r>
                      </m:e>
                    </m:acc>
                  </m:oMath>
                </a14:m>
                <a:r>
                  <a:rPr sz="2600">
                    <a:solidFill>
                      <a:srgbClr val="1E293B"/>
                    </a:solidFill>
                    <a:latin typeface="Calibri"/>
                  </a:rPr>
                  <a:t> thì </a:t>
                </a:r>
                <a14:m>
                  <m:oMath xmlns:m="http://schemas.openxmlformats.org/officeDocument/2006/math">
                    <m:r>
                      <m:rPr>
                        <m:sty m:val="p"/>
                      </m:rPr>
                      <a:rPr lang="vi-VN" sz="2600" b="0">
                        <a:solidFill>
                          <a:srgbClr val="1E293B"/>
                        </a:solidFill>
                        <a:latin typeface="Cambria Math" panose="02040503050406030204" pitchFamily="18" charset="0"/>
                      </a:rPr>
                      <m:t>cos</m:t>
                    </m:r>
                    <m:r>
                      <a:rPr lang="vi-VN" sz="2600" b="0">
                        <a:solidFill>
                          <a:srgbClr val="1E293B"/>
                        </a:solidFill>
                        <a:latin typeface="Cambria Math" panose="02040503050406030204" pitchFamily="18" charset="0"/>
                      </a:rPr>
                      <m:t>(</m:t>
                    </m:r>
                    <m:acc>
                      <m:accPr>
                        <m:chr m:val="⃗"/>
                      </m:accPr>
                      <m:e>
                        <m:r>
                          <a:rPr lang="vi-VN" sz="2600" b="0">
                            <a:solidFill>
                              <a:srgbClr val="1E293B"/>
                            </a:solidFill>
                            <a:latin typeface="Cambria Math" panose="02040503050406030204" pitchFamily="18" charset="0"/>
                          </a:rPr>
                          <m:t>u</m:t>
                        </m:r>
                      </m:e>
                    </m:acc>
                    <m:r>
                      <a:rPr lang="vi-VN" sz="2600" b="0">
                        <a:solidFill>
                          <a:srgbClr val="1E293B"/>
                        </a:solidFill>
                        <a:latin typeface="Cambria Math" panose="02040503050406030204" pitchFamily="18" charset="0"/>
                      </a:rPr>
                      <m:t>,</m:t>
                    </m:r>
                    <m:r>
                      <m:rPr>
                        <m:sty m:val="p"/>
                      </m:rPr>
                      <a:rPr lang="vi-VN" sz="2600" b="0">
                        <a:solidFill>
                          <a:srgbClr val="1E293B"/>
                        </a:solidFill>
                        <a:latin typeface="Cambria Math" panose="02040503050406030204" pitchFamily="18" charset="0"/>
                      </a:rPr>
                      <m:t> </m:t>
                    </m:r>
                    <m:acc>
                      <m:accPr>
                        <m:chr m:val="⃗"/>
                      </m:accPr>
                      <m:e>
                        <m:r>
                          <a:rPr lang="vi-VN" sz="2600" b="0">
                            <a:solidFill>
                              <a:srgbClr val="1E293B"/>
                            </a:solidFill>
                            <a:latin typeface="Cambria Math" panose="02040503050406030204" pitchFamily="18" charset="0"/>
                          </a:rPr>
                          <m:t>v</m:t>
                        </m:r>
                      </m:e>
                    </m:acc>
                    <m:r>
                      <a:rPr lang="vi-VN" sz="2600" b="0">
                        <a:solidFill>
                          <a:srgbClr val="1E293B"/>
                        </a:solidFill>
                        <a:latin typeface="Cambria Math" panose="02040503050406030204" pitchFamily="18" charset="0"/>
                      </a:rPr>
                      <m:t>)=</m:t>
                    </m:r>
                    <m:f>
                      <m:fPr>
                        <m:type m:val="bar"/>
                      </m:fPr>
                      <m:num>
                        <m:acc>
                          <m:accPr>
                            <m:chr m:val="⃗"/>
                          </m:accPr>
                          <m:e>
                            <m:r>
                              <a:rPr lang="vi-VN" sz="2600" b="0">
                                <a:solidFill>
                                  <a:srgbClr val="1E293B"/>
                                </a:solidFill>
                                <a:latin typeface="Cambria Math" panose="02040503050406030204" pitchFamily="18" charset="0"/>
                              </a:rPr>
                              <m:t>u</m:t>
                            </m:r>
                          </m:e>
                        </m:acc>
                        <m:r>
                          <a:rPr lang="vi-VN" sz="2600" b="0">
                            <a:solidFill>
                              <a:srgbClr val="1E293B"/>
                            </a:solidFill>
                            <a:latin typeface="Cambria Math" panose="02040503050406030204" pitchFamily="18" charset="0"/>
                          </a:rPr>
                          <m:t>·</m:t>
                        </m:r>
                        <m:acc>
                          <m:accPr>
                            <m:chr m:val="⃗"/>
                          </m:accPr>
                          <m:e>
                            <m:r>
                              <a:rPr lang="vi-VN" sz="2600" b="0">
                                <a:solidFill>
                                  <a:srgbClr val="1E293B"/>
                                </a:solidFill>
                                <a:latin typeface="Cambria Math" panose="02040503050406030204" pitchFamily="18" charset="0"/>
                              </a:rPr>
                              <m:t>v</m:t>
                            </m:r>
                          </m:e>
                        </m:acc>
                      </m:num>
                      <m:den>
                        <m:d>
                          <m:dPr>
                            <m:begChr m:val="|"/>
                            <m:sepChr m:val=""/>
                            <m:endChr m:val="|"/>
                          </m:dPr>
                          <m:e>
                            <m:acc>
                              <m:accPr>
                                <m:chr m:val="⃗"/>
                              </m:accPr>
                              <m:e>
                                <m:r>
                                  <a:rPr lang="vi-VN" sz="2600" b="0">
                                    <a:solidFill>
                                      <a:srgbClr val="1E293B"/>
                                    </a:solidFill>
                                    <a:latin typeface="Cambria Math" panose="02040503050406030204" pitchFamily="18" charset="0"/>
                                  </a:rPr>
                                  <m:t>u</m:t>
                                </m:r>
                              </m:e>
                            </m:acc>
                            <m:r>
                              <a:rPr lang="vi-VN" sz="2600" b="0">
                                <a:solidFill>
                                  <a:srgbClr val="1E293B"/>
                                </a:solidFill>
                                <a:latin typeface="Cambria Math" panose="02040503050406030204" pitchFamily="18" charset="0"/>
                              </a:rPr>
                              <m:t>|</m:t>
                            </m:r>
                            <m:r>
                              <a:rPr lang="vi-VN" sz="2600" b="0">
                                <a:solidFill>
                                  <a:srgbClr val="1E293B"/>
                                </a:solidFill>
                                <a:latin typeface="Cambria Math" panose="02040503050406030204" pitchFamily="18" charset="0"/>
                              </a:rPr>
                              <m:t>·</m:t>
                            </m:r>
                            <m:r>
                              <a:rPr lang="vi-VN" sz="2600" b="0">
                                <a:solidFill>
                                  <a:srgbClr val="1E293B"/>
                                </a:solidFill>
                                <a:latin typeface="Cambria Math" panose="02040503050406030204" pitchFamily="18" charset="0"/>
                              </a:rPr>
                              <m:t>|</m:t>
                            </m:r>
                            <m:acc>
                              <m:accPr>
                                <m:chr m:val="⃗"/>
                              </m:accPr>
                              <m:e>
                                <m:r>
                                  <a:rPr lang="vi-VN" sz="2600" b="0">
                                    <a:solidFill>
                                      <a:srgbClr val="1E293B"/>
                                    </a:solidFill>
                                    <a:latin typeface="Cambria Math" panose="02040503050406030204" pitchFamily="18" charset="0"/>
                                  </a:rPr>
                                  <m:t>v</m:t>
                                </m:r>
                              </m:e>
                            </m:acc>
                          </m:e>
                        </m:d>
                      </m:den>
                    </m:f>
                    <m:r>
                      <a:rPr lang="vi-VN" sz="2600" b="0">
                        <a:solidFill>
                          <a:srgbClr val="1E293B"/>
                        </a:solidFill>
                        <a:latin typeface="Cambria Math" panose="02040503050406030204" pitchFamily="18" charset="0"/>
                      </a:rPr>
                      <m:t>=</m:t>
                    </m:r>
                    <m:f>
                      <m:fPr>
                        <m:type m:val="bar"/>
                      </m:fPr>
                      <m:num>
                        <m:r>
                          <a:rPr lang="vi-VN" sz="2600" b="0">
                            <a:solidFill>
                              <a:srgbClr val="1E293B"/>
                            </a:solidFill>
                            <a:latin typeface="Cambria Math" panose="02040503050406030204" pitchFamily="18" charset="0"/>
                          </a:rPr>
                          <m:t>x</m:t>
                        </m:r>
                        <m:sSup>
                          <m:e>
                            <m:r>
                              <a:rPr lang="vi-VN" sz="2600" b="0">
                                <a:solidFill>
                                  <a:srgbClr val="1E293B"/>
                                </a:solidFill>
                                <a:latin typeface="Cambria Math" panose="02040503050406030204" pitchFamily="18" charset="0"/>
                              </a:rPr>
                              <m:t>x</m:t>
                            </m:r>
                          </m:e>
                          <m:sup>
                            <m:r>
                              <a:rPr lang="vi-VN" sz="2600" b="0">
                                <a:solidFill>
                                  <a:srgbClr val="1E293B"/>
                                </a:solidFill>
                                <a:latin typeface="Cambria Math" panose="02040503050406030204" pitchFamily="18" charset="0"/>
                              </a:rPr>
                              <m:t>′</m:t>
                            </m:r>
                          </m:sup>
                        </m:sSup>
                        <m:r>
                          <a:rPr lang="vi-VN" sz="2600" b="0">
                            <a:solidFill>
                              <a:srgbClr val="1E293B"/>
                            </a:solidFill>
                            <a:latin typeface="Cambria Math" panose="02040503050406030204" pitchFamily="18" charset="0"/>
                          </a:rPr>
                          <m:t>+y</m:t>
                        </m:r>
                        <m:sSup>
                          <m:e>
                            <m:r>
                              <a:rPr lang="vi-VN" sz="2600" b="0">
                                <a:solidFill>
                                  <a:srgbClr val="1E293B"/>
                                </a:solidFill>
                                <a:latin typeface="Cambria Math" panose="02040503050406030204" pitchFamily="18" charset="0"/>
                              </a:rPr>
                              <m:t>y</m:t>
                            </m:r>
                          </m:e>
                          <m:sup>
                            <m:r>
                              <a:rPr lang="vi-VN" sz="2600" b="0">
                                <a:solidFill>
                                  <a:srgbClr val="1E293B"/>
                                </a:solidFill>
                                <a:latin typeface="Cambria Math" panose="02040503050406030204" pitchFamily="18" charset="0"/>
                              </a:rPr>
                              <m:t>′</m:t>
                            </m:r>
                          </m:sup>
                        </m:sSup>
                      </m:num>
                      <m:den>
                        <m:rad>
                          <m:radPr>
                            <m:degHide m:val="on"/>
                          </m:radPr>
                          <m:deg/>
                          <m:e>
                            <m:sSup>
                              <m:e>
                                <m:r>
                                  <a:rPr lang="vi-VN" sz="2600" b="0">
                                    <a:solidFill>
                                      <a:srgbClr val="1E293B"/>
                                    </a:solidFill>
                                    <a:latin typeface="Cambria Math" panose="02040503050406030204" pitchFamily="18" charset="0"/>
                                  </a:rPr>
                                  <m:t>x</m:t>
                                </m:r>
                              </m:e>
                              <m:sup>
                                <m:r>
                                  <a:rPr lang="vi-VN" sz="2600" b="0">
                                    <a:solidFill>
                                      <a:srgbClr val="1E293B"/>
                                    </a:solidFill>
                                    <a:latin typeface="Cambria Math" panose="02040503050406030204" pitchFamily="18" charset="0"/>
                                  </a:rPr>
                                  <m:t>2</m:t>
                                </m:r>
                              </m:sup>
                            </m:sSup>
                            <m:r>
                              <a:rPr lang="vi-VN" sz="2600" b="0">
                                <a:solidFill>
                                  <a:srgbClr val="1E293B"/>
                                </a:solidFill>
                                <a:latin typeface="Cambria Math" panose="02040503050406030204" pitchFamily="18" charset="0"/>
                              </a:rPr>
                              <m:t>+</m:t>
                            </m:r>
                            <m:sSup>
                              <m:e>
                                <m:r>
                                  <a:rPr lang="vi-VN" sz="2600" b="0">
                                    <a:solidFill>
                                      <a:srgbClr val="1E293B"/>
                                    </a:solidFill>
                                    <a:latin typeface="Cambria Math" panose="02040503050406030204" pitchFamily="18" charset="0"/>
                                  </a:rPr>
                                  <m:t>y</m:t>
                                </m:r>
                              </m:e>
                              <m:sup>
                                <m:r>
                                  <a:rPr lang="vi-VN" sz="2600" b="0">
                                    <a:solidFill>
                                      <a:srgbClr val="1E293B"/>
                                    </a:solidFill>
                                    <a:latin typeface="Cambria Math" panose="02040503050406030204" pitchFamily="18" charset="0"/>
                                  </a:rPr>
                                  <m:t>2</m:t>
                                </m:r>
                              </m:sup>
                            </m:sSup>
                          </m:e>
                        </m:rad>
                        <m:r>
                          <a:rPr lang="vi-VN" sz="2600" b="0">
                            <a:solidFill>
                              <a:srgbClr val="1E293B"/>
                            </a:solidFill>
                            <a:latin typeface="Cambria Math" panose="02040503050406030204" pitchFamily="18" charset="0"/>
                          </a:rPr>
                          <m:t>·</m:t>
                        </m:r>
                        <m:rad>
                          <m:radPr>
                            <m:degHide m:val="on"/>
                          </m:radPr>
                          <m:deg/>
                          <m:e>
                            <m:sSup>
                              <m:e>
                                <m:r>
                                  <a:rPr lang="vi-VN" sz="2600" b="0">
                                    <a:solidFill>
                                      <a:srgbClr val="1E293B"/>
                                    </a:solidFill>
                                    <a:latin typeface="Cambria Math" panose="02040503050406030204" pitchFamily="18" charset="0"/>
                                  </a:rPr>
                                  <m:t>x</m:t>
                                </m:r>
                              </m:e>
                              <m:sup>
                                <m:r>
                                  <a:rPr lang="vi-VN" sz="2600" b="0">
                                    <a:solidFill>
                                      <a:srgbClr val="1E293B"/>
                                    </a:solidFill>
                                    <a:latin typeface="Cambria Math" panose="02040503050406030204" pitchFamily="18" charset="0"/>
                                  </a:rPr>
                                  <m:t>′2</m:t>
                                </m:r>
                              </m:sup>
                            </m:sSup>
                            <m:r>
                              <a:rPr lang="vi-VN" sz="2600" b="0">
                                <a:solidFill>
                                  <a:srgbClr val="1E293B"/>
                                </a:solidFill>
                                <a:latin typeface="Cambria Math" panose="02040503050406030204" pitchFamily="18" charset="0"/>
                              </a:rPr>
                              <m:t>+</m:t>
                            </m:r>
                            <m:sSup>
                              <m:e>
                                <m:r>
                                  <a:rPr lang="vi-VN" sz="2600" b="0">
                                    <a:solidFill>
                                      <a:srgbClr val="1E293B"/>
                                    </a:solidFill>
                                    <a:latin typeface="Cambria Math" panose="02040503050406030204" pitchFamily="18" charset="0"/>
                                  </a:rPr>
                                  <m:t>y</m:t>
                                </m:r>
                              </m:e>
                              <m:sup>
                                <m:r>
                                  <a:rPr lang="vi-VN" sz="2600" b="0">
                                    <a:solidFill>
                                      <a:srgbClr val="1E293B"/>
                                    </a:solidFill>
                                    <a:latin typeface="Cambria Math" panose="02040503050406030204" pitchFamily="18" charset="0"/>
                                  </a:rPr>
                                  <m:t>′2</m:t>
                                </m:r>
                              </m:sup>
                            </m:sSup>
                          </m:e>
                        </m:rad>
                      </m:den>
                    </m:f>
                  </m:oMath>
                </a14:m>
                <a:r>
                  <a:rPr sz="2600">
                    <a:solidFill>
                      <a:srgbClr val="1E293B"/>
                    </a:solidFill>
                    <a:latin typeface="Calibri"/>
                  </a:rPr>
                  <a:t>.</a:t>
                </a:r>
              </a:p>
            </p:txBody>
          </p:sp>
        </mc:Choice>
        <mc:Fallback>
          <p:sp>
            <p:nvSpPr>
              <p:cNvPr id="8" name="TextBox 7"/>
              <p:cNvSpPr txBox="1"/>
              <p:nvPr/>
            </p:nvSpPr>
            <p:spPr>
              <a:xfrm>
                <a:off x="713232" y="1682496"/>
                <a:ext cx="10735056" cy="2731008"/>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600">
                    <a:solidFill>
                      <a:srgbClr val="1E293B"/>
                    </a:solidFill>
                    <a:latin typeface="Calibri"/>
                  </a:rPr>
                  <a:t>Hai vectơ </a:t>
                </a:r>
                <a:r>
                  <a:rPr lang="vi-VN"/>
                  <a:t>\vec{u}</a:t>
                </a:r>
                <a:r>
                  <a:rPr sz="2600">
                    <a:solidFill>
                      <a:srgbClr val="1E293B"/>
                    </a:solidFill>
                    <a:latin typeface="Calibri"/>
                  </a:rPr>
                  <a:t> và </a:t>
                </a:r>
                <a:r>
                  <a:rPr lang="vi-VN"/>
                  <a:t>\vec{v}</a:t>
                </a:r>
                <a:r>
                  <a:rPr sz="2600">
                    <a:solidFill>
                      <a:srgbClr val="1E293B"/>
                    </a:solidFill>
                    <a:latin typeface="Calibri"/>
                  </a:rPr>
                  <a:t> vuông góc với nhau khi và chỉ khi </a:t>
                </a:r>
                <a:r>
                  <a:rPr lang="vi-VN"/>
                  <a:t>xx'+yy'=0</a:t>
                </a:r>
                <a:r>
                  <a:rPr sz="2600">
                    <a:solidFill>
                      <a:srgbClr val="1E293B"/>
                    </a:solidFill>
                    <a:latin typeface="Calibri"/>
                  </a:rPr>
                  <a:t>.</a:t>
                </a:r>
              </a:p>
              <a:p>
                <a:pPr algn="l" marL="365760" indent="-365760">
                  <a:spcAft>
                    <a:spcPts val="800"/>
                  </a:spcAft>
                  <a:buClr>
                    <a:srgbClr val="1E40AF"/>
                  </a:buClr>
                  <a:buFont typeface="Arial"/>
                  <a:buChar char="•"/>
                </a:pPr>
                <a:r>
                  <a:rPr sz="2600">
                    <a:solidFill>
                      <a:srgbClr val="1E293B"/>
                    </a:solidFill>
                    <a:latin typeface="Calibri"/>
                  </a:rPr>
                  <a:t>Bình phương vô hướng của </a:t>
                </a:r>
                <a:r>
                  <a:rPr lang="vi-VN"/>
                  <a:t>\vec{u}(x;\ y)</a:t>
                </a:r>
                <a:r>
                  <a:rPr sz="2600">
                    <a:solidFill>
                      <a:srgbClr val="1E293B"/>
                    </a:solidFill>
                    <a:latin typeface="Calibri"/>
                  </a:rPr>
                  <a:t> là </a:t>
                </a:r>
                <a:r>
                  <a:rPr lang="vi-VN"/>
                  <a:t>\vec{u}^2=x^2+y^2</a:t>
                </a:r>
                <a:r>
                  <a:rPr sz="2600">
                    <a:solidFill>
                      <a:srgbClr val="1E293B"/>
                    </a:solidFill>
                    <a:latin typeface="Calibri"/>
                  </a:rPr>
                  <a:t>.</a:t>
                </a:r>
              </a:p>
              <a:p>
                <a:pPr algn="l" marL="365760" indent="-365760">
                  <a:spcAft>
                    <a:spcPts val="800"/>
                  </a:spcAft>
                  <a:buClr>
                    <a:srgbClr val="1E40AF"/>
                  </a:buClr>
                  <a:buFont typeface="Arial"/>
                  <a:buChar char="•"/>
                </a:pPr>
                <a:r>
                  <a:rPr sz="2600">
                    <a:solidFill>
                      <a:srgbClr val="1E293B"/>
                    </a:solidFill>
                    <a:latin typeface="Calibri"/>
                  </a:rPr>
                  <a:t>Nếu </a:t>
                </a:r>
                <a:r>
                  <a:rPr lang="vi-VN"/>
                  <a:t>\vec{u}\ne\vec{0}</a:t>
                </a:r>
                <a:r>
                  <a:rPr sz="2600">
                    <a:solidFill>
                      <a:srgbClr val="1E293B"/>
                    </a:solidFill>
                    <a:latin typeface="Calibri"/>
                  </a:rPr>
                  <a:t> và </a:t>
                </a:r>
                <a:r>
                  <a:rPr lang="vi-VN"/>
                  <a:t>\vec{v}\ne\vec{0}</a:t>
                </a:r>
                <a:r>
                  <a:rPr sz="2600">
                    <a:solidFill>
                      <a:srgbClr val="1E293B"/>
                    </a:solidFill>
                    <a:latin typeface="Calibri"/>
                  </a:rPr>
                  <a:t> thì </a:t>
                </a:r>
                <a:r>
                  <a:rPr lang="vi-VN"/>
                  <a:t>\cos(\vec{u},\ \vec{v})=\frac{\vec{u}\cdot\vec{v}}{|\vec{u}|\cdot|\vec{v}|}=\frac{xx'+yy'}{\sqrt{x^2+y^2}\cdot\sqrt{x'^2+y'^2}}</a:t>
                </a:r>
                <a:r>
                  <a:rPr sz="2600">
                    <a:solidFill>
                      <a:srgbClr val="1E293B"/>
                    </a:solidFill>
                    <a:latin typeface="Calibri"/>
                  </a:rPr>
                  <a:t>.</a:t>
                </a:r>
              </a:p>
            </p:txBody>
          </p:sp>
        </mc:Fallback>
      </mc:AlternateContent>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3 – LUYỆN TẬP 3 (SGK TR.68)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21</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844295"/>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Ví dụ 3.</a:t>
                </a:r>
                <a:r>
                  <a:rPr sz="2200">
                    <a:solidFill>
                      <a:srgbClr val="1E293B"/>
                    </a:solidFill>
                    <a:latin typeface="Calibri"/>
                  </a:rPr>
                  <a:t> Tính tích vô hướng của các cặp vectơ: a) </a:t>
                </a:r>
                <a14:m>
                  <m:oMath xmlns:m="http://schemas.openxmlformats.org/officeDocument/2006/math">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=(2;</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−3)</m:t>
                    </m:r>
                  </m:oMath>
                </a14:m>
                <a:r>
                  <a:rPr sz="2200">
                    <a:solidFill>
                      <a:srgbClr val="1E293B"/>
                    </a:solidFill>
                    <a:latin typeface="Calibri"/>
                  </a:rPr>
                  <a:t> và </a:t>
                </a:r>
                <a14:m>
                  <m:oMath xmlns:m="http://schemas.openxmlformats.org/officeDocument/2006/math">
                    <m:acc>
                      <m:accPr>
                        <m:chr m:val="⃗"/>
                      </m:accPr>
                      <m:e>
                        <m:r>
                          <a:rPr lang="vi-VN" sz="2200" b="0">
                            <a:solidFill>
                              <a:srgbClr val="1E293B"/>
                            </a:solidFill>
                            <a:latin typeface="Cambria Math" panose="02040503050406030204" pitchFamily="18" charset="0"/>
                          </a:rPr>
                          <m:t>v</m:t>
                        </m:r>
                      </m:e>
                    </m:acc>
                    <m:r>
                      <a:rPr lang="vi-VN" sz="2200" b="0">
                        <a:solidFill>
                          <a:srgbClr val="1E293B"/>
                        </a:solidFill>
                        <a:latin typeface="Cambria Math" panose="02040503050406030204" pitchFamily="18" charset="0"/>
                      </a:rPr>
                      <m:t>=(5;</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3)</m:t>
                    </m:r>
                  </m:oMath>
                </a14:m>
                <a:r>
                  <a:rPr sz="2200">
                    <a:solidFill>
                      <a:srgbClr val="1E293B"/>
                    </a:solidFill>
                    <a:latin typeface="Calibri"/>
                  </a:rPr>
                  <a:t>; b) Hai vectơ đơn vị </a:t>
                </a:r>
                <a14:m>
                  <m:oMath xmlns:m="http://schemas.openxmlformats.org/officeDocument/2006/math">
                    <m:acc>
                      <m:accPr>
                        <m:chr m:val="⃗"/>
                      </m:accPr>
                      <m:e>
                        <m:r>
                          <a:rPr lang="vi-VN" sz="2200" b="0">
                            <a:solidFill>
                              <a:srgbClr val="1E293B"/>
                            </a:solidFill>
                            <a:latin typeface="Cambria Math" panose="02040503050406030204" pitchFamily="18" charset="0"/>
                          </a:rPr>
                          <m:t>i</m:t>
                        </m:r>
                      </m:e>
                    </m:acc>
                  </m:oMath>
                </a14:m>
                <a:r>
                  <a:rPr sz="2200">
                    <a:solidFill>
                      <a:srgbClr val="1E293B"/>
                    </a:solidFill>
                    <a:latin typeface="Calibri"/>
                  </a:rPr>
                  <a:t> và </a:t>
                </a:r>
                <a14:m>
                  <m:oMath xmlns:m="http://schemas.openxmlformats.org/officeDocument/2006/math">
                    <m:acc>
                      <m:accPr>
                        <m:chr m:val="⃗"/>
                      </m:accPr>
                      <m:e>
                        <m:r>
                          <a:rPr lang="vi-VN" sz="2200" b="0">
                            <a:solidFill>
                              <a:srgbClr val="1E293B"/>
                            </a:solidFill>
                            <a:latin typeface="Cambria Math" panose="02040503050406030204" pitchFamily="18" charset="0"/>
                          </a:rPr>
                          <m:t>j</m:t>
                        </m:r>
                      </m:e>
                    </m:acc>
                  </m:oMath>
                </a14:m>
                <a:r>
                  <a:rPr sz="2200">
                    <a:solidFill>
                      <a:srgbClr val="1E293B"/>
                    </a:solidFill>
                    <a:latin typeface="Calibri"/>
                  </a:rPr>
                  <a:t> của các trục </a:t>
                </a:r>
                <a14:m>
                  <m:oMath xmlns:m="http://schemas.openxmlformats.org/officeDocument/2006/math">
                    <m:r>
                      <a:rPr lang="vi-VN" sz="2200" b="0">
                        <a:solidFill>
                          <a:srgbClr val="1E293B"/>
                        </a:solidFill>
                        <a:latin typeface="Cambria Math" panose="02040503050406030204" pitchFamily="18" charset="0"/>
                      </a:rPr>
                      <m:t>Ox,</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Oy</m:t>
                    </m:r>
                  </m:oMath>
                </a14:m>
                <a:r>
                  <a:rPr sz="2200">
                    <a:solidFill>
                      <a:srgbClr val="1E293B"/>
                    </a:solidFill>
                    <a:latin typeface="Calibri"/>
                  </a:rPr>
                  <a:t>.</a:t>
                </a:r>
              </a:p>
            </p:txBody>
          </p:sp>
        </mc:Choice>
        <mc:Fallback>
          <p:sp>
            <p:nvSpPr>
              <p:cNvPr id="7" name="TextBox 6"/>
              <p:cNvSpPr txBox="1"/>
              <p:nvPr/>
            </p:nvSpPr>
            <p:spPr>
              <a:xfrm>
                <a:off x="548640" y="1371600"/>
                <a:ext cx="11064240" cy="844295"/>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Ví dụ 3.</a:t>
                </a:r>
                <a:r>
                  <a:rPr sz="2200">
                    <a:solidFill>
                      <a:srgbClr val="1E293B"/>
                    </a:solidFill>
                    <a:latin typeface="Calibri"/>
                  </a:rPr>
                  <a:t> Tính tích vô hướng của các cặp vectơ: a) </a:t>
                </a:r>
                <a:r>
                  <a:rPr lang="vi-VN"/>
                  <a:t>\vec{u}=(2;\ -3)</a:t>
                </a:r>
                <a:r>
                  <a:rPr sz="2200">
                    <a:solidFill>
                      <a:srgbClr val="1E293B"/>
                    </a:solidFill>
                    <a:latin typeface="Calibri"/>
                  </a:rPr>
                  <a:t> và </a:t>
                </a:r>
                <a:r>
                  <a:rPr lang="vi-VN"/>
                  <a:t>\vec{v}=(5;\ 3)</a:t>
                </a:r>
                <a:r>
                  <a:rPr sz="2200">
                    <a:solidFill>
                      <a:srgbClr val="1E293B"/>
                    </a:solidFill>
                    <a:latin typeface="Calibri"/>
                  </a:rPr>
                  <a:t>; b) Hai vectơ đơn vị </a:t>
                </a:r>
                <a:r>
                  <a:rPr lang="vi-VN"/>
                  <a:t>\vec{i}</a:t>
                </a:r>
                <a:r>
                  <a:rPr sz="2200">
                    <a:solidFill>
                      <a:srgbClr val="1E293B"/>
                    </a:solidFill>
                    <a:latin typeface="Calibri"/>
                  </a:rPr>
                  <a:t> và </a:t>
                </a:r>
                <a:r>
                  <a:rPr lang="vi-VN"/>
                  <a:t>\vec{j}</a:t>
                </a:r>
                <a:r>
                  <a:rPr sz="2200">
                    <a:solidFill>
                      <a:srgbClr val="1E293B"/>
                    </a:solidFill>
                    <a:latin typeface="Calibri"/>
                  </a:rPr>
                  <a:t> của các trục </a:t>
                </a:r>
                <a:r>
                  <a:rPr lang="vi-VN"/>
                  <a:t>Ox,\ Oy</a:t>
                </a:r>
                <a:r>
                  <a:rPr sz="2200">
                    <a:solidFill>
                      <a:srgbClr val="1E293B"/>
                    </a:solidFill>
                    <a:latin typeface="Calibri"/>
                  </a:rPr>
                  <a:t>.</a:t>
                </a:r>
              </a:p>
            </p:txBody>
          </p:sp>
        </mc:Fallback>
      </mc:AlternateContent>
      <p:sp>
        <p:nvSpPr>
          <p:cNvPr id="8" name="s1_nen"/>
          <p:cNvSpPr/>
          <p:nvPr/>
        </p:nvSpPr>
        <p:spPr>
          <a:xfrm>
            <a:off x="548640" y="2325623"/>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362199"/>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a) </a:t>
                </a:r>
                <a14:m>
                  <m:oMath xmlns:m="http://schemas.openxmlformats.org/officeDocument/2006/math">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v</m:t>
                        </m:r>
                      </m:e>
                    </m:acc>
                    <m:r>
                      <a:rPr lang="vi-VN" sz="2200" b="0">
                        <a:solidFill>
                          <a:srgbClr val="1E293B"/>
                        </a:solidFill>
                        <a:latin typeface="Cambria Math" panose="02040503050406030204" pitchFamily="18" charset="0"/>
                      </a:rPr>
                      <m:t>=2·5+(−3)·3=10−9=1</m:t>
                    </m:r>
                  </m:oMath>
                </a14:m>
                <a:r>
                  <a:rPr sz="2200">
                    <a:solidFill>
                      <a:srgbClr val="1E293B"/>
                    </a:solidFill>
                    <a:latin typeface="Calibri"/>
                  </a:rPr>
                  <a:t>. b) </a:t>
                </a:r>
                <a14:m>
                  <m:oMath xmlns:m="http://schemas.openxmlformats.org/officeDocument/2006/math">
                    <m:acc>
                      <m:accPr>
                        <m:chr m:val="⃗"/>
                      </m:accPr>
                      <m:e>
                        <m:r>
                          <a:rPr lang="vi-VN" sz="2200" b="0">
                            <a:solidFill>
                              <a:srgbClr val="1E293B"/>
                            </a:solidFill>
                            <a:latin typeface="Cambria Math" panose="02040503050406030204" pitchFamily="18" charset="0"/>
                          </a:rPr>
                          <m:t>i</m:t>
                        </m:r>
                      </m:e>
                    </m:acc>
                    <m:r>
                      <a:rPr lang="vi-VN" sz="2200" b="0">
                        <a:solidFill>
                          <a:srgbClr val="1E293B"/>
                        </a:solidFill>
                        <a:latin typeface="Cambria Math" panose="02040503050406030204" pitchFamily="18" charset="0"/>
                      </a:rPr>
                      <m:t>=(1;</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0)</m:t>
                    </m:r>
                  </m:oMath>
                </a14:m>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j</m:t>
                        </m:r>
                      </m:e>
                    </m:acc>
                    <m:r>
                      <a:rPr lang="vi-VN" sz="2200" b="0">
                        <a:solidFill>
                          <a:srgbClr val="1E293B"/>
                        </a:solidFill>
                        <a:latin typeface="Cambria Math" panose="02040503050406030204" pitchFamily="18" charset="0"/>
                      </a:rPr>
                      <m:t>=(0;</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1)</m:t>
                    </m:r>
                  </m:oMath>
                </a14:m>
                <a:r>
                  <a:rPr sz="2200">
                    <a:solidFill>
                      <a:srgbClr val="1E293B"/>
                    </a:solidFill>
                    <a:latin typeface="Calibri"/>
                  </a:rPr>
                  <a:t> nên </a:t>
                </a:r>
                <a14:m>
                  <m:oMath xmlns:m="http://schemas.openxmlformats.org/officeDocument/2006/math">
                    <m:acc>
                      <m:accPr>
                        <m:chr m:val="⃗"/>
                      </m:accPr>
                      <m:e>
                        <m:r>
                          <a:rPr lang="vi-VN" sz="2200" b="0">
                            <a:solidFill>
                              <a:srgbClr val="1E293B"/>
                            </a:solidFill>
                            <a:latin typeface="Cambria Math" panose="02040503050406030204" pitchFamily="18" charset="0"/>
                          </a:rPr>
                          <m:t>i</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j</m:t>
                        </m:r>
                      </m:e>
                    </m:acc>
                    <m:r>
                      <a:rPr lang="vi-VN" sz="2200" b="0">
                        <a:solidFill>
                          <a:srgbClr val="1E293B"/>
                        </a:solidFill>
                        <a:latin typeface="Cambria Math" panose="02040503050406030204" pitchFamily="18" charset="0"/>
                      </a:rPr>
                      <m:t>=1·0+0·1=0</m:t>
                    </m:r>
                  </m:oMath>
                </a14:m>
                <a:r>
                  <a:rPr sz="2200">
                    <a:solidFill>
                      <a:srgbClr val="1E293B"/>
                    </a:solidFill>
                    <a:latin typeface="Calibri"/>
                  </a:rPr>
                  <a:t>.</a:t>
                </a:r>
              </a:p>
            </p:txBody>
          </p:sp>
        </mc:Choice>
        <mc:Fallback>
          <p:sp>
            <p:nvSpPr>
              <p:cNvPr id="9" name="TextBox 8"/>
              <p:cNvSpPr txBox="1"/>
              <p:nvPr/>
            </p:nvSpPr>
            <p:spPr>
              <a:xfrm>
                <a:off x="713232" y="2362199"/>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a) </a:t>
                </a:r>
                <a:r>
                  <a:rPr lang="vi-VN"/>
                  <a:t>\vec{u}\cdot\vec{v}=2\cdot 5+(-3)\cdot 3=10-9=1</a:t>
                </a:r>
                <a:r>
                  <a:rPr sz="2200">
                    <a:solidFill>
                      <a:srgbClr val="1E293B"/>
                    </a:solidFill>
                    <a:latin typeface="Calibri"/>
                  </a:rPr>
                  <a:t>. b) </a:t>
                </a:r>
                <a:r>
                  <a:rPr lang="vi-VN"/>
                  <a:t>\vec{i}=(1;\ 0)</a:t>
                </a:r>
                <a:r>
                  <a:rPr sz="2200">
                    <a:solidFill>
                      <a:srgbClr val="1E293B"/>
                    </a:solidFill>
                    <a:latin typeface="Calibri"/>
                  </a:rPr>
                  <a:t>, </a:t>
                </a:r>
                <a:r>
                  <a:rPr lang="vi-VN"/>
                  <a:t>\vec{j}=(0;\ 1)</a:t>
                </a:r>
                <a:r>
                  <a:rPr sz="2200">
                    <a:solidFill>
                      <a:srgbClr val="1E293B"/>
                    </a:solidFill>
                    <a:latin typeface="Calibri"/>
                  </a:rPr>
                  <a:t> nên </a:t>
                </a:r>
                <a:r>
                  <a:rPr lang="vi-VN"/>
                  <a:t>\vec{i}\cdot\vec{j}=1\cdot 0+0\cdot 1=0</a:t>
                </a:r>
                <a:r>
                  <a:rPr sz="22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035808"/>
                <a:ext cx="11064240" cy="509016"/>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Luyện tập 3.</a:t>
                </a:r>
                <a:r>
                  <a:rPr sz="2200">
                    <a:solidFill>
                      <a:srgbClr val="1E293B"/>
                    </a:solidFill>
                    <a:latin typeface="Calibri"/>
                  </a:rPr>
                  <a:t> Tính tích vô hướng và góc giữa hai vectơ </a:t>
                </a:r>
                <a14:m>
                  <m:oMath xmlns:m="http://schemas.openxmlformats.org/officeDocument/2006/math">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=(0;</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−5)</m:t>
                    </m:r>
                  </m:oMath>
                </a14:m>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v</m:t>
                        </m:r>
                      </m:e>
                    </m:acc>
                    <m:r>
                      <a:rPr lang="vi-VN" sz="2200" b="0">
                        <a:solidFill>
                          <a:srgbClr val="1E293B"/>
                        </a:solidFill>
                        <a:latin typeface="Cambria Math" panose="02040503050406030204" pitchFamily="18" charset="0"/>
                      </a:rPr>
                      <m:t>=(</m:t>
                    </m:r>
                    <m:rad>
                      <m:radPr>
                        <m:degHide m:val="on"/>
                      </m:radPr>
                      <m:deg/>
                      <m:e>
                        <m:r>
                          <a:rPr lang="vi-VN" sz="2200" b="0">
                            <a:solidFill>
                              <a:srgbClr val="1E293B"/>
                            </a:solidFill>
                            <a:latin typeface="Cambria Math" panose="02040503050406030204" pitchFamily="18" charset="0"/>
                          </a:rPr>
                          <m:t>3</m:t>
                        </m:r>
                      </m:e>
                    </m:rad>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1)</m:t>
                    </m:r>
                  </m:oMath>
                </a14:m>
                <a:r>
                  <a:rPr sz="2200">
                    <a:solidFill>
                      <a:srgbClr val="1E293B"/>
                    </a:solidFill>
                    <a:latin typeface="Calibri"/>
                  </a:rPr>
                  <a:t>.</a:t>
                </a:r>
              </a:p>
            </p:txBody>
          </p:sp>
        </mc:Choice>
        <mc:Fallback>
          <p:sp>
            <p:nvSpPr>
              <p:cNvPr id="10" name="TextBox 9"/>
              <p:cNvSpPr txBox="1"/>
              <p:nvPr/>
            </p:nvSpPr>
            <p:spPr>
              <a:xfrm>
                <a:off x="548640" y="3035808"/>
                <a:ext cx="11064240" cy="509016"/>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Luyện tập 3.</a:t>
                </a:r>
                <a:r>
                  <a:rPr sz="2200">
                    <a:solidFill>
                      <a:srgbClr val="1E293B"/>
                    </a:solidFill>
                    <a:latin typeface="Calibri"/>
                  </a:rPr>
                  <a:t> Tính tích vô hướng và góc giữa hai vectơ </a:t>
                </a:r>
                <a:r>
                  <a:rPr lang="vi-VN"/>
                  <a:t>\vec{u}=(0;\ -5)</a:t>
                </a:r>
                <a:r>
                  <a:rPr sz="2200">
                    <a:solidFill>
                      <a:srgbClr val="1E293B"/>
                    </a:solidFill>
                    <a:latin typeface="Calibri"/>
                  </a:rPr>
                  <a:t>, </a:t>
                </a:r>
                <a:r>
                  <a:rPr lang="vi-VN"/>
                  <a:t>\vec{v}=(\sqrt{3};\ 1)</a:t>
                </a:r>
                <a:r>
                  <a:rPr sz="2200">
                    <a:solidFill>
                      <a:srgbClr val="1E293B"/>
                    </a:solidFill>
                    <a:latin typeface="Calibri"/>
                  </a:rPr>
                  <a:t>.</a:t>
                </a:r>
              </a:p>
            </p:txBody>
          </p:sp>
        </mc:Fallback>
      </mc:AlternateContent>
      <p:sp>
        <p:nvSpPr>
          <p:cNvPr id="11" name="s3_nen"/>
          <p:cNvSpPr/>
          <p:nvPr/>
        </p:nvSpPr>
        <p:spPr>
          <a:xfrm>
            <a:off x="548640" y="3654552"/>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3691127"/>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v</m:t>
                        </m:r>
                      </m:e>
                    </m:acc>
                    <m:r>
                      <a:rPr lang="vi-VN" sz="2200" b="0">
                        <a:solidFill>
                          <a:srgbClr val="1E293B"/>
                        </a:solidFill>
                        <a:latin typeface="Cambria Math" panose="02040503050406030204" pitchFamily="18" charset="0"/>
                      </a:rPr>
                      <m:t>=0·</m:t>
                    </m:r>
                    <m:rad>
                      <m:radPr>
                        <m:degHide m:val="on"/>
                      </m:radPr>
                      <m:deg/>
                      <m:e>
                        <m:r>
                          <a:rPr lang="vi-VN" sz="2200" b="0">
                            <a:solidFill>
                              <a:srgbClr val="1E293B"/>
                            </a:solidFill>
                            <a:latin typeface="Cambria Math" panose="02040503050406030204" pitchFamily="18" charset="0"/>
                          </a:rPr>
                          <m:t>3</m:t>
                        </m:r>
                      </m:e>
                    </m:rad>
                    <m:r>
                      <a:rPr lang="vi-VN" sz="2200" b="0">
                        <a:solidFill>
                          <a:srgbClr val="1E293B"/>
                        </a:solidFill>
                        <a:latin typeface="Cambria Math" panose="02040503050406030204" pitchFamily="18" charset="0"/>
                      </a:rPr>
                      <m:t>+(−5)·1=−5</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|=5</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v</m:t>
                        </m:r>
                      </m:e>
                    </m:acc>
                    <m:r>
                      <a:rPr lang="vi-VN" sz="2200" b="0">
                        <a:solidFill>
                          <a:srgbClr val="1E293B"/>
                        </a:solidFill>
                        <a:latin typeface="Cambria Math" panose="02040503050406030204" pitchFamily="18" charset="0"/>
                      </a:rPr>
                      <m:t>|=2</m:t>
                    </m:r>
                  </m:oMath>
                </a14:m>
                <a:r>
                  <a:rPr sz="2200">
                    <a:solidFill>
                      <a:srgbClr val="1E293B"/>
                    </a:solidFill>
                    <a:latin typeface="Calibri"/>
                  </a:rPr>
                  <a:t>.</a:t>
                </a:r>
              </a:p>
            </p:txBody>
          </p:sp>
        </mc:Choice>
        <mc:Fallback>
          <p:sp>
            <p:nvSpPr>
              <p:cNvPr id="12" name="TextBox 11"/>
              <p:cNvSpPr txBox="1"/>
              <p:nvPr/>
            </p:nvSpPr>
            <p:spPr>
              <a:xfrm>
                <a:off x="713232" y="3691127"/>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\vec{u}\cdot\vec{v}=0\cdot\sqrt{3}+(-5)\cdot 1=-5</a:t>
                </a:r>
                <a:r>
                  <a:rPr sz="2200">
                    <a:solidFill>
                      <a:srgbClr val="1E293B"/>
                    </a:solidFill>
                    <a:latin typeface="Calibri"/>
                  </a:rPr>
                  <a:t>; </a:t>
                </a:r>
                <a:r>
                  <a:rPr lang="vi-VN"/>
                  <a:t>|\vec{u}|=5</a:t>
                </a:r>
                <a:r>
                  <a:rPr sz="2200">
                    <a:solidFill>
                      <a:srgbClr val="1E293B"/>
                    </a:solidFill>
                    <a:latin typeface="Calibri"/>
                  </a:rPr>
                  <a:t>, </a:t>
                </a:r>
                <a:r>
                  <a:rPr lang="vi-VN"/>
                  <a:t>|\vec{v}|=2</a:t>
                </a:r>
                <a:r>
                  <a:rPr sz="2200">
                    <a:solidFill>
                      <a:srgbClr val="1E293B"/>
                    </a:solidFill>
                    <a:latin typeface="Calibri"/>
                  </a:rPr>
                  <a:t>.</a:t>
                </a:r>
              </a:p>
            </p:txBody>
          </p:sp>
        </mc:Fallback>
      </mc:AlternateContent>
      <p:sp>
        <p:nvSpPr>
          <p:cNvPr id="13" name="s4_nen"/>
          <p:cNvSpPr/>
          <p:nvPr/>
        </p:nvSpPr>
        <p:spPr>
          <a:xfrm>
            <a:off x="548640" y="4364736"/>
            <a:ext cx="11064240" cy="902207"/>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4" name="s4_chu"/>
              <p:cNvSpPr txBox="1"/>
              <p:nvPr/>
            </p:nvSpPr>
            <p:spPr>
              <a:xfrm>
                <a:off x="713232" y="4401312"/>
                <a:ext cx="10735056" cy="829056"/>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14:m>
                  <m:oMath xmlns:m="http://schemas.openxmlformats.org/officeDocument/2006/math">
                    <m:r>
                      <m:rPr>
                        <m:sty m:val="p"/>
                      </m:rPr>
                      <a:rPr lang="vi-VN" sz="2200" b="0">
                        <a:solidFill>
                          <a:srgbClr val="1E293B"/>
                        </a:solidFill>
                        <a:latin typeface="Cambria Math" panose="02040503050406030204" pitchFamily="18" charset="0"/>
                      </a:rPr>
                      <m:t>cos</m:t>
                    </m:r>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v</m:t>
                        </m:r>
                      </m:e>
                    </m:acc>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−5</m:t>
                        </m:r>
                      </m:num>
                      <m:den>
                        <m:r>
                          <a:rPr lang="vi-VN" sz="2200" b="0">
                            <a:solidFill>
                              <a:srgbClr val="1E293B"/>
                            </a:solidFill>
                            <a:latin typeface="Cambria Math" panose="02040503050406030204" pitchFamily="18" charset="0"/>
                          </a:rPr>
                          <m:t>5·2</m:t>
                        </m:r>
                      </m:den>
                    </m:f>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2</m:t>
                        </m:r>
                      </m:den>
                    </m:f>
                  </m:oMath>
                </a14:m>
                <a:r>
                  <a:rPr sz="2200">
                    <a:solidFill>
                      <a:srgbClr val="1E293B"/>
                    </a:solidFill>
                    <a:latin typeface="Calibri"/>
                  </a:rPr>
                  <a:t> nên </a:t>
                </a:r>
                <a14:m>
                  <m:oMath xmlns:m="http://schemas.openxmlformats.org/officeDocument/2006/math">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v</m:t>
                        </m:r>
                      </m:e>
                    </m:acc>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120</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a:t>
                </a:r>
              </a:p>
            </p:txBody>
          </p:sp>
        </mc:Choice>
        <mc:Fallback>
          <p:sp>
            <p:nvSpPr>
              <p:cNvPr id="14" name="TextBox 13"/>
              <p:cNvSpPr txBox="1"/>
              <p:nvPr/>
            </p:nvSpPr>
            <p:spPr>
              <a:xfrm>
                <a:off x="713232" y="4401312"/>
                <a:ext cx="10735056" cy="829056"/>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\cos(\vec{u},\ \vec{v})=\frac{-5}{5\cdot 2}=-\frac{1}{2}</a:t>
                </a:r>
                <a:r>
                  <a:rPr sz="2200">
                    <a:solidFill>
                      <a:srgbClr val="1E293B"/>
                    </a:solidFill>
                    <a:latin typeface="Calibri"/>
                  </a:rPr>
                  <a:t> nên </a:t>
                </a:r>
                <a:r>
                  <a:rPr lang="vi-VN"/>
                  <a:t>(\vec{u},\ \vec{v})=120^\circ</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TÍNH CHẤT CỦA TÍCH VÔ HƯỚNG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22</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HĐ4.</a:t>
                </a:r>
                <a:r>
                  <a:rPr sz="2100">
                    <a:solidFill>
                      <a:srgbClr val="1E293B"/>
                    </a:solidFill>
                    <a:latin typeface="Calibri"/>
                  </a:rPr>
                  <a:t> Cho </a:t>
                </a:r>
                <a14:m>
                  <m:oMath xmlns:m="http://schemas.openxmlformats.org/officeDocument/2006/math">
                    <m:acc>
                      <m:accPr>
                        <m:chr m:val="⃗"/>
                      </m:accPr>
                      <m:e>
                        <m:r>
                          <a:rPr lang="vi-VN" sz="2100" b="0">
                            <a:solidFill>
                              <a:srgbClr val="1E293B"/>
                            </a:solidFill>
                            <a:latin typeface="Cambria Math" panose="02040503050406030204" pitchFamily="18" charset="0"/>
                          </a:rPr>
                          <m:t>u</m:t>
                        </m:r>
                      </m:e>
                    </m:acc>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x</m:t>
                        </m:r>
                      </m:e>
                      <m:sub>
                        <m:r>
                          <a:rPr lang="vi-VN" sz="2100" b="0">
                            <a:solidFill>
                              <a:srgbClr val="1E293B"/>
                            </a:solidFill>
                            <a:latin typeface="Cambria Math" panose="02040503050406030204" pitchFamily="18" charset="0"/>
                          </a:rPr>
                          <m:t>1</m:t>
                        </m:r>
                      </m:sub>
                    </m:sSub>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sSub>
                      <m:e>
                        <m:r>
                          <a:rPr lang="vi-VN" sz="2100" b="0">
                            <a:solidFill>
                              <a:srgbClr val="1E293B"/>
                            </a:solidFill>
                            <a:latin typeface="Cambria Math" panose="02040503050406030204" pitchFamily="18" charset="0"/>
                          </a:rPr>
                          <m:t>y</m:t>
                        </m:r>
                      </m:e>
                      <m:sub>
                        <m:r>
                          <a:rPr lang="vi-VN" sz="2100" b="0">
                            <a:solidFill>
                              <a:srgbClr val="1E293B"/>
                            </a:solidFill>
                            <a:latin typeface="Cambria Math" panose="02040503050406030204" pitchFamily="18" charset="0"/>
                          </a:rPr>
                          <m:t>1</m:t>
                        </m:r>
                      </m:sub>
                    </m:sSub>
                    <m:r>
                      <a:rPr lang="vi-VN" sz="2100" b="0">
                        <a:solidFill>
                          <a:srgbClr val="1E293B"/>
                        </a:solidFill>
                        <a:latin typeface="Cambria Math" panose="02040503050406030204" pitchFamily="18" charset="0"/>
                      </a:rPr>
                      <m:t>)</m:t>
                    </m:r>
                  </m:oMath>
                </a14:m>
                <a:r>
                  <a:rPr sz="2100">
                    <a:solidFill>
                      <a:srgbClr val="1E293B"/>
                    </a:solidFill>
                    <a:latin typeface="Calibri"/>
                  </a:rPr>
                  <a:t>, </a:t>
                </a:r>
                <a14:m>
                  <m:oMath xmlns:m="http://schemas.openxmlformats.org/officeDocument/2006/math">
                    <m:acc>
                      <m:accPr>
                        <m:chr m:val="⃗"/>
                      </m:accPr>
                      <m:e>
                        <m:r>
                          <a:rPr lang="vi-VN" sz="2100" b="0">
                            <a:solidFill>
                              <a:srgbClr val="1E293B"/>
                            </a:solidFill>
                            <a:latin typeface="Cambria Math" panose="02040503050406030204" pitchFamily="18" charset="0"/>
                          </a:rPr>
                          <m:t>v</m:t>
                        </m:r>
                      </m:e>
                    </m:acc>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x</m:t>
                        </m:r>
                      </m:e>
                      <m:sub>
                        <m:r>
                          <a:rPr lang="vi-VN" sz="2100" b="0">
                            <a:solidFill>
                              <a:srgbClr val="1E293B"/>
                            </a:solidFill>
                            <a:latin typeface="Cambria Math" panose="02040503050406030204" pitchFamily="18" charset="0"/>
                          </a:rPr>
                          <m:t>2</m:t>
                        </m:r>
                      </m:sub>
                    </m:sSub>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sSub>
                      <m:e>
                        <m:r>
                          <a:rPr lang="vi-VN" sz="2100" b="0">
                            <a:solidFill>
                              <a:srgbClr val="1E293B"/>
                            </a:solidFill>
                            <a:latin typeface="Cambria Math" panose="02040503050406030204" pitchFamily="18" charset="0"/>
                          </a:rPr>
                          <m:t>y</m:t>
                        </m:r>
                      </m:e>
                      <m:sub>
                        <m:r>
                          <a:rPr lang="vi-VN" sz="2100" b="0">
                            <a:solidFill>
                              <a:srgbClr val="1E293B"/>
                            </a:solidFill>
                            <a:latin typeface="Cambria Math" panose="02040503050406030204" pitchFamily="18" charset="0"/>
                          </a:rPr>
                          <m:t>2</m:t>
                        </m:r>
                      </m:sub>
                    </m:sSub>
                    <m:r>
                      <a:rPr lang="vi-VN" sz="2100" b="0">
                        <a:solidFill>
                          <a:srgbClr val="1E293B"/>
                        </a:solidFill>
                        <a:latin typeface="Cambria Math" panose="02040503050406030204" pitchFamily="18" charset="0"/>
                      </a:rPr>
                      <m:t>)</m:t>
                    </m:r>
                  </m:oMath>
                </a14:m>
                <a:r>
                  <a:rPr sz="2100">
                    <a:solidFill>
                      <a:srgbClr val="1E293B"/>
                    </a:solidFill>
                    <a:latin typeface="Calibri"/>
                  </a:rPr>
                  <a:t>, </a:t>
                </a:r>
                <a14:m>
                  <m:oMath xmlns:m="http://schemas.openxmlformats.org/officeDocument/2006/math">
                    <m:acc>
                      <m:accPr>
                        <m:chr m:val="⃗"/>
                      </m:accPr>
                      <m:e>
                        <m:r>
                          <a:rPr lang="vi-VN" sz="2100" b="0">
                            <a:solidFill>
                              <a:srgbClr val="1E293B"/>
                            </a:solidFill>
                            <a:latin typeface="Cambria Math" panose="02040503050406030204" pitchFamily="18" charset="0"/>
                          </a:rPr>
                          <m:t>w</m:t>
                        </m:r>
                      </m:e>
                    </m:acc>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x</m:t>
                        </m:r>
                      </m:e>
                      <m:sub>
                        <m:r>
                          <a:rPr lang="vi-VN" sz="2100" b="0">
                            <a:solidFill>
                              <a:srgbClr val="1E293B"/>
                            </a:solidFill>
                            <a:latin typeface="Cambria Math" panose="02040503050406030204" pitchFamily="18" charset="0"/>
                          </a:rPr>
                          <m:t>3</m:t>
                        </m:r>
                      </m:sub>
                    </m:sSub>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sSub>
                      <m:e>
                        <m:r>
                          <a:rPr lang="vi-VN" sz="2100" b="0">
                            <a:solidFill>
                              <a:srgbClr val="1E293B"/>
                            </a:solidFill>
                            <a:latin typeface="Cambria Math" panose="02040503050406030204" pitchFamily="18" charset="0"/>
                          </a:rPr>
                          <m:t>y</m:t>
                        </m:r>
                      </m:e>
                      <m:sub>
                        <m:r>
                          <a:rPr lang="vi-VN" sz="2100" b="0">
                            <a:solidFill>
                              <a:srgbClr val="1E293B"/>
                            </a:solidFill>
                            <a:latin typeface="Cambria Math" panose="02040503050406030204" pitchFamily="18" charset="0"/>
                          </a:rPr>
                          <m:t>3</m:t>
                        </m:r>
                      </m:sub>
                    </m:sSub>
                    <m:r>
                      <a:rPr lang="vi-VN" sz="2100" b="0">
                        <a:solidFill>
                          <a:srgbClr val="1E293B"/>
                        </a:solidFill>
                        <a:latin typeface="Cambria Math" panose="02040503050406030204" pitchFamily="18" charset="0"/>
                      </a:rPr>
                      <m:t>)</m:t>
                    </m:r>
                  </m:oMath>
                </a14:m>
                <a:r>
                  <a:rPr sz="2100">
                    <a:solidFill>
                      <a:srgbClr val="1E293B"/>
                    </a:solidFill>
                    <a:latin typeface="Calibri"/>
                  </a:rPr>
                  <a:t>. a) Tính </a:t>
                </a:r>
                <a14:m>
                  <m:oMath xmlns:m="http://schemas.openxmlformats.org/officeDocument/2006/math">
                    <m:acc>
                      <m:accPr>
                        <m:chr m:val="⃗"/>
                      </m:accPr>
                      <m:e>
                        <m:r>
                          <a:rPr lang="vi-VN" sz="2100" b="0">
                            <a:solidFill>
                              <a:srgbClr val="1E293B"/>
                            </a:solidFill>
                            <a:latin typeface="Cambria Math" panose="02040503050406030204" pitchFamily="18" charset="0"/>
                          </a:rPr>
                          <m:t>u</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v</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w</m:t>
                        </m:r>
                      </m:e>
                    </m:acc>
                    <m:r>
                      <a:rPr lang="vi-VN" sz="2100" b="0">
                        <a:solidFill>
                          <a:srgbClr val="1E293B"/>
                        </a:solidFill>
                        <a:latin typeface="Cambria Math" panose="02040503050406030204" pitchFamily="18" charset="0"/>
                      </a:rPr>
                      <m:t>)</m:t>
                    </m:r>
                  </m:oMath>
                </a14:m>
                <a:r>
                  <a:rPr sz="2100">
                    <a:solidFill>
                      <a:srgbClr val="1E293B"/>
                    </a:solidFill>
                    <a:latin typeface="Calibri"/>
                  </a:rPr>
                  <a:t>, </a:t>
                </a:r>
                <a14:m>
                  <m:oMath xmlns:m="http://schemas.openxmlformats.org/officeDocument/2006/math">
                    <m:acc>
                      <m:accPr>
                        <m:chr m:val="⃗"/>
                      </m:accPr>
                      <m:e>
                        <m:r>
                          <a:rPr lang="vi-VN" sz="2100" b="0">
                            <a:solidFill>
                              <a:srgbClr val="1E293B"/>
                            </a:solidFill>
                            <a:latin typeface="Cambria Math" panose="02040503050406030204" pitchFamily="18" charset="0"/>
                          </a:rPr>
                          <m:t>u</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v</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u</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w</m:t>
                        </m:r>
                      </m:e>
                    </m:acc>
                  </m:oMath>
                </a14:m>
                <a:r>
                  <a:rPr sz="2100">
                    <a:solidFill>
                      <a:srgbClr val="1E293B"/>
                    </a:solidFill>
                    <a:latin typeface="Calibri"/>
                  </a:rPr>
                  <a:t> theo toạ độ. b) So sánh hai kết quả đó. c) So sánh </a:t>
                </a:r>
                <a14:m>
                  <m:oMath xmlns:m="http://schemas.openxmlformats.org/officeDocument/2006/math">
                    <m:acc>
                      <m:accPr>
                        <m:chr m:val="⃗"/>
                      </m:accPr>
                      <m:e>
                        <m:r>
                          <a:rPr lang="vi-VN" sz="2100" b="0">
                            <a:solidFill>
                              <a:srgbClr val="1E293B"/>
                            </a:solidFill>
                            <a:latin typeface="Cambria Math" panose="02040503050406030204" pitchFamily="18" charset="0"/>
                          </a:rPr>
                          <m:t>u</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v</m:t>
                        </m:r>
                      </m:e>
                    </m:acc>
                  </m:oMath>
                </a14:m>
                <a:r>
                  <a:rPr sz="2100">
                    <a:solidFill>
                      <a:srgbClr val="1E293B"/>
                    </a:solidFill>
                    <a:latin typeface="Calibri"/>
                  </a:rPr>
                  <a:t> và </a:t>
                </a:r>
                <a14:m>
                  <m:oMath xmlns:m="http://schemas.openxmlformats.org/officeDocument/2006/math">
                    <m:acc>
                      <m:accPr>
                        <m:chr m:val="⃗"/>
                      </m:accPr>
                      <m:e>
                        <m:r>
                          <a:rPr lang="vi-VN" sz="2100" b="0">
                            <a:solidFill>
                              <a:srgbClr val="1E293B"/>
                            </a:solidFill>
                            <a:latin typeface="Cambria Math" panose="02040503050406030204" pitchFamily="18" charset="0"/>
                          </a:rPr>
                          <m:t>v</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u</m:t>
                        </m:r>
                      </m:e>
                    </m:acc>
                  </m:oMath>
                </a14:m>
                <a:r>
                  <a:rPr sz="2100">
                    <a:solidFill>
                      <a:srgbClr val="1E293B"/>
                    </a:solidFill>
                    <a:latin typeface="Calibri"/>
                  </a:rPr>
                  <a:t>.</a:t>
                </a:r>
              </a:p>
            </p:txBody>
          </p:sp>
        </mc:Choice>
        <mc:Fallback>
          <p:sp>
            <p:nvSpPr>
              <p:cNvPr id="7" name="TextBox 6"/>
              <p:cNvSpPr txBox="1"/>
              <p:nvPr/>
            </p:nvSpPr>
            <p:spPr>
              <a:xfrm>
                <a:off x="548640" y="1371600"/>
                <a:ext cx="1106424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HĐ4.</a:t>
                </a:r>
                <a:r>
                  <a:rPr sz="2100">
                    <a:solidFill>
                      <a:srgbClr val="1E293B"/>
                    </a:solidFill>
                    <a:latin typeface="Calibri"/>
                  </a:rPr>
                  <a:t> Cho </a:t>
                </a:r>
                <a:r>
                  <a:rPr lang="vi-VN"/>
                  <a:t>\vec{u}=(x_1;\ y_1)</a:t>
                </a:r>
                <a:r>
                  <a:rPr sz="2100">
                    <a:solidFill>
                      <a:srgbClr val="1E293B"/>
                    </a:solidFill>
                    <a:latin typeface="Calibri"/>
                  </a:rPr>
                  <a:t>, </a:t>
                </a:r>
                <a:r>
                  <a:rPr lang="vi-VN"/>
                  <a:t>\vec{v}=(x_2;\ y_2)</a:t>
                </a:r>
                <a:r>
                  <a:rPr sz="2100">
                    <a:solidFill>
                      <a:srgbClr val="1E293B"/>
                    </a:solidFill>
                    <a:latin typeface="Calibri"/>
                  </a:rPr>
                  <a:t>, </a:t>
                </a:r>
                <a:r>
                  <a:rPr lang="vi-VN"/>
                  <a:t>\vec{w}=(x_3;\ y_3)</a:t>
                </a:r>
                <a:r>
                  <a:rPr sz="2100">
                    <a:solidFill>
                      <a:srgbClr val="1E293B"/>
                    </a:solidFill>
                    <a:latin typeface="Calibri"/>
                  </a:rPr>
                  <a:t>. a) Tính </a:t>
                </a:r>
                <a:r>
                  <a:rPr lang="vi-VN"/>
                  <a:t>\vec{u}\cdot(\vec{v}+\vec{w})</a:t>
                </a:r>
                <a:r>
                  <a:rPr sz="2100">
                    <a:solidFill>
                      <a:srgbClr val="1E293B"/>
                    </a:solidFill>
                    <a:latin typeface="Calibri"/>
                  </a:rPr>
                  <a:t>, </a:t>
                </a:r>
                <a:r>
                  <a:rPr lang="vi-VN"/>
                  <a:t>\vec{u}\cdot\vec{v}+\vec{u}\cdot\vec{w}</a:t>
                </a:r>
                <a:r>
                  <a:rPr sz="2100">
                    <a:solidFill>
                      <a:srgbClr val="1E293B"/>
                    </a:solidFill>
                    <a:latin typeface="Calibri"/>
                  </a:rPr>
                  <a:t> theo toạ độ. b) So sánh hai kết quả đó. c) So sánh </a:t>
                </a:r>
                <a:r>
                  <a:rPr lang="vi-VN"/>
                  <a:t>\vec{u}\cdot\vec{v}</a:t>
                </a:r>
                <a:r>
                  <a:rPr sz="2100">
                    <a:solidFill>
                      <a:srgbClr val="1E293B"/>
                    </a:solidFill>
                    <a:latin typeface="Calibri"/>
                  </a:rPr>
                  <a:t> và </a:t>
                </a:r>
                <a:r>
                  <a:rPr lang="vi-VN"/>
                  <a:t>\vec{v}\cdot\vec{u}</a:t>
                </a:r>
                <a:r>
                  <a:rPr sz="2100">
                    <a:solidFill>
                      <a:srgbClr val="1E293B"/>
                    </a:solidFill>
                    <a:latin typeface="Calibri"/>
                  </a:rPr>
                  <a:t>.</a:t>
                </a:r>
              </a:p>
            </p:txBody>
          </p:sp>
        </mc:Fallback>
      </mc:AlternateContent>
      <p:sp>
        <p:nvSpPr>
          <p:cNvPr id="8" name="s1_nen"/>
          <p:cNvSpPr/>
          <p:nvPr/>
        </p:nvSpPr>
        <p:spPr>
          <a:xfrm>
            <a:off x="548640" y="2276856"/>
            <a:ext cx="1106424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313432"/>
                <a:ext cx="107350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b) Cả hai đều bằng </a:t>
                </a:r>
                <a14:m>
                  <m:oMath xmlns:m="http://schemas.openxmlformats.org/officeDocument/2006/math">
                    <m:sSub>
                      <m:e>
                        <m:r>
                          <a:rPr lang="vi-VN" sz="2100" b="0">
                            <a:solidFill>
                              <a:srgbClr val="1E293B"/>
                            </a:solidFill>
                            <a:latin typeface="Cambria Math" panose="02040503050406030204" pitchFamily="18" charset="0"/>
                          </a:rPr>
                          <m:t>x</m:t>
                        </m:r>
                      </m:e>
                      <m:sub>
                        <m:r>
                          <a:rPr lang="vi-VN" sz="2100" b="0">
                            <a:solidFill>
                              <a:srgbClr val="1E293B"/>
                            </a:solidFill>
                            <a:latin typeface="Cambria Math" panose="02040503050406030204" pitchFamily="18" charset="0"/>
                          </a:rPr>
                          <m:t>1</m:t>
                        </m:r>
                      </m:sub>
                    </m:sSub>
                    <m:sSub>
                      <m:e>
                        <m:r>
                          <a:rPr lang="vi-VN" sz="2100" b="0">
                            <a:solidFill>
                              <a:srgbClr val="1E293B"/>
                            </a:solidFill>
                            <a:latin typeface="Cambria Math" panose="02040503050406030204" pitchFamily="18" charset="0"/>
                          </a:rPr>
                          <m:t>x</m:t>
                        </m:r>
                      </m:e>
                      <m:sub>
                        <m:r>
                          <a:rPr lang="vi-VN" sz="2100" b="0">
                            <a:solidFill>
                              <a:srgbClr val="1E293B"/>
                            </a:solidFill>
                            <a:latin typeface="Cambria Math" panose="02040503050406030204" pitchFamily="18" charset="0"/>
                          </a:rPr>
                          <m:t>2</m:t>
                        </m:r>
                      </m:sub>
                    </m:sSub>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y</m:t>
                        </m:r>
                      </m:e>
                      <m:sub>
                        <m:r>
                          <a:rPr lang="vi-VN" sz="2100" b="0">
                            <a:solidFill>
                              <a:srgbClr val="1E293B"/>
                            </a:solidFill>
                            <a:latin typeface="Cambria Math" panose="02040503050406030204" pitchFamily="18" charset="0"/>
                          </a:rPr>
                          <m:t>1</m:t>
                        </m:r>
                      </m:sub>
                    </m:sSub>
                    <m:sSub>
                      <m:e>
                        <m:r>
                          <a:rPr lang="vi-VN" sz="2100" b="0">
                            <a:solidFill>
                              <a:srgbClr val="1E293B"/>
                            </a:solidFill>
                            <a:latin typeface="Cambria Math" panose="02040503050406030204" pitchFamily="18" charset="0"/>
                          </a:rPr>
                          <m:t>y</m:t>
                        </m:r>
                      </m:e>
                      <m:sub>
                        <m:r>
                          <a:rPr lang="vi-VN" sz="2100" b="0">
                            <a:solidFill>
                              <a:srgbClr val="1E293B"/>
                            </a:solidFill>
                            <a:latin typeface="Cambria Math" panose="02040503050406030204" pitchFamily="18" charset="0"/>
                          </a:rPr>
                          <m:t>2</m:t>
                        </m:r>
                      </m:sub>
                    </m:sSub>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x</m:t>
                        </m:r>
                      </m:e>
                      <m:sub>
                        <m:r>
                          <a:rPr lang="vi-VN" sz="2100" b="0">
                            <a:solidFill>
                              <a:srgbClr val="1E293B"/>
                            </a:solidFill>
                            <a:latin typeface="Cambria Math" panose="02040503050406030204" pitchFamily="18" charset="0"/>
                          </a:rPr>
                          <m:t>1</m:t>
                        </m:r>
                      </m:sub>
                    </m:sSub>
                    <m:sSub>
                      <m:e>
                        <m:r>
                          <a:rPr lang="vi-VN" sz="2100" b="0">
                            <a:solidFill>
                              <a:srgbClr val="1E293B"/>
                            </a:solidFill>
                            <a:latin typeface="Cambria Math" panose="02040503050406030204" pitchFamily="18" charset="0"/>
                          </a:rPr>
                          <m:t>x</m:t>
                        </m:r>
                      </m:e>
                      <m:sub>
                        <m:r>
                          <a:rPr lang="vi-VN" sz="2100" b="0">
                            <a:solidFill>
                              <a:srgbClr val="1E293B"/>
                            </a:solidFill>
                            <a:latin typeface="Cambria Math" panose="02040503050406030204" pitchFamily="18" charset="0"/>
                          </a:rPr>
                          <m:t>3</m:t>
                        </m:r>
                      </m:sub>
                    </m:sSub>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y</m:t>
                        </m:r>
                      </m:e>
                      <m:sub>
                        <m:r>
                          <a:rPr lang="vi-VN" sz="2100" b="0">
                            <a:solidFill>
                              <a:srgbClr val="1E293B"/>
                            </a:solidFill>
                            <a:latin typeface="Cambria Math" panose="02040503050406030204" pitchFamily="18" charset="0"/>
                          </a:rPr>
                          <m:t>1</m:t>
                        </m:r>
                      </m:sub>
                    </m:sSub>
                    <m:sSub>
                      <m:e>
                        <m:r>
                          <a:rPr lang="vi-VN" sz="2100" b="0">
                            <a:solidFill>
                              <a:srgbClr val="1E293B"/>
                            </a:solidFill>
                            <a:latin typeface="Cambria Math" panose="02040503050406030204" pitchFamily="18" charset="0"/>
                          </a:rPr>
                          <m:t>y</m:t>
                        </m:r>
                      </m:e>
                      <m:sub>
                        <m:r>
                          <a:rPr lang="vi-VN" sz="2100" b="0">
                            <a:solidFill>
                              <a:srgbClr val="1E293B"/>
                            </a:solidFill>
                            <a:latin typeface="Cambria Math" panose="02040503050406030204" pitchFamily="18" charset="0"/>
                          </a:rPr>
                          <m:t>3</m:t>
                        </m:r>
                      </m:sub>
                    </m:sSub>
                  </m:oMath>
                </a14:m>
                <a:r>
                  <a:rPr sz="2100">
                    <a:solidFill>
                      <a:srgbClr val="1E293B"/>
                    </a:solidFill>
                    <a:latin typeface="Calibri"/>
                  </a:rPr>
                  <a:t> – bằng nhau.</a:t>
                </a:r>
              </a:p>
            </p:txBody>
          </p:sp>
        </mc:Choice>
        <mc:Fallback>
          <p:sp>
            <p:nvSpPr>
              <p:cNvPr id="9" name="TextBox 8"/>
              <p:cNvSpPr txBox="1"/>
              <p:nvPr/>
            </p:nvSpPr>
            <p:spPr>
              <a:xfrm>
                <a:off x="713232" y="2313432"/>
                <a:ext cx="107350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b) Cả hai đều bằng </a:t>
                </a:r>
                <a:r>
                  <a:rPr lang="vi-VN"/>
                  <a:t>x_1x_2+y_1y_2+x_1x_3+y_1y_3</a:t>
                </a:r>
                <a:r>
                  <a:rPr sz="2100">
                    <a:solidFill>
                      <a:srgbClr val="1E293B"/>
                    </a:solidFill>
                    <a:latin typeface="Calibri"/>
                  </a:rPr>
                  <a:t> – bằng nhau.</a:t>
                </a:r>
              </a:p>
            </p:txBody>
          </p:sp>
        </mc:Fallback>
      </mc:AlternateContent>
      <p:sp>
        <p:nvSpPr>
          <p:cNvPr id="10" name="s2_nen"/>
          <p:cNvSpPr/>
          <p:nvPr/>
        </p:nvSpPr>
        <p:spPr>
          <a:xfrm>
            <a:off x="548640" y="2953512"/>
            <a:ext cx="1106424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2990088"/>
                <a:ext cx="107350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c) </a:t>
                </a:r>
                <a14:m>
                  <m:oMath xmlns:m="http://schemas.openxmlformats.org/officeDocument/2006/math">
                    <m:acc>
                      <m:accPr>
                        <m:chr m:val="⃗"/>
                      </m:accPr>
                      <m:e>
                        <m:r>
                          <a:rPr lang="vi-VN" sz="2100" b="0">
                            <a:solidFill>
                              <a:srgbClr val="1E293B"/>
                            </a:solidFill>
                            <a:latin typeface="Cambria Math" panose="02040503050406030204" pitchFamily="18" charset="0"/>
                          </a:rPr>
                          <m:t>u</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v</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v</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u</m:t>
                        </m:r>
                      </m:e>
                    </m:acc>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x</m:t>
                        </m:r>
                      </m:e>
                      <m:sub>
                        <m:r>
                          <a:rPr lang="vi-VN" sz="2100" b="0">
                            <a:solidFill>
                              <a:srgbClr val="1E293B"/>
                            </a:solidFill>
                            <a:latin typeface="Cambria Math" panose="02040503050406030204" pitchFamily="18" charset="0"/>
                          </a:rPr>
                          <m:t>1</m:t>
                        </m:r>
                      </m:sub>
                    </m:sSub>
                    <m:sSub>
                      <m:e>
                        <m:r>
                          <a:rPr lang="vi-VN" sz="2100" b="0">
                            <a:solidFill>
                              <a:srgbClr val="1E293B"/>
                            </a:solidFill>
                            <a:latin typeface="Cambria Math" panose="02040503050406030204" pitchFamily="18" charset="0"/>
                          </a:rPr>
                          <m:t>x</m:t>
                        </m:r>
                      </m:e>
                      <m:sub>
                        <m:r>
                          <a:rPr lang="vi-VN" sz="2100" b="0">
                            <a:solidFill>
                              <a:srgbClr val="1E293B"/>
                            </a:solidFill>
                            <a:latin typeface="Cambria Math" panose="02040503050406030204" pitchFamily="18" charset="0"/>
                          </a:rPr>
                          <m:t>2</m:t>
                        </m:r>
                      </m:sub>
                    </m:sSub>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y</m:t>
                        </m:r>
                      </m:e>
                      <m:sub>
                        <m:r>
                          <a:rPr lang="vi-VN" sz="2100" b="0">
                            <a:solidFill>
                              <a:srgbClr val="1E293B"/>
                            </a:solidFill>
                            <a:latin typeface="Cambria Math" panose="02040503050406030204" pitchFamily="18" charset="0"/>
                          </a:rPr>
                          <m:t>1</m:t>
                        </m:r>
                      </m:sub>
                    </m:sSub>
                    <m:sSub>
                      <m:e>
                        <m:r>
                          <a:rPr lang="vi-VN" sz="2100" b="0">
                            <a:solidFill>
                              <a:srgbClr val="1E293B"/>
                            </a:solidFill>
                            <a:latin typeface="Cambria Math" panose="02040503050406030204" pitchFamily="18" charset="0"/>
                          </a:rPr>
                          <m:t>y</m:t>
                        </m:r>
                      </m:e>
                      <m:sub>
                        <m:r>
                          <a:rPr lang="vi-VN" sz="2100" b="0">
                            <a:solidFill>
                              <a:srgbClr val="1E293B"/>
                            </a:solidFill>
                            <a:latin typeface="Cambria Math" panose="02040503050406030204" pitchFamily="18" charset="0"/>
                          </a:rPr>
                          <m:t>2</m:t>
                        </m:r>
                      </m:sub>
                    </m:sSub>
                  </m:oMath>
                </a14:m>
                <a:r>
                  <a:rPr sz="2100">
                    <a:solidFill>
                      <a:srgbClr val="1E293B"/>
                    </a:solidFill>
                    <a:latin typeface="Calibri"/>
                  </a:rPr>
                  <a:t>.</a:t>
                </a:r>
              </a:p>
            </p:txBody>
          </p:sp>
        </mc:Choice>
        <mc:Fallback>
          <p:sp>
            <p:nvSpPr>
              <p:cNvPr id="11" name="TextBox 10"/>
              <p:cNvSpPr txBox="1"/>
              <p:nvPr/>
            </p:nvSpPr>
            <p:spPr>
              <a:xfrm>
                <a:off x="713232" y="2990088"/>
                <a:ext cx="107350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c) </a:t>
                </a:r>
                <a:r>
                  <a:rPr lang="vi-VN"/>
                  <a:t>\vec{u}\cdot\vec{v}=\vec{v}\cdot\vec{u}=x_1x_2+y_1y_2</a:t>
                </a:r>
                <a:r>
                  <a:rPr sz="2100">
                    <a:solidFill>
                      <a:srgbClr val="1E293B"/>
                    </a:solidFill>
                    <a:latin typeface="Calibri"/>
                  </a:rPr>
                  <a:t>.</a:t>
                </a:r>
              </a:p>
            </p:txBody>
          </p:sp>
        </mc:Fallback>
      </mc:AlternateContent>
      <p:sp>
        <p:nvSpPr>
          <p:cNvPr id="12" name="s3_nen"/>
          <p:cNvSpPr/>
          <p:nvPr/>
        </p:nvSpPr>
        <p:spPr>
          <a:xfrm>
            <a:off x="548640" y="3630168"/>
            <a:ext cx="11064240" cy="1847088"/>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3666744"/>
                <a:ext cx="10735056" cy="1773936"/>
              </a:xfrm>
              <a:prstGeom prst="rect">
                <a:avLst/>
              </a:prstGeom>
              <a:noFill/>
            </p:spPr>
            <p:txBody>
              <a:bodyPr wrap="square" anchor="ctr" lIns="45720" rIns="45720">
                <a:spAutoFit/>
              </a:bodyPr>
              <a:lstStyle/>
              <a:p>
                <a:pPr algn="l">
                  <a:spcAft>
                    <a:spcPts val="800"/>
                  </a:spcAft>
                </a:pPr>
                <a:r>
                  <a:rPr sz="2100">
                    <a:solidFill>
                      <a:srgbClr val="1E293B"/>
                    </a:solidFill>
                    <a:latin typeface="Calibri"/>
                  </a:rPr>
                  <a:t>Với ba vectơ </a:t>
                </a:r>
                <a14:m>
                  <m:oMath xmlns:m="http://schemas.openxmlformats.org/officeDocument/2006/math">
                    <m:acc>
                      <m:accPr>
                        <m:chr m:val="⃗"/>
                      </m:accPr>
                      <m:e>
                        <m:r>
                          <a:rPr lang="vi-VN" sz="2100" b="0">
                            <a:solidFill>
                              <a:srgbClr val="1E293B"/>
                            </a:solidFill>
                            <a:latin typeface="Cambria Math" panose="02040503050406030204" pitchFamily="18" charset="0"/>
                          </a:rPr>
                          <m:t>u</m:t>
                        </m:r>
                      </m:e>
                    </m:acc>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acc>
                      <m:accPr>
                        <m:chr m:val="⃗"/>
                      </m:accPr>
                      <m:e>
                        <m:r>
                          <a:rPr lang="vi-VN" sz="2100" b="0">
                            <a:solidFill>
                              <a:srgbClr val="1E293B"/>
                            </a:solidFill>
                            <a:latin typeface="Cambria Math" panose="02040503050406030204" pitchFamily="18" charset="0"/>
                          </a:rPr>
                          <m:t>v</m:t>
                        </m:r>
                      </m:e>
                    </m:acc>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acc>
                      <m:accPr>
                        <m:chr m:val="⃗"/>
                      </m:accPr>
                      <m:e>
                        <m:r>
                          <a:rPr lang="vi-VN" sz="2100" b="0">
                            <a:solidFill>
                              <a:srgbClr val="1E293B"/>
                            </a:solidFill>
                            <a:latin typeface="Cambria Math" panose="02040503050406030204" pitchFamily="18" charset="0"/>
                          </a:rPr>
                          <m:t>w</m:t>
                        </m:r>
                      </m:e>
                    </m:acc>
                  </m:oMath>
                </a14:m>
                <a:r>
                  <a:rPr sz="2100">
                    <a:solidFill>
                      <a:srgbClr val="1E293B"/>
                    </a:solidFill>
                    <a:latin typeface="Calibri"/>
                  </a:rPr>
                  <a:t> bất kì và mọi số thực </a:t>
                </a:r>
                <a14:m>
                  <m:oMath xmlns:m="http://schemas.openxmlformats.org/officeDocument/2006/math">
                    <m:r>
                      <a:rPr lang="vi-VN" sz="2100" b="0">
                        <a:solidFill>
                          <a:srgbClr val="1E293B"/>
                        </a:solidFill>
                        <a:latin typeface="Cambria Math" panose="02040503050406030204" pitchFamily="18" charset="0"/>
                      </a:rPr>
                      <m:t>k</m:t>
                    </m:r>
                  </m:oMath>
                </a14:m>
                <a:r>
                  <a:rPr sz="2100">
                    <a:solidFill>
                      <a:srgbClr val="1E293B"/>
                    </a:solidFill>
                    <a:latin typeface="Calibri"/>
                  </a:rPr>
                  <a:t>, ta có:</a:t>
                </a:r>
              </a:p>
              <a:p>
                <a:pPr algn="l" marL="365760" indent="-365760">
                  <a:spcAft>
                    <a:spcPts val="800"/>
                  </a:spcAft>
                  <a:buClr>
                    <a:srgbClr val="1E40AF"/>
                  </a:buClr>
                  <a:buFont typeface="Arial"/>
                  <a:buChar char="•"/>
                </a:pPr>
                <a14:m>
                  <m:oMath xmlns:m="http://schemas.openxmlformats.org/officeDocument/2006/math">
                    <m:acc>
                      <m:accPr>
                        <m:chr m:val="⃗"/>
                      </m:accPr>
                      <m:e>
                        <m:r>
                          <a:rPr lang="vi-VN" sz="2100" b="0">
                            <a:solidFill>
                              <a:srgbClr val="1E293B"/>
                            </a:solidFill>
                            <a:latin typeface="Cambria Math" panose="02040503050406030204" pitchFamily="18" charset="0"/>
                          </a:rPr>
                          <m:t>u</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v</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v</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u</m:t>
                        </m:r>
                      </m:e>
                    </m:acc>
                  </m:oMath>
                </a14:m>
                <a:r>
                  <a:rPr sz="2100">
                    <a:solidFill>
                      <a:srgbClr val="1E293B"/>
                    </a:solidFill>
                    <a:latin typeface="Calibri"/>
                  </a:rPr>
                  <a:t> (tính chất giao hoán);</a:t>
                </a:r>
              </a:p>
              <a:p>
                <a:pPr algn="l" marL="365760" indent="-365760">
                  <a:spcAft>
                    <a:spcPts val="800"/>
                  </a:spcAft>
                  <a:buClr>
                    <a:srgbClr val="1E40AF"/>
                  </a:buClr>
                  <a:buFont typeface="Arial"/>
                  <a:buChar char="•"/>
                </a:pPr>
                <a14:m>
                  <m:oMath xmlns:m="http://schemas.openxmlformats.org/officeDocument/2006/math">
                    <m:acc>
                      <m:accPr>
                        <m:chr m:val="⃗"/>
                      </m:accPr>
                      <m:e>
                        <m:r>
                          <a:rPr lang="vi-VN" sz="2100" b="0">
                            <a:solidFill>
                              <a:srgbClr val="1E293B"/>
                            </a:solidFill>
                            <a:latin typeface="Cambria Math" panose="02040503050406030204" pitchFamily="18" charset="0"/>
                          </a:rPr>
                          <m:t>u</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v</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w</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u</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v</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u</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w</m:t>
                        </m:r>
                      </m:e>
                    </m:acc>
                  </m:oMath>
                </a14:m>
                <a:r>
                  <a:rPr sz="2100">
                    <a:solidFill>
                      <a:srgbClr val="1E293B"/>
                    </a:solidFill>
                    <a:latin typeface="Calibri"/>
                  </a:rPr>
                  <a:t> (tính chất phân phối đối với phép cộng);</a:t>
                </a:r>
              </a:p>
              <a:p>
                <a:pPr algn="l" marL="365760" indent="-365760">
                  <a:spcAft>
                    <a:spcPts val="800"/>
                  </a:spcAft>
                  <a:buClr>
                    <a:srgbClr val="1E40AF"/>
                  </a:buClr>
                  <a:buFont typeface="Arial"/>
                  <a:buChar char="•"/>
                </a:pPr>
                <a14:m>
                  <m:oMath xmlns:m="http://schemas.openxmlformats.org/officeDocument/2006/math">
                    <m:d>
                      <m:dPr>
                        <m:sepChr m:val=""/>
                      </m:dPr>
                      <m:e>
                        <m:r>
                          <a:rPr lang="vi-VN" sz="2100" b="0">
                            <a:solidFill>
                              <a:srgbClr val="1E293B"/>
                            </a:solidFill>
                            <a:latin typeface="Cambria Math" panose="02040503050406030204" pitchFamily="18" charset="0"/>
                          </a:rPr>
                          <m:t>k</m:t>
                        </m:r>
                        <m:acc>
                          <m:accPr>
                            <m:chr m:val="⃗"/>
                          </m:accPr>
                          <m:e>
                            <m:r>
                              <a:rPr lang="vi-VN" sz="2100" b="0">
                                <a:solidFill>
                                  <a:srgbClr val="1E293B"/>
                                </a:solidFill>
                                <a:latin typeface="Cambria Math" panose="02040503050406030204" pitchFamily="18" charset="0"/>
                              </a:rPr>
                              <m:t>u</m:t>
                            </m:r>
                          </m:e>
                        </m:acc>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v</m:t>
                            </m:r>
                          </m:e>
                        </m:acc>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k</m:t>
                        </m:r>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u</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v</m:t>
                            </m:r>
                          </m:e>
                        </m:acc>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u</m:t>
                            </m:r>
                          </m:e>
                        </m:acc>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k</m:t>
                        </m:r>
                        <m:acc>
                          <m:accPr>
                            <m:chr m:val="⃗"/>
                          </m:accPr>
                          <m:e>
                            <m:r>
                              <a:rPr lang="vi-VN" sz="2100" b="0">
                                <a:solidFill>
                                  <a:srgbClr val="1E293B"/>
                                </a:solidFill>
                                <a:latin typeface="Cambria Math" panose="02040503050406030204" pitchFamily="18" charset="0"/>
                              </a:rPr>
                              <m:t>v</m:t>
                            </m:r>
                          </m:e>
                        </m:acc>
                      </m:e>
                    </m:d>
                  </m:oMath>
                </a14:m>
                <a:r>
                  <a:rPr sz="2100">
                    <a:solidFill>
                      <a:srgbClr val="1E293B"/>
                    </a:solidFill>
                    <a:latin typeface="Calibri"/>
                  </a:rPr>
                  <a:t>.</a:t>
                </a:r>
              </a:p>
            </p:txBody>
          </p:sp>
        </mc:Choice>
        <mc:Fallback>
          <p:sp>
            <p:nvSpPr>
              <p:cNvPr id="13" name="TextBox 12"/>
              <p:cNvSpPr txBox="1"/>
              <p:nvPr/>
            </p:nvSpPr>
            <p:spPr>
              <a:xfrm>
                <a:off x="713232" y="3666744"/>
                <a:ext cx="10735056" cy="1773936"/>
              </a:xfrm>
              <a:prstGeom prst="rect">
                <a:avLst/>
              </a:prstGeom>
              <a:noFill/>
            </p:spPr>
            <p:txBody>
              <a:bodyPr wrap="square" anchor="ctr" lIns="45720" rIns="45720">
                <a:spAutoFit/>
              </a:bodyPr>
              <a:lstStyle/>
              <a:p>
                <a:pPr algn="l">
                  <a:spcAft>
                    <a:spcPts val="800"/>
                  </a:spcAft>
                </a:pPr>
                <a:r>
                  <a:rPr sz="2100">
                    <a:solidFill>
                      <a:srgbClr val="1E293B"/>
                    </a:solidFill>
                    <a:latin typeface="Calibri"/>
                  </a:rPr>
                  <a:t>Với ba vectơ </a:t>
                </a:r>
                <a:r>
                  <a:rPr lang="vi-VN"/>
                  <a:t>\vec{u},\ \vec{v},\ \vec{w}</a:t>
                </a:r>
                <a:r>
                  <a:rPr sz="2100">
                    <a:solidFill>
                      <a:srgbClr val="1E293B"/>
                    </a:solidFill>
                    <a:latin typeface="Calibri"/>
                  </a:rPr>
                  <a:t> bất kì và mọi số thực </a:t>
                </a:r>
                <a:r>
                  <a:rPr lang="vi-VN"/>
                  <a:t>k</a:t>
                </a:r>
                <a:r>
                  <a:rPr sz="2100">
                    <a:solidFill>
                      <a:srgbClr val="1E293B"/>
                    </a:solidFill>
                    <a:latin typeface="Calibri"/>
                  </a:rPr>
                  <a:t>, ta có:</a:t>
                </a:r>
              </a:p>
              <a:p>
                <a:pPr algn="l" marL="365760" indent="-365760">
                  <a:spcAft>
                    <a:spcPts val="800"/>
                  </a:spcAft>
                  <a:buClr>
                    <a:srgbClr val="1E40AF"/>
                  </a:buClr>
                  <a:buFont typeface="Arial"/>
                  <a:buChar char="•"/>
                </a:pPr>
                <a:r>
                  <a:rPr lang="vi-VN"/>
                  <a:t>\vec{u}\cdot\vec{v}=\vec{v}\cdot\vec{u}</a:t>
                </a:r>
                <a:r>
                  <a:rPr sz="2100">
                    <a:solidFill>
                      <a:srgbClr val="1E293B"/>
                    </a:solidFill>
                    <a:latin typeface="Calibri"/>
                  </a:rPr>
                  <a:t> (tính chất giao hoán);</a:t>
                </a:r>
              </a:p>
              <a:p>
                <a:pPr algn="l" marL="365760" indent="-365760">
                  <a:spcAft>
                    <a:spcPts val="800"/>
                  </a:spcAft>
                  <a:buClr>
                    <a:srgbClr val="1E40AF"/>
                  </a:buClr>
                  <a:buFont typeface="Arial"/>
                  <a:buChar char="•"/>
                </a:pPr>
                <a:r>
                  <a:rPr lang="vi-VN"/>
                  <a:t>\vec{u}\cdot(\vec{v}+\vec{w})=\vec{u}\cdot\vec{v}+\vec{u}\cdot\vec{w}</a:t>
                </a:r>
                <a:r>
                  <a:rPr sz="2100">
                    <a:solidFill>
                      <a:srgbClr val="1E293B"/>
                    </a:solidFill>
                    <a:latin typeface="Calibri"/>
                  </a:rPr>
                  <a:t> (tính chất phân phối đối với phép cộng);</a:t>
                </a:r>
              </a:p>
              <a:p>
                <a:pPr algn="l" marL="365760" indent="-365760">
                  <a:spcAft>
                    <a:spcPts val="800"/>
                  </a:spcAft>
                  <a:buClr>
                    <a:srgbClr val="1E40AF"/>
                  </a:buClr>
                  <a:buFont typeface="Arial"/>
                  <a:buChar char="•"/>
                </a:pPr>
                <a:r>
                  <a:rPr lang="vi-VN"/>
                  <a:t>(k\vec{u})\cdot\vec{v}=k(\vec{u}\cdot\vec{v})=\vec{u}\cdot(k\vec{v})</a:t>
                </a:r>
                <a:r>
                  <a:rPr sz="21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CHÚ Ý – HẰNG ĐẲNG THỨC VECTƠ</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23</a:t>
            </a:r>
          </a:p>
        </p:txBody>
      </p:sp>
      <p:sp>
        <p:nvSpPr>
          <p:cNvPr id="7" name="Rounded Rectangle 6"/>
          <p:cNvSpPr/>
          <p:nvPr/>
        </p:nvSpPr>
        <p:spPr>
          <a:xfrm>
            <a:off x="548640" y="1645920"/>
            <a:ext cx="11064240" cy="1609344"/>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682496"/>
                <a:ext cx="10735056" cy="1536192"/>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14:m>
                  <m:oMath xmlns:m="http://schemas.openxmlformats.org/officeDocument/2006/math">
                    <m:acc>
                      <m:accPr>
                        <m:chr m:val="⃗"/>
                      </m:accPr>
                      <m:e>
                        <m:r>
                          <a:rPr lang="vi-VN" sz="2500" b="0">
                            <a:solidFill>
                              <a:srgbClr val="1E293B"/>
                            </a:solidFill>
                            <a:latin typeface="Cambria Math" panose="02040503050406030204" pitchFamily="18" charset="0"/>
                          </a:rPr>
                          <m:t>u</m:t>
                        </m:r>
                      </m:e>
                    </m:acc>
                    <m:r>
                      <a:rPr lang="vi-VN" sz="2500" b="0">
                        <a:solidFill>
                          <a:srgbClr val="1E293B"/>
                        </a:solidFill>
                        <a:latin typeface="Cambria Math" panose="02040503050406030204" pitchFamily="18" charset="0"/>
                      </a:rPr>
                      <m:t>·(</m:t>
                    </m:r>
                    <m:acc>
                      <m:accPr>
                        <m:chr m:val="⃗"/>
                      </m:accPr>
                      <m:e>
                        <m:r>
                          <a:rPr lang="vi-VN" sz="2500" b="0">
                            <a:solidFill>
                              <a:srgbClr val="1E293B"/>
                            </a:solidFill>
                            <a:latin typeface="Cambria Math" panose="02040503050406030204" pitchFamily="18" charset="0"/>
                          </a:rPr>
                          <m:t>v</m:t>
                        </m:r>
                      </m:e>
                    </m:acc>
                    <m:r>
                      <a:rPr lang="vi-VN" sz="2500" b="0">
                        <a:solidFill>
                          <a:srgbClr val="1E293B"/>
                        </a:solidFill>
                        <a:latin typeface="Cambria Math" panose="02040503050406030204" pitchFamily="18" charset="0"/>
                      </a:rPr>
                      <m:t>−</m:t>
                    </m:r>
                    <m:acc>
                      <m:accPr>
                        <m:chr m:val="⃗"/>
                      </m:accPr>
                      <m:e>
                        <m:r>
                          <a:rPr lang="vi-VN" sz="2500" b="0">
                            <a:solidFill>
                              <a:srgbClr val="1E293B"/>
                            </a:solidFill>
                            <a:latin typeface="Cambria Math" panose="02040503050406030204" pitchFamily="18" charset="0"/>
                          </a:rPr>
                          <m:t>w</m:t>
                        </m:r>
                      </m:e>
                    </m:acc>
                    <m:r>
                      <a:rPr lang="vi-VN" sz="2500" b="0">
                        <a:solidFill>
                          <a:srgbClr val="1E293B"/>
                        </a:solidFill>
                        <a:latin typeface="Cambria Math" panose="02040503050406030204" pitchFamily="18" charset="0"/>
                      </a:rPr>
                      <m:t>)=</m:t>
                    </m:r>
                    <m:acc>
                      <m:accPr>
                        <m:chr m:val="⃗"/>
                      </m:accPr>
                      <m:e>
                        <m:r>
                          <a:rPr lang="vi-VN" sz="2500" b="0">
                            <a:solidFill>
                              <a:srgbClr val="1E293B"/>
                            </a:solidFill>
                            <a:latin typeface="Cambria Math" panose="02040503050406030204" pitchFamily="18" charset="0"/>
                          </a:rPr>
                          <m:t>u</m:t>
                        </m:r>
                      </m:e>
                    </m:acc>
                    <m:r>
                      <a:rPr lang="vi-VN" sz="2500" b="0">
                        <a:solidFill>
                          <a:srgbClr val="1E293B"/>
                        </a:solidFill>
                        <a:latin typeface="Cambria Math" panose="02040503050406030204" pitchFamily="18" charset="0"/>
                      </a:rPr>
                      <m:t>·</m:t>
                    </m:r>
                    <m:acc>
                      <m:accPr>
                        <m:chr m:val="⃗"/>
                      </m:accPr>
                      <m:e>
                        <m:r>
                          <a:rPr lang="vi-VN" sz="2500" b="0">
                            <a:solidFill>
                              <a:srgbClr val="1E293B"/>
                            </a:solidFill>
                            <a:latin typeface="Cambria Math" panose="02040503050406030204" pitchFamily="18" charset="0"/>
                          </a:rPr>
                          <m:t>v</m:t>
                        </m:r>
                      </m:e>
                    </m:acc>
                    <m:r>
                      <a:rPr lang="vi-VN" sz="2500" b="0">
                        <a:solidFill>
                          <a:srgbClr val="1E293B"/>
                        </a:solidFill>
                        <a:latin typeface="Cambria Math" panose="02040503050406030204" pitchFamily="18" charset="0"/>
                      </a:rPr>
                      <m:t>−</m:t>
                    </m:r>
                    <m:acc>
                      <m:accPr>
                        <m:chr m:val="⃗"/>
                      </m:accPr>
                      <m:e>
                        <m:r>
                          <a:rPr lang="vi-VN" sz="2500" b="0">
                            <a:solidFill>
                              <a:srgbClr val="1E293B"/>
                            </a:solidFill>
                            <a:latin typeface="Cambria Math" panose="02040503050406030204" pitchFamily="18" charset="0"/>
                          </a:rPr>
                          <m:t>u</m:t>
                        </m:r>
                      </m:e>
                    </m:acc>
                    <m:r>
                      <a:rPr lang="vi-VN" sz="2500" b="0">
                        <a:solidFill>
                          <a:srgbClr val="1E293B"/>
                        </a:solidFill>
                        <a:latin typeface="Cambria Math" panose="02040503050406030204" pitchFamily="18" charset="0"/>
                      </a:rPr>
                      <m:t>·</m:t>
                    </m:r>
                    <m:acc>
                      <m:accPr>
                        <m:chr m:val="⃗"/>
                      </m:accPr>
                      <m:e>
                        <m:r>
                          <a:rPr lang="vi-VN" sz="2500" b="0">
                            <a:solidFill>
                              <a:srgbClr val="1E293B"/>
                            </a:solidFill>
                            <a:latin typeface="Cambria Math" panose="02040503050406030204" pitchFamily="18" charset="0"/>
                          </a:rPr>
                          <m:t>w</m:t>
                        </m:r>
                      </m:e>
                    </m:acc>
                  </m:oMath>
                </a14:m>
                <a:r>
                  <a:rPr sz="2500">
                    <a:solidFill>
                      <a:srgbClr val="1E293B"/>
                    </a:solidFill>
                    <a:latin typeface="Calibri"/>
                  </a:rPr>
                  <a:t> (tính chất phân phối đối với phép trừ);</a:t>
                </a:r>
              </a:p>
              <a:p>
                <a:pPr algn="l" marL="365760" indent="-365760">
                  <a:spcAft>
                    <a:spcPts val="800"/>
                  </a:spcAft>
                  <a:buClr>
                    <a:srgbClr val="1E40AF"/>
                  </a:buClr>
                  <a:buFont typeface="Arial"/>
                  <a:buChar char="•"/>
                </a:pPr>
                <a14:m>
                  <m:oMath xmlns:m="http://schemas.openxmlformats.org/officeDocument/2006/math">
                    <m:d>
                      <m:dPr>
                        <m:sepChr m:val=""/>
                        <m:endChr m:val=""/>
                      </m:dPr>
                      <m:e>
                        <m:acc>
                          <m:accPr>
                            <m:chr m:val="⃗"/>
                          </m:accPr>
                          <m:e>
                            <m:r>
                              <a:rPr lang="vi-VN" sz="2500" b="0">
                                <a:solidFill>
                                  <a:srgbClr val="1E293B"/>
                                </a:solidFill>
                                <a:latin typeface="Cambria Math" panose="02040503050406030204" pitchFamily="18" charset="0"/>
                              </a:rPr>
                              <m:t>u</m:t>
                            </m:r>
                          </m:e>
                        </m:acc>
                        <m:r>
                          <a:rPr lang="vi-VN" sz="2500" b="0">
                            <a:solidFill>
                              <a:srgbClr val="1E293B"/>
                            </a:solidFill>
                            <a:latin typeface="Cambria Math" panose="02040503050406030204" pitchFamily="18" charset="0"/>
                          </a:rPr>
                          <m:t>+</m:t>
                        </m:r>
                        <m:acc>
                          <m:accPr>
                            <m:chr m:val="⃗"/>
                          </m:accPr>
                          <m:e>
                            <m:r>
                              <a:rPr lang="vi-VN" sz="2500" b="0">
                                <a:solidFill>
                                  <a:srgbClr val="1E293B"/>
                                </a:solidFill>
                                <a:latin typeface="Cambria Math" panose="02040503050406030204" pitchFamily="18" charset="0"/>
                              </a:rPr>
                              <m:t>v</m:t>
                            </m:r>
                          </m:e>
                        </m:acc>
                        <m:sSup>
                          <m:e>
                            <m:r>
                              <a:rPr lang="vi-VN" sz="2500" b="0">
                                <a:solidFill>
                                  <a:srgbClr val="1E293B"/>
                                </a:solidFill>
                                <a:latin typeface="Cambria Math" panose="02040503050406030204" pitchFamily="18" charset="0"/>
                              </a:rPr>
                              <m:t>)</m:t>
                            </m:r>
                          </m:e>
                          <m:sup>
                            <m:r>
                              <a:rPr lang="vi-VN" sz="2500" b="0">
                                <a:solidFill>
                                  <a:srgbClr val="1E293B"/>
                                </a:solidFill>
                                <a:latin typeface="Cambria Math" panose="02040503050406030204" pitchFamily="18" charset="0"/>
                              </a:rPr>
                              <m:t>2</m:t>
                            </m:r>
                          </m:sup>
                        </m:sSup>
                        <m:r>
                          <a:rPr lang="vi-VN" sz="2500" b="0">
                            <a:solidFill>
                              <a:srgbClr val="1E293B"/>
                            </a:solidFill>
                            <a:latin typeface="Cambria Math" panose="02040503050406030204" pitchFamily="18" charset="0"/>
                          </a:rPr>
                          <m:t>=</m:t>
                        </m:r>
                        <m:sSup>
                          <m:e>
                            <m:acc>
                              <m:accPr>
                                <m:chr m:val="⃗"/>
                              </m:accPr>
                              <m:e>
                                <m:r>
                                  <a:rPr lang="vi-VN" sz="2500" b="0">
                                    <a:solidFill>
                                      <a:srgbClr val="1E293B"/>
                                    </a:solidFill>
                                    <a:latin typeface="Cambria Math" panose="02040503050406030204" pitchFamily="18" charset="0"/>
                                  </a:rPr>
                                  <m:t>u</m:t>
                                </m:r>
                              </m:e>
                            </m:acc>
                          </m:e>
                          <m:sup>
                            <m:r>
                              <a:rPr lang="vi-VN" sz="2500" b="0">
                                <a:solidFill>
                                  <a:srgbClr val="1E293B"/>
                                </a:solidFill>
                                <a:latin typeface="Cambria Math" panose="02040503050406030204" pitchFamily="18" charset="0"/>
                              </a:rPr>
                              <m:t>2</m:t>
                            </m:r>
                          </m:sup>
                        </m:sSup>
                        <m:r>
                          <a:rPr lang="vi-VN" sz="2500" b="0">
                            <a:solidFill>
                              <a:srgbClr val="1E293B"/>
                            </a:solidFill>
                            <a:latin typeface="Cambria Math" panose="02040503050406030204" pitchFamily="18" charset="0"/>
                          </a:rPr>
                          <m:t>+</m:t>
                        </m:r>
                        <m:r>
                          <a:rPr lang="vi-VN" sz="2500" b="0">
                            <a:solidFill>
                              <a:srgbClr val="1E293B"/>
                            </a:solidFill>
                            <a:latin typeface="Cambria Math" panose="02040503050406030204" pitchFamily="18" charset="0"/>
                          </a:rPr>
                          <m:t>2</m:t>
                        </m:r>
                        <m:acc>
                          <m:accPr>
                            <m:chr m:val="⃗"/>
                          </m:accPr>
                          <m:e>
                            <m:r>
                              <a:rPr lang="vi-VN" sz="2500" b="0">
                                <a:solidFill>
                                  <a:srgbClr val="1E293B"/>
                                </a:solidFill>
                                <a:latin typeface="Cambria Math" panose="02040503050406030204" pitchFamily="18" charset="0"/>
                              </a:rPr>
                              <m:t>u</m:t>
                            </m:r>
                          </m:e>
                        </m:acc>
                        <m:r>
                          <a:rPr lang="vi-VN" sz="2500" b="0">
                            <a:solidFill>
                              <a:srgbClr val="1E293B"/>
                            </a:solidFill>
                            <a:latin typeface="Cambria Math" panose="02040503050406030204" pitchFamily="18" charset="0"/>
                          </a:rPr>
                          <m:t>·</m:t>
                        </m:r>
                        <m:acc>
                          <m:accPr>
                            <m:chr m:val="⃗"/>
                          </m:accPr>
                          <m:e>
                            <m:r>
                              <a:rPr lang="vi-VN" sz="2500" b="0">
                                <a:solidFill>
                                  <a:srgbClr val="1E293B"/>
                                </a:solidFill>
                                <a:latin typeface="Cambria Math" panose="02040503050406030204" pitchFamily="18" charset="0"/>
                              </a:rPr>
                              <m:t>v</m:t>
                            </m:r>
                          </m:e>
                        </m:acc>
                        <m:r>
                          <a:rPr lang="vi-VN" sz="2500" b="0">
                            <a:solidFill>
                              <a:srgbClr val="1E293B"/>
                            </a:solidFill>
                            <a:latin typeface="Cambria Math" panose="02040503050406030204" pitchFamily="18" charset="0"/>
                          </a:rPr>
                          <m:t>+</m:t>
                        </m:r>
                        <m:sSup>
                          <m:e>
                            <m:acc>
                              <m:accPr>
                                <m:chr m:val="⃗"/>
                              </m:accPr>
                              <m:e>
                                <m:r>
                                  <a:rPr lang="vi-VN" sz="2500" b="0">
                                    <a:solidFill>
                                      <a:srgbClr val="1E293B"/>
                                    </a:solidFill>
                                    <a:latin typeface="Cambria Math" panose="02040503050406030204" pitchFamily="18" charset="0"/>
                                  </a:rPr>
                                  <m:t>v</m:t>
                                </m:r>
                              </m:e>
                            </m:acc>
                          </m:e>
                          <m:sup>
                            <m:r>
                              <a:rPr lang="vi-VN" sz="2500" b="0">
                                <a:solidFill>
                                  <a:srgbClr val="1E293B"/>
                                </a:solidFill>
                                <a:latin typeface="Cambria Math" panose="02040503050406030204" pitchFamily="18" charset="0"/>
                              </a:rPr>
                              <m:t>2</m:t>
                            </m:r>
                          </m:sup>
                        </m:sSup>
                      </m:e>
                    </m:d>
                  </m:oMath>
                </a14:m>
                <a:r>
                  <a:rPr sz="2500">
                    <a:solidFill>
                      <a:srgbClr val="1E293B"/>
                    </a:solidFill>
                    <a:latin typeface="Calibri"/>
                  </a:rPr>
                  <a:t>;  </a:t>
                </a:r>
                <a14:m>
                  <m:oMath xmlns:m="http://schemas.openxmlformats.org/officeDocument/2006/math">
                    <m:d>
                      <m:dPr>
                        <m:sepChr m:val=""/>
                        <m:endChr m:val=""/>
                      </m:dPr>
                      <m:e>
                        <m:acc>
                          <m:accPr>
                            <m:chr m:val="⃗"/>
                          </m:accPr>
                          <m:e>
                            <m:r>
                              <a:rPr lang="vi-VN" sz="2500" b="0">
                                <a:solidFill>
                                  <a:srgbClr val="1E293B"/>
                                </a:solidFill>
                                <a:latin typeface="Cambria Math" panose="02040503050406030204" pitchFamily="18" charset="0"/>
                              </a:rPr>
                              <m:t>u</m:t>
                            </m:r>
                          </m:e>
                        </m:acc>
                        <m:r>
                          <a:rPr lang="vi-VN" sz="2500" b="0">
                            <a:solidFill>
                              <a:srgbClr val="1E293B"/>
                            </a:solidFill>
                            <a:latin typeface="Cambria Math" panose="02040503050406030204" pitchFamily="18" charset="0"/>
                          </a:rPr>
                          <m:t>−</m:t>
                        </m:r>
                        <m:acc>
                          <m:accPr>
                            <m:chr m:val="⃗"/>
                          </m:accPr>
                          <m:e>
                            <m:r>
                              <a:rPr lang="vi-VN" sz="2500" b="0">
                                <a:solidFill>
                                  <a:srgbClr val="1E293B"/>
                                </a:solidFill>
                                <a:latin typeface="Cambria Math" panose="02040503050406030204" pitchFamily="18" charset="0"/>
                              </a:rPr>
                              <m:t>v</m:t>
                            </m:r>
                          </m:e>
                        </m:acc>
                        <m:sSup>
                          <m:e>
                            <m:r>
                              <a:rPr lang="vi-VN" sz="2500" b="0">
                                <a:solidFill>
                                  <a:srgbClr val="1E293B"/>
                                </a:solidFill>
                                <a:latin typeface="Cambria Math" panose="02040503050406030204" pitchFamily="18" charset="0"/>
                              </a:rPr>
                              <m:t>)</m:t>
                            </m:r>
                          </m:e>
                          <m:sup>
                            <m:r>
                              <a:rPr lang="vi-VN" sz="2500" b="0">
                                <a:solidFill>
                                  <a:srgbClr val="1E293B"/>
                                </a:solidFill>
                                <a:latin typeface="Cambria Math" panose="02040503050406030204" pitchFamily="18" charset="0"/>
                              </a:rPr>
                              <m:t>2</m:t>
                            </m:r>
                          </m:sup>
                        </m:sSup>
                        <m:r>
                          <a:rPr lang="vi-VN" sz="2500" b="0">
                            <a:solidFill>
                              <a:srgbClr val="1E293B"/>
                            </a:solidFill>
                            <a:latin typeface="Cambria Math" panose="02040503050406030204" pitchFamily="18" charset="0"/>
                          </a:rPr>
                          <m:t>=</m:t>
                        </m:r>
                        <m:sSup>
                          <m:e>
                            <m:acc>
                              <m:accPr>
                                <m:chr m:val="⃗"/>
                              </m:accPr>
                              <m:e>
                                <m:r>
                                  <a:rPr lang="vi-VN" sz="2500" b="0">
                                    <a:solidFill>
                                      <a:srgbClr val="1E293B"/>
                                    </a:solidFill>
                                    <a:latin typeface="Cambria Math" panose="02040503050406030204" pitchFamily="18" charset="0"/>
                                  </a:rPr>
                                  <m:t>u</m:t>
                                </m:r>
                              </m:e>
                            </m:acc>
                          </m:e>
                          <m:sup>
                            <m:r>
                              <a:rPr lang="vi-VN" sz="2500" b="0">
                                <a:solidFill>
                                  <a:srgbClr val="1E293B"/>
                                </a:solidFill>
                                <a:latin typeface="Cambria Math" panose="02040503050406030204" pitchFamily="18" charset="0"/>
                              </a:rPr>
                              <m:t>2</m:t>
                            </m:r>
                          </m:sup>
                        </m:sSup>
                        <m:r>
                          <a:rPr lang="vi-VN" sz="2500" b="0">
                            <a:solidFill>
                              <a:srgbClr val="1E293B"/>
                            </a:solidFill>
                            <a:latin typeface="Cambria Math" panose="02040503050406030204" pitchFamily="18" charset="0"/>
                          </a:rPr>
                          <m:t>−</m:t>
                        </m:r>
                        <m:r>
                          <a:rPr lang="vi-VN" sz="2500" b="0">
                            <a:solidFill>
                              <a:srgbClr val="1E293B"/>
                            </a:solidFill>
                            <a:latin typeface="Cambria Math" panose="02040503050406030204" pitchFamily="18" charset="0"/>
                          </a:rPr>
                          <m:t>2</m:t>
                        </m:r>
                        <m:acc>
                          <m:accPr>
                            <m:chr m:val="⃗"/>
                          </m:accPr>
                          <m:e>
                            <m:r>
                              <a:rPr lang="vi-VN" sz="2500" b="0">
                                <a:solidFill>
                                  <a:srgbClr val="1E293B"/>
                                </a:solidFill>
                                <a:latin typeface="Cambria Math" panose="02040503050406030204" pitchFamily="18" charset="0"/>
                              </a:rPr>
                              <m:t>u</m:t>
                            </m:r>
                          </m:e>
                        </m:acc>
                        <m:r>
                          <a:rPr lang="vi-VN" sz="2500" b="0">
                            <a:solidFill>
                              <a:srgbClr val="1E293B"/>
                            </a:solidFill>
                            <a:latin typeface="Cambria Math" panose="02040503050406030204" pitchFamily="18" charset="0"/>
                          </a:rPr>
                          <m:t>·</m:t>
                        </m:r>
                        <m:acc>
                          <m:accPr>
                            <m:chr m:val="⃗"/>
                          </m:accPr>
                          <m:e>
                            <m:r>
                              <a:rPr lang="vi-VN" sz="2500" b="0">
                                <a:solidFill>
                                  <a:srgbClr val="1E293B"/>
                                </a:solidFill>
                                <a:latin typeface="Cambria Math" panose="02040503050406030204" pitchFamily="18" charset="0"/>
                              </a:rPr>
                              <m:t>v</m:t>
                            </m:r>
                          </m:e>
                        </m:acc>
                        <m:r>
                          <a:rPr lang="vi-VN" sz="2500" b="0">
                            <a:solidFill>
                              <a:srgbClr val="1E293B"/>
                            </a:solidFill>
                            <a:latin typeface="Cambria Math" panose="02040503050406030204" pitchFamily="18" charset="0"/>
                          </a:rPr>
                          <m:t>+</m:t>
                        </m:r>
                        <m:sSup>
                          <m:e>
                            <m:acc>
                              <m:accPr>
                                <m:chr m:val="⃗"/>
                              </m:accPr>
                              <m:e>
                                <m:r>
                                  <a:rPr lang="vi-VN" sz="2500" b="0">
                                    <a:solidFill>
                                      <a:srgbClr val="1E293B"/>
                                    </a:solidFill>
                                    <a:latin typeface="Cambria Math" panose="02040503050406030204" pitchFamily="18" charset="0"/>
                                  </a:rPr>
                                  <m:t>v</m:t>
                                </m:r>
                              </m:e>
                            </m:acc>
                          </m:e>
                          <m:sup>
                            <m:r>
                              <a:rPr lang="vi-VN" sz="2500" b="0">
                                <a:solidFill>
                                  <a:srgbClr val="1E293B"/>
                                </a:solidFill>
                                <a:latin typeface="Cambria Math" panose="02040503050406030204" pitchFamily="18" charset="0"/>
                              </a:rPr>
                              <m:t>2</m:t>
                            </m:r>
                          </m:sup>
                        </m:sSup>
                      </m:e>
                    </m:d>
                  </m:oMath>
                </a14:m>
                <a:r>
                  <a:rPr sz="2500">
                    <a:solidFill>
                      <a:srgbClr val="1E293B"/>
                    </a:solidFill>
                    <a:latin typeface="Calibri"/>
                  </a:rPr>
                  <a:t>;</a:t>
                </a:r>
              </a:p>
              <a:p>
                <a:pPr algn="l" marL="365760" indent="-365760">
                  <a:spcAft>
                    <a:spcPts val="800"/>
                  </a:spcAft>
                  <a:buClr>
                    <a:srgbClr val="1E40AF"/>
                  </a:buClr>
                  <a:buFont typeface="Arial"/>
                  <a:buChar char="•"/>
                </a:pPr>
                <a14:m>
                  <m:oMath xmlns:m="http://schemas.openxmlformats.org/officeDocument/2006/math">
                    <m:r>
                      <a:rPr lang="vi-VN" sz="2500" b="0">
                        <a:solidFill>
                          <a:srgbClr val="1E293B"/>
                        </a:solidFill>
                        <a:latin typeface="Cambria Math" panose="02040503050406030204" pitchFamily="18" charset="0"/>
                      </a:rPr>
                      <m:t>(</m:t>
                    </m:r>
                    <m:acc>
                      <m:accPr>
                        <m:chr m:val="⃗"/>
                      </m:accPr>
                      <m:e>
                        <m:r>
                          <a:rPr lang="vi-VN" sz="2500" b="0">
                            <a:solidFill>
                              <a:srgbClr val="1E293B"/>
                            </a:solidFill>
                            <a:latin typeface="Cambria Math" panose="02040503050406030204" pitchFamily="18" charset="0"/>
                          </a:rPr>
                          <m:t>u</m:t>
                        </m:r>
                      </m:e>
                    </m:acc>
                    <m:r>
                      <a:rPr lang="vi-VN" sz="2500" b="0">
                        <a:solidFill>
                          <a:srgbClr val="1E293B"/>
                        </a:solidFill>
                        <a:latin typeface="Cambria Math" panose="02040503050406030204" pitchFamily="18" charset="0"/>
                      </a:rPr>
                      <m:t>+</m:t>
                    </m:r>
                    <m:acc>
                      <m:accPr>
                        <m:chr m:val="⃗"/>
                      </m:accPr>
                      <m:e>
                        <m:r>
                          <a:rPr lang="vi-VN" sz="2500" b="0">
                            <a:solidFill>
                              <a:srgbClr val="1E293B"/>
                            </a:solidFill>
                            <a:latin typeface="Cambria Math" panose="02040503050406030204" pitchFamily="18" charset="0"/>
                          </a:rPr>
                          <m:t>v</m:t>
                        </m:r>
                      </m:e>
                    </m:acc>
                    <m:r>
                      <a:rPr lang="vi-VN" sz="2500" b="0">
                        <a:solidFill>
                          <a:srgbClr val="1E293B"/>
                        </a:solidFill>
                        <a:latin typeface="Cambria Math" panose="02040503050406030204" pitchFamily="18" charset="0"/>
                      </a:rPr>
                      <m:t>)·(</m:t>
                    </m:r>
                    <m:acc>
                      <m:accPr>
                        <m:chr m:val="⃗"/>
                      </m:accPr>
                      <m:e>
                        <m:r>
                          <a:rPr lang="vi-VN" sz="2500" b="0">
                            <a:solidFill>
                              <a:srgbClr val="1E293B"/>
                            </a:solidFill>
                            <a:latin typeface="Cambria Math" panose="02040503050406030204" pitchFamily="18" charset="0"/>
                          </a:rPr>
                          <m:t>u</m:t>
                        </m:r>
                      </m:e>
                    </m:acc>
                    <m:r>
                      <a:rPr lang="vi-VN" sz="2500" b="0">
                        <a:solidFill>
                          <a:srgbClr val="1E293B"/>
                        </a:solidFill>
                        <a:latin typeface="Cambria Math" panose="02040503050406030204" pitchFamily="18" charset="0"/>
                      </a:rPr>
                      <m:t>−</m:t>
                    </m:r>
                    <m:acc>
                      <m:accPr>
                        <m:chr m:val="⃗"/>
                      </m:accPr>
                      <m:e>
                        <m:r>
                          <a:rPr lang="vi-VN" sz="2500" b="0">
                            <a:solidFill>
                              <a:srgbClr val="1E293B"/>
                            </a:solidFill>
                            <a:latin typeface="Cambria Math" panose="02040503050406030204" pitchFamily="18" charset="0"/>
                          </a:rPr>
                          <m:t>v</m:t>
                        </m:r>
                      </m:e>
                    </m:acc>
                    <m:r>
                      <a:rPr lang="vi-VN" sz="2500" b="0">
                        <a:solidFill>
                          <a:srgbClr val="1E293B"/>
                        </a:solidFill>
                        <a:latin typeface="Cambria Math" panose="02040503050406030204" pitchFamily="18" charset="0"/>
                      </a:rPr>
                      <m:t>)=</m:t>
                    </m:r>
                    <m:sSup>
                      <m:e>
                        <m:acc>
                          <m:accPr>
                            <m:chr m:val="⃗"/>
                          </m:accPr>
                          <m:e>
                            <m:r>
                              <a:rPr lang="vi-VN" sz="2500" b="0">
                                <a:solidFill>
                                  <a:srgbClr val="1E293B"/>
                                </a:solidFill>
                                <a:latin typeface="Cambria Math" panose="02040503050406030204" pitchFamily="18" charset="0"/>
                              </a:rPr>
                              <m:t>u</m:t>
                            </m:r>
                          </m:e>
                        </m:acc>
                      </m:e>
                      <m:sup>
                        <m:r>
                          <a:rPr lang="vi-VN" sz="2500" b="0">
                            <a:solidFill>
                              <a:srgbClr val="1E293B"/>
                            </a:solidFill>
                            <a:latin typeface="Cambria Math" panose="02040503050406030204" pitchFamily="18" charset="0"/>
                          </a:rPr>
                          <m:t>2</m:t>
                        </m:r>
                      </m:sup>
                    </m:sSup>
                    <m:r>
                      <a:rPr lang="vi-VN" sz="2500" b="0">
                        <a:solidFill>
                          <a:srgbClr val="1E293B"/>
                        </a:solidFill>
                        <a:latin typeface="Cambria Math" panose="02040503050406030204" pitchFamily="18" charset="0"/>
                      </a:rPr>
                      <m:t>−</m:t>
                    </m:r>
                    <m:sSup>
                      <m:e>
                        <m:acc>
                          <m:accPr>
                            <m:chr m:val="⃗"/>
                          </m:accPr>
                          <m:e>
                            <m:r>
                              <a:rPr lang="vi-VN" sz="2500" b="0">
                                <a:solidFill>
                                  <a:srgbClr val="1E293B"/>
                                </a:solidFill>
                                <a:latin typeface="Cambria Math" panose="02040503050406030204" pitchFamily="18" charset="0"/>
                              </a:rPr>
                              <m:t>v</m:t>
                            </m:r>
                          </m:e>
                        </m:acc>
                      </m:e>
                      <m:sup>
                        <m:r>
                          <a:rPr lang="vi-VN" sz="2500" b="0">
                            <a:solidFill>
                              <a:srgbClr val="1E293B"/>
                            </a:solidFill>
                            <a:latin typeface="Cambria Math" panose="02040503050406030204" pitchFamily="18" charset="0"/>
                          </a:rPr>
                          <m:t>2</m:t>
                        </m:r>
                      </m:sup>
                    </m:sSup>
                  </m:oMath>
                </a14:m>
                <a:r>
                  <a:rPr sz="2500">
                    <a:solidFill>
                      <a:srgbClr val="1E293B"/>
                    </a:solidFill>
                    <a:latin typeface="Calibri"/>
                  </a:rPr>
                  <a:t>.</a:t>
                </a:r>
              </a:p>
            </p:txBody>
          </p:sp>
        </mc:Choice>
        <mc:Fallback>
          <p:sp>
            <p:nvSpPr>
              <p:cNvPr id="8" name="TextBox 7"/>
              <p:cNvSpPr txBox="1"/>
              <p:nvPr/>
            </p:nvSpPr>
            <p:spPr>
              <a:xfrm>
                <a:off x="713232" y="1682496"/>
                <a:ext cx="10735056" cy="1536192"/>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lang="vi-VN"/>
                  <a:t>\vec{u}\cdot(\vec{v}-\vec{w})=\vec{u}\cdot\vec{v}-\vec{u}\cdot\vec{w}</a:t>
                </a:r>
                <a:r>
                  <a:rPr sz="2500">
                    <a:solidFill>
                      <a:srgbClr val="1E293B"/>
                    </a:solidFill>
                    <a:latin typeface="Calibri"/>
                  </a:rPr>
                  <a:t> (tính chất phân phối đối với phép trừ);</a:t>
                </a:r>
              </a:p>
              <a:p>
                <a:pPr algn="l" marL="365760" indent="-365760">
                  <a:spcAft>
                    <a:spcPts val="800"/>
                  </a:spcAft>
                  <a:buClr>
                    <a:srgbClr val="1E40AF"/>
                  </a:buClr>
                  <a:buFont typeface="Arial"/>
                  <a:buChar char="•"/>
                </a:pPr>
                <a:r>
                  <a:rPr lang="vi-VN"/>
                  <a:t>(\vec{u}+\vec{v})^2=\vec{u}^2+2\vec{u}\cdot\vec{v}+\vec{v}^2</a:t>
                </a:r>
                <a:r>
                  <a:rPr sz="2500">
                    <a:solidFill>
                      <a:srgbClr val="1E293B"/>
                    </a:solidFill>
                    <a:latin typeface="Calibri"/>
                  </a:rPr>
                  <a:t>;  </a:t>
                </a:r>
                <a:r>
                  <a:rPr lang="vi-VN"/>
                  <a:t>(\vec{u}-\vec{v})^2=\vec{u}^2-2\vec{u}\cdot\vec{v}+\vec{v}^2</a:t>
                </a:r>
                <a:r>
                  <a:rPr sz="2500">
                    <a:solidFill>
                      <a:srgbClr val="1E293B"/>
                    </a:solidFill>
                    <a:latin typeface="Calibri"/>
                  </a:rPr>
                  <a:t>;</a:t>
                </a:r>
              </a:p>
              <a:p>
                <a:pPr algn="l" marL="365760" indent="-365760">
                  <a:spcAft>
                    <a:spcPts val="800"/>
                  </a:spcAft>
                  <a:buClr>
                    <a:srgbClr val="1E40AF"/>
                  </a:buClr>
                  <a:buFont typeface="Arial"/>
                  <a:buChar char="•"/>
                </a:pPr>
                <a:r>
                  <a:rPr lang="vi-VN"/>
                  <a:t>(\vec{u}+\vec{v})\cdot(\vec{u}-\vec{v})=\vec{u}^2-\vec{v}^2</a:t>
                </a:r>
                <a:r>
                  <a:rPr sz="2500">
                    <a:solidFill>
                      <a:srgbClr val="1E293B"/>
                    </a:solidFill>
                    <a:latin typeface="Calibri"/>
                  </a:rPr>
                  <a:t>.</a:t>
                </a:r>
              </a:p>
            </p:txBody>
          </p:sp>
        </mc:Fallback>
      </mc:AlternateContent>
      <p:sp>
        <p:nvSpPr>
          <p:cNvPr id="9" name="s1_nen"/>
          <p:cNvSpPr/>
          <p:nvPr/>
        </p:nvSpPr>
        <p:spPr>
          <a:xfrm>
            <a:off x="548640" y="3529584"/>
            <a:ext cx="11064240" cy="102717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0" name="s1_chu"/>
              <p:cNvSpPr txBox="1"/>
              <p:nvPr/>
            </p:nvSpPr>
            <p:spPr>
              <a:xfrm>
                <a:off x="713232" y="3566160"/>
                <a:ext cx="10735056" cy="954024"/>
              </a:xfrm>
              <a:prstGeom prst="rect">
                <a:avLst/>
              </a:prstGeom>
              <a:noFill/>
            </p:spPr>
            <p:txBody>
              <a:bodyPr wrap="square" anchor="ctr" lIns="45720" rIns="45720">
                <a:spAutoFit/>
              </a:bodyPr>
              <a:lstStyle/>
              <a:p>
                <a:pPr algn="l">
                  <a:spcAft>
                    <a:spcPts val="800"/>
                  </a:spcAft>
                </a:pPr>
                <a:r>
                  <a:rPr sz="2500">
                    <a:solidFill>
                      <a:srgbClr val="1E293B"/>
                    </a:solidFill>
                    <a:latin typeface="Calibri"/>
                  </a:rPr>
                  <a:t>⚠ Tích vô hướng là một </a:t>
                </a:r>
                <a:r>
                  <a:rPr sz="2500" b="1">
                    <a:solidFill>
                      <a:srgbClr val="1E293B"/>
                    </a:solidFill>
                    <a:latin typeface="Calibri"/>
                  </a:rPr>
                  <a:t>số</a:t>
                </a:r>
                <a:r>
                  <a:rPr sz="2500">
                    <a:solidFill>
                      <a:srgbClr val="1E293B"/>
                    </a:solidFill>
                    <a:latin typeface="Calibri"/>
                  </a:rPr>
                  <a:t>: </a:t>
                </a:r>
                <a14:m>
                  <m:oMath xmlns:m="http://schemas.openxmlformats.org/officeDocument/2006/math">
                    <m:r>
                      <a:rPr lang="vi-VN" sz="2500" b="0">
                        <a:solidFill>
                          <a:srgbClr val="1E293B"/>
                        </a:solidFill>
                        <a:latin typeface="Cambria Math" panose="02040503050406030204" pitchFamily="18" charset="0"/>
                      </a:rPr>
                      <m:t>(</m:t>
                    </m:r>
                    <m:acc>
                      <m:accPr>
                        <m:chr m:val="⃗"/>
                      </m:accPr>
                      <m:e>
                        <m:r>
                          <a:rPr lang="vi-VN" sz="2500" b="0">
                            <a:solidFill>
                              <a:srgbClr val="1E293B"/>
                            </a:solidFill>
                            <a:latin typeface="Cambria Math" panose="02040503050406030204" pitchFamily="18" charset="0"/>
                          </a:rPr>
                          <m:t>a</m:t>
                        </m:r>
                      </m:e>
                    </m:acc>
                    <m:r>
                      <a:rPr lang="vi-VN" sz="2500" b="0">
                        <a:solidFill>
                          <a:srgbClr val="1E293B"/>
                        </a:solidFill>
                        <a:latin typeface="Cambria Math" panose="02040503050406030204" pitchFamily="18" charset="0"/>
                      </a:rPr>
                      <m:t>·</m:t>
                    </m:r>
                    <m:acc>
                      <m:accPr>
                        <m:chr m:val="⃗"/>
                      </m:accPr>
                      <m:e>
                        <m:r>
                          <a:rPr lang="vi-VN" sz="2500" b="0">
                            <a:solidFill>
                              <a:srgbClr val="1E293B"/>
                            </a:solidFill>
                            <a:latin typeface="Cambria Math" panose="02040503050406030204" pitchFamily="18" charset="0"/>
                          </a:rPr>
                          <m:t>b</m:t>
                        </m:r>
                      </m:e>
                    </m:acc>
                    <m:r>
                      <a:rPr lang="vi-VN" sz="2500" b="0">
                        <a:solidFill>
                          <a:srgbClr val="1E293B"/>
                        </a:solidFill>
                        <a:latin typeface="Cambria Math" panose="02040503050406030204" pitchFamily="18" charset="0"/>
                      </a:rPr>
                      <m:t>)</m:t>
                    </m:r>
                    <m:acc>
                      <m:accPr>
                        <m:chr m:val="⃗"/>
                      </m:accPr>
                      <m:e>
                        <m:r>
                          <a:rPr lang="vi-VN" sz="2500" b="0">
                            <a:solidFill>
                              <a:srgbClr val="1E293B"/>
                            </a:solidFill>
                            <a:latin typeface="Cambria Math" panose="02040503050406030204" pitchFamily="18" charset="0"/>
                          </a:rPr>
                          <m:t>c</m:t>
                        </m:r>
                      </m:e>
                    </m:acc>
                  </m:oMath>
                </a14:m>
                <a:r>
                  <a:rPr sz="2500">
                    <a:solidFill>
                      <a:srgbClr val="1E293B"/>
                    </a:solidFill>
                    <a:latin typeface="Calibri"/>
                  </a:rPr>
                  <a:t> là một vectơ cùng phương với </a:t>
                </a:r>
                <a14:m>
                  <m:oMath xmlns:m="http://schemas.openxmlformats.org/officeDocument/2006/math">
                    <m:acc>
                      <m:accPr>
                        <m:chr m:val="⃗"/>
                      </m:accPr>
                      <m:e>
                        <m:r>
                          <a:rPr lang="vi-VN" sz="2500" b="0">
                            <a:solidFill>
                              <a:srgbClr val="1E293B"/>
                            </a:solidFill>
                            <a:latin typeface="Cambria Math" panose="02040503050406030204" pitchFamily="18" charset="0"/>
                          </a:rPr>
                          <m:t>c</m:t>
                        </m:r>
                      </m:e>
                    </m:acc>
                  </m:oMath>
                </a14:m>
                <a:r>
                  <a:rPr sz="2500">
                    <a:solidFill>
                      <a:srgbClr val="1E293B"/>
                    </a:solidFill>
                    <a:latin typeface="Calibri"/>
                  </a:rPr>
                  <a:t>, nói chung khác </a:t>
                </a:r>
                <a14:m>
                  <m:oMath xmlns:m="http://schemas.openxmlformats.org/officeDocument/2006/math">
                    <m:acc>
                      <m:accPr>
                        <m:chr m:val="⃗"/>
                      </m:accPr>
                      <m:e>
                        <m:r>
                          <a:rPr lang="vi-VN" sz="2500" b="0">
                            <a:solidFill>
                              <a:srgbClr val="1E293B"/>
                            </a:solidFill>
                            <a:latin typeface="Cambria Math" panose="02040503050406030204" pitchFamily="18" charset="0"/>
                          </a:rPr>
                          <m:t>a</m:t>
                        </m:r>
                      </m:e>
                    </m:acc>
                    <m:r>
                      <a:rPr lang="vi-VN" sz="2500" b="0">
                        <a:solidFill>
                          <a:srgbClr val="1E293B"/>
                        </a:solidFill>
                        <a:latin typeface="Cambria Math" panose="02040503050406030204" pitchFamily="18" charset="0"/>
                      </a:rPr>
                      <m:t>(</m:t>
                    </m:r>
                    <m:acc>
                      <m:accPr>
                        <m:chr m:val="⃗"/>
                      </m:accPr>
                      <m:e>
                        <m:r>
                          <a:rPr lang="vi-VN" sz="2500" b="0">
                            <a:solidFill>
                              <a:srgbClr val="1E293B"/>
                            </a:solidFill>
                            <a:latin typeface="Cambria Math" panose="02040503050406030204" pitchFamily="18" charset="0"/>
                          </a:rPr>
                          <m:t>b</m:t>
                        </m:r>
                      </m:e>
                    </m:acc>
                    <m:r>
                      <a:rPr lang="vi-VN" sz="2500" b="0">
                        <a:solidFill>
                          <a:srgbClr val="1E293B"/>
                        </a:solidFill>
                        <a:latin typeface="Cambria Math" panose="02040503050406030204" pitchFamily="18" charset="0"/>
                      </a:rPr>
                      <m:t>·</m:t>
                    </m:r>
                    <m:acc>
                      <m:accPr>
                        <m:chr m:val="⃗"/>
                      </m:accPr>
                      <m:e>
                        <m:r>
                          <a:rPr lang="vi-VN" sz="2500" b="0">
                            <a:solidFill>
                              <a:srgbClr val="1E293B"/>
                            </a:solidFill>
                            <a:latin typeface="Cambria Math" panose="02040503050406030204" pitchFamily="18" charset="0"/>
                          </a:rPr>
                          <m:t>c</m:t>
                        </m:r>
                      </m:e>
                    </m:acc>
                    <m:r>
                      <a:rPr lang="vi-VN" sz="2500" b="0">
                        <a:solidFill>
                          <a:srgbClr val="1E293B"/>
                        </a:solidFill>
                        <a:latin typeface="Cambria Math" panose="02040503050406030204" pitchFamily="18" charset="0"/>
                      </a:rPr>
                      <m:t>)</m:t>
                    </m:r>
                  </m:oMath>
                </a14:m>
                <a:r>
                  <a:rPr sz="2500">
                    <a:solidFill>
                      <a:srgbClr val="1E293B"/>
                    </a:solidFill>
                    <a:latin typeface="Calibri"/>
                  </a:rPr>
                  <a:t>.</a:t>
                </a:r>
              </a:p>
            </p:txBody>
          </p:sp>
        </mc:Choice>
        <mc:Fallback>
          <p:sp>
            <p:nvSpPr>
              <p:cNvPr id="10" name="TextBox 9"/>
              <p:cNvSpPr txBox="1"/>
              <p:nvPr/>
            </p:nvSpPr>
            <p:spPr>
              <a:xfrm>
                <a:off x="713232" y="3566160"/>
                <a:ext cx="10735056" cy="954024"/>
              </a:xfrm>
              <a:prstGeom prst="rect">
                <a:avLst/>
              </a:prstGeom>
              <a:noFill/>
            </p:spPr>
            <p:txBody>
              <a:bodyPr wrap="square" anchor="ctr" lIns="45720" rIns="45720">
                <a:spAutoFit/>
              </a:bodyPr>
              <a:lstStyle/>
              <a:p>
                <a:pPr algn="l">
                  <a:spcAft>
                    <a:spcPts val="800"/>
                  </a:spcAft>
                </a:pPr>
                <a:r>
                  <a:rPr sz="2500">
                    <a:solidFill>
                      <a:srgbClr val="1E293B"/>
                    </a:solidFill>
                    <a:latin typeface="Calibri"/>
                  </a:rPr>
                  <a:t>⚠ Tích vô hướng là một </a:t>
                </a:r>
                <a:r>
                  <a:rPr sz="2500" b="1">
                    <a:solidFill>
                      <a:srgbClr val="1E293B"/>
                    </a:solidFill>
                    <a:latin typeface="Calibri"/>
                  </a:rPr>
                  <a:t>số</a:t>
                </a:r>
                <a:r>
                  <a:rPr sz="2500">
                    <a:solidFill>
                      <a:srgbClr val="1E293B"/>
                    </a:solidFill>
                    <a:latin typeface="Calibri"/>
                  </a:rPr>
                  <a:t>: </a:t>
                </a:r>
                <a:r>
                  <a:rPr lang="vi-VN"/>
                  <a:t>(\vec{a}\cdot\vec{b})\vec{c}</a:t>
                </a:r>
                <a:r>
                  <a:rPr sz="2500">
                    <a:solidFill>
                      <a:srgbClr val="1E293B"/>
                    </a:solidFill>
                    <a:latin typeface="Calibri"/>
                  </a:rPr>
                  <a:t> là một vectơ cùng phương với </a:t>
                </a:r>
                <a:r>
                  <a:rPr lang="vi-VN"/>
                  <a:t>\vec{c}</a:t>
                </a:r>
                <a:r>
                  <a:rPr sz="2500">
                    <a:solidFill>
                      <a:srgbClr val="1E293B"/>
                    </a:solidFill>
                    <a:latin typeface="Calibri"/>
                  </a:rPr>
                  <a:t>, nói chung khác </a:t>
                </a:r>
                <a:r>
                  <a:rPr lang="vi-VN"/>
                  <a:t>\vec{a}(\vec{b}\cdot\vec{c})</a:t>
                </a:r>
                <a:r>
                  <a:rPr sz="25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4 (SGK TR.69)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24</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138160" cy="1453896"/>
              </a:xfrm>
              <a:prstGeom prst="rect">
                <a:avLst/>
              </a:prstGeom>
              <a:noFill/>
            </p:spPr>
            <p:txBody>
              <a:bodyPr wrap="square" anchor="t" lIns="45720" rIns="45720">
                <a:spAutoFit/>
              </a:bodyPr>
              <a:lstStyle/>
              <a:p>
                <a:pPr algn="l">
                  <a:spcAft>
                    <a:spcPts val="800"/>
                  </a:spcAft>
                </a:pPr>
                <a:r>
                  <a:rPr sz="2100">
                    <a:solidFill>
                      <a:srgbClr val="1E293B"/>
                    </a:solidFill>
                    <a:latin typeface="Calibri"/>
                  </a:rPr>
                  <a:t>Cho tam giác </a:t>
                </a:r>
                <a14:m>
                  <m:oMath xmlns:m="http://schemas.openxmlformats.org/officeDocument/2006/math">
                    <m:r>
                      <a:rPr lang="vi-VN" sz="2100" b="0">
                        <a:solidFill>
                          <a:srgbClr val="1E293B"/>
                        </a:solidFill>
                        <a:latin typeface="Cambria Math" panose="02040503050406030204" pitchFamily="18" charset="0"/>
                      </a:rPr>
                      <m:t>ABC</m:t>
                    </m:r>
                  </m:oMath>
                </a14:m>
                <a:r>
                  <a:rPr sz="2100">
                    <a:solidFill>
                      <a:srgbClr val="1E293B"/>
                    </a:solidFill>
                    <a:latin typeface="Calibri"/>
                  </a:rPr>
                  <a:t> vuông tại </a:t>
                </a:r>
                <a14:m>
                  <m:oMath xmlns:m="http://schemas.openxmlformats.org/officeDocument/2006/math">
                    <m:r>
                      <a:rPr lang="vi-VN" sz="2100" b="0">
                        <a:solidFill>
                          <a:srgbClr val="1E293B"/>
                        </a:solidFill>
                        <a:latin typeface="Cambria Math" panose="02040503050406030204" pitchFamily="18" charset="0"/>
                      </a:rPr>
                      <m:t>A</m:t>
                    </m:r>
                  </m:oMath>
                </a14:m>
                <a:r>
                  <a:rPr sz="2100">
                    <a:solidFill>
                      <a:srgbClr val="1E293B"/>
                    </a:solidFill>
                    <a:latin typeface="Calibri"/>
                  </a:rPr>
                  <a:t> có </a:t>
                </a:r>
                <a14:m>
                  <m:oMath xmlns:m="http://schemas.openxmlformats.org/officeDocument/2006/math">
                    <m:acc>
                      <m:accPr>
                        <m:chr m:val="̂"/>
                      </m:accPr>
                      <m:e>
                        <m:r>
                          <a:rPr lang="vi-VN" sz="2100" b="0">
                            <a:solidFill>
                              <a:srgbClr val="1E293B"/>
                            </a:solidFill>
                            <a:latin typeface="Cambria Math" panose="02040503050406030204" pitchFamily="18" charset="0"/>
                          </a:rPr>
                          <m:t>B</m:t>
                        </m:r>
                      </m:e>
                    </m:acc>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60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Gọi </a:t>
                </a:r>
                <a14:m>
                  <m:oMath xmlns:m="http://schemas.openxmlformats.org/officeDocument/2006/math">
                    <m:r>
                      <a:rPr lang="vi-VN" sz="2100" b="0">
                        <a:solidFill>
                          <a:srgbClr val="1E293B"/>
                        </a:solidFill>
                        <a:latin typeface="Cambria Math" panose="02040503050406030204" pitchFamily="18" charset="0"/>
                      </a:rPr>
                      <m:t>M</m:t>
                    </m:r>
                  </m:oMath>
                </a14:m>
                <a:r>
                  <a:rPr sz="2100">
                    <a:solidFill>
                      <a:srgbClr val="1E293B"/>
                    </a:solidFill>
                    <a:latin typeface="Calibri"/>
                  </a:rPr>
                  <a:t> là trung điểm của cạnh </a:t>
                </a:r>
                <a14:m>
                  <m:oMath xmlns:m="http://schemas.openxmlformats.org/officeDocument/2006/math">
                    <m:r>
                      <a:rPr lang="vi-VN" sz="2100" b="0">
                        <a:solidFill>
                          <a:srgbClr val="1E293B"/>
                        </a:solidFill>
                        <a:latin typeface="Cambria Math" panose="02040503050406030204" pitchFamily="18" charset="0"/>
                      </a:rPr>
                      <m:t>BC</m:t>
                    </m:r>
                  </m:oMath>
                </a14:m>
                <a:r>
                  <a:rPr sz="2100">
                    <a:solidFill>
                      <a:srgbClr val="1E293B"/>
                    </a:solidFill>
                    <a:latin typeface="Calibri"/>
                  </a:rPr>
                  <a:t>. Trên các cạnh </a:t>
                </a:r>
                <a14:m>
                  <m:oMath xmlns:m="http://schemas.openxmlformats.org/officeDocument/2006/math">
                    <m:r>
                      <a:rPr lang="vi-VN" sz="2100" b="0">
                        <a:solidFill>
                          <a:srgbClr val="1E293B"/>
                        </a:solidFill>
                        <a:latin typeface="Cambria Math" panose="02040503050406030204" pitchFamily="18" charset="0"/>
                      </a:rPr>
                      <m:t>AB,</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AC</m:t>
                    </m:r>
                  </m:oMath>
                </a14:m>
                <a:r>
                  <a:rPr sz="2100">
                    <a:solidFill>
                      <a:srgbClr val="1E293B"/>
                    </a:solidFill>
                    <a:latin typeface="Calibri"/>
                  </a:rPr>
                  <a:t> lần lượt lấy các điểm </a:t>
                </a:r>
                <a14:m>
                  <m:oMath xmlns:m="http://schemas.openxmlformats.org/officeDocument/2006/math">
                    <m:r>
                      <a:rPr lang="vi-VN" sz="2100" b="0">
                        <a:solidFill>
                          <a:srgbClr val="1E293B"/>
                        </a:solidFill>
                        <a:latin typeface="Cambria Math" panose="02040503050406030204" pitchFamily="18" charset="0"/>
                      </a:rPr>
                      <m:t>P,</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Q</m:t>
                    </m:r>
                  </m:oMath>
                </a14:m>
                <a:r>
                  <a:rPr sz="2100">
                    <a:solidFill>
                      <a:srgbClr val="1E293B"/>
                    </a:solidFill>
                    <a:latin typeface="Calibri"/>
                  </a:rPr>
                  <a:t>. Chứng minh rằng </a:t>
                </a:r>
                <a14:m>
                  <m:oMath xmlns:m="http://schemas.openxmlformats.org/officeDocument/2006/math">
                    <m:acc>
                      <m:accPr>
                        <m:chr m:val="̂"/>
                      </m:accPr>
                      <m:e>
                        <m:r>
                          <a:rPr lang="vi-VN" sz="2100" b="0">
                            <a:solidFill>
                              <a:srgbClr val="1E293B"/>
                            </a:solidFill>
                            <a:latin typeface="Cambria Math" panose="02040503050406030204" pitchFamily="18" charset="0"/>
                          </a:rPr>
                          <m:t>PMQ</m:t>
                        </m:r>
                      </m:e>
                    </m:acc>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90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khi và chỉ khi </a:t>
                </a:r>
                <a14:m>
                  <m:oMath xmlns:m="http://schemas.openxmlformats.org/officeDocument/2006/math">
                    <m:r>
                      <a:rPr lang="vi-VN" sz="2100" b="0">
                        <a:solidFill>
                          <a:srgbClr val="1E293B"/>
                        </a:solidFill>
                        <a:latin typeface="Cambria Math" panose="02040503050406030204" pitchFamily="18" charset="0"/>
                      </a:rPr>
                      <m:t>BP+</m:t>
                    </m:r>
                    <m:rad>
                      <m:radPr>
                        <m:degHide m:val="on"/>
                      </m:radPr>
                      <m:deg/>
                      <m:e>
                        <m:r>
                          <a:rPr lang="vi-VN" sz="2100" b="0">
                            <a:solidFill>
                              <a:srgbClr val="1E293B"/>
                            </a:solidFill>
                            <a:latin typeface="Cambria Math" panose="02040503050406030204" pitchFamily="18" charset="0"/>
                          </a:rPr>
                          <m:t>3</m:t>
                        </m:r>
                      </m:e>
                    </m:rad>
                    <m:r>
                      <a:rPr lang="vi-VN" sz="2100" b="0">
                        <a:solidFill>
                          <a:srgbClr val="1E293B"/>
                        </a:solidFill>
                        <a:latin typeface="Cambria Math" panose="02040503050406030204" pitchFamily="18" charset="0"/>
                      </a:rPr>
                      <m:t>CQ=BC</m:t>
                    </m:r>
                  </m:oMath>
                </a14:m>
                <a:r>
                  <a:rPr sz="2100">
                    <a:solidFill>
                      <a:srgbClr val="1E293B"/>
                    </a:solidFill>
                    <a:latin typeface="Calibri"/>
                  </a:rPr>
                  <a:t>.</a:t>
                </a:r>
              </a:p>
            </p:txBody>
          </p:sp>
        </mc:Choice>
        <mc:Fallback>
          <p:sp>
            <p:nvSpPr>
              <p:cNvPr id="7" name="TextBox 6"/>
              <p:cNvSpPr txBox="1"/>
              <p:nvPr/>
            </p:nvSpPr>
            <p:spPr>
              <a:xfrm>
                <a:off x="548640" y="1371600"/>
                <a:ext cx="8138160" cy="1453896"/>
              </a:xfrm>
              <a:prstGeom prst="rect">
                <a:avLst/>
              </a:prstGeom>
              <a:noFill/>
            </p:spPr>
            <p:txBody>
              <a:bodyPr wrap="square" anchor="t" lIns="45720" rIns="45720">
                <a:spAutoFit/>
              </a:bodyPr>
              <a:lstStyle/>
              <a:p>
                <a:pPr algn="l">
                  <a:spcAft>
                    <a:spcPts val="800"/>
                  </a:spcAft>
                </a:pPr>
                <a:r>
                  <a:rPr sz="2100">
                    <a:solidFill>
                      <a:srgbClr val="1E293B"/>
                    </a:solidFill>
                    <a:latin typeface="Calibri"/>
                  </a:rPr>
                  <a:t>Cho tam giác </a:t>
                </a:r>
                <a:r>
                  <a:rPr lang="vi-VN"/>
                  <a:t>ABC</a:t>
                </a:r>
                <a:r>
                  <a:rPr sz="2100">
                    <a:solidFill>
                      <a:srgbClr val="1E293B"/>
                    </a:solidFill>
                    <a:latin typeface="Calibri"/>
                  </a:rPr>
                  <a:t> vuông tại </a:t>
                </a:r>
                <a:r>
                  <a:rPr lang="vi-VN"/>
                  <a:t>A</a:t>
                </a:r>
                <a:r>
                  <a:rPr sz="2100">
                    <a:solidFill>
                      <a:srgbClr val="1E293B"/>
                    </a:solidFill>
                    <a:latin typeface="Calibri"/>
                  </a:rPr>
                  <a:t> có </a:t>
                </a:r>
                <a:r>
                  <a:rPr lang="vi-VN"/>
                  <a:t>\widehat{B}=60^\circ</a:t>
                </a:r>
                <a:r>
                  <a:rPr sz="2100">
                    <a:solidFill>
                      <a:srgbClr val="1E293B"/>
                    </a:solidFill>
                    <a:latin typeface="Calibri"/>
                  </a:rPr>
                  <a:t>. Gọi </a:t>
                </a:r>
                <a:r>
                  <a:rPr lang="vi-VN"/>
                  <a:t>M</a:t>
                </a:r>
                <a:r>
                  <a:rPr sz="2100">
                    <a:solidFill>
                      <a:srgbClr val="1E293B"/>
                    </a:solidFill>
                    <a:latin typeface="Calibri"/>
                  </a:rPr>
                  <a:t> là trung điểm của cạnh </a:t>
                </a:r>
                <a:r>
                  <a:rPr lang="vi-VN"/>
                  <a:t>BC</a:t>
                </a:r>
                <a:r>
                  <a:rPr sz="2100">
                    <a:solidFill>
                      <a:srgbClr val="1E293B"/>
                    </a:solidFill>
                    <a:latin typeface="Calibri"/>
                  </a:rPr>
                  <a:t>. Trên các cạnh </a:t>
                </a:r>
                <a:r>
                  <a:rPr lang="vi-VN"/>
                  <a:t>AB,\ AC</a:t>
                </a:r>
                <a:r>
                  <a:rPr sz="2100">
                    <a:solidFill>
                      <a:srgbClr val="1E293B"/>
                    </a:solidFill>
                    <a:latin typeface="Calibri"/>
                  </a:rPr>
                  <a:t> lần lượt lấy các điểm </a:t>
                </a:r>
                <a:r>
                  <a:rPr lang="vi-VN"/>
                  <a:t>P,\ Q</a:t>
                </a:r>
                <a:r>
                  <a:rPr sz="2100">
                    <a:solidFill>
                      <a:srgbClr val="1E293B"/>
                    </a:solidFill>
                    <a:latin typeface="Calibri"/>
                  </a:rPr>
                  <a:t>. Chứng minh rằng </a:t>
                </a:r>
                <a:r>
                  <a:rPr lang="vi-VN"/>
                  <a:t>\widehat{PMQ}=90^\circ</a:t>
                </a:r>
                <a:r>
                  <a:rPr sz="2100">
                    <a:solidFill>
                      <a:srgbClr val="1E293B"/>
                    </a:solidFill>
                    <a:latin typeface="Calibri"/>
                  </a:rPr>
                  <a:t> khi và chỉ khi </a:t>
                </a:r>
                <a:r>
                  <a:rPr lang="vi-VN"/>
                  <a:t>BP+\sqrt{3}CQ=BC</a:t>
                </a:r>
                <a:r>
                  <a:rPr sz="2100">
                    <a:solidFill>
                      <a:srgbClr val="1E293B"/>
                    </a:solidFill>
                    <a:latin typeface="Calibri"/>
                  </a:rPr>
                  <a:t>.</a:t>
                </a:r>
              </a:p>
            </p:txBody>
          </p:sp>
        </mc:Fallback>
      </mc:AlternateContent>
      <p:sp>
        <p:nvSpPr>
          <p:cNvPr id="8" name="s1_nen"/>
          <p:cNvSpPr/>
          <p:nvPr/>
        </p:nvSpPr>
        <p:spPr>
          <a:xfrm>
            <a:off x="548640" y="2935224"/>
            <a:ext cx="813816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971800"/>
                <a:ext cx="780897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Đặt </a:t>
                </a:r>
                <a14:m>
                  <m:oMath xmlns:m="http://schemas.openxmlformats.org/officeDocument/2006/math">
                    <m:r>
                      <a:rPr lang="vi-VN" sz="2100" b="0">
                        <a:solidFill>
                          <a:srgbClr val="1E293B"/>
                        </a:solidFill>
                        <a:latin typeface="Cambria Math" panose="02040503050406030204" pitchFamily="18" charset="0"/>
                      </a:rPr>
                      <m:t>MB=MC=a</m:t>
                    </m:r>
                  </m:oMath>
                </a14:m>
                <a:r>
                  <a:rPr sz="2100">
                    <a:solidFill>
                      <a:srgbClr val="1E293B"/>
                    </a:solidFill>
                    <a:latin typeface="Calibri"/>
                  </a:rPr>
                  <a:t>. </a:t>
                </a:r>
                <a14:m>
                  <m:oMath xmlns:m="http://schemas.openxmlformats.org/officeDocument/2006/math">
                    <m:acc>
                      <m:accPr>
                        <m:chr m:val="̂"/>
                      </m:accPr>
                      <m:e>
                        <m:r>
                          <a:rPr lang="vi-VN" sz="2100" b="0">
                            <a:solidFill>
                              <a:srgbClr val="1E293B"/>
                            </a:solidFill>
                            <a:latin typeface="Cambria Math" panose="02040503050406030204" pitchFamily="18" charset="0"/>
                          </a:rPr>
                          <m:t>PMQ</m:t>
                        </m:r>
                      </m:e>
                    </m:acc>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90</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oMath>
                </a14:m>
                <a:r>
                  <a:rPr sz="2100">
                    <a:solidFill>
                      <a:srgbClr val="1E293B"/>
                    </a:solidFill>
                    <a:latin typeface="Calibri"/>
                  </a:rPr>
                  <a:t> </a:t>
                </a:r>
                <a14:m>
                  <m:oMath xmlns:m="http://schemas.openxmlformats.org/officeDocument/2006/math">
                    <m:acc>
                      <m:accPr>
                        <m:chr m:val="⃗"/>
                      </m:accPr>
                      <m:e>
                        <m:r>
                          <a:rPr lang="vi-VN" sz="2100" b="0">
                            <a:solidFill>
                              <a:srgbClr val="1E293B"/>
                            </a:solidFill>
                            <a:latin typeface="Cambria Math" panose="02040503050406030204" pitchFamily="18" charset="0"/>
                          </a:rPr>
                          <m:t>MP</m:t>
                        </m:r>
                      </m:e>
                    </m:acc>
                  </m:oMath>
                </a14:m>
                <a14:m>
                  <m:oMath xmlns:m="http://schemas.openxmlformats.org/officeDocument/2006/math">
                    <m:r>
                      <a:rPr lang="vi-VN" sz="2100" b="0">
                        <a:solidFill>
                          <a:srgbClr val="1E293B"/>
                        </a:solidFill>
                        <a:latin typeface="Cambria Math" panose="02040503050406030204" pitchFamily="18" charset="0"/>
                      </a:rPr>
                      <m:t>·</m:t>
                    </m:r>
                  </m:oMath>
                </a14:m>
                <a14:m>
                  <m:oMath xmlns:m="http://schemas.openxmlformats.org/officeDocument/2006/math">
                    <m:acc>
                      <m:accPr>
                        <m:chr m:val="⃗"/>
                      </m:accPr>
                      <m:e>
                        <m:r>
                          <a:rPr lang="vi-VN" sz="2100" b="0">
                            <a:solidFill>
                              <a:srgbClr val="1E293B"/>
                            </a:solidFill>
                            <a:latin typeface="Cambria Math" panose="02040503050406030204" pitchFamily="18" charset="0"/>
                          </a:rPr>
                          <m:t>MQ</m:t>
                        </m:r>
                      </m:e>
                    </m:acc>
                  </m:oMath>
                </a14:m>
                <a:r>
                  <a:rPr sz="2100">
                    <a:solidFill>
                      <a:srgbClr val="1E293B"/>
                    </a:solidFill>
                    <a:latin typeface="Calibri"/>
                  </a:rPr>
                  <a:t> = 0 </a:t>
                </a:r>
                <a14:m>
                  <m:oMath xmlns:m="http://schemas.openxmlformats.org/officeDocument/2006/math">
                    <m:r>
                      <a:rPr lang="vi-VN" sz="2100" b="0">
                        <a:solidFill>
                          <a:srgbClr val="1E293B"/>
                        </a:solidFill>
                        <a:latin typeface="Cambria Math" panose="02040503050406030204" pitchFamily="18" charset="0"/>
                      </a:rPr>
                      <m:t>⇔</m:t>
                    </m:r>
                  </m:oMath>
                </a14:m>
                <a:r>
                  <a:rPr sz="2100">
                    <a:solidFill>
                      <a:srgbClr val="1E293B"/>
                    </a:solidFill>
                    <a:latin typeface="Calibri"/>
                  </a:rPr>
                  <a:t> </a:t>
                </a:r>
                <a14:m>
                  <m:oMath xmlns:m="http://schemas.openxmlformats.org/officeDocument/2006/math">
                    <m:d>
                      <m:dPr>
                        <m:sepChr m:val="+"/>
                      </m:dPr>
                      <m:e>
                        <m:acc>
                          <m:accPr>
                            <m:chr m:val="⃗"/>
                          </m:accPr>
                          <m:e>
                            <m:r>
                              <a:rPr lang="vi-VN" sz="2100" b="0">
                                <a:solidFill>
                                  <a:srgbClr val="1E293B"/>
                                </a:solidFill>
                                <a:latin typeface="Cambria Math" panose="02040503050406030204" pitchFamily="18" charset="0"/>
                              </a:rPr>
                              <m:t>MB</m:t>
                            </m:r>
                          </m:e>
                        </m:acc>
                      </m:e>
                      <m:e>
                        <m:acc>
                          <m:accPr>
                            <m:chr m:val="⃗"/>
                          </m:accPr>
                          <m:e>
                            <m:r>
                              <a:rPr lang="vi-VN" sz="2100" b="0">
                                <a:solidFill>
                                  <a:srgbClr val="1E293B"/>
                                </a:solidFill>
                                <a:latin typeface="Cambria Math" panose="02040503050406030204" pitchFamily="18" charset="0"/>
                              </a:rPr>
                              <m:t>BP</m:t>
                            </m:r>
                          </m:e>
                        </m:acc>
                      </m:e>
                    </m:d>
                    <m:r>
                      <a:rPr lang="vi-VN" sz="2100" b="0">
                        <a:solidFill>
                          <a:srgbClr val="1E293B"/>
                        </a:solidFill>
                        <a:latin typeface="Cambria Math" panose="02040503050406030204" pitchFamily="18" charset="0"/>
                      </a:rPr>
                      <m:t>·</m:t>
                    </m:r>
                    <m:d>
                      <m:dPr>
                        <m:sepChr m:val="+"/>
                      </m:dPr>
                      <m:e>
                        <m:acc>
                          <m:accPr>
                            <m:chr m:val="⃗"/>
                          </m:accPr>
                          <m:e>
                            <m:r>
                              <a:rPr lang="vi-VN" sz="2100" b="0">
                                <a:solidFill>
                                  <a:srgbClr val="1E293B"/>
                                </a:solidFill>
                                <a:latin typeface="Cambria Math" panose="02040503050406030204" pitchFamily="18" charset="0"/>
                              </a:rPr>
                              <m:t>MC</m:t>
                            </m:r>
                          </m:e>
                        </m:acc>
                      </m:e>
                      <m:e>
                        <m:acc>
                          <m:accPr>
                            <m:chr m:val="⃗"/>
                          </m:accPr>
                          <m:e>
                            <m:r>
                              <a:rPr lang="vi-VN" sz="2100" b="0">
                                <a:solidFill>
                                  <a:srgbClr val="1E293B"/>
                                </a:solidFill>
                                <a:latin typeface="Cambria Math" panose="02040503050406030204" pitchFamily="18" charset="0"/>
                              </a:rPr>
                              <m:t>CQ</m:t>
                            </m:r>
                          </m:e>
                        </m:acc>
                      </m:e>
                    </m:d>
                    <m:r>
                      <a:rPr lang="vi-VN" sz="2100" b="0">
                        <a:solidFill>
                          <a:srgbClr val="1E293B"/>
                        </a:solidFill>
                        <a:latin typeface="Cambria Math" panose="02040503050406030204" pitchFamily="18" charset="0"/>
                      </a:rPr>
                      <m:t>=0</m:t>
                    </m:r>
                  </m:oMath>
                </a14:m>
              </a:p>
            </p:txBody>
          </p:sp>
        </mc:Choice>
        <mc:Fallback>
          <p:sp>
            <p:nvSpPr>
              <p:cNvPr id="9" name="TextBox 8"/>
              <p:cNvSpPr txBox="1"/>
              <p:nvPr/>
            </p:nvSpPr>
            <p:spPr>
              <a:xfrm>
                <a:off x="713232" y="2971800"/>
                <a:ext cx="780897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Đặt </a:t>
                </a:r>
                <a:r>
                  <a:rPr lang="vi-VN"/>
                  <a:t>MB=MC=a</a:t>
                </a:r>
                <a:r>
                  <a:rPr sz="2100">
                    <a:solidFill>
                      <a:srgbClr val="1E293B"/>
                    </a:solidFill>
                    <a:latin typeface="Calibri"/>
                  </a:rPr>
                  <a:t>. </a:t>
                </a:r>
                <a:r>
                  <a:rPr lang="vi-VN"/>
                  <a:t>\widehat{PMQ}=90^\circ\Leftrightarrow</a:t>
                </a:r>
                <a:r>
                  <a:rPr sz="2100">
                    <a:solidFill>
                      <a:srgbClr val="1E293B"/>
                    </a:solidFill>
                    <a:latin typeface="Calibri"/>
                  </a:rPr>
                  <a:t> </a:t>
                </a:r>
                <a:r>
                  <a:rPr lang="vi-VN"/>
                  <a:t>\overrightarrow{MP}</a:t>
                </a:r>
                <a:r>
                  <a:rPr lang="vi-VN"/>
                  <a:t>\cdot</a:t>
                </a:r>
                <a:r>
                  <a:rPr lang="vi-VN"/>
                  <a:t>\overrightarrow{MQ}</a:t>
                </a:r>
                <a:r>
                  <a:rPr sz="2100">
                    <a:solidFill>
                      <a:srgbClr val="1E293B"/>
                    </a:solidFill>
                    <a:latin typeface="Calibri"/>
                  </a:rPr>
                  <a:t> = 0 </a:t>
                </a:r>
                <a:r>
                  <a:rPr lang="vi-VN"/>
                  <a:t>\Leftrightarrow</a:t>
                </a:r>
                <a:r>
                  <a:rPr sz="2100">
                    <a:solidFill>
                      <a:srgbClr val="1E293B"/>
                    </a:solidFill>
                    <a:latin typeface="Calibri"/>
                  </a:rPr>
                  <a:t> </a:t>
                </a:r>
                <a:r>
                  <a:rPr lang="vi-VN"/>
                  <a:t>\left(\overrightarrow{MB}+\overrightarrow{BP}\right)\cdot\left(\overrightarrow{MC}+\overrightarrow{CQ}\right)=0</a:t>
                </a:r>
              </a:p>
            </p:txBody>
          </p:sp>
        </mc:Fallback>
      </mc:AlternateContent>
      <p:sp>
        <p:nvSpPr>
          <p:cNvPr id="10" name="s2_nen"/>
          <p:cNvSpPr/>
          <p:nvPr/>
        </p:nvSpPr>
        <p:spPr>
          <a:xfrm>
            <a:off x="548640" y="3950208"/>
            <a:ext cx="813816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986784"/>
                <a:ext cx="780897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MB</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MC</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MB</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CQ</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BP</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MC</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BP</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CQ</m:t>
                        </m:r>
                      </m:e>
                    </m:acc>
                    <m:r>
                      <a:rPr lang="vi-VN" sz="2100" b="0">
                        <a:solidFill>
                          <a:srgbClr val="1E293B"/>
                        </a:solidFill>
                        <a:latin typeface="Cambria Math" panose="02040503050406030204" pitchFamily="18" charset="0"/>
                      </a:rPr>
                      <m:t>=0</m:t>
                    </m:r>
                  </m:oMath>
                </a14:m>
                <a:r>
                  <a:rPr sz="2100">
                    <a:solidFill>
                      <a:srgbClr val="1E293B"/>
                    </a:solidFill>
                    <a:latin typeface="Calibri"/>
                  </a:rPr>
                  <a:t>. (1)</a:t>
                </a:r>
              </a:p>
            </p:txBody>
          </p:sp>
        </mc:Choice>
        <mc:Fallback>
          <p:sp>
            <p:nvSpPr>
              <p:cNvPr id="11" name="TextBox 10"/>
              <p:cNvSpPr txBox="1"/>
              <p:nvPr/>
            </p:nvSpPr>
            <p:spPr>
              <a:xfrm>
                <a:off x="713232" y="3986784"/>
                <a:ext cx="780897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\Leftrightarrow\overrightarrow{MB}\cdot\overrightarrow{MC}+\overrightarrow{MB}\cdot\overrightarrow{CQ}+\overrightarrow{BP}\cdot\overrightarrow{MC}+\overrightarrow{BP}\cdot\overrightarrow{CQ}=0</a:t>
                </a:r>
                <a:r>
                  <a:rPr sz="2100">
                    <a:solidFill>
                      <a:srgbClr val="1E293B"/>
                    </a:solidFill>
                    <a:latin typeface="Calibri"/>
                  </a:rPr>
                  <a:t>. (1)</a:t>
                </a:r>
              </a:p>
            </p:txBody>
          </p:sp>
        </mc:Fallback>
      </mc:AlternateContent>
      <p:pic>
        <p:nvPicPr>
          <p:cNvPr id="12" name="Picture 11" descr="h444.png"/>
          <p:cNvPicPr>
            <a:picLocks noChangeAspect="1"/>
          </p:cNvPicPr>
          <p:nvPr/>
        </p:nvPicPr>
        <p:blipFill>
          <a:blip r:embed="rId3"/>
          <a:stretch>
            <a:fillRect/>
          </a:stretch>
        </p:blipFill>
        <p:spPr>
          <a:xfrm>
            <a:off x="8975333" y="1371600"/>
            <a:ext cx="2714773" cy="4572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4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25</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138160" cy="957834"/>
              </a:xfrm>
              <a:prstGeom prst="rect">
                <a:avLst/>
              </a:prstGeom>
              <a:noFill/>
            </p:spPr>
            <p:txBody>
              <a:bodyPr wrap="square" anchor="t" lIns="45720" rIns="45720">
                <a:spAutoFit/>
              </a:bodyPr>
              <a:lstStyle/>
              <a:p>
                <a:pPr algn="l">
                  <a:spcAft>
                    <a:spcPts val="800"/>
                  </a:spcAft>
                </a:pPr>
                <a:r>
                  <a:rPr sz="2100">
                    <a:solidFill>
                      <a:srgbClr val="1E293B"/>
                    </a:solidFill>
                    <a:latin typeface="Calibri"/>
                  </a:rPr>
                  <a:t>Mặt khác, </a:t>
                </a:r>
                <a14:m>
                  <m:oMath xmlns:m="http://schemas.openxmlformats.org/officeDocument/2006/math">
                    <m:acc>
                      <m:accPr>
                        <m:chr m:val="⃗"/>
                      </m:accPr>
                      <m:e>
                        <m:r>
                          <a:rPr lang="vi-VN" sz="2100" b="0">
                            <a:solidFill>
                              <a:srgbClr val="1E293B"/>
                            </a:solidFill>
                            <a:latin typeface="Cambria Math" panose="02040503050406030204" pitchFamily="18" charset="0"/>
                          </a:rPr>
                          <m:t>MB</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MC</m:t>
                        </m:r>
                      </m:e>
                    </m:acc>
                    <m:r>
                      <a:rPr lang="vi-VN" sz="2100" b="0">
                        <a:solidFill>
                          <a:srgbClr val="1E293B"/>
                        </a:solidFill>
                        <a:latin typeface="Cambria Math" panose="02040503050406030204" pitchFamily="18" charset="0"/>
                      </a:rPr>
                      <m:t>=a·a·</m:t>
                    </m:r>
                    <m:r>
                      <m:rPr>
                        <m:sty m:val="p"/>
                      </m:rPr>
                      <a:rPr lang="vi-VN" sz="2100" b="0">
                        <a:solidFill>
                          <a:srgbClr val="1E293B"/>
                        </a:solidFill>
                        <a:latin typeface="Cambria Math" panose="02040503050406030204" pitchFamily="18" charset="0"/>
                      </a:rPr>
                      <m:t>cos</m:t>
                    </m:r>
                    <m:r>
                      <m:rPr>
                        <m:sty m:val="p"/>
                      </m:rPr>
                      <a:rPr lang="vi-VN" sz="2100" b="0">
                        <a:solidFill>
                          <a:srgbClr val="1E293B"/>
                        </a:solidFill>
                        <a:latin typeface="Cambria Math" panose="02040503050406030204" pitchFamily="18" charset="0"/>
                      </a:rPr>
                      <m:t> </m:t>
                    </m:r>
                    <m:sSup>
                      <m:e>
                        <m:r>
                          <a:rPr lang="vi-VN" sz="2100" b="0">
                            <a:solidFill>
                              <a:srgbClr val="1E293B"/>
                            </a:solidFill>
                            <a:latin typeface="Cambria Math" panose="02040503050406030204" pitchFamily="18" charset="0"/>
                          </a:rPr>
                          <m:t>180</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a</m:t>
                        </m:r>
                      </m:e>
                      <m:sup>
                        <m:r>
                          <a:rPr lang="vi-VN" sz="2100" b="0">
                            <a:solidFill>
                              <a:srgbClr val="1E293B"/>
                            </a:solidFill>
                            <a:latin typeface="Cambria Math" panose="02040503050406030204" pitchFamily="18" charset="0"/>
                          </a:rPr>
                          <m:t>2</m:t>
                        </m:r>
                      </m:sup>
                    </m:sSup>
                  </m:oMath>
                </a14:m>
                <a:r>
                  <a:rPr sz="2100">
                    <a:solidFill>
                      <a:srgbClr val="1E293B"/>
                    </a:solidFill>
                    <a:latin typeface="Calibri"/>
                  </a:rPr>
                  <a:t>; </a:t>
                </a:r>
                <a14:m>
                  <m:oMath xmlns:m="http://schemas.openxmlformats.org/officeDocument/2006/math">
                    <m:acc>
                      <m:accPr>
                        <m:chr m:val="⃗"/>
                      </m:accPr>
                      <m:e>
                        <m:r>
                          <a:rPr lang="vi-VN" sz="2100" b="0">
                            <a:solidFill>
                              <a:srgbClr val="1E293B"/>
                            </a:solidFill>
                            <a:latin typeface="Cambria Math" panose="02040503050406030204" pitchFamily="18" charset="0"/>
                          </a:rPr>
                          <m:t>MB</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CQ</m:t>
                        </m:r>
                      </m:e>
                    </m:acc>
                    <m:r>
                      <a:rPr lang="vi-VN" sz="2100" b="0">
                        <a:solidFill>
                          <a:srgbClr val="1E293B"/>
                        </a:solidFill>
                        <a:latin typeface="Cambria Math" panose="02040503050406030204" pitchFamily="18" charset="0"/>
                      </a:rPr>
                      <m:t>=a·CQ·</m:t>
                    </m:r>
                    <m:r>
                      <m:rPr>
                        <m:sty m:val="p"/>
                      </m:rPr>
                      <a:rPr lang="vi-VN" sz="2100" b="0">
                        <a:solidFill>
                          <a:srgbClr val="1E293B"/>
                        </a:solidFill>
                        <a:latin typeface="Cambria Math" panose="02040503050406030204" pitchFamily="18" charset="0"/>
                      </a:rPr>
                      <m:t>cos</m:t>
                    </m:r>
                    <m:r>
                      <m:rPr>
                        <m:sty m:val="p"/>
                      </m:rPr>
                      <a:rPr lang="vi-VN" sz="2100" b="0">
                        <a:solidFill>
                          <a:srgbClr val="1E293B"/>
                        </a:solidFill>
                        <a:latin typeface="Cambria Math" panose="02040503050406030204" pitchFamily="18" charset="0"/>
                      </a:rPr>
                      <m:t> </m:t>
                    </m:r>
                    <m:sSup>
                      <m:e>
                        <m:r>
                          <a:rPr lang="vi-VN" sz="2100" b="0">
                            <a:solidFill>
                              <a:srgbClr val="1E293B"/>
                            </a:solidFill>
                            <a:latin typeface="Cambria Math" panose="02040503050406030204" pitchFamily="18" charset="0"/>
                          </a:rPr>
                          <m:t>30</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f>
                      <m:fPr>
                        <m:type m:val="bar"/>
                      </m:fPr>
                      <m:num>
                        <m:rad>
                          <m:radPr>
                            <m:degHide m:val="on"/>
                          </m:radPr>
                          <m:deg/>
                          <m:e>
                            <m:r>
                              <a:rPr lang="vi-VN" sz="2100" b="0">
                                <a:solidFill>
                                  <a:srgbClr val="1E293B"/>
                                </a:solidFill>
                                <a:latin typeface="Cambria Math" panose="02040503050406030204" pitchFamily="18" charset="0"/>
                              </a:rPr>
                              <m:t>3</m:t>
                            </m:r>
                          </m:e>
                        </m:rad>
                      </m:num>
                      <m:den>
                        <m:r>
                          <a:rPr lang="vi-VN" sz="2100" b="0">
                            <a:solidFill>
                              <a:srgbClr val="1E293B"/>
                            </a:solidFill>
                            <a:latin typeface="Cambria Math" panose="02040503050406030204" pitchFamily="18" charset="0"/>
                          </a:rPr>
                          <m:t>2</m:t>
                        </m:r>
                      </m:den>
                    </m:f>
                    <m:r>
                      <a:rPr lang="vi-VN" sz="2100" b="0">
                        <a:solidFill>
                          <a:srgbClr val="1E293B"/>
                        </a:solidFill>
                        <a:latin typeface="Cambria Math" panose="02040503050406030204" pitchFamily="18" charset="0"/>
                      </a:rPr>
                      <m:t>a·CQ</m:t>
                    </m:r>
                  </m:oMath>
                </a14:m>
                <a:r>
                  <a:rPr sz="2100">
                    <a:solidFill>
                      <a:srgbClr val="1E293B"/>
                    </a:solidFill>
                    <a:latin typeface="Calibri"/>
                  </a:rPr>
                  <a:t>;</a:t>
                </a:r>
              </a:p>
            </p:txBody>
          </p:sp>
        </mc:Choice>
        <mc:Fallback>
          <p:sp>
            <p:nvSpPr>
              <p:cNvPr id="7" name="TextBox 6"/>
              <p:cNvSpPr txBox="1"/>
              <p:nvPr/>
            </p:nvSpPr>
            <p:spPr>
              <a:xfrm>
                <a:off x="548640" y="1371600"/>
                <a:ext cx="8138160" cy="957834"/>
              </a:xfrm>
              <a:prstGeom prst="rect">
                <a:avLst/>
              </a:prstGeom>
              <a:noFill/>
            </p:spPr>
            <p:txBody>
              <a:bodyPr wrap="square" anchor="t" lIns="45720" rIns="45720">
                <a:spAutoFit/>
              </a:bodyPr>
              <a:lstStyle/>
              <a:p>
                <a:pPr algn="l">
                  <a:spcAft>
                    <a:spcPts val="800"/>
                  </a:spcAft>
                </a:pPr>
                <a:r>
                  <a:rPr sz="2100">
                    <a:solidFill>
                      <a:srgbClr val="1E293B"/>
                    </a:solidFill>
                    <a:latin typeface="Calibri"/>
                  </a:rPr>
                  <a:t>Mặt khác, </a:t>
                </a:r>
                <a:r>
                  <a:rPr lang="vi-VN"/>
                  <a:t>\overrightarrow{MB}\cdot\overrightarrow{MC}=a\cdot a\cdot\cos 180^\circ=-a^2</a:t>
                </a:r>
                <a:r>
                  <a:rPr sz="2100">
                    <a:solidFill>
                      <a:srgbClr val="1E293B"/>
                    </a:solidFill>
                    <a:latin typeface="Calibri"/>
                  </a:rPr>
                  <a:t>; </a:t>
                </a:r>
                <a:r>
                  <a:rPr lang="vi-VN"/>
                  <a:t>\overrightarrow{MB}\cdot\overrightarrow{CQ}=a\cdot CQ\cdot\cos 30^\circ=\frac{\sqrt{3}}{2}a\cdot CQ</a:t>
                </a:r>
                <a:r>
                  <a:rPr sz="2100">
                    <a:solidFill>
                      <a:srgbClr val="1E293B"/>
                    </a:solidFill>
                    <a:latin typeface="Calibri"/>
                  </a:rPr>
                  <a:t>;</a:t>
                </a:r>
              </a:p>
            </p:txBody>
          </p:sp>
        </mc:Fallback>
      </mc:AlternateContent>
      <p:sp>
        <p:nvSpPr>
          <p:cNvPr id="8" name="s1_nen"/>
          <p:cNvSpPr/>
          <p:nvPr/>
        </p:nvSpPr>
        <p:spPr>
          <a:xfrm>
            <a:off x="548640" y="2466594"/>
            <a:ext cx="8138160" cy="729233"/>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503170"/>
                <a:ext cx="7808976" cy="656081"/>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acc>
                      <m:accPr>
                        <m:chr m:val="⃗"/>
                      </m:accPr>
                      <m:e>
                        <m:r>
                          <a:rPr lang="vi-VN" sz="2100" b="0">
                            <a:solidFill>
                              <a:srgbClr val="1E293B"/>
                            </a:solidFill>
                            <a:latin typeface="Cambria Math" panose="02040503050406030204" pitchFamily="18" charset="0"/>
                          </a:rPr>
                          <m:t>BP</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MC</m:t>
                        </m:r>
                      </m:e>
                    </m:acc>
                    <m:r>
                      <a:rPr lang="vi-VN" sz="2100" b="0">
                        <a:solidFill>
                          <a:srgbClr val="1E293B"/>
                        </a:solidFill>
                        <a:latin typeface="Cambria Math" panose="02040503050406030204" pitchFamily="18" charset="0"/>
                      </a:rPr>
                      <m:t>=BP·a·</m:t>
                    </m:r>
                    <m:r>
                      <m:rPr>
                        <m:sty m:val="p"/>
                      </m:rPr>
                      <a:rPr lang="vi-VN" sz="2100" b="0">
                        <a:solidFill>
                          <a:srgbClr val="1E293B"/>
                        </a:solidFill>
                        <a:latin typeface="Cambria Math" panose="02040503050406030204" pitchFamily="18" charset="0"/>
                      </a:rPr>
                      <m:t>cos</m:t>
                    </m:r>
                    <m:r>
                      <m:rPr>
                        <m:sty m:val="p"/>
                      </m:rPr>
                      <a:rPr lang="vi-VN" sz="2100" b="0">
                        <a:solidFill>
                          <a:srgbClr val="1E293B"/>
                        </a:solidFill>
                        <a:latin typeface="Cambria Math" panose="02040503050406030204" pitchFamily="18" charset="0"/>
                      </a:rPr>
                      <m:t> </m:t>
                    </m:r>
                    <m:sSup>
                      <m:e>
                        <m:r>
                          <a:rPr lang="vi-VN" sz="2100" b="0">
                            <a:solidFill>
                              <a:srgbClr val="1E293B"/>
                            </a:solidFill>
                            <a:latin typeface="Cambria Math" panose="02040503050406030204" pitchFamily="18" charset="0"/>
                          </a:rPr>
                          <m:t>60</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1</m:t>
                        </m:r>
                      </m:num>
                      <m:den>
                        <m:r>
                          <a:rPr lang="vi-VN" sz="2100" b="0">
                            <a:solidFill>
                              <a:srgbClr val="1E293B"/>
                            </a:solidFill>
                            <a:latin typeface="Cambria Math" panose="02040503050406030204" pitchFamily="18" charset="0"/>
                          </a:rPr>
                          <m:t>2</m:t>
                        </m:r>
                      </m:den>
                    </m:f>
                    <m:r>
                      <a:rPr lang="vi-VN" sz="2100" b="0">
                        <a:solidFill>
                          <a:srgbClr val="1E293B"/>
                        </a:solidFill>
                        <a:latin typeface="Cambria Math" panose="02040503050406030204" pitchFamily="18" charset="0"/>
                      </a:rPr>
                      <m:t>a·BP</m:t>
                    </m:r>
                  </m:oMath>
                </a14:m>
                <a:r>
                  <a:rPr sz="2100">
                    <a:solidFill>
                      <a:srgbClr val="1E293B"/>
                    </a:solidFill>
                    <a:latin typeface="Calibri"/>
                  </a:rPr>
                  <a:t>; </a:t>
                </a:r>
                <a14:m>
                  <m:oMath xmlns:m="http://schemas.openxmlformats.org/officeDocument/2006/math">
                    <m:acc>
                      <m:accPr>
                        <m:chr m:val="⃗"/>
                      </m:accPr>
                      <m:e>
                        <m:r>
                          <a:rPr lang="vi-VN" sz="2100" b="0">
                            <a:solidFill>
                              <a:srgbClr val="1E293B"/>
                            </a:solidFill>
                            <a:latin typeface="Cambria Math" panose="02040503050406030204" pitchFamily="18" charset="0"/>
                          </a:rPr>
                          <m:t>BP</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CQ</m:t>
                        </m:r>
                      </m:e>
                    </m:acc>
                    <m:r>
                      <a:rPr lang="vi-VN" sz="2100" b="0">
                        <a:solidFill>
                          <a:srgbClr val="1E293B"/>
                        </a:solidFill>
                        <a:latin typeface="Cambria Math" panose="02040503050406030204" pitchFamily="18" charset="0"/>
                      </a:rPr>
                      <m:t>=BP·CQ·</m:t>
                    </m:r>
                    <m:r>
                      <m:rPr>
                        <m:sty m:val="p"/>
                      </m:rPr>
                      <a:rPr lang="vi-VN" sz="2100" b="0">
                        <a:solidFill>
                          <a:srgbClr val="1E293B"/>
                        </a:solidFill>
                        <a:latin typeface="Cambria Math" panose="02040503050406030204" pitchFamily="18" charset="0"/>
                      </a:rPr>
                      <m:t>cos</m:t>
                    </m:r>
                    <m:r>
                      <m:rPr>
                        <m:sty m:val="p"/>
                      </m:rPr>
                      <a:rPr lang="vi-VN" sz="2100" b="0">
                        <a:solidFill>
                          <a:srgbClr val="1E293B"/>
                        </a:solidFill>
                        <a:latin typeface="Cambria Math" panose="02040503050406030204" pitchFamily="18" charset="0"/>
                      </a:rPr>
                      <m:t> </m:t>
                    </m:r>
                    <m:sSup>
                      <m:e>
                        <m:r>
                          <a:rPr lang="vi-VN" sz="2100" b="0">
                            <a:solidFill>
                              <a:srgbClr val="1E293B"/>
                            </a:solidFill>
                            <a:latin typeface="Cambria Math" panose="02040503050406030204" pitchFamily="18" charset="0"/>
                          </a:rPr>
                          <m:t>90</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=0</m:t>
                    </m:r>
                  </m:oMath>
                </a14:m>
                <a:r>
                  <a:rPr sz="2100">
                    <a:solidFill>
                      <a:srgbClr val="1E293B"/>
                    </a:solidFill>
                    <a:latin typeface="Calibri"/>
                  </a:rPr>
                  <a:t>.</a:t>
                </a:r>
              </a:p>
            </p:txBody>
          </p:sp>
        </mc:Choice>
        <mc:Fallback>
          <p:sp>
            <p:nvSpPr>
              <p:cNvPr id="9" name="TextBox 8"/>
              <p:cNvSpPr txBox="1"/>
              <p:nvPr/>
            </p:nvSpPr>
            <p:spPr>
              <a:xfrm>
                <a:off x="713232" y="2503170"/>
                <a:ext cx="7808976" cy="656081"/>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\overrightarrow{BP}\cdot\overrightarrow{MC}=BP\cdot a\cdot\cos 60^\circ=\frac{1}{2}a\cdot BP</a:t>
                </a:r>
                <a:r>
                  <a:rPr sz="2100">
                    <a:solidFill>
                      <a:srgbClr val="1E293B"/>
                    </a:solidFill>
                    <a:latin typeface="Calibri"/>
                  </a:rPr>
                  <a:t>; </a:t>
                </a:r>
                <a:r>
                  <a:rPr lang="vi-VN"/>
                  <a:t>\overrightarrow{BP}\cdot\overrightarrow{CQ}=BP\cdot CQ\cdot\cos 90^\circ=0</a:t>
                </a:r>
                <a:r>
                  <a:rPr sz="2100">
                    <a:solidFill>
                      <a:srgbClr val="1E293B"/>
                    </a:solidFill>
                    <a:latin typeface="Calibri"/>
                  </a:rPr>
                  <a:t>.</a:t>
                </a:r>
              </a:p>
            </p:txBody>
          </p:sp>
        </mc:Fallback>
      </mc:AlternateContent>
      <p:sp>
        <p:nvSpPr>
          <p:cNvPr id="10" name="s2_nen"/>
          <p:cNvSpPr/>
          <p:nvPr/>
        </p:nvSpPr>
        <p:spPr>
          <a:xfrm>
            <a:off x="548640" y="3332987"/>
            <a:ext cx="8138160" cy="119329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369563"/>
                <a:ext cx="7808976" cy="1120140"/>
              </a:xfrm>
              <a:prstGeom prst="rect">
                <a:avLst/>
              </a:prstGeom>
              <a:noFill/>
            </p:spPr>
            <p:txBody>
              <a:bodyPr wrap="square" anchor="ctr" lIns="45720" rIns="45720">
                <a:spAutoFit/>
              </a:bodyPr>
              <a:lstStyle/>
              <a:p>
                <a:pPr algn="l">
                  <a:spcAft>
                    <a:spcPts val="800"/>
                  </a:spcAft>
                </a:pPr>
                <a:r>
                  <a:rPr sz="2100">
                    <a:solidFill>
                      <a:srgbClr val="1E293B"/>
                    </a:solidFill>
                    <a:latin typeface="Calibri"/>
                  </a:rPr>
                  <a:t>Do đó (1) </a:t>
                </a:r>
                <a14:m>
                  <m:oMath xmlns:m="http://schemas.openxmlformats.org/officeDocument/2006/math">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a</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m:t>
                    </m:r>
                    <m:f>
                      <m:fPr>
                        <m:type m:val="bar"/>
                      </m:fPr>
                      <m:num>
                        <m:rad>
                          <m:radPr>
                            <m:degHide m:val="on"/>
                          </m:radPr>
                          <m:deg/>
                          <m:e>
                            <m:r>
                              <a:rPr lang="vi-VN" sz="2100" b="0">
                                <a:solidFill>
                                  <a:srgbClr val="1E293B"/>
                                </a:solidFill>
                                <a:latin typeface="Cambria Math" panose="02040503050406030204" pitchFamily="18" charset="0"/>
                              </a:rPr>
                              <m:t>3</m:t>
                            </m:r>
                          </m:e>
                        </m:rad>
                      </m:num>
                      <m:den>
                        <m:r>
                          <a:rPr lang="vi-VN" sz="2100" b="0">
                            <a:solidFill>
                              <a:srgbClr val="1E293B"/>
                            </a:solidFill>
                            <a:latin typeface="Cambria Math" panose="02040503050406030204" pitchFamily="18" charset="0"/>
                          </a:rPr>
                          <m:t>2</m:t>
                        </m:r>
                      </m:den>
                    </m:f>
                    <m:r>
                      <a:rPr lang="vi-VN" sz="2100" b="0">
                        <a:solidFill>
                          <a:srgbClr val="1E293B"/>
                        </a:solidFill>
                        <a:latin typeface="Cambria Math" panose="02040503050406030204" pitchFamily="18" charset="0"/>
                      </a:rPr>
                      <m:t>a·CQ+</m:t>
                    </m:r>
                    <m:f>
                      <m:fPr>
                        <m:type m:val="bar"/>
                      </m:fPr>
                      <m:num>
                        <m:r>
                          <a:rPr lang="vi-VN" sz="2100" b="0">
                            <a:solidFill>
                              <a:srgbClr val="1E293B"/>
                            </a:solidFill>
                            <a:latin typeface="Cambria Math" panose="02040503050406030204" pitchFamily="18" charset="0"/>
                          </a:rPr>
                          <m:t>1</m:t>
                        </m:r>
                      </m:num>
                      <m:den>
                        <m:r>
                          <a:rPr lang="vi-VN" sz="2100" b="0">
                            <a:solidFill>
                              <a:srgbClr val="1E293B"/>
                            </a:solidFill>
                            <a:latin typeface="Cambria Math" panose="02040503050406030204" pitchFamily="18" charset="0"/>
                          </a:rPr>
                          <m:t>2</m:t>
                        </m:r>
                      </m:den>
                    </m:f>
                    <m:r>
                      <a:rPr lang="vi-VN" sz="2100" b="0">
                        <a:solidFill>
                          <a:srgbClr val="1E293B"/>
                        </a:solidFill>
                        <a:latin typeface="Cambria Math" panose="02040503050406030204" pitchFamily="18" charset="0"/>
                      </a:rPr>
                      <m:t>a·BP=0⇔</m:t>
                    </m:r>
                    <m:rad>
                      <m:radPr>
                        <m:degHide m:val="on"/>
                      </m:radPr>
                      <m:deg/>
                      <m:e>
                        <m:r>
                          <a:rPr lang="vi-VN" sz="2100" b="0">
                            <a:solidFill>
                              <a:srgbClr val="1E293B"/>
                            </a:solidFill>
                            <a:latin typeface="Cambria Math" panose="02040503050406030204" pitchFamily="18" charset="0"/>
                          </a:rPr>
                          <m:t>3</m:t>
                        </m:r>
                      </m:e>
                    </m:rad>
                    <m:r>
                      <a:rPr lang="vi-VN" sz="2100" b="0">
                        <a:solidFill>
                          <a:srgbClr val="1E293B"/>
                        </a:solidFill>
                        <a:latin typeface="Cambria Math" panose="02040503050406030204" pitchFamily="18" charset="0"/>
                      </a:rPr>
                      <m:t>CQ+BP=2a⇔</m:t>
                    </m:r>
                    <m:rad>
                      <m:radPr>
                        <m:degHide m:val="on"/>
                      </m:radPr>
                      <m:deg/>
                      <m:e>
                        <m:r>
                          <a:rPr lang="vi-VN" sz="2100" b="0">
                            <a:solidFill>
                              <a:srgbClr val="1E293B"/>
                            </a:solidFill>
                            <a:latin typeface="Cambria Math" panose="02040503050406030204" pitchFamily="18" charset="0"/>
                          </a:rPr>
                          <m:t>3</m:t>
                        </m:r>
                      </m:e>
                    </m:rad>
                    <m:r>
                      <a:rPr lang="vi-VN" sz="2100" b="0">
                        <a:solidFill>
                          <a:srgbClr val="1E293B"/>
                        </a:solidFill>
                        <a:latin typeface="Cambria Math" panose="02040503050406030204" pitchFamily="18" charset="0"/>
                      </a:rPr>
                      <m:t>CQ+BP=BC</m:t>
                    </m:r>
                  </m:oMath>
                </a14:m>
                <a:r>
                  <a:rPr sz="2100">
                    <a:solidFill>
                      <a:srgbClr val="1E293B"/>
                    </a:solidFill>
                    <a:latin typeface="Calibri"/>
                  </a:rPr>
                  <a:t>. Ta có điều phải chứng minh.</a:t>
                </a:r>
              </a:p>
            </p:txBody>
          </p:sp>
        </mc:Choice>
        <mc:Fallback>
          <p:sp>
            <p:nvSpPr>
              <p:cNvPr id="11" name="TextBox 10"/>
              <p:cNvSpPr txBox="1"/>
              <p:nvPr/>
            </p:nvSpPr>
            <p:spPr>
              <a:xfrm>
                <a:off x="713232" y="3369563"/>
                <a:ext cx="7808976" cy="1120140"/>
              </a:xfrm>
              <a:prstGeom prst="rect">
                <a:avLst/>
              </a:prstGeom>
              <a:noFill/>
            </p:spPr>
            <p:txBody>
              <a:bodyPr wrap="square" anchor="ctr" lIns="45720" rIns="45720">
                <a:spAutoFit/>
              </a:bodyPr>
              <a:lstStyle/>
              <a:p>
                <a:pPr algn="l">
                  <a:spcAft>
                    <a:spcPts val="800"/>
                  </a:spcAft>
                </a:pPr>
                <a:r>
                  <a:rPr sz="2100">
                    <a:solidFill>
                      <a:srgbClr val="1E293B"/>
                    </a:solidFill>
                    <a:latin typeface="Calibri"/>
                  </a:rPr>
                  <a:t>Do đó (1) </a:t>
                </a:r>
                <a:r>
                  <a:rPr lang="vi-VN"/>
                  <a:t>\Leftrightarrow-a^2+\frac{\sqrt{3}}{2}a\cdot CQ+\frac{1}{2}a\cdot BP=0\Leftrightarrow\sqrt{3}CQ+BP=2a\Leftrightarrow\sqrt{3}CQ+BP=BC</a:t>
                </a:r>
                <a:r>
                  <a:rPr sz="2100">
                    <a:solidFill>
                      <a:srgbClr val="1E293B"/>
                    </a:solidFill>
                    <a:latin typeface="Calibri"/>
                  </a:rPr>
                  <a:t>. Ta có điều phải chứng minh.</a:t>
                </a:r>
              </a:p>
            </p:txBody>
          </p:sp>
        </mc:Fallback>
      </mc:AlternateContent>
      <p:pic>
        <p:nvPicPr>
          <p:cNvPr id="12" name="Picture 11" descr="h444.png"/>
          <p:cNvPicPr>
            <a:picLocks noChangeAspect="1"/>
          </p:cNvPicPr>
          <p:nvPr/>
        </p:nvPicPr>
        <p:blipFill>
          <a:blip r:embed="rId3"/>
          <a:stretch>
            <a:fillRect/>
          </a:stretch>
        </p:blipFill>
        <p:spPr>
          <a:xfrm>
            <a:off x="8975333" y="1371600"/>
            <a:ext cx="2714773" cy="4572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LUYỆN TẬP 4 (SGK TR.70)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26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229600" cy="1088136"/>
              </a:xfrm>
              <a:prstGeom prst="rect">
                <a:avLst/>
              </a:prstGeom>
              <a:noFill/>
            </p:spPr>
            <p:txBody>
              <a:bodyPr wrap="square" anchor="t" lIns="45720" rIns="45720">
                <a:spAutoFit/>
              </a:bodyPr>
              <a:lstStyle/>
              <a:p>
                <a:pPr algn="l">
                  <a:spcAft>
                    <a:spcPts val="800"/>
                  </a:spcAft>
                </a:pPr>
                <a:r>
                  <a:rPr sz="2000">
                    <a:solidFill>
                      <a:srgbClr val="1E293B"/>
                    </a:solidFill>
                    <a:latin typeface="Calibri"/>
                  </a:rPr>
                  <a:t>Cho tam giác </a:t>
                </a:r>
                <a14:m>
                  <m:oMath xmlns:m="http://schemas.openxmlformats.org/officeDocument/2006/math">
                    <m:r>
                      <a:rPr lang="vi-VN" sz="2000" b="0">
                        <a:solidFill>
                          <a:srgbClr val="1E293B"/>
                        </a:solidFill>
                        <a:latin typeface="Cambria Math" panose="02040503050406030204" pitchFamily="18" charset="0"/>
                      </a:rPr>
                      <m:t>ABC</m:t>
                    </m:r>
                  </m:oMath>
                </a14:m>
                <a:r>
                  <a:rPr sz="2000">
                    <a:solidFill>
                      <a:srgbClr val="1E293B"/>
                    </a:solidFill>
                    <a:latin typeface="Calibri"/>
                  </a:rPr>
                  <a:t> với </a:t>
                </a:r>
                <a14:m>
                  <m:oMath xmlns:m="http://schemas.openxmlformats.org/officeDocument/2006/math">
                    <m:r>
                      <a:rPr lang="vi-VN" sz="2000" b="0">
                        <a:solidFill>
                          <a:srgbClr val="1E293B"/>
                        </a:solidFill>
                        <a:latin typeface="Cambria Math" panose="02040503050406030204" pitchFamily="18" charset="0"/>
                      </a:rPr>
                      <m:t>A(−1;</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2)</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B(8;</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−1)</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C(8;</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8)</m:t>
                    </m:r>
                  </m:oMath>
                </a14:m>
                <a:r>
                  <a:rPr sz="2000">
                    <a:solidFill>
                      <a:srgbClr val="1E293B"/>
                    </a:solidFill>
                    <a:latin typeface="Calibri"/>
                  </a:rPr>
                  <a:t>. Gọi </a:t>
                </a:r>
                <a14:m>
                  <m:oMath xmlns:m="http://schemas.openxmlformats.org/officeDocument/2006/math">
                    <m:r>
                      <a:rPr lang="vi-VN" sz="2000" b="0">
                        <a:solidFill>
                          <a:srgbClr val="1E293B"/>
                        </a:solidFill>
                        <a:latin typeface="Cambria Math" panose="02040503050406030204" pitchFamily="18" charset="0"/>
                      </a:rPr>
                      <m:t>H</m:t>
                    </m:r>
                  </m:oMath>
                </a14:m>
                <a:r>
                  <a:rPr sz="2000">
                    <a:solidFill>
                      <a:srgbClr val="1E293B"/>
                    </a:solidFill>
                    <a:latin typeface="Calibri"/>
                  </a:rPr>
                  <a:t> là trực tâm của tam giác. a) Chứng minh rằng </a:t>
                </a:r>
                <a14:m>
                  <m:oMath xmlns:m="http://schemas.openxmlformats.org/officeDocument/2006/math">
                    <m:acc>
                      <m:accPr>
                        <m:chr m:val="⃗"/>
                      </m:accPr>
                      <m:e>
                        <m:r>
                          <a:rPr lang="vi-VN" sz="2000" b="0">
                            <a:solidFill>
                              <a:srgbClr val="1E293B"/>
                            </a:solidFill>
                            <a:latin typeface="Cambria Math" panose="02040503050406030204" pitchFamily="18" charset="0"/>
                          </a:rPr>
                          <m:t>AH</m:t>
                        </m:r>
                      </m:e>
                    </m:acc>
                  </m:oMath>
                </a14:m>
                <a14:m>
                  <m:oMath xmlns:m="http://schemas.openxmlformats.org/officeDocument/2006/math">
                    <m:r>
                      <a:rPr lang="vi-VN" sz="2000" b="0">
                        <a:solidFill>
                          <a:srgbClr val="1E293B"/>
                        </a:solidFill>
                        <a:latin typeface="Cambria Math" panose="02040503050406030204" pitchFamily="18" charset="0"/>
                      </a:rPr>
                      <m:t>·</m:t>
                    </m:r>
                  </m:oMath>
                </a14:m>
                <a14:m>
                  <m:oMath xmlns:m="http://schemas.openxmlformats.org/officeDocument/2006/math">
                    <m:acc>
                      <m:accPr>
                        <m:chr m:val="⃗"/>
                      </m:accPr>
                      <m:e>
                        <m:r>
                          <a:rPr lang="vi-VN" sz="2000" b="0">
                            <a:solidFill>
                              <a:srgbClr val="1E293B"/>
                            </a:solidFill>
                            <a:latin typeface="Cambria Math" panose="02040503050406030204" pitchFamily="18" charset="0"/>
                          </a:rPr>
                          <m:t>BC</m:t>
                        </m:r>
                      </m:e>
                    </m:acc>
                  </m:oMath>
                </a14:m>
                <a:r>
                  <a:rPr sz="2000">
                    <a:solidFill>
                      <a:srgbClr val="1E293B"/>
                    </a:solidFill>
                    <a:latin typeface="Calibri"/>
                  </a:rPr>
                  <a:t> = 0 và </a:t>
                </a:r>
                <a14:m>
                  <m:oMath xmlns:m="http://schemas.openxmlformats.org/officeDocument/2006/math">
                    <m:acc>
                      <m:accPr>
                        <m:chr m:val="⃗"/>
                      </m:accPr>
                      <m:e>
                        <m:r>
                          <a:rPr lang="vi-VN" sz="2000" b="0">
                            <a:solidFill>
                              <a:srgbClr val="1E293B"/>
                            </a:solidFill>
                            <a:latin typeface="Cambria Math" panose="02040503050406030204" pitchFamily="18" charset="0"/>
                          </a:rPr>
                          <m:t>BH</m:t>
                        </m:r>
                      </m:e>
                    </m:acc>
                  </m:oMath>
                </a14:m>
                <a14:m>
                  <m:oMath xmlns:m="http://schemas.openxmlformats.org/officeDocument/2006/math">
                    <m:r>
                      <a:rPr lang="vi-VN" sz="2000" b="0">
                        <a:solidFill>
                          <a:srgbClr val="1E293B"/>
                        </a:solidFill>
                        <a:latin typeface="Cambria Math" panose="02040503050406030204" pitchFamily="18" charset="0"/>
                      </a:rPr>
                      <m:t>·</m:t>
                    </m:r>
                  </m:oMath>
                </a14:m>
                <a14:m>
                  <m:oMath xmlns:m="http://schemas.openxmlformats.org/officeDocument/2006/math">
                    <m:acc>
                      <m:accPr>
                        <m:chr m:val="⃗"/>
                      </m:accPr>
                      <m:e>
                        <m:r>
                          <a:rPr lang="vi-VN" sz="2000" b="0">
                            <a:solidFill>
                              <a:srgbClr val="1E293B"/>
                            </a:solidFill>
                            <a:latin typeface="Cambria Math" panose="02040503050406030204" pitchFamily="18" charset="0"/>
                          </a:rPr>
                          <m:t>CA</m:t>
                        </m:r>
                      </m:e>
                    </m:acc>
                  </m:oMath>
                </a14:m>
                <a:r>
                  <a:rPr sz="2000">
                    <a:solidFill>
                      <a:srgbClr val="1E293B"/>
                    </a:solidFill>
                    <a:latin typeface="Calibri"/>
                  </a:rPr>
                  <a:t> = 0. b) Tìm toạ độ của </a:t>
                </a:r>
                <a14:m>
                  <m:oMath xmlns:m="http://schemas.openxmlformats.org/officeDocument/2006/math">
                    <m:r>
                      <a:rPr lang="vi-VN" sz="2000" b="0">
                        <a:solidFill>
                          <a:srgbClr val="1E293B"/>
                        </a:solidFill>
                        <a:latin typeface="Cambria Math" panose="02040503050406030204" pitchFamily="18" charset="0"/>
                      </a:rPr>
                      <m:t>H</m:t>
                    </m:r>
                  </m:oMath>
                </a14:m>
                <a:r>
                  <a:rPr sz="2000">
                    <a:solidFill>
                      <a:srgbClr val="1E293B"/>
                    </a:solidFill>
                    <a:latin typeface="Calibri"/>
                  </a:rPr>
                  <a:t>. c) Giải tam giác </a:t>
                </a:r>
                <a14:m>
                  <m:oMath xmlns:m="http://schemas.openxmlformats.org/officeDocument/2006/math">
                    <m:r>
                      <a:rPr lang="vi-VN" sz="2000" b="0">
                        <a:solidFill>
                          <a:srgbClr val="1E293B"/>
                        </a:solidFill>
                        <a:latin typeface="Cambria Math" panose="02040503050406030204" pitchFamily="18" charset="0"/>
                      </a:rPr>
                      <m:t>ABC</m:t>
                    </m:r>
                  </m:oMath>
                </a14:m>
                <a:r>
                  <a:rPr sz="2000">
                    <a:solidFill>
                      <a:srgbClr val="1E293B"/>
                    </a:solidFill>
                    <a:latin typeface="Calibri"/>
                  </a:rPr>
                  <a:t>.</a:t>
                </a:r>
              </a:p>
            </p:txBody>
          </p:sp>
        </mc:Choice>
        <mc:Fallback>
          <p:sp>
            <p:nvSpPr>
              <p:cNvPr id="7" name="TextBox 6"/>
              <p:cNvSpPr txBox="1"/>
              <p:nvPr/>
            </p:nvSpPr>
            <p:spPr>
              <a:xfrm>
                <a:off x="548640" y="1371600"/>
                <a:ext cx="8229600" cy="1088136"/>
              </a:xfrm>
              <a:prstGeom prst="rect">
                <a:avLst/>
              </a:prstGeom>
              <a:noFill/>
            </p:spPr>
            <p:txBody>
              <a:bodyPr wrap="square" anchor="t" lIns="45720" rIns="45720">
                <a:spAutoFit/>
              </a:bodyPr>
              <a:lstStyle/>
              <a:p>
                <a:pPr algn="l">
                  <a:spcAft>
                    <a:spcPts val="800"/>
                  </a:spcAft>
                </a:pPr>
                <a:r>
                  <a:rPr sz="2000">
                    <a:solidFill>
                      <a:srgbClr val="1E293B"/>
                    </a:solidFill>
                    <a:latin typeface="Calibri"/>
                  </a:rPr>
                  <a:t>Cho tam giác </a:t>
                </a:r>
                <a:r>
                  <a:rPr lang="vi-VN"/>
                  <a:t>ABC</a:t>
                </a:r>
                <a:r>
                  <a:rPr sz="2000">
                    <a:solidFill>
                      <a:srgbClr val="1E293B"/>
                    </a:solidFill>
                    <a:latin typeface="Calibri"/>
                  </a:rPr>
                  <a:t> với </a:t>
                </a:r>
                <a:r>
                  <a:rPr lang="vi-VN"/>
                  <a:t>A(-1;\ 2)</a:t>
                </a:r>
                <a:r>
                  <a:rPr sz="2000">
                    <a:solidFill>
                      <a:srgbClr val="1E293B"/>
                    </a:solidFill>
                    <a:latin typeface="Calibri"/>
                  </a:rPr>
                  <a:t>, </a:t>
                </a:r>
                <a:r>
                  <a:rPr lang="vi-VN"/>
                  <a:t>B(8;\ -1)</a:t>
                </a:r>
                <a:r>
                  <a:rPr sz="2000">
                    <a:solidFill>
                      <a:srgbClr val="1E293B"/>
                    </a:solidFill>
                    <a:latin typeface="Calibri"/>
                  </a:rPr>
                  <a:t>, </a:t>
                </a:r>
                <a:r>
                  <a:rPr lang="vi-VN"/>
                  <a:t>C(8;\ 8)</a:t>
                </a:r>
                <a:r>
                  <a:rPr sz="2000">
                    <a:solidFill>
                      <a:srgbClr val="1E293B"/>
                    </a:solidFill>
                    <a:latin typeface="Calibri"/>
                  </a:rPr>
                  <a:t>. Gọi </a:t>
                </a:r>
                <a:r>
                  <a:rPr lang="vi-VN"/>
                  <a:t>H</a:t>
                </a:r>
                <a:r>
                  <a:rPr sz="2000">
                    <a:solidFill>
                      <a:srgbClr val="1E293B"/>
                    </a:solidFill>
                    <a:latin typeface="Calibri"/>
                  </a:rPr>
                  <a:t> là trực tâm của tam giác. a) Chứng minh rằng </a:t>
                </a:r>
                <a:r>
                  <a:rPr lang="vi-VN"/>
                  <a:t>\overrightarrow{AH}</a:t>
                </a:r>
                <a:r>
                  <a:rPr lang="vi-VN"/>
                  <a:t>\cdot</a:t>
                </a:r>
                <a:r>
                  <a:rPr lang="vi-VN"/>
                  <a:t>\overrightarrow{BC}</a:t>
                </a:r>
                <a:r>
                  <a:rPr sz="2000">
                    <a:solidFill>
                      <a:srgbClr val="1E293B"/>
                    </a:solidFill>
                    <a:latin typeface="Calibri"/>
                  </a:rPr>
                  <a:t> = 0 và </a:t>
                </a:r>
                <a:r>
                  <a:rPr lang="vi-VN"/>
                  <a:t>\overrightarrow{BH}</a:t>
                </a:r>
                <a:r>
                  <a:rPr lang="vi-VN"/>
                  <a:t>\cdot</a:t>
                </a:r>
                <a:r>
                  <a:rPr lang="vi-VN"/>
                  <a:t>\overrightarrow{CA}</a:t>
                </a:r>
                <a:r>
                  <a:rPr sz="2000">
                    <a:solidFill>
                      <a:srgbClr val="1E293B"/>
                    </a:solidFill>
                    <a:latin typeface="Calibri"/>
                  </a:rPr>
                  <a:t> = 0. b) Tìm toạ độ của </a:t>
                </a:r>
                <a:r>
                  <a:rPr lang="vi-VN"/>
                  <a:t>H</a:t>
                </a:r>
                <a:r>
                  <a:rPr sz="2000">
                    <a:solidFill>
                      <a:srgbClr val="1E293B"/>
                    </a:solidFill>
                    <a:latin typeface="Calibri"/>
                  </a:rPr>
                  <a:t>. c) Giải tam giác </a:t>
                </a:r>
                <a:r>
                  <a:rPr lang="vi-VN"/>
                  <a:t>ABC</a:t>
                </a:r>
                <a:r>
                  <a:rPr sz="2000">
                    <a:solidFill>
                      <a:srgbClr val="1E293B"/>
                    </a:solidFill>
                    <a:latin typeface="Calibri"/>
                  </a:rPr>
                  <a:t>.</a:t>
                </a:r>
              </a:p>
            </p:txBody>
          </p:sp>
        </mc:Fallback>
      </mc:AlternateContent>
      <p:sp>
        <p:nvSpPr>
          <p:cNvPr id="8" name="s1_nen"/>
          <p:cNvSpPr/>
          <p:nvPr/>
        </p:nvSpPr>
        <p:spPr>
          <a:xfrm>
            <a:off x="548640" y="2551176"/>
            <a:ext cx="822960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587752"/>
                <a:ext cx="790041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14:m>
                  <m:oMath xmlns:m="http://schemas.openxmlformats.org/officeDocument/2006/math">
                    <m:r>
                      <a:rPr lang="vi-VN" sz="2000" b="0">
                        <a:solidFill>
                          <a:srgbClr val="1E293B"/>
                        </a:solidFill>
                        <a:latin typeface="Cambria Math" panose="02040503050406030204" pitchFamily="18" charset="0"/>
                      </a:rPr>
                      <m:t>AH⟂BC</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BH⟂CA</m:t>
                    </m:r>
                  </m:oMath>
                </a14:m>
                <a:r>
                  <a:rPr sz="2000">
                    <a:solidFill>
                      <a:srgbClr val="1E293B"/>
                    </a:solidFill>
                    <a:latin typeface="Calibri"/>
                  </a:rPr>
                  <a:t> (tính chất trực tâm) nên các tích vô hướng bằng 0.</a:t>
                </a:r>
              </a:p>
            </p:txBody>
          </p:sp>
        </mc:Choice>
        <mc:Fallback>
          <p:sp>
            <p:nvSpPr>
              <p:cNvPr id="9" name="TextBox 8"/>
              <p:cNvSpPr txBox="1"/>
              <p:nvPr/>
            </p:nvSpPr>
            <p:spPr>
              <a:xfrm>
                <a:off x="713232" y="2587752"/>
                <a:ext cx="790041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r>
                  <a:rPr lang="vi-VN"/>
                  <a:t>AH\perp BC</a:t>
                </a:r>
                <a:r>
                  <a:rPr sz="2000">
                    <a:solidFill>
                      <a:srgbClr val="1E293B"/>
                    </a:solidFill>
                    <a:latin typeface="Calibri"/>
                  </a:rPr>
                  <a:t>, </a:t>
                </a:r>
                <a:r>
                  <a:rPr lang="vi-VN"/>
                  <a:t>BH\perp CA</a:t>
                </a:r>
                <a:r>
                  <a:rPr sz="2000">
                    <a:solidFill>
                      <a:srgbClr val="1E293B"/>
                    </a:solidFill>
                    <a:latin typeface="Calibri"/>
                  </a:rPr>
                  <a:t> (tính chất trực tâm) nên các tích vô hướng bằng 0.</a:t>
                </a:r>
              </a:p>
            </p:txBody>
          </p:sp>
        </mc:Fallback>
      </mc:AlternateContent>
      <p:sp>
        <p:nvSpPr>
          <p:cNvPr id="10" name="s2_nen"/>
          <p:cNvSpPr/>
          <p:nvPr/>
        </p:nvSpPr>
        <p:spPr>
          <a:xfrm>
            <a:off x="548640" y="3517392"/>
            <a:ext cx="822960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553968"/>
                <a:ext cx="790041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14:m>
                  <m:oMath xmlns:m="http://schemas.openxmlformats.org/officeDocument/2006/math">
                    <m:r>
                      <a:rPr lang="vi-VN" sz="2000" b="0">
                        <a:solidFill>
                          <a:srgbClr val="1E293B"/>
                        </a:solidFill>
                        <a:latin typeface="Cambria Math" panose="02040503050406030204" pitchFamily="18" charset="0"/>
                      </a:rPr>
                      <m:t>H(x;</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y)</m:t>
                    </m:r>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BC</m:t>
                        </m:r>
                      </m:e>
                    </m:acc>
                  </m:oMath>
                </a14:m>
                <a:r>
                  <a:rPr sz="2000">
                    <a:solidFill>
                      <a:srgbClr val="1E293B"/>
                    </a:solidFill>
                    <a:latin typeface="Calibri"/>
                  </a:rPr>
                  <a:t> = </a:t>
                </a:r>
                <a14:m>
                  <m:oMath xmlns:m="http://schemas.openxmlformats.org/officeDocument/2006/math">
                    <m:d>
                      <m:dPr>
                        <m:sepChr m:val=""/>
                      </m:dPr>
                      <m:e>
                        <m:r>
                          <a:rPr lang="vi-VN" sz="2000" b="0">
                            <a:solidFill>
                              <a:srgbClr val="1E293B"/>
                            </a:solidFill>
                            <a:latin typeface="Cambria Math" panose="02040503050406030204" pitchFamily="18" charset="0"/>
                          </a:rPr>
                          <m:t>0</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9</m:t>
                        </m:r>
                      </m:e>
                    </m:d>
                  </m:oMath>
                </a14:m>
                <a:r>
                  <a:rPr sz="2000">
                    <a:solidFill>
                      <a:srgbClr val="1E293B"/>
                    </a:solidFill>
                    <a:latin typeface="Calibri"/>
                  </a:rPr>
                  <a:t> ⇒ </a:t>
                </a:r>
                <a14:m>
                  <m:oMath xmlns:m="http://schemas.openxmlformats.org/officeDocument/2006/math">
                    <m:r>
                      <a:rPr lang="vi-VN" sz="2000" b="0">
                        <a:solidFill>
                          <a:srgbClr val="1E293B"/>
                        </a:solidFill>
                        <a:latin typeface="Cambria Math" panose="02040503050406030204" pitchFamily="18" charset="0"/>
                      </a:rPr>
                      <m:t>9(y−2)=0</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y=2</m:t>
                    </m:r>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CA</m:t>
                        </m:r>
                      </m:e>
                    </m:acc>
                  </m:oMath>
                </a14:m>
                <a:r>
                  <a:rPr sz="2000">
                    <a:solidFill>
                      <a:srgbClr val="1E293B"/>
                    </a:solidFill>
                    <a:latin typeface="Calibri"/>
                  </a:rPr>
                  <a:t> = </a:t>
                </a:r>
                <a14:m>
                  <m:oMath xmlns:m="http://schemas.openxmlformats.org/officeDocument/2006/math">
                    <m:d>
                      <m:dPr>
                        <m:sepChr m:val=""/>
                      </m:dPr>
                      <m:e>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9</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6</m:t>
                        </m:r>
                      </m:e>
                    </m:d>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BH</m:t>
                        </m:r>
                      </m:e>
                    </m:acc>
                  </m:oMath>
                </a14:m>
                <a:r>
                  <a:rPr sz="2000">
                    <a:solidFill>
                      <a:srgbClr val="1E293B"/>
                    </a:solidFill>
                    <a:latin typeface="Calibri"/>
                  </a:rPr>
                  <a:t> = </a:t>
                </a:r>
                <a14:m>
                  <m:oMath xmlns:m="http://schemas.openxmlformats.org/officeDocument/2006/math">
                    <m:d>
                      <m:dPr>
                        <m:sepChr m:val=""/>
                      </m:dPr>
                      <m:e>
                        <m:r>
                          <a:rPr lang="vi-VN" sz="2000" b="0">
                            <a:solidFill>
                              <a:srgbClr val="1E293B"/>
                            </a:solidFill>
                            <a:latin typeface="Cambria Math" panose="02040503050406030204" pitchFamily="18" charset="0"/>
                          </a:rPr>
                          <m:t>x</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8</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3</m:t>
                        </m:r>
                      </m:e>
                    </m:d>
                  </m:oMath>
                </a14:m>
                <a:r>
                  <a:rPr sz="2000">
                    <a:solidFill>
                      <a:srgbClr val="1E293B"/>
                    </a:solidFill>
                    <a:latin typeface="Calibri"/>
                  </a:rPr>
                  <a:t> ⇒ </a:t>
                </a:r>
                <a14:m>
                  <m:oMath xmlns:m="http://schemas.openxmlformats.org/officeDocument/2006/math">
                    <m:r>
                      <a:rPr lang="vi-VN" sz="2000" b="0">
                        <a:solidFill>
                          <a:srgbClr val="1E293B"/>
                        </a:solidFill>
                        <a:latin typeface="Cambria Math" panose="02040503050406030204" pitchFamily="18" charset="0"/>
                      </a:rPr>
                      <m:t>−9(x−8)−18=0</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x=6</m:t>
                    </m:r>
                  </m:oMath>
                </a14:m>
                <a:r>
                  <a:rPr sz="2000">
                    <a:solidFill>
                      <a:srgbClr val="1E293B"/>
                    </a:solidFill>
                    <a:latin typeface="Calibri"/>
                  </a:rPr>
                  <a:t>. Vậy </a:t>
                </a:r>
                <a14:m>
                  <m:oMath xmlns:m="http://schemas.openxmlformats.org/officeDocument/2006/math">
                    <m:r>
                      <a:rPr lang="vi-VN" sz="2000" b="0">
                        <a:solidFill>
                          <a:srgbClr val="1E293B"/>
                        </a:solidFill>
                        <a:latin typeface="Cambria Math" panose="02040503050406030204" pitchFamily="18" charset="0"/>
                      </a:rPr>
                      <m:t>H(6;</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2)</m:t>
                    </m:r>
                  </m:oMath>
                </a14:m>
                <a:r>
                  <a:rPr sz="2000">
                    <a:solidFill>
                      <a:srgbClr val="1E293B"/>
                    </a:solidFill>
                    <a:latin typeface="Calibri"/>
                  </a:rPr>
                  <a:t>.</a:t>
                </a:r>
              </a:p>
            </p:txBody>
          </p:sp>
        </mc:Choice>
        <mc:Fallback>
          <p:sp>
            <p:nvSpPr>
              <p:cNvPr id="11" name="TextBox 10"/>
              <p:cNvSpPr txBox="1"/>
              <p:nvPr/>
            </p:nvSpPr>
            <p:spPr>
              <a:xfrm>
                <a:off x="713232" y="3553968"/>
                <a:ext cx="790041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r>
                  <a:rPr lang="vi-VN"/>
                  <a:t>H(x;\ y)</a:t>
                </a:r>
                <a:r>
                  <a:rPr sz="2000">
                    <a:solidFill>
                      <a:srgbClr val="1E293B"/>
                    </a:solidFill>
                    <a:latin typeface="Calibri"/>
                  </a:rPr>
                  <a:t>: </a:t>
                </a:r>
                <a:r>
                  <a:rPr lang="vi-VN"/>
                  <a:t>\overrightarrow{BC}</a:t>
                </a:r>
                <a:r>
                  <a:rPr sz="2000">
                    <a:solidFill>
                      <a:srgbClr val="1E293B"/>
                    </a:solidFill>
                    <a:latin typeface="Calibri"/>
                  </a:rPr>
                  <a:t> = </a:t>
                </a:r>
                <a:r>
                  <a:rPr lang="vi-VN"/>
                  <a:t>(0;\ 9)</a:t>
                </a:r>
                <a:r>
                  <a:rPr sz="2000">
                    <a:solidFill>
                      <a:srgbClr val="1E293B"/>
                    </a:solidFill>
                    <a:latin typeface="Calibri"/>
                  </a:rPr>
                  <a:t> ⇒ </a:t>
                </a:r>
                <a:r>
                  <a:rPr lang="vi-VN"/>
                  <a:t>9(y-2)=0</a:t>
                </a:r>
                <a:r>
                  <a:rPr sz="2000">
                    <a:solidFill>
                      <a:srgbClr val="1E293B"/>
                    </a:solidFill>
                    <a:latin typeface="Calibri"/>
                  </a:rPr>
                  <a:t>, </a:t>
                </a:r>
                <a:r>
                  <a:rPr lang="vi-VN"/>
                  <a:t>y=2</a:t>
                </a:r>
                <a:r>
                  <a:rPr sz="2000">
                    <a:solidFill>
                      <a:srgbClr val="1E293B"/>
                    </a:solidFill>
                    <a:latin typeface="Calibri"/>
                  </a:rPr>
                  <a:t>; </a:t>
                </a:r>
                <a:r>
                  <a:rPr lang="vi-VN"/>
                  <a:t>\overrightarrow{CA}</a:t>
                </a:r>
                <a:r>
                  <a:rPr sz="2000">
                    <a:solidFill>
                      <a:srgbClr val="1E293B"/>
                    </a:solidFill>
                    <a:latin typeface="Calibri"/>
                  </a:rPr>
                  <a:t> = </a:t>
                </a:r>
                <a:r>
                  <a:rPr lang="vi-VN"/>
                  <a:t>(-9;\ -6)</a:t>
                </a:r>
                <a:r>
                  <a:rPr sz="2000">
                    <a:solidFill>
                      <a:srgbClr val="1E293B"/>
                    </a:solidFill>
                    <a:latin typeface="Calibri"/>
                  </a:rPr>
                  <a:t>, </a:t>
                </a:r>
                <a:r>
                  <a:rPr lang="vi-VN"/>
                  <a:t>\overrightarrow{BH}</a:t>
                </a:r>
                <a:r>
                  <a:rPr sz="2000">
                    <a:solidFill>
                      <a:srgbClr val="1E293B"/>
                    </a:solidFill>
                    <a:latin typeface="Calibri"/>
                  </a:rPr>
                  <a:t> = </a:t>
                </a:r>
                <a:r>
                  <a:rPr lang="vi-VN"/>
                  <a:t>(x-8;\ 3)</a:t>
                </a:r>
                <a:r>
                  <a:rPr sz="2000">
                    <a:solidFill>
                      <a:srgbClr val="1E293B"/>
                    </a:solidFill>
                    <a:latin typeface="Calibri"/>
                  </a:rPr>
                  <a:t> ⇒ </a:t>
                </a:r>
                <a:r>
                  <a:rPr lang="vi-VN"/>
                  <a:t>-9(x-8)-18=0</a:t>
                </a:r>
                <a:r>
                  <a:rPr sz="2000">
                    <a:solidFill>
                      <a:srgbClr val="1E293B"/>
                    </a:solidFill>
                    <a:latin typeface="Calibri"/>
                  </a:rPr>
                  <a:t>, </a:t>
                </a:r>
                <a:r>
                  <a:rPr lang="vi-VN"/>
                  <a:t>x=6</a:t>
                </a:r>
                <a:r>
                  <a:rPr sz="2000">
                    <a:solidFill>
                      <a:srgbClr val="1E293B"/>
                    </a:solidFill>
                    <a:latin typeface="Calibri"/>
                  </a:rPr>
                  <a:t>. Vậy </a:t>
                </a:r>
                <a:r>
                  <a:rPr lang="vi-VN"/>
                  <a:t>H(6;\ 2)</a:t>
                </a:r>
                <a:r>
                  <a:rPr sz="2000">
                    <a:solidFill>
                      <a:srgbClr val="1E293B"/>
                    </a:solidFill>
                    <a:latin typeface="Calibri"/>
                  </a:rPr>
                  <a:t>.</a:t>
                </a:r>
              </a:p>
            </p:txBody>
          </p:sp>
        </mc:Fallback>
      </mc:AlternateContent>
      <p:sp>
        <p:nvSpPr>
          <p:cNvPr id="12" name="s3_nen"/>
          <p:cNvSpPr/>
          <p:nvPr/>
        </p:nvSpPr>
        <p:spPr>
          <a:xfrm>
            <a:off x="548640" y="4483607"/>
            <a:ext cx="822960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4520183"/>
                <a:ext cx="790041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c) </a:t>
                </a:r>
                <a14:m>
                  <m:oMath xmlns:m="http://schemas.openxmlformats.org/officeDocument/2006/math">
                    <m:r>
                      <a:rPr lang="vi-VN" sz="2000" b="0">
                        <a:solidFill>
                          <a:srgbClr val="1E293B"/>
                        </a:solidFill>
                        <a:latin typeface="Cambria Math" panose="02040503050406030204" pitchFamily="18" charset="0"/>
                      </a:rPr>
                      <m:t>AB=3</m:t>
                    </m:r>
                    <m:rad>
                      <m:radPr>
                        <m:degHide m:val="on"/>
                      </m:radPr>
                      <m:deg/>
                      <m:e>
                        <m:r>
                          <a:rPr lang="vi-VN" sz="2000" b="0">
                            <a:solidFill>
                              <a:srgbClr val="1E293B"/>
                            </a:solidFill>
                            <a:latin typeface="Cambria Math" panose="02040503050406030204" pitchFamily="18" charset="0"/>
                          </a:rPr>
                          <m:t>10</m:t>
                        </m:r>
                      </m:e>
                    </m:rad>
                    <m:r>
                      <a:rPr lang="vi-VN" sz="2000" b="0">
                        <a:solidFill>
                          <a:srgbClr val="1E293B"/>
                        </a:solidFill>
                        <a:latin typeface="Cambria Math" panose="02040503050406030204" pitchFamily="18" charset="0"/>
                      </a:rPr>
                      <m:t>≈9</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49</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BC=9</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CA=3</m:t>
                    </m:r>
                    <m:rad>
                      <m:radPr>
                        <m:degHide m:val="on"/>
                      </m:radPr>
                      <m:deg/>
                      <m:e>
                        <m:r>
                          <a:rPr lang="vi-VN" sz="2000" b="0">
                            <a:solidFill>
                              <a:srgbClr val="1E293B"/>
                            </a:solidFill>
                            <a:latin typeface="Cambria Math" panose="02040503050406030204" pitchFamily="18" charset="0"/>
                          </a:rPr>
                          <m:t>13</m:t>
                        </m:r>
                      </m:e>
                    </m:rad>
                    <m:r>
                      <a:rPr lang="vi-VN" sz="2000" b="0">
                        <a:solidFill>
                          <a:srgbClr val="1E293B"/>
                        </a:solidFill>
                        <a:latin typeface="Cambria Math" panose="02040503050406030204" pitchFamily="18" charset="0"/>
                      </a:rPr>
                      <m:t>≈10</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82</m:t>
                    </m:r>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≈52</m:t>
                    </m:r>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13</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B</m:t>
                        </m:r>
                      </m:e>
                    </m:acc>
                    <m:r>
                      <a:rPr lang="vi-VN" sz="2000" b="0">
                        <a:solidFill>
                          <a:srgbClr val="1E293B"/>
                        </a:solidFill>
                        <a:latin typeface="Cambria Math" panose="02040503050406030204" pitchFamily="18" charset="0"/>
                      </a:rPr>
                      <m:t>≈71</m:t>
                    </m:r>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57</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C</m:t>
                        </m:r>
                      </m:e>
                    </m:acc>
                    <m:r>
                      <a:rPr lang="vi-VN" sz="2000" b="0">
                        <a:solidFill>
                          <a:srgbClr val="1E293B"/>
                        </a:solidFill>
                        <a:latin typeface="Cambria Math" panose="02040503050406030204" pitchFamily="18" charset="0"/>
                      </a:rPr>
                      <m:t>≈56</m:t>
                    </m:r>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31</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a:t>
                </a:r>
              </a:p>
            </p:txBody>
          </p:sp>
        </mc:Choice>
        <mc:Fallback>
          <p:sp>
            <p:nvSpPr>
              <p:cNvPr id="13" name="TextBox 12"/>
              <p:cNvSpPr txBox="1"/>
              <p:nvPr/>
            </p:nvSpPr>
            <p:spPr>
              <a:xfrm>
                <a:off x="713232" y="4520183"/>
                <a:ext cx="790041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c) </a:t>
                </a:r>
                <a:r>
                  <a:rPr lang="vi-VN"/>
                  <a:t>AB=3\sqrt{10}\approx 9{,}49</a:t>
                </a:r>
                <a:r>
                  <a:rPr sz="2000">
                    <a:solidFill>
                      <a:srgbClr val="1E293B"/>
                    </a:solidFill>
                    <a:latin typeface="Calibri"/>
                  </a:rPr>
                  <a:t>; </a:t>
                </a:r>
                <a:r>
                  <a:rPr lang="vi-VN"/>
                  <a:t>BC=9</a:t>
                </a:r>
                <a:r>
                  <a:rPr sz="2000">
                    <a:solidFill>
                      <a:srgbClr val="1E293B"/>
                    </a:solidFill>
                    <a:latin typeface="Calibri"/>
                  </a:rPr>
                  <a:t>; </a:t>
                </a:r>
                <a:r>
                  <a:rPr lang="vi-VN"/>
                  <a:t>CA=3\sqrt{13}\approx 10{,}82</a:t>
                </a:r>
                <a:r>
                  <a:rPr sz="2000">
                    <a:solidFill>
                      <a:srgbClr val="1E293B"/>
                    </a:solidFill>
                    <a:latin typeface="Calibri"/>
                  </a:rPr>
                  <a:t>; </a:t>
                </a:r>
                <a:r>
                  <a:rPr lang="vi-VN"/>
                  <a:t>\widehat{A}\approx 52{,}13^\circ</a:t>
                </a:r>
                <a:r>
                  <a:rPr sz="2000">
                    <a:solidFill>
                      <a:srgbClr val="1E293B"/>
                    </a:solidFill>
                    <a:latin typeface="Calibri"/>
                  </a:rPr>
                  <a:t>, </a:t>
                </a:r>
                <a:r>
                  <a:rPr lang="vi-VN"/>
                  <a:t>\widehat{B}\approx 71{,}57^\circ</a:t>
                </a:r>
                <a:r>
                  <a:rPr sz="2000">
                    <a:solidFill>
                      <a:srgbClr val="1E293B"/>
                    </a:solidFill>
                    <a:latin typeface="Calibri"/>
                  </a:rPr>
                  <a:t>, </a:t>
                </a:r>
                <a:r>
                  <a:rPr lang="vi-VN"/>
                  <a:t>\widehat{C}\approx 56{,}31^\circ</a:t>
                </a:r>
                <a:r>
                  <a:rPr sz="2000">
                    <a:solidFill>
                      <a:srgbClr val="1E293B"/>
                    </a:solidFill>
                    <a:latin typeface="Calibri"/>
                  </a:rPr>
                  <a:t>.</a:t>
                </a:r>
              </a:p>
            </p:txBody>
          </p:sp>
        </mc:Fallback>
      </mc:AlternateContent>
      <p:pic>
        <p:nvPicPr>
          <p:cNvPr id="14" name="Picture 13" descr="h445.png"/>
          <p:cNvPicPr>
            <a:picLocks noChangeAspect="1"/>
          </p:cNvPicPr>
          <p:nvPr/>
        </p:nvPicPr>
        <p:blipFill>
          <a:blip r:embed="rId3"/>
          <a:stretch>
            <a:fillRect/>
          </a:stretch>
        </p:blipFill>
        <p:spPr>
          <a:xfrm>
            <a:off x="8961120" y="1505836"/>
            <a:ext cx="2743200" cy="201752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GEOGEBRA</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GEOGEBRA – TRỰC TÂM TAM GIÁC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27</a:t>
            </a:r>
          </a:p>
        </p:txBody>
      </p:sp>
      <mc:AlternateContent xmlns:mc="http://schemas.openxmlformats.org/markup-compatibility/2006">
        <mc:Choice xmlns:a14="http://schemas.microsoft.com/office/drawing/2010/main" Requires="a14">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Tam giác </a:t>
                </a:r>
                <a14:m>
                  <m:oMath xmlns:m="http://schemas.openxmlformats.org/officeDocument/2006/math">
                    <m:r>
                      <a:rPr lang="vi-VN" sz="2200" b="0">
                        <a:solidFill>
                          <a:srgbClr val="1E293B"/>
                        </a:solidFill>
                        <a:latin typeface="Cambria Math" panose="02040503050406030204" pitchFamily="18" charset="0"/>
                      </a:rPr>
                      <m:t>A(−1;</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2)</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B(8;</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−1)</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C(8;</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8)</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H</m:t>
                    </m:r>
                  </m:oMath>
                </a14:m>
                <a:r>
                  <a:rPr sz="2200">
                    <a:solidFill>
                      <a:srgbClr val="1E293B"/>
                    </a:solidFill>
                    <a:latin typeface="Calibri"/>
                  </a:rPr>
                  <a:t> là trực tâm (đỏ).</a:t>
                </a:r>
              </a:p>
              <a:p>
                <a:pPr algn="l" marL="365760" indent="-365760">
                  <a:spcAft>
                    <a:spcPts val="800"/>
                  </a:spcAft>
                  <a:buClr>
                    <a:srgbClr val="1E40AF"/>
                  </a:buClr>
                  <a:buFont typeface="Arial"/>
                  <a:buChar char="•"/>
                </a:pPr>
                <a:r>
                  <a:rPr sz="2200">
                    <a:solidFill>
                      <a:srgbClr val="1E293B"/>
                    </a:solidFill>
                    <a:latin typeface="Calibri"/>
                  </a:rPr>
                  <a:t>Đọc toạ độ </a:t>
                </a:r>
                <a14:m>
                  <m:oMath xmlns:m="http://schemas.openxmlformats.org/officeDocument/2006/math">
                    <m:r>
                      <a:rPr lang="vi-VN" sz="2200" b="0">
                        <a:solidFill>
                          <a:srgbClr val="1E293B"/>
                        </a:solidFill>
                        <a:latin typeface="Cambria Math" panose="02040503050406030204" pitchFamily="18" charset="0"/>
                      </a:rPr>
                      <m:t>H</m:t>
                    </m:r>
                  </m:oMath>
                </a14:m>
                <a:r>
                  <a:rPr sz="2200">
                    <a:solidFill>
                      <a:srgbClr val="1E293B"/>
                    </a:solidFill>
                    <a:latin typeface="Calibri"/>
                  </a:rPr>
                  <a:t> và hai tích </a:t>
                </a:r>
                <a14:m>
                  <m:oMath xmlns:m="http://schemas.openxmlformats.org/officeDocument/2006/math">
                    <m:acc>
                      <m:accPr>
                        <m:chr m:val="⃗"/>
                      </m:accPr>
                      <m:e>
                        <m:r>
                          <a:rPr lang="vi-VN" sz="2200" b="0">
                            <a:solidFill>
                              <a:srgbClr val="1E293B"/>
                            </a:solidFill>
                            <a:latin typeface="Cambria Math" panose="02040503050406030204" pitchFamily="18" charset="0"/>
                          </a:rPr>
                          <m:t>AH</m:t>
                        </m:r>
                      </m:e>
                    </m:acc>
                  </m:oMath>
                </a14:m>
                <a14:m>
                  <m:oMath xmlns:m="http://schemas.openxmlformats.org/officeDocument/2006/math">
                    <m:r>
                      <a:rPr lang="vi-VN" sz="2200" b="0">
                        <a:solidFill>
                          <a:srgbClr val="1E293B"/>
                        </a:solidFill>
                        <a:latin typeface="Cambria Math" panose="02040503050406030204" pitchFamily="18" charset="0"/>
                      </a:rPr>
                      <m:t>·</m:t>
                    </m:r>
                  </m:oMath>
                </a14:m>
                <a14:m>
                  <m:oMath xmlns:m="http://schemas.openxmlformats.org/officeDocument/2006/math">
                    <m:acc>
                      <m:accPr>
                        <m:chr m:val="⃗"/>
                      </m:accPr>
                      <m:e>
                        <m:r>
                          <a:rPr lang="vi-VN" sz="2200" b="0">
                            <a:solidFill>
                              <a:srgbClr val="1E293B"/>
                            </a:solidFill>
                            <a:latin typeface="Cambria Math" panose="02040503050406030204" pitchFamily="18" charset="0"/>
                          </a:rPr>
                          <m:t>BC</m:t>
                        </m:r>
                      </m:e>
                    </m:acc>
                  </m:oMath>
                </a14:m>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BH</m:t>
                        </m:r>
                      </m:e>
                    </m:acc>
                  </m:oMath>
                </a14:m>
                <a14:m>
                  <m:oMath xmlns:m="http://schemas.openxmlformats.org/officeDocument/2006/math">
                    <m:r>
                      <a:rPr lang="vi-VN" sz="2200" b="0">
                        <a:solidFill>
                          <a:srgbClr val="1E293B"/>
                        </a:solidFill>
                        <a:latin typeface="Cambria Math" panose="02040503050406030204" pitchFamily="18" charset="0"/>
                      </a:rPr>
                      <m:t>·</m:t>
                    </m:r>
                  </m:oMath>
                </a14:m>
                <a14:m>
                  <m:oMath xmlns:m="http://schemas.openxmlformats.org/officeDocument/2006/math">
                    <m:acc>
                      <m:accPr>
                        <m:chr m:val="⃗"/>
                      </m:accPr>
                      <m:e>
                        <m:r>
                          <a:rPr lang="vi-VN" sz="2200" b="0">
                            <a:solidFill>
                              <a:srgbClr val="1E293B"/>
                            </a:solidFill>
                            <a:latin typeface="Cambria Math" panose="02040503050406030204" pitchFamily="18" charset="0"/>
                          </a:rPr>
                          <m:t>CA</m:t>
                        </m:r>
                      </m:e>
                    </m:acc>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Kéo các đỉnh: hai tích vô hướng </a:t>
                </a:r>
                <a:r>
                  <a:rPr sz="2200" b="1">
                    <a:solidFill>
                      <a:srgbClr val="1E293B"/>
                    </a:solidFill>
                    <a:latin typeface="Calibri"/>
                  </a:rPr>
                  <a:t>luôn bằng 0</a:t>
                </a:r>
                <a:r>
                  <a:rPr sz="2200">
                    <a:solidFill>
                      <a:srgbClr val="1E293B"/>
                    </a:solidFill>
                    <a:latin typeface="Calibri"/>
                  </a:rPr>
                  <a:t>.</a:t>
                </a:r>
              </a:p>
            </p:txBody>
          </p:sp>
        </mc:Choice>
        <mc:Fallback>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Tam giác </a:t>
                </a:r>
                <a:r>
                  <a:rPr lang="vi-VN"/>
                  <a:t>A(-1;\ 2)</a:t>
                </a:r>
                <a:r>
                  <a:rPr sz="2200">
                    <a:solidFill>
                      <a:srgbClr val="1E293B"/>
                    </a:solidFill>
                    <a:latin typeface="Calibri"/>
                  </a:rPr>
                  <a:t>, </a:t>
                </a:r>
                <a:r>
                  <a:rPr lang="vi-VN"/>
                  <a:t>B(8;\ -1)</a:t>
                </a:r>
                <a:r>
                  <a:rPr sz="2200">
                    <a:solidFill>
                      <a:srgbClr val="1E293B"/>
                    </a:solidFill>
                    <a:latin typeface="Calibri"/>
                  </a:rPr>
                  <a:t>, </a:t>
                </a:r>
                <a:r>
                  <a:rPr lang="vi-VN"/>
                  <a:t>C(8;\ 8)</a:t>
                </a:r>
                <a:r>
                  <a:rPr sz="2200">
                    <a:solidFill>
                      <a:srgbClr val="1E293B"/>
                    </a:solidFill>
                    <a:latin typeface="Calibri"/>
                  </a:rPr>
                  <a:t>; </a:t>
                </a:r>
                <a:r>
                  <a:rPr lang="vi-VN"/>
                  <a:t>H</a:t>
                </a:r>
                <a:r>
                  <a:rPr sz="2200">
                    <a:solidFill>
                      <a:srgbClr val="1E293B"/>
                    </a:solidFill>
                    <a:latin typeface="Calibri"/>
                  </a:rPr>
                  <a:t> là trực tâm (đỏ).</a:t>
                </a:r>
              </a:p>
              <a:p>
                <a:pPr algn="l" marL="365760" indent="-365760">
                  <a:spcAft>
                    <a:spcPts val="800"/>
                  </a:spcAft>
                  <a:buClr>
                    <a:srgbClr val="1E40AF"/>
                  </a:buClr>
                  <a:buFont typeface="Arial"/>
                  <a:buChar char="•"/>
                </a:pPr>
                <a:r>
                  <a:rPr sz="2200">
                    <a:solidFill>
                      <a:srgbClr val="1E293B"/>
                    </a:solidFill>
                    <a:latin typeface="Calibri"/>
                  </a:rPr>
                  <a:t>Đọc toạ độ </a:t>
                </a:r>
                <a:r>
                  <a:rPr lang="vi-VN"/>
                  <a:t>H</a:t>
                </a:r>
                <a:r>
                  <a:rPr sz="2200">
                    <a:solidFill>
                      <a:srgbClr val="1E293B"/>
                    </a:solidFill>
                    <a:latin typeface="Calibri"/>
                  </a:rPr>
                  <a:t> và hai tích </a:t>
                </a:r>
                <a:r>
                  <a:rPr lang="vi-VN"/>
                  <a:t>\overrightarrow{AH}</a:t>
                </a:r>
                <a:r>
                  <a:rPr lang="vi-VN"/>
                  <a:t>\cdot</a:t>
                </a:r>
                <a:r>
                  <a:rPr lang="vi-VN"/>
                  <a:t>\overrightarrow{BC}</a:t>
                </a:r>
                <a:r>
                  <a:rPr sz="2200">
                    <a:solidFill>
                      <a:srgbClr val="1E293B"/>
                    </a:solidFill>
                    <a:latin typeface="Calibri"/>
                  </a:rPr>
                  <a:t>, </a:t>
                </a:r>
                <a:r>
                  <a:rPr lang="vi-VN"/>
                  <a:t>\overrightarrow{BH}</a:t>
                </a:r>
                <a:r>
                  <a:rPr lang="vi-VN"/>
                  <a:t>\cdot</a:t>
                </a:r>
                <a:r>
                  <a:rPr lang="vi-VN"/>
                  <a:t>\overrightarrow{CA}</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Kéo các đỉnh: hai tích vô hướng </a:t>
                </a:r>
                <a:r>
                  <a:rPr sz="2200" b="1">
                    <a:solidFill>
                      <a:srgbClr val="1E293B"/>
                    </a:solidFill>
                    <a:latin typeface="Calibri"/>
                  </a:rPr>
                  <a:t>luôn bằng 0</a:t>
                </a:r>
                <a:r>
                  <a:rPr sz="2200">
                    <a:solidFill>
                      <a:srgbClr val="1E293B"/>
                    </a:solidFill>
                    <a:latin typeface="Calibri"/>
                  </a:rPr>
                  <a:t>.</a:t>
                </a:r>
              </a:p>
            </p:txBody>
          </p:sp>
        </mc:Fallback>
      </mc:AlternateContent>
      <p:sp>
        <p:nvSpPr>
          <p:cNvPr id="8" name="Rounded Rectangle 7">
            <a:hlinkClick r:id="rId3"/>
          </p:cNvPr>
          <p:cNvSpPr/>
          <p:nvPr/>
        </p:nvSpPr>
        <p:spPr>
          <a:xfrm>
            <a:off x="548640" y="5074920"/>
            <a:ext cx="3840480" cy="6858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  MỞ GEOGEBRA</a:t>
            </a:r>
          </a:p>
        </p:txBody>
      </p:sp>
      <p:pic>
        <p:nvPicPr>
          <p:cNvPr id="9" name="Picture 8" descr="qr_ggb_2.png"/>
          <p:cNvPicPr>
            <a:picLocks noChangeAspect="1"/>
          </p:cNvPicPr>
          <p:nvPr/>
        </p:nvPicPr>
        <p:blipFill>
          <a:blip r:embed="rId4"/>
          <a:stretch>
            <a:fillRect/>
          </a:stretch>
        </p:blipFill>
        <p:spPr>
          <a:xfrm>
            <a:off x="4572000" y="4572000"/>
            <a:ext cx="1325880" cy="1325880"/>
          </a:xfrm>
          <a:prstGeom prst="rect">
            <a:avLst/>
          </a:prstGeom>
        </p:spPr>
      </p:pic>
      <p:sp>
        <p:nvSpPr>
          <p:cNvPr id="10" name="TextBox 9"/>
          <p:cNvSpPr txBox="1"/>
          <p:nvPr/>
        </p:nvSpPr>
        <p:spPr>
          <a:xfrm>
            <a:off x="548640" y="5806440"/>
            <a:ext cx="3931920" cy="457200"/>
          </a:xfrm>
          <a:prstGeom prst="rect">
            <a:avLst/>
          </a:prstGeom>
          <a:noFill/>
        </p:spPr>
        <p:txBody>
          <a:bodyPr wrap="square" anchor="t" lIns="45720" rIns="45720">
            <a:spAutoFit/>
          </a:bodyPr>
          <a:lstStyle/>
          <a:p>
            <a:pPr algn="l">
              <a:spcAft>
                <a:spcPts val="800"/>
              </a:spcAft>
            </a:pPr>
            <a:r>
              <a:rPr sz="1400">
                <a:solidFill>
                  <a:srgbClr val="64748B"/>
                </a:solidFill>
                <a:latin typeface="Calibri"/>
              </a:rPr>
              <a:t>Quét QR mở trên điện thoại. Kéo điểm để thay đổi hình.</a:t>
            </a:r>
          </a:p>
        </p:txBody>
      </p:sp>
      <p:pic>
        <p:nvPicPr>
          <p:cNvPr id="11" name="Picture 10" descr="h445.png"/>
          <p:cNvPicPr>
            <a:picLocks noChangeAspect="1"/>
          </p:cNvPicPr>
          <p:nvPr/>
        </p:nvPicPr>
        <p:blipFill>
          <a:blip r:embed="rId5"/>
          <a:stretch>
            <a:fillRect/>
          </a:stretch>
        </p:blipFill>
        <p:spPr>
          <a:xfrm>
            <a:off x="6858000" y="1921170"/>
            <a:ext cx="4846320" cy="3564299"/>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28</a:t>
            </a:r>
          </a:p>
        </p:txBody>
      </p:sp>
      <p:sp>
        <p:nvSpPr>
          <p:cNvPr id="7" name="Rounded Rectangle 6"/>
          <p:cNvSpPr/>
          <p:nvPr/>
        </p:nvSpPr>
        <p:spPr>
          <a:xfrm>
            <a:off x="548640" y="1463040"/>
            <a:ext cx="11064240" cy="1187196"/>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10735056" cy="1114044"/>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14:m>
                  <m:oMath xmlns:m="http://schemas.openxmlformats.org/officeDocument/2006/math">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v</m:t>
                        </m:r>
                      </m:e>
                    </m:acc>
                    <m:r>
                      <a:rPr lang="vi-VN" sz="2200" b="0">
                        <a:solidFill>
                          <a:srgbClr val="1E293B"/>
                        </a:solidFill>
                        <a:latin typeface="Cambria Math" panose="02040503050406030204" pitchFamily="18" charset="0"/>
                      </a:rPr>
                      <m:t>=x</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+y</m:t>
                    </m:r>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v</m:t>
                        </m:r>
                      </m:e>
                    </m:acc>
                    <m:r>
                      <a:rPr lang="vi-VN" sz="2200" b="0">
                        <a:solidFill>
                          <a:srgbClr val="1E293B"/>
                        </a:solidFill>
                        <a:latin typeface="Cambria Math" panose="02040503050406030204" pitchFamily="18" charset="0"/>
                      </a:rPr>
                      <m:t>⇔x</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+y</m:t>
                    </m:r>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=0</m:t>
                    </m:r>
                  </m:oMath>
                </a14:m>
                <a:r>
                  <a:rPr sz="2200">
                    <a:solidFill>
                      <a:srgbClr val="1E293B"/>
                    </a:solidFill>
                    <a:latin typeface="Calibri"/>
                  </a:rPr>
                  <a:t>; </a:t>
                </a:r>
                <a14:m>
                  <m:oMath xmlns:m="http://schemas.openxmlformats.org/officeDocument/2006/math">
                    <m:r>
                      <m:rPr>
                        <m:sty m:val="p"/>
                      </m:rPr>
                      <a:rPr lang="vi-VN" sz="2200" b="0">
                        <a:solidFill>
                          <a:srgbClr val="1E293B"/>
                        </a:solidFill>
                        <a:latin typeface="Cambria Math" panose="02040503050406030204" pitchFamily="18" charset="0"/>
                      </a:rPr>
                      <m:t>cos</m:t>
                    </m:r>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v</m:t>
                        </m:r>
                      </m:e>
                    </m:acc>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x</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+y</m:t>
                        </m:r>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m:t>
                            </m:r>
                          </m:sup>
                        </m:sSup>
                      </m:num>
                      <m:den>
                        <m:rad>
                          <m:radPr>
                            <m:degHide m:val="on"/>
                          </m:radPr>
                          <m:deg/>
                          <m:e>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2</m:t>
                                </m:r>
                              </m:sup>
                            </m:sSup>
                          </m:e>
                        </m:rad>
                        <m:r>
                          <a:rPr lang="vi-VN" sz="2200" b="0">
                            <a:solidFill>
                              <a:srgbClr val="1E293B"/>
                            </a:solidFill>
                            <a:latin typeface="Cambria Math" panose="02040503050406030204" pitchFamily="18" charset="0"/>
                          </a:rPr>
                          <m:t>·</m:t>
                        </m:r>
                        <m:rad>
                          <m:radPr>
                            <m:degHide m:val="on"/>
                          </m:radPr>
                          <m:deg/>
                          <m:e>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′2</m:t>
                                </m:r>
                              </m:sup>
                            </m:sSup>
                          </m:e>
                        </m:rad>
                      </m:den>
                    </m:f>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Tính chất giao hoán, phân phối; </a:t>
                </a:r>
                <a14:m>
                  <m:oMath xmlns:m="http://schemas.openxmlformats.org/officeDocument/2006/math">
                    <m:d>
                      <m:dPr>
                        <m:sepChr m:val=""/>
                        <m:endChr m:val=""/>
                      </m:dPr>
                      <m:e>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v</m:t>
                            </m:r>
                          </m:e>
                        </m:acc>
                        <m:sSup>
                          <m:e>
                            <m:r>
                              <a:rPr lang="vi-VN" sz="2200" b="0">
                                <a:solidFill>
                                  <a:srgbClr val="1E293B"/>
                                </a:solidFill>
                                <a:latin typeface="Cambria Math" panose="02040503050406030204" pitchFamily="18" charset="0"/>
                              </a:rPr>
                              <m:t>)</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sSup>
                          <m:e>
                            <m:acc>
                              <m:accPr>
                                <m:chr m:val="⃗"/>
                              </m:accPr>
                              <m:e>
                                <m:r>
                                  <a:rPr lang="vi-VN" sz="2200" b="0">
                                    <a:solidFill>
                                      <a:srgbClr val="1E293B"/>
                                    </a:solidFill>
                                    <a:latin typeface="Cambria Math" panose="02040503050406030204" pitchFamily="18" charset="0"/>
                                  </a:rPr>
                                  <m:t>u</m:t>
                                </m:r>
                              </m:e>
                            </m:acc>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2</m:t>
                        </m:r>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v</m:t>
                            </m:r>
                          </m:e>
                        </m:acc>
                        <m:r>
                          <a:rPr lang="vi-VN" sz="2200" b="0">
                            <a:solidFill>
                              <a:srgbClr val="1E293B"/>
                            </a:solidFill>
                            <a:latin typeface="Cambria Math" panose="02040503050406030204" pitchFamily="18" charset="0"/>
                          </a:rPr>
                          <m:t>+</m:t>
                        </m:r>
                        <m:sSup>
                          <m:e>
                            <m:acc>
                              <m:accPr>
                                <m:chr m:val="⃗"/>
                              </m:accPr>
                              <m:e>
                                <m:r>
                                  <a:rPr lang="vi-VN" sz="2200" b="0">
                                    <a:solidFill>
                                      <a:srgbClr val="1E293B"/>
                                    </a:solidFill>
                                    <a:latin typeface="Cambria Math" panose="02040503050406030204" pitchFamily="18" charset="0"/>
                                  </a:rPr>
                                  <m:t>v</m:t>
                                </m:r>
                              </m:e>
                            </m:acc>
                          </m:e>
                          <m:sup>
                            <m:r>
                              <a:rPr lang="vi-VN" sz="2200" b="0">
                                <a:solidFill>
                                  <a:srgbClr val="1E293B"/>
                                </a:solidFill>
                                <a:latin typeface="Cambria Math" panose="02040503050406030204" pitchFamily="18" charset="0"/>
                              </a:rPr>
                              <m:t>2</m:t>
                            </m:r>
                          </m:sup>
                        </m:sSup>
                      </m:e>
                    </m:d>
                  </m:oMath>
                </a14:m>
                <a:r>
                  <a:rPr sz="2200">
                    <a:solidFill>
                      <a:srgbClr val="1E293B"/>
                    </a:solidFill>
                    <a:latin typeface="Calibri"/>
                  </a:rPr>
                  <a:t>.</a:t>
                </a:r>
              </a:p>
            </p:txBody>
          </p:sp>
        </mc:Choice>
        <mc:Fallback>
          <p:sp>
            <p:nvSpPr>
              <p:cNvPr id="8" name="TextBox 7"/>
              <p:cNvSpPr txBox="1"/>
              <p:nvPr/>
            </p:nvSpPr>
            <p:spPr>
              <a:xfrm>
                <a:off x="713232" y="1499616"/>
                <a:ext cx="10735056" cy="1114044"/>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lang="vi-VN"/>
                  <a:t>\vec{u}\cdot\vec{v}=xx'+yy'</a:t>
                </a:r>
                <a:r>
                  <a:rPr sz="2200">
                    <a:solidFill>
                      <a:srgbClr val="1E293B"/>
                    </a:solidFill>
                    <a:latin typeface="Calibri"/>
                  </a:rPr>
                  <a:t>; </a:t>
                </a:r>
                <a:r>
                  <a:rPr lang="vi-VN"/>
                  <a:t>\vec{u}\perp\vec{v}\Leftrightarrow xx'+yy'=0</a:t>
                </a:r>
                <a:r>
                  <a:rPr sz="2200">
                    <a:solidFill>
                      <a:srgbClr val="1E293B"/>
                    </a:solidFill>
                    <a:latin typeface="Calibri"/>
                  </a:rPr>
                  <a:t>; </a:t>
                </a:r>
                <a:r>
                  <a:rPr lang="vi-VN"/>
                  <a:t>\cos(\vec{u},\ \vec{v})=\frac{xx'+yy'}{\sqrt{x^2+y^2}\cdot\sqrt{x'^2+y'^2}}</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Tính chất giao hoán, phân phối; </a:t>
                </a:r>
                <a:r>
                  <a:rPr lang="vi-VN"/>
                  <a:t>(\vec{u}\pm\vec{v})^2=\vec{u}^2\pm 2\vec{u}\cdot\vec{v}+\vec{v}^2</a:t>
                </a:r>
                <a:r>
                  <a:rPr sz="2200">
                    <a:solidFill>
                      <a:srgbClr val="1E293B"/>
                    </a:solidFill>
                    <a:latin typeface="Calibri"/>
                  </a:rPr>
                  <a:t>.</a:t>
                </a:r>
              </a:p>
            </p:txBody>
          </p:sp>
        </mc:Fallback>
      </mc:AlternateContent>
      <p:sp>
        <p:nvSpPr>
          <p:cNvPr id="9" name="Rounded Rectangle 8"/>
          <p:cNvSpPr/>
          <p:nvPr/>
        </p:nvSpPr>
        <p:spPr>
          <a:xfrm>
            <a:off x="548640" y="2878836"/>
            <a:ext cx="11064240" cy="147218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915412"/>
            <a:ext cx="10735056" cy="139903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Làm Bài tập 4.21, 4.22, 4.23 (SGK tr.70).</a:t>
            </a:r>
          </a:p>
          <a:p>
            <a:pPr algn="l" marL="365760" indent="-365760">
              <a:spcAft>
                <a:spcPts val="800"/>
              </a:spcAft>
              <a:buClr>
                <a:srgbClr val="1E40AF"/>
              </a:buClr>
              <a:buFont typeface="Arial"/>
              <a:buChar char="•"/>
            </a:pPr>
            <a:r>
              <a:rPr sz="2200">
                <a:solidFill>
                  <a:srgbClr val="1E293B"/>
                </a:solidFill>
                <a:latin typeface="Calibri"/>
              </a:rPr>
              <a:t>Tiết sau luyện tập: mang máy tính cầm tay, bảng con.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3 (T37)</a:t>
            </a:r>
          </a:p>
          <a:p>
            <a:pPr>
              <a:spcAft>
                <a:spcPts val="600"/>
              </a:spcAft>
            </a:pPr>
            <a:r>
              <a:rPr sz="4000" b="1">
                <a:solidFill>
                  <a:srgbClr val="FFFFFF"/>
                </a:solidFill>
                <a:latin typeface="Cambria"/>
              </a:rPr>
              <a:t>Luyện tập</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Tính góc, tích vô hướng; tìm điểm, trực tâm, giải tam giác (Bài tập 4.21 – 4.26).</a:t>
            </a:r>
          </a:p>
          <a:p>
            <a:pPr algn="l">
              <a:spcAft>
                <a:spcPts val="800"/>
              </a:spcAft>
            </a:pPr>
            <a:r>
              <a:rPr sz="2200">
                <a:solidFill>
                  <a:srgbClr val="E0E7FF"/>
                </a:solidFill>
                <a:latin typeface="Calibri"/>
              </a:rPr>
              <a:t>• Liên hệ tích vô hướng với công trong Vật lí; củng cố theo cấu trúc đề thi mới.</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4.21 – 4.22 (SGK TR.70)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30</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4.21.</a:t>
                </a:r>
                <a:r>
                  <a:rPr sz="2000">
                    <a:solidFill>
                      <a:srgbClr val="1E293B"/>
                    </a:solidFill>
                    <a:latin typeface="Calibri"/>
                  </a:rPr>
                  <a:t> Tính góc giữa hai vectơ </a:t>
                </a:r>
                <a14:m>
                  <m:oMath xmlns:m="http://schemas.openxmlformats.org/officeDocument/2006/math">
                    <m:acc>
                      <m:accPr>
                        <m:chr m:val="⃗"/>
                      </m:accPr>
                      <m:e>
                        <m:r>
                          <a:rPr lang="vi-VN" sz="2000" b="0">
                            <a:solidFill>
                              <a:srgbClr val="1E293B"/>
                            </a:solidFill>
                            <a:latin typeface="Cambria Math" panose="02040503050406030204" pitchFamily="18" charset="0"/>
                          </a:rPr>
                          <m:t>a</m:t>
                        </m:r>
                      </m:e>
                    </m:acc>
                  </m:oMath>
                </a14:m>
                <a:r>
                  <a:rPr sz="2000">
                    <a:solidFill>
                      <a:srgbClr val="1E293B"/>
                    </a:solidFill>
                    <a:latin typeface="Calibri"/>
                  </a:rPr>
                  <a:t> và </a:t>
                </a:r>
                <a14:m>
                  <m:oMath xmlns:m="http://schemas.openxmlformats.org/officeDocument/2006/math">
                    <m:acc>
                      <m:accPr>
                        <m:chr m:val="⃗"/>
                      </m:accPr>
                      <m:e>
                        <m:r>
                          <a:rPr lang="vi-VN" sz="2000" b="0">
                            <a:solidFill>
                              <a:srgbClr val="1E293B"/>
                            </a:solidFill>
                            <a:latin typeface="Cambria Math" panose="02040503050406030204" pitchFamily="18" charset="0"/>
                          </a:rPr>
                          <m:t>b</m:t>
                        </m:r>
                      </m:e>
                    </m:acc>
                  </m:oMath>
                </a14:m>
                <a:r>
                  <a:rPr sz="2000">
                    <a:solidFill>
                      <a:srgbClr val="1E293B"/>
                    </a:solidFill>
                    <a:latin typeface="Calibri"/>
                  </a:rPr>
                  <a:t>: a) </a:t>
                </a:r>
                <a14:m>
                  <m:oMath xmlns:m="http://schemas.openxmlformats.org/officeDocument/2006/math">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=(−3;</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1)</m:t>
                    </m:r>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b</m:t>
                        </m:r>
                      </m:e>
                    </m:acc>
                    <m:r>
                      <a:rPr lang="vi-VN" sz="2000" b="0">
                        <a:solidFill>
                          <a:srgbClr val="1E293B"/>
                        </a:solidFill>
                        <a:latin typeface="Cambria Math" panose="02040503050406030204" pitchFamily="18" charset="0"/>
                      </a:rPr>
                      <m:t>=(2;</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6)</m:t>
                    </m:r>
                  </m:oMath>
                </a14:m>
                <a:r>
                  <a:rPr sz="2000">
                    <a:solidFill>
                      <a:srgbClr val="1E293B"/>
                    </a:solidFill>
                    <a:latin typeface="Calibri"/>
                  </a:rPr>
                  <a:t>; b) </a:t>
                </a:r>
                <a14:m>
                  <m:oMath xmlns:m="http://schemas.openxmlformats.org/officeDocument/2006/math">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=(3;</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1)</m:t>
                    </m:r>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b</m:t>
                        </m:r>
                      </m:e>
                    </m:acc>
                    <m:r>
                      <a:rPr lang="vi-VN" sz="2000" b="0">
                        <a:solidFill>
                          <a:srgbClr val="1E293B"/>
                        </a:solidFill>
                        <a:latin typeface="Cambria Math" panose="02040503050406030204" pitchFamily="18" charset="0"/>
                      </a:rPr>
                      <m:t>=(2;</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4)</m:t>
                    </m:r>
                  </m:oMath>
                </a14:m>
                <a:r>
                  <a:rPr sz="2000">
                    <a:solidFill>
                      <a:srgbClr val="1E293B"/>
                    </a:solidFill>
                    <a:latin typeface="Calibri"/>
                  </a:rPr>
                  <a:t>; c) </a:t>
                </a:r>
                <a14:m>
                  <m:oMath xmlns:m="http://schemas.openxmlformats.org/officeDocument/2006/math">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m:t>
                    </m:r>
                    <m:rad>
                      <m:radPr>
                        <m:degHide m:val="on"/>
                      </m:radPr>
                      <m:deg/>
                      <m:e>
                        <m:r>
                          <a:rPr lang="vi-VN" sz="2000" b="0">
                            <a:solidFill>
                              <a:srgbClr val="1E293B"/>
                            </a:solidFill>
                            <a:latin typeface="Cambria Math" panose="02040503050406030204" pitchFamily="18" charset="0"/>
                          </a:rPr>
                          <m:t>2</m:t>
                        </m:r>
                      </m:e>
                    </m:rad>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1)</m:t>
                    </m:r>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b</m:t>
                        </m:r>
                      </m:e>
                    </m:acc>
                    <m:r>
                      <a:rPr lang="vi-VN" sz="2000" b="0">
                        <a:solidFill>
                          <a:srgbClr val="1E293B"/>
                        </a:solidFill>
                        <a:latin typeface="Cambria Math" panose="02040503050406030204" pitchFamily="18" charset="0"/>
                      </a:rPr>
                      <m:t>=(2;</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rad>
                      <m:radPr>
                        <m:degHide m:val="on"/>
                      </m:radPr>
                      <m:deg/>
                      <m:e>
                        <m:r>
                          <a:rPr lang="vi-VN" sz="2000" b="0">
                            <a:solidFill>
                              <a:srgbClr val="1E293B"/>
                            </a:solidFill>
                            <a:latin typeface="Cambria Math" panose="02040503050406030204" pitchFamily="18" charset="0"/>
                          </a:rPr>
                          <m:t>2</m:t>
                        </m:r>
                      </m:e>
                    </m:rad>
                    <m:r>
                      <a:rPr lang="vi-VN" sz="2000" b="0">
                        <a:solidFill>
                          <a:srgbClr val="1E293B"/>
                        </a:solidFill>
                        <a:latin typeface="Cambria Math" panose="02040503050406030204" pitchFamily="18" charset="0"/>
                      </a:rPr>
                      <m:t>)</m:t>
                    </m:r>
                  </m:oMath>
                </a14:m>
                <a:r>
                  <a:rPr sz="2000">
                    <a:solidFill>
                      <a:srgbClr val="1E293B"/>
                    </a:solidFill>
                    <a:latin typeface="Calibri"/>
                  </a:rPr>
                  <a:t>.</a:t>
                </a:r>
              </a:p>
            </p:txBody>
          </p:sp>
        </mc:Choice>
        <mc:Fallback>
          <p:sp>
            <p:nvSpPr>
              <p:cNvPr id="7" name="TextBox 6"/>
              <p:cNvSpPr txBox="1"/>
              <p:nvPr/>
            </p:nvSpPr>
            <p:spPr>
              <a:xfrm>
                <a:off x="548640" y="1371600"/>
                <a:ext cx="11064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4.21.</a:t>
                </a:r>
                <a:r>
                  <a:rPr sz="2000">
                    <a:solidFill>
                      <a:srgbClr val="1E293B"/>
                    </a:solidFill>
                    <a:latin typeface="Calibri"/>
                  </a:rPr>
                  <a:t> Tính góc giữa hai vectơ </a:t>
                </a:r>
                <a:r>
                  <a:rPr lang="vi-VN"/>
                  <a:t>\vec{a}</a:t>
                </a:r>
                <a:r>
                  <a:rPr sz="2000">
                    <a:solidFill>
                      <a:srgbClr val="1E293B"/>
                    </a:solidFill>
                    <a:latin typeface="Calibri"/>
                  </a:rPr>
                  <a:t> và </a:t>
                </a:r>
                <a:r>
                  <a:rPr lang="vi-VN"/>
                  <a:t>\vec{b}</a:t>
                </a:r>
                <a:r>
                  <a:rPr sz="2000">
                    <a:solidFill>
                      <a:srgbClr val="1E293B"/>
                    </a:solidFill>
                    <a:latin typeface="Calibri"/>
                  </a:rPr>
                  <a:t>: a) </a:t>
                </a:r>
                <a:r>
                  <a:rPr lang="vi-VN"/>
                  <a:t>\vec{a}=(-3;\ 1)</a:t>
                </a:r>
                <a:r>
                  <a:rPr sz="2000">
                    <a:solidFill>
                      <a:srgbClr val="1E293B"/>
                    </a:solidFill>
                    <a:latin typeface="Calibri"/>
                  </a:rPr>
                  <a:t>, </a:t>
                </a:r>
                <a:r>
                  <a:rPr lang="vi-VN"/>
                  <a:t>\vec{b}=(2;\ 6)</a:t>
                </a:r>
                <a:r>
                  <a:rPr sz="2000">
                    <a:solidFill>
                      <a:srgbClr val="1E293B"/>
                    </a:solidFill>
                    <a:latin typeface="Calibri"/>
                  </a:rPr>
                  <a:t>; b) </a:t>
                </a:r>
                <a:r>
                  <a:rPr lang="vi-VN"/>
                  <a:t>\vec{a}=(3;\ 1)</a:t>
                </a:r>
                <a:r>
                  <a:rPr sz="2000">
                    <a:solidFill>
                      <a:srgbClr val="1E293B"/>
                    </a:solidFill>
                    <a:latin typeface="Calibri"/>
                  </a:rPr>
                  <a:t>, </a:t>
                </a:r>
                <a:r>
                  <a:rPr lang="vi-VN"/>
                  <a:t>\vec{b}=(2;\ 4)</a:t>
                </a:r>
                <a:r>
                  <a:rPr sz="2000">
                    <a:solidFill>
                      <a:srgbClr val="1E293B"/>
                    </a:solidFill>
                    <a:latin typeface="Calibri"/>
                  </a:rPr>
                  <a:t>; c) </a:t>
                </a:r>
                <a:r>
                  <a:rPr lang="vi-VN"/>
                  <a:t>\vec{a}=(-\sqrt{2};\ 1)</a:t>
                </a:r>
                <a:r>
                  <a:rPr sz="2000">
                    <a:solidFill>
                      <a:srgbClr val="1E293B"/>
                    </a:solidFill>
                    <a:latin typeface="Calibri"/>
                  </a:rPr>
                  <a:t>, </a:t>
                </a:r>
                <a:r>
                  <a:rPr lang="vi-VN"/>
                  <a:t>\vec{b}=(2;\ -\sqrt{2})</a:t>
                </a:r>
                <a:r>
                  <a:rPr sz="2000">
                    <a:solidFill>
                      <a:srgbClr val="1E293B"/>
                    </a:solidFill>
                    <a:latin typeface="Calibri"/>
                  </a:rPr>
                  <a:t>.</a:t>
                </a:r>
              </a:p>
            </p:txBody>
          </p:sp>
        </mc:Fallback>
      </mc:AlternateContent>
      <p:sp>
        <p:nvSpPr>
          <p:cNvPr id="8" name="s1_nen"/>
          <p:cNvSpPr/>
          <p:nvPr/>
        </p:nvSpPr>
        <p:spPr>
          <a:xfrm>
            <a:off x="548640" y="2218944"/>
            <a:ext cx="11064240" cy="12862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255520"/>
                <a:ext cx="10735056" cy="1213104"/>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4.21.</a:t>
                </a:r>
                <a:r>
                  <a:rPr sz="2000">
                    <a:solidFill>
                      <a:srgbClr val="1E293B"/>
                    </a:solidFill>
                    <a:latin typeface="Calibri"/>
                  </a:rPr>
                  <a:t> a) </a:t>
                </a:r>
                <a14:m>
                  <m:oMath xmlns:m="http://schemas.openxmlformats.org/officeDocument/2006/math">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m:t>
                        </m:r>
                      </m:e>
                    </m:acc>
                    <m:r>
                      <a:rPr lang="vi-VN" sz="2000" b="0">
                        <a:solidFill>
                          <a:srgbClr val="1E293B"/>
                        </a:solidFill>
                        <a:latin typeface="Cambria Math" panose="02040503050406030204" pitchFamily="18" charset="0"/>
                      </a:rPr>
                      <m:t>=0</m:t>
                    </m:r>
                  </m:oMath>
                </a14:m>
                <a:r>
                  <a:rPr sz="2000">
                    <a:solidFill>
                      <a:srgbClr val="1E293B"/>
                    </a:solidFill>
                    <a:latin typeface="Calibri"/>
                  </a:rPr>
                  <a:t> ⇒ </a:t>
                </a:r>
                <a14:m>
                  <m:oMath xmlns:m="http://schemas.openxmlformats.org/officeDocument/2006/math">
                    <m:sSup>
                      <m:e>
                        <m:r>
                          <a:rPr lang="vi-VN" sz="2000" b="0">
                            <a:solidFill>
                              <a:srgbClr val="1E293B"/>
                            </a:solidFill>
                            <a:latin typeface="Cambria Math" panose="02040503050406030204" pitchFamily="18" charset="0"/>
                          </a:rPr>
                          <m:t>90</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b) </a:t>
                </a:r>
                <a14:m>
                  <m:oMath xmlns:m="http://schemas.openxmlformats.org/officeDocument/2006/math">
                    <m:r>
                      <m:rPr>
                        <m:sty m:val="p"/>
                      </m:rPr>
                      <a:rPr lang="vi-VN" sz="2000" b="0">
                        <a:solidFill>
                          <a:srgbClr val="1E293B"/>
                        </a:solidFill>
                        <a:latin typeface="Cambria Math" panose="02040503050406030204" pitchFamily="18" charset="0"/>
                      </a:rPr>
                      <m:t>cos</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f>
                      <m:fPr>
                        <m:type m:val="bar"/>
                      </m:fPr>
                      <m:num>
                        <m:r>
                          <a:rPr lang="vi-VN" sz="2000" b="0">
                            <a:solidFill>
                              <a:srgbClr val="1E293B"/>
                            </a:solidFill>
                            <a:latin typeface="Cambria Math" panose="02040503050406030204" pitchFamily="18" charset="0"/>
                          </a:rPr>
                          <m:t>10</m:t>
                        </m:r>
                      </m:num>
                      <m:den>
                        <m:rad>
                          <m:radPr>
                            <m:degHide m:val="on"/>
                          </m:radPr>
                          <m:deg/>
                          <m:e>
                            <m:r>
                              <a:rPr lang="vi-VN" sz="2000" b="0">
                                <a:solidFill>
                                  <a:srgbClr val="1E293B"/>
                                </a:solidFill>
                                <a:latin typeface="Cambria Math" panose="02040503050406030204" pitchFamily="18" charset="0"/>
                              </a:rPr>
                              <m:t>10</m:t>
                            </m:r>
                          </m:e>
                        </m:rad>
                        <m:r>
                          <a:rPr lang="vi-VN" sz="2000" b="0">
                            <a:solidFill>
                              <a:srgbClr val="1E293B"/>
                            </a:solidFill>
                            <a:latin typeface="Cambria Math" panose="02040503050406030204" pitchFamily="18" charset="0"/>
                          </a:rPr>
                          <m:t>·</m:t>
                        </m:r>
                        <m:rad>
                          <m:radPr>
                            <m:degHide m:val="on"/>
                          </m:radPr>
                          <m:deg/>
                          <m:e>
                            <m:r>
                              <a:rPr lang="vi-VN" sz="2000" b="0">
                                <a:solidFill>
                                  <a:srgbClr val="1E293B"/>
                                </a:solidFill>
                                <a:latin typeface="Cambria Math" panose="02040503050406030204" pitchFamily="18" charset="0"/>
                              </a:rPr>
                              <m:t>20</m:t>
                            </m:r>
                          </m:e>
                        </m:rad>
                      </m:den>
                    </m:f>
                    <m:r>
                      <a:rPr lang="vi-VN" sz="2000" b="0">
                        <a:solidFill>
                          <a:srgbClr val="1E293B"/>
                        </a:solidFill>
                        <a:latin typeface="Cambria Math" panose="02040503050406030204" pitchFamily="18" charset="0"/>
                      </a:rPr>
                      <m:t>=</m:t>
                    </m:r>
                    <m:f>
                      <m:fPr>
                        <m:type m:val="bar"/>
                      </m:fPr>
                      <m:num>
                        <m:r>
                          <a:rPr lang="vi-VN" sz="2000" b="0">
                            <a:solidFill>
                              <a:srgbClr val="1E293B"/>
                            </a:solidFill>
                            <a:latin typeface="Cambria Math" panose="02040503050406030204" pitchFamily="18" charset="0"/>
                          </a:rPr>
                          <m:t>1</m:t>
                        </m:r>
                      </m:num>
                      <m:den>
                        <m:rad>
                          <m:radPr>
                            <m:degHide m:val="on"/>
                          </m:radPr>
                          <m:deg/>
                          <m:e>
                            <m:r>
                              <a:rPr lang="vi-VN" sz="2000" b="0">
                                <a:solidFill>
                                  <a:srgbClr val="1E293B"/>
                                </a:solidFill>
                                <a:latin typeface="Cambria Math" panose="02040503050406030204" pitchFamily="18" charset="0"/>
                              </a:rPr>
                              <m:t>2</m:t>
                            </m:r>
                          </m:e>
                        </m:rad>
                      </m:den>
                    </m:f>
                  </m:oMath>
                </a14:m>
                <a:r>
                  <a:rPr sz="2000">
                    <a:solidFill>
                      <a:srgbClr val="1E293B"/>
                    </a:solidFill>
                    <a:latin typeface="Calibri"/>
                  </a:rPr>
                  <a:t> ⇒ </a:t>
                </a:r>
                <a14:m>
                  <m:oMath xmlns:m="http://schemas.openxmlformats.org/officeDocument/2006/math">
                    <m:sSup>
                      <m:e>
                        <m:r>
                          <a:rPr lang="vi-VN" sz="2000" b="0">
                            <a:solidFill>
                              <a:srgbClr val="1E293B"/>
                            </a:solidFill>
                            <a:latin typeface="Cambria Math" panose="02040503050406030204" pitchFamily="18" charset="0"/>
                          </a:rPr>
                          <m:t>45</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c) </a:t>
                </a:r>
                <a14:m>
                  <m:oMath xmlns:m="http://schemas.openxmlformats.org/officeDocument/2006/math">
                    <m:r>
                      <m:rPr>
                        <m:sty m:val="p"/>
                      </m:rPr>
                      <a:rPr lang="vi-VN" sz="2000" b="0">
                        <a:solidFill>
                          <a:srgbClr val="1E293B"/>
                        </a:solidFill>
                        <a:latin typeface="Cambria Math" panose="02040503050406030204" pitchFamily="18" charset="0"/>
                      </a:rPr>
                      <m:t>cos</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f>
                      <m:fPr>
                        <m:type m:val="bar"/>
                      </m:fPr>
                      <m:num>
                        <m:r>
                          <a:rPr lang="vi-VN" sz="2000" b="0">
                            <a:solidFill>
                              <a:srgbClr val="1E293B"/>
                            </a:solidFill>
                            <a:latin typeface="Cambria Math" panose="02040503050406030204" pitchFamily="18" charset="0"/>
                          </a:rPr>
                          <m:t>−3</m:t>
                        </m:r>
                        <m:rad>
                          <m:radPr>
                            <m:degHide m:val="on"/>
                          </m:radPr>
                          <m:deg/>
                          <m:e>
                            <m:r>
                              <a:rPr lang="vi-VN" sz="2000" b="0">
                                <a:solidFill>
                                  <a:srgbClr val="1E293B"/>
                                </a:solidFill>
                                <a:latin typeface="Cambria Math" panose="02040503050406030204" pitchFamily="18" charset="0"/>
                              </a:rPr>
                              <m:t>2</m:t>
                            </m:r>
                          </m:e>
                        </m:rad>
                      </m:num>
                      <m:den>
                        <m:rad>
                          <m:radPr>
                            <m:degHide m:val="on"/>
                          </m:radPr>
                          <m:deg/>
                          <m:e>
                            <m:r>
                              <a:rPr lang="vi-VN" sz="2000" b="0">
                                <a:solidFill>
                                  <a:srgbClr val="1E293B"/>
                                </a:solidFill>
                                <a:latin typeface="Cambria Math" panose="02040503050406030204" pitchFamily="18" charset="0"/>
                              </a:rPr>
                              <m:t>3</m:t>
                            </m:r>
                          </m:e>
                        </m:rad>
                        <m:r>
                          <a:rPr lang="vi-VN" sz="2000" b="0">
                            <a:solidFill>
                              <a:srgbClr val="1E293B"/>
                            </a:solidFill>
                            <a:latin typeface="Cambria Math" panose="02040503050406030204" pitchFamily="18" charset="0"/>
                          </a:rPr>
                          <m:t>·</m:t>
                        </m:r>
                        <m:rad>
                          <m:radPr>
                            <m:degHide m:val="on"/>
                          </m:radPr>
                          <m:deg/>
                          <m:e>
                            <m:r>
                              <a:rPr lang="vi-VN" sz="2000" b="0">
                                <a:solidFill>
                                  <a:srgbClr val="1E293B"/>
                                </a:solidFill>
                                <a:latin typeface="Cambria Math" panose="02040503050406030204" pitchFamily="18" charset="0"/>
                              </a:rPr>
                              <m:t>6</m:t>
                            </m:r>
                          </m:e>
                        </m:rad>
                      </m:den>
                    </m:f>
                    <m:r>
                      <a:rPr lang="vi-VN" sz="2000" b="0">
                        <a:solidFill>
                          <a:srgbClr val="1E293B"/>
                        </a:solidFill>
                        <a:latin typeface="Cambria Math" panose="02040503050406030204" pitchFamily="18" charset="0"/>
                      </a:rPr>
                      <m:t>=−1</m:t>
                    </m:r>
                  </m:oMath>
                </a14:m>
                <a:r>
                  <a:rPr sz="2000">
                    <a:solidFill>
                      <a:srgbClr val="1E293B"/>
                    </a:solidFill>
                    <a:latin typeface="Calibri"/>
                  </a:rPr>
                  <a:t> ⇒ </a:t>
                </a:r>
                <a14:m>
                  <m:oMath xmlns:m="http://schemas.openxmlformats.org/officeDocument/2006/math">
                    <m:sSup>
                      <m:e>
                        <m:r>
                          <a:rPr lang="vi-VN" sz="2000" b="0">
                            <a:solidFill>
                              <a:srgbClr val="1E293B"/>
                            </a:solidFill>
                            <a:latin typeface="Cambria Math" panose="02040503050406030204" pitchFamily="18" charset="0"/>
                          </a:rPr>
                          <m:t>180</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(hay </a:t>
                </a:r>
                <a14:m>
                  <m:oMath xmlns:m="http://schemas.openxmlformats.org/officeDocument/2006/math">
                    <m:acc>
                      <m:accPr>
                        <m:chr m:val="⃗"/>
                      </m:accPr>
                      <m:e>
                        <m:r>
                          <a:rPr lang="vi-VN" sz="2000" b="0">
                            <a:solidFill>
                              <a:srgbClr val="1E293B"/>
                            </a:solidFill>
                            <a:latin typeface="Cambria Math" panose="02040503050406030204" pitchFamily="18" charset="0"/>
                          </a:rPr>
                          <m:t>b</m:t>
                        </m:r>
                      </m:e>
                    </m:acc>
                    <m:r>
                      <a:rPr lang="vi-VN" sz="2000" b="0">
                        <a:solidFill>
                          <a:srgbClr val="1E293B"/>
                        </a:solidFill>
                        <a:latin typeface="Cambria Math" panose="02040503050406030204" pitchFamily="18" charset="0"/>
                      </a:rPr>
                      <m:t>=−</m:t>
                    </m:r>
                    <m:rad>
                      <m:radPr>
                        <m:degHide m:val="on"/>
                      </m:radPr>
                      <m:deg/>
                      <m:e>
                        <m:r>
                          <a:rPr lang="vi-VN" sz="2000" b="0">
                            <a:solidFill>
                              <a:srgbClr val="1E293B"/>
                            </a:solidFill>
                            <a:latin typeface="Cambria Math" panose="02040503050406030204" pitchFamily="18" charset="0"/>
                          </a:rPr>
                          <m:t>2</m:t>
                        </m:r>
                      </m:e>
                    </m:rad>
                    <m:acc>
                      <m:accPr>
                        <m:chr m:val="⃗"/>
                      </m:accPr>
                      <m:e>
                        <m:r>
                          <a:rPr lang="vi-VN" sz="2000" b="0">
                            <a:solidFill>
                              <a:srgbClr val="1E293B"/>
                            </a:solidFill>
                            <a:latin typeface="Cambria Math" panose="02040503050406030204" pitchFamily="18" charset="0"/>
                          </a:rPr>
                          <m:t>a</m:t>
                        </m:r>
                      </m:e>
                    </m:acc>
                  </m:oMath>
                </a14:m>
                <a:r>
                  <a:rPr sz="2000">
                    <a:solidFill>
                      <a:srgbClr val="1E293B"/>
                    </a:solidFill>
                    <a:latin typeface="Calibri"/>
                  </a:rPr>
                  <a:t>).</a:t>
                </a:r>
              </a:p>
            </p:txBody>
          </p:sp>
        </mc:Choice>
        <mc:Fallback>
          <p:sp>
            <p:nvSpPr>
              <p:cNvPr id="9" name="TextBox 8"/>
              <p:cNvSpPr txBox="1"/>
              <p:nvPr/>
            </p:nvSpPr>
            <p:spPr>
              <a:xfrm>
                <a:off x="713232" y="2255520"/>
                <a:ext cx="10735056" cy="1213104"/>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4.21.</a:t>
                </a:r>
                <a:r>
                  <a:rPr sz="2000">
                    <a:solidFill>
                      <a:srgbClr val="1E293B"/>
                    </a:solidFill>
                    <a:latin typeface="Calibri"/>
                  </a:rPr>
                  <a:t> a) </a:t>
                </a:r>
                <a:r>
                  <a:rPr lang="vi-VN"/>
                  <a:t>\vec{a}\cdot\vec{b}=0</a:t>
                </a:r>
                <a:r>
                  <a:rPr sz="2000">
                    <a:solidFill>
                      <a:srgbClr val="1E293B"/>
                    </a:solidFill>
                    <a:latin typeface="Calibri"/>
                  </a:rPr>
                  <a:t> ⇒ </a:t>
                </a:r>
                <a:r>
                  <a:rPr lang="vi-VN"/>
                  <a:t>90^\circ</a:t>
                </a:r>
                <a:r>
                  <a:rPr sz="2000">
                    <a:solidFill>
                      <a:srgbClr val="1E293B"/>
                    </a:solidFill>
                    <a:latin typeface="Calibri"/>
                  </a:rPr>
                  <a:t>. b) </a:t>
                </a:r>
                <a:r>
                  <a:rPr lang="vi-VN"/>
                  <a:t>\cos=\frac{10}{\sqrt{10}\cdot\sqrt{20}}=\frac{1}{\sqrt{2}}</a:t>
                </a:r>
                <a:r>
                  <a:rPr sz="2000">
                    <a:solidFill>
                      <a:srgbClr val="1E293B"/>
                    </a:solidFill>
                    <a:latin typeface="Calibri"/>
                  </a:rPr>
                  <a:t> ⇒ </a:t>
                </a:r>
                <a:r>
                  <a:rPr lang="vi-VN"/>
                  <a:t>45^\circ</a:t>
                </a:r>
                <a:r>
                  <a:rPr sz="2000">
                    <a:solidFill>
                      <a:srgbClr val="1E293B"/>
                    </a:solidFill>
                    <a:latin typeface="Calibri"/>
                  </a:rPr>
                  <a:t>. c) </a:t>
                </a:r>
                <a:r>
                  <a:rPr lang="vi-VN"/>
                  <a:t>\cos=\frac{-3\sqrt{2}}{\sqrt{3}\cdot\sqrt{6}}=-1</a:t>
                </a:r>
                <a:r>
                  <a:rPr sz="2000">
                    <a:solidFill>
                      <a:srgbClr val="1E293B"/>
                    </a:solidFill>
                    <a:latin typeface="Calibri"/>
                  </a:rPr>
                  <a:t> ⇒ </a:t>
                </a:r>
                <a:r>
                  <a:rPr lang="vi-VN"/>
                  <a:t>180^\circ</a:t>
                </a:r>
                <a:r>
                  <a:rPr sz="2000">
                    <a:solidFill>
                      <a:srgbClr val="1E293B"/>
                    </a:solidFill>
                    <a:latin typeface="Calibri"/>
                  </a:rPr>
                  <a:t> (hay </a:t>
                </a:r>
                <a:r>
                  <a:rPr lang="vi-VN"/>
                  <a:t>\vec{b}=-\sqrt{2}\vec{a}</a:t>
                </a:r>
                <a:r>
                  <a:rPr sz="20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569208"/>
                <a:ext cx="11064240" cy="4785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4.22.</a:t>
                </a:r>
                <a:r>
                  <a:rPr sz="2000">
                    <a:solidFill>
                      <a:srgbClr val="1E293B"/>
                    </a:solidFill>
                    <a:latin typeface="Calibri"/>
                  </a:rPr>
                  <a:t> Tìm điều kiện của </a:t>
                </a:r>
                <a14:m>
                  <m:oMath xmlns:m="http://schemas.openxmlformats.org/officeDocument/2006/math">
                    <m:acc>
                      <m:accPr>
                        <m:chr m:val="⃗"/>
                      </m:accPr>
                      <m:e>
                        <m:r>
                          <a:rPr lang="vi-VN" sz="2000" b="0">
                            <a:solidFill>
                              <a:srgbClr val="1E293B"/>
                            </a:solidFill>
                            <a:latin typeface="Cambria Math" panose="02040503050406030204" pitchFamily="18" charset="0"/>
                          </a:rPr>
                          <m:t>u</m:t>
                        </m:r>
                      </m:e>
                    </m:acc>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acc>
                      <m:accPr>
                        <m:chr m:val="⃗"/>
                      </m:accPr>
                      <m:e>
                        <m:r>
                          <a:rPr lang="vi-VN" sz="2000" b="0">
                            <a:solidFill>
                              <a:srgbClr val="1E293B"/>
                            </a:solidFill>
                            <a:latin typeface="Cambria Math" panose="02040503050406030204" pitchFamily="18" charset="0"/>
                          </a:rPr>
                          <m:t>v</m:t>
                        </m:r>
                      </m:e>
                    </m:acc>
                  </m:oMath>
                </a14:m>
                <a:r>
                  <a:rPr sz="2000">
                    <a:solidFill>
                      <a:srgbClr val="1E293B"/>
                    </a:solidFill>
                    <a:latin typeface="Calibri"/>
                  </a:rPr>
                  <a:t> để: a) </a:t>
                </a:r>
                <a14:m>
                  <m:oMath xmlns:m="http://schemas.openxmlformats.org/officeDocument/2006/math">
                    <m:acc>
                      <m:accPr>
                        <m:chr m:val="⃗"/>
                      </m:accPr>
                      <m:e>
                        <m:r>
                          <a:rPr lang="vi-VN" sz="2000" b="0">
                            <a:solidFill>
                              <a:srgbClr val="1E293B"/>
                            </a:solidFill>
                            <a:latin typeface="Cambria Math" panose="02040503050406030204" pitchFamily="18" charset="0"/>
                          </a:rPr>
                          <m:t>u</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v</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u</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v</m:t>
                        </m:r>
                      </m:e>
                    </m:acc>
                    <m:r>
                      <a:rPr lang="vi-VN" sz="2000" b="0">
                        <a:solidFill>
                          <a:srgbClr val="1E293B"/>
                        </a:solidFill>
                        <a:latin typeface="Cambria Math" panose="02040503050406030204" pitchFamily="18" charset="0"/>
                      </a:rPr>
                      <m:t>|</m:t>
                    </m:r>
                  </m:oMath>
                </a14:m>
                <a:r>
                  <a:rPr sz="2000">
                    <a:solidFill>
                      <a:srgbClr val="1E293B"/>
                    </a:solidFill>
                    <a:latin typeface="Calibri"/>
                  </a:rPr>
                  <a:t>; b) </a:t>
                </a:r>
                <a14:m>
                  <m:oMath xmlns:m="http://schemas.openxmlformats.org/officeDocument/2006/math">
                    <m:acc>
                      <m:accPr>
                        <m:chr m:val="⃗"/>
                      </m:accPr>
                      <m:e>
                        <m:r>
                          <a:rPr lang="vi-VN" sz="2000" b="0">
                            <a:solidFill>
                              <a:srgbClr val="1E293B"/>
                            </a:solidFill>
                            <a:latin typeface="Cambria Math" panose="02040503050406030204" pitchFamily="18" charset="0"/>
                          </a:rPr>
                          <m:t>u</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v</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u</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v</m:t>
                        </m:r>
                      </m:e>
                    </m:acc>
                    <m:r>
                      <a:rPr lang="vi-VN" sz="2000" b="0">
                        <a:solidFill>
                          <a:srgbClr val="1E293B"/>
                        </a:solidFill>
                        <a:latin typeface="Cambria Math" panose="02040503050406030204" pitchFamily="18" charset="0"/>
                      </a:rPr>
                      <m:t>|</m:t>
                    </m:r>
                  </m:oMath>
                </a14:m>
                <a:r>
                  <a:rPr sz="2000">
                    <a:solidFill>
                      <a:srgbClr val="1E293B"/>
                    </a:solidFill>
                    <a:latin typeface="Calibri"/>
                  </a:rPr>
                  <a:t>.</a:t>
                </a:r>
              </a:p>
            </p:txBody>
          </p:sp>
        </mc:Choice>
        <mc:Fallback>
          <p:sp>
            <p:nvSpPr>
              <p:cNvPr id="10" name="TextBox 9"/>
              <p:cNvSpPr txBox="1"/>
              <p:nvPr/>
            </p:nvSpPr>
            <p:spPr>
              <a:xfrm>
                <a:off x="548640" y="3569208"/>
                <a:ext cx="11064240" cy="4785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4.22.</a:t>
                </a:r>
                <a:r>
                  <a:rPr sz="2000">
                    <a:solidFill>
                      <a:srgbClr val="1E293B"/>
                    </a:solidFill>
                    <a:latin typeface="Calibri"/>
                  </a:rPr>
                  <a:t> Tìm điều kiện của </a:t>
                </a:r>
                <a:r>
                  <a:rPr lang="vi-VN"/>
                  <a:t>\vec{u},\ \vec{v}</a:t>
                </a:r>
                <a:r>
                  <a:rPr sz="2000">
                    <a:solidFill>
                      <a:srgbClr val="1E293B"/>
                    </a:solidFill>
                    <a:latin typeface="Calibri"/>
                  </a:rPr>
                  <a:t> để: a) </a:t>
                </a:r>
                <a:r>
                  <a:rPr lang="vi-VN"/>
                  <a:t>\vec{u}\cdot\vec{v}=|\vec{u}|\cdot|\vec{v}|</a:t>
                </a:r>
                <a:r>
                  <a:rPr sz="2000">
                    <a:solidFill>
                      <a:srgbClr val="1E293B"/>
                    </a:solidFill>
                    <a:latin typeface="Calibri"/>
                  </a:rPr>
                  <a:t>; b) </a:t>
                </a:r>
                <a:r>
                  <a:rPr lang="vi-VN"/>
                  <a:t>\vec{u}\cdot\vec{v}=-|\vec{u}|\cdot|\vec{v}|</a:t>
                </a:r>
                <a:r>
                  <a:rPr sz="2000">
                    <a:solidFill>
                      <a:srgbClr val="1E293B"/>
                    </a:solidFill>
                    <a:latin typeface="Calibri"/>
                  </a:rPr>
                  <a:t>.</a:t>
                </a:r>
              </a:p>
            </p:txBody>
          </p:sp>
        </mc:Fallback>
      </mc:AlternateContent>
      <p:sp>
        <p:nvSpPr>
          <p:cNvPr id="11" name="s3_nen"/>
          <p:cNvSpPr/>
          <p:nvPr/>
        </p:nvSpPr>
        <p:spPr>
          <a:xfrm>
            <a:off x="548640" y="4111751"/>
            <a:ext cx="1106424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148327"/>
                <a:ext cx="10735056" cy="496824"/>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4.22.</a:t>
                </a:r>
                <a:r>
                  <a:rPr sz="2000">
                    <a:solidFill>
                      <a:srgbClr val="1E293B"/>
                    </a:solidFill>
                    <a:latin typeface="Calibri"/>
                  </a:rPr>
                  <a:t> a) </a:t>
                </a:r>
                <a14:m>
                  <m:oMath xmlns:m="http://schemas.openxmlformats.org/officeDocument/2006/math">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u</m:t>
                        </m:r>
                      </m:e>
                    </m:acc>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acc>
                      <m:accPr>
                        <m:chr m:val="⃗"/>
                      </m:accPr>
                      <m:e>
                        <m:r>
                          <a:rPr lang="vi-VN" sz="2000" b="0">
                            <a:solidFill>
                              <a:srgbClr val="1E293B"/>
                            </a:solidFill>
                            <a:latin typeface="Cambria Math" panose="02040503050406030204" pitchFamily="18" charset="0"/>
                          </a:rPr>
                          <m:t>v</m:t>
                        </m:r>
                      </m:e>
                    </m:acc>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0</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u</m:t>
                        </m:r>
                      </m:e>
                    </m:acc>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acc>
                      <m:accPr>
                        <m:chr m:val="⃗"/>
                      </m:accPr>
                      <m:e>
                        <m:r>
                          <a:rPr lang="vi-VN" sz="2000" b="0">
                            <a:solidFill>
                              <a:srgbClr val="1E293B"/>
                            </a:solidFill>
                            <a:latin typeface="Cambria Math" panose="02040503050406030204" pitchFamily="18" charset="0"/>
                          </a:rPr>
                          <m:t>v</m:t>
                        </m:r>
                      </m:e>
                    </m:acc>
                  </m:oMath>
                </a14:m>
                <a:r>
                  <a:rPr sz="2000">
                    <a:solidFill>
                      <a:srgbClr val="1E293B"/>
                    </a:solidFill>
                    <a:latin typeface="Calibri"/>
                  </a:rPr>
                  <a:t> cùng hướng. b) </a:t>
                </a:r>
                <a14:m>
                  <m:oMath xmlns:m="http://schemas.openxmlformats.org/officeDocument/2006/math">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u</m:t>
                        </m:r>
                      </m:e>
                    </m:acc>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acc>
                      <m:accPr>
                        <m:chr m:val="⃗"/>
                      </m:accPr>
                      <m:e>
                        <m:r>
                          <a:rPr lang="vi-VN" sz="2000" b="0">
                            <a:solidFill>
                              <a:srgbClr val="1E293B"/>
                            </a:solidFill>
                            <a:latin typeface="Cambria Math" panose="02040503050406030204" pitchFamily="18" charset="0"/>
                          </a:rPr>
                          <m:t>v</m:t>
                        </m:r>
                      </m:e>
                    </m:acc>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180</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u</m:t>
                        </m:r>
                      </m:e>
                    </m:acc>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acc>
                      <m:accPr>
                        <m:chr m:val="⃗"/>
                      </m:accPr>
                      <m:e>
                        <m:r>
                          <a:rPr lang="vi-VN" sz="2000" b="0">
                            <a:solidFill>
                              <a:srgbClr val="1E293B"/>
                            </a:solidFill>
                            <a:latin typeface="Cambria Math" panose="02040503050406030204" pitchFamily="18" charset="0"/>
                          </a:rPr>
                          <m:t>v</m:t>
                        </m:r>
                      </m:e>
                    </m:acc>
                  </m:oMath>
                </a14:m>
                <a:r>
                  <a:rPr sz="2000">
                    <a:solidFill>
                      <a:srgbClr val="1E293B"/>
                    </a:solidFill>
                    <a:latin typeface="Calibri"/>
                  </a:rPr>
                  <a:t> ngược hướng.</a:t>
                </a:r>
              </a:p>
            </p:txBody>
          </p:sp>
        </mc:Choice>
        <mc:Fallback>
          <p:sp>
            <p:nvSpPr>
              <p:cNvPr id="12" name="TextBox 11"/>
              <p:cNvSpPr txBox="1"/>
              <p:nvPr/>
            </p:nvSpPr>
            <p:spPr>
              <a:xfrm>
                <a:off x="713232" y="4148327"/>
                <a:ext cx="10735056" cy="496824"/>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4.22.</a:t>
                </a:r>
                <a:r>
                  <a:rPr sz="2000">
                    <a:solidFill>
                      <a:srgbClr val="1E293B"/>
                    </a:solidFill>
                    <a:latin typeface="Calibri"/>
                  </a:rPr>
                  <a:t> a) </a:t>
                </a:r>
                <a:r>
                  <a:rPr lang="vi-VN"/>
                  <a:t>(\vec{u},\ \vec{v})=0^\circ</a:t>
                </a:r>
                <a:r>
                  <a:rPr sz="2000">
                    <a:solidFill>
                      <a:srgbClr val="1E293B"/>
                    </a:solidFill>
                    <a:latin typeface="Calibri"/>
                  </a:rPr>
                  <a:t>: </a:t>
                </a:r>
                <a:r>
                  <a:rPr lang="vi-VN"/>
                  <a:t>\vec{u},\ \vec{v}</a:t>
                </a:r>
                <a:r>
                  <a:rPr sz="2000">
                    <a:solidFill>
                      <a:srgbClr val="1E293B"/>
                    </a:solidFill>
                    <a:latin typeface="Calibri"/>
                  </a:rPr>
                  <a:t> cùng hướng. b) </a:t>
                </a:r>
                <a:r>
                  <a:rPr lang="vi-VN"/>
                  <a:t>(\vec{u},\ \vec{v})=180^\circ</a:t>
                </a:r>
                <a:r>
                  <a:rPr sz="2000">
                    <a:solidFill>
                      <a:srgbClr val="1E293B"/>
                    </a:solidFill>
                    <a:latin typeface="Calibri"/>
                  </a:rPr>
                  <a:t>: </a:t>
                </a:r>
                <a:r>
                  <a:rPr lang="vi-VN"/>
                  <a:t>\vec{u},\ \vec{v}</a:t>
                </a:r>
                <a:r>
                  <a:rPr sz="2000">
                    <a:solidFill>
                      <a:srgbClr val="1E293B"/>
                    </a:solidFill>
                    <a:latin typeface="Calibri"/>
                  </a:rPr>
                  <a:t> ngược hướng.</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4.23 – 4.24 (SGK TR.70)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31</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13816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4.23.</a:t>
                </a:r>
                <a:r>
                  <a:rPr sz="2000">
                    <a:solidFill>
                      <a:srgbClr val="1E293B"/>
                    </a:solidFill>
                    <a:latin typeface="Calibri"/>
                  </a:rPr>
                  <a:t> Cho hai điểm </a:t>
                </a:r>
                <a14:m>
                  <m:oMath xmlns:m="http://schemas.openxmlformats.org/officeDocument/2006/math">
                    <m:r>
                      <a:rPr lang="vi-VN" sz="2000" b="0">
                        <a:solidFill>
                          <a:srgbClr val="1E293B"/>
                        </a:solidFill>
                        <a:latin typeface="Cambria Math" panose="02040503050406030204" pitchFamily="18" charset="0"/>
                      </a:rPr>
                      <m:t>A(1;</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2)</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B(−4;</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3)</m:t>
                    </m:r>
                  </m:oMath>
                </a14:m>
                <a:r>
                  <a:rPr sz="2000">
                    <a:solidFill>
                      <a:srgbClr val="1E293B"/>
                    </a:solidFill>
                    <a:latin typeface="Calibri"/>
                  </a:rPr>
                  <a:t>. Gọi </a:t>
                </a:r>
                <a14:m>
                  <m:oMath xmlns:m="http://schemas.openxmlformats.org/officeDocument/2006/math">
                    <m:r>
                      <a:rPr lang="vi-VN" sz="2000" b="0">
                        <a:solidFill>
                          <a:srgbClr val="1E293B"/>
                        </a:solidFill>
                        <a:latin typeface="Cambria Math" panose="02040503050406030204" pitchFamily="18" charset="0"/>
                      </a:rPr>
                      <m:t>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0)</m:t>
                    </m:r>
                  </m:oMath>
                </a14:m>
                <a:r>
                  <a:rPr sz="2000">
                    <a:solidFill>
                      <a:srgbClr val="1E293B"/>
                    </a:solidFill>
                    <a:latin typeface="Calibri"/>
                  </a:rPr>
                  <a:t> là một điểm thuộc trục hoành. a) Tính </a:t>
                </a:r>
                <a14:m>
                  <m:oMath xmlns:m="http://schemas.openxmlformats.org/officeDocument/2006/math">
                    <m:acc>
                      <m:accPr>
                        <m:chr m:val="⃗"/>
                      </m:accPr>
                      <m:e>
                        <m:r>
                          <a:rPr lang="vi-VN" sz="2000" b="0">
                            <a:solidFill>
                              <a:srgbClr val="1E293B"/>
                            </a:solidFill>
                            <a:latin typeface="Cambria Math" panose="02040503050406030204" pitchFamily="18" charset="0"/>
                          </a:rPr>
                          <m:t>AM</m:t>
                        </m:r>
                      </m:e>
                    </m:acc>
                  </m:oMath>
                </a14:m>
                <a14:m>
                  <m:oMath xmlns:m="http://schemas.openxmlformats.org/officeDocument/2006/math">
                    <m:r>
                      <a:rPr lang="vi-VN" sz="2000" b="0">
                        <a:solidFill>
                          <a:srgbClr val="1E293B"/>
                        </a:solidFill>
                        <a:latin typeface="Cambria Math" panose="02040503050406030204" pitchFamily="18" charset="0"/>
                      </a:rPr>
                      <m:t>·</m:t>
                    </m:r>
                  </m:oMath>
                </a14:m>
                <a14:m>
                  <m:oMath xmlns:m="http://schemas.openxmlformats.org/officeDocument/2006/math">
                    <m:acc>
                      <m:accPr>
                        <m:chr m:val="⃗"/>
                      </m:accPr>
                      <m:e>
                        <m:r>
                          <a:rPr lang="vi-VN" sz="2000" b="0">
                            <a:solidFill>
                              <a:srgbClr val="1E293B"/>
                            </a:solidFill>
                            <a:latin typeface="Cambria Math" panose="02040503050406030204" pitchFamily="18" charset="0"/>
                          </a:rPr>
                          <m:t>BM</m:t>
                        </m:r>
                      </m:e>
                    </m:acc>
                  </m:oMath>
                </a14:m>
                <a:r>
                  <a:rPr sz="2000">
                    <a:solidFill>
                      <a:srgbClr val="1E293B"/>
                    </a:solidFill>
                    <a:latin typeface="Calibri"/>
                  </a:rPr>
                  <a:t> theo </a:t>
                </a:r>
                <a14:m>
                  <m:oMath xmlns:m="http://schemas.openxmlformats.org/officeDocument/2006/math">
                    <m:r>
                      <a:rPr lang="vi-VN" sz="2000" b="0">
                        <a:solidFill>
                          <a:srgbClr val="1E293B"/>
                        </a:solidFill>
                        <a:latin typeface="Cambria Math" panose="02040503050406030204" pitchFamily="18" charset="0"/>
                      </a:rPr>
                      <m:t>t</m:t>
                    </m:r>
                  </m:oMath>
                </a14:m>
                <a:r>
                  <a:rPr sz="2000">
                    <a:solidFill>
                      <a:srgbClr val="1E293B"/>
                    </a:solidFill>
                    <a:latin typeface="Calibri"/>
                  </a:rPr>
                  <a:t>. b) Tìm </a:t>
                </a:r>
                <a14:m>
                  <m:oMath xmlns:m="http://schemas.openxmlformats.org/officeDocument/2006/math">
                    <m:r>
                      <a:rPr lang="vi-VN" sz="2000" b="0">
                        <a:solidFill>
                          <a:srgbClr val="1E293B"/>
                        </a:solidFill>
                        <a:latin typeface="Cambria Math" panose="02040503050406030204" pitchFamily="18" charset="0"/>
                      </a:rPr>
                      <m:t>t</m:t>
                    </m:r>
                  </m:oMath>
                </a14:m>
                <a:r>
                  <a:rPr sz="2000">
                    <a:solidFill>
                      <a:srgbClr val="1E293B"/>
                    </a:solidFill>
                    <a:latin typeface="Calibri"/>
                  </a:rPr>
                  <a:t> để </a:t>
                </a:r>
                <a14:m>
                  <m:oMath xmlns:m="http://schemas.openxmlformats.org/officeDocument/2006/math">
                    <m:acc>
                      <m:accPr>
                        <m:chr m:val="̂"/>
                      </m:accPr>
                      <m:e>
                        <m:r>
                          <a:rPr lang="vi-VN" sz="2000" b="0">
                            <a:solidFill>
                              <a:srgbClr val="1E293B"/>
                            </a:solidFill>
                            <a:latin typeface="Cambria Math" panose="02040503050406030204" pitchFamily="18" charset="0"/>
                          </a:rPr>
                          <m:t>AMB</m:t>
                        </m:r>
                      </m:e>
                    </m:acc>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90</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a:t>
                </a:r>
              </a:p>
            </p:txBody>
          </p:sp>
        </mc:Choice>
        <mc:Fallback>
          <p:sp>
            <p:nvSpPr>
              <p:cNvPr id="7" name="TextBox 6"/>
              <p:cNvSpPr txBox="1"/>
              <p:nvPr/>
            </p:nvSpPr>
            <p:spPr>
              <a:xfrm>
                <a:off x="548640" y="1371600"/>
                <a:ext cx="813816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4.23.</a:t>
                </a:r>
                <a:r>
                  <a:rPr sz="2000">
                    <a:solidFill>
                      <a:srgbClr val="1E293B"/>
                    </a:solidFill>
                    <a:latin typeface="Calibri"/>
                  </a:rPr>
                  <a:t> Cho hai điểm </a:t>
                </a:r>
                <a:r>
                  <a:rPr lang="vi-VN"/>
                  <a:t>A(1;\ 2)</a:t>
                </a:r>
                <a:r>
                  <a:rPr sz="2000">
                    <a:solidFill>
                      <a:srgbClr val="1E293B"/>
                    </a:solidFill>
                    <a:latin typeface="Calibri"/>
                  </a:rPr>
                  <a:t>, </a:t>
                </a:r>
                <a:r>
                  <a:rPr lang="vi-VN"/>
                  <a:t>B(-4;\ 3)</a:t>
                </a:r>
                <a:r>
                  <a:rPr sz="2000">
                    <a:solidFill>
                      <a:srgbClr val="1E293B"/>
                    </a:solidFill>
                    <a:latin typeface="Calibri"/>
                  </a:rPr>
                  <a:t>. Gọi </a:t>
                </a:r>
                <a:r>
                  <a:rPr lang="vi-VN"/>
                  <a:t>M(t;\ 0)</a:t>
                </a:r>
                <a:r>
                  <a:rPr sz="2000">
                    <a:solidFill>
                      <a:srgbClr val="1E293B"/>
                    </a:solidFill>
                    <a:latin typeface="Calibri"/>
                  </a:rPr>
                  <a:t> là một điểm thuộc trục hoành. a) Tính </a:t>
                </a:r>
                <a:r>
                  <a:rPr lang="vi-VN"/>
                  <a:t>\overrightarrow{AM}</a:t>
                </a:r>
                <a:r>
                  <a:rPr lang="vi-VN"/>
                  <a:t>\cdot</a:t>
                </a:r>
                <a:r>
                  <a:rPr lang="vi-VN"/>
                  <a:t>\overrightarrow{BM}</a:t>
                </a:r>
                <a:r>
                  <a:rPr sz="2000">
                    <a:solidFill>
                      <a:srgbClr val="1E293B"/>
                    </a:solidFill>
                    <a:latin typeface="Calibri"/>
                  </a:rPr>
                  <a:t> theo </a:t>
                </a:r>
                <a:r>
                  <a:rPr lang="vi-VN"/>
                  <a:t>t</a:t>
                </a:r>
                <a:r>
                  <a:rPr sz="2000">
                    <a:solidFill>
                      <a:srgbClr val="1E293B"/>
                    </a:solidFill>
                    <a:latin typeface="Calibri"/>
                  </a:rPr>
                  <a:t>. b) Tìm </a:t>
                </a:r>
                <a:r>
                  <a:rPr lang="vi-VN"/>
                  <a:t>t</a:t>
                </a:r>
                <a:r>
                  <a:rPr sz="2000">
                    <a:solidFill>
                      <a:srgbClr val="1E293B"/>
                    </a:solidFill>
                    <a:latin typeface="Calibri"/>
                  </a:rPr>
                  <a:t> để </a:t>
                </a:r>
                <a:r>
                  <a:rPr lang="vi-VN"/>
                  <a:t>\widehat{AMB}=90^\circ</a:t>
                </a:r>
                <a:r>
                  <a:rPr sz="2000">
                    <a:solidFill>
                      <a:srgbClr val="1E293B"/>
                    </a:solidFill>
                    <a:latin typeface="Calibri"/>
                  </a:rPr>
                  <a:t>.</a:t>
                </a:r>
              </a:p>
            </p:txBody>
          </p:sp>
        </mc:Fallback>
      </mc:AlternateContent>
      <p:sp>
        <p:nvSpPr>
          <p:cNvPr id="8" name="s1_nen"/>
          <p:cNvSpPr/>
          <p:nvPr/>
        </p:nvSpPr>
        <p:spPr>
          <a:xfrm>
            <a:off x="548640" y="2523744"/>
            <a:ext cx="813816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560320"/>
                <a:ext cx="7808976" cy="801623"/>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4.23.</a:t>
                </a:r>
                <a:r>
                  <a:rPr sz="2000">
                    <a:solidFill>
                      <a:srgbClr val="1E293B"/>
                    </a:solidFill>
                    <a:latin typeface="Calibri"/>
                  </a:rPr>
                  <a:t> a) </a:t>
                </a:r>
                <a14:m>
                  <m:oMath xmlns:m="http://schemas.openxmlformats.org/officeDocument/2006/math">
                    <m:acc>
                      <m:accPr>
                        <m:chr m:val="⃗"/>
                      </m:accPr>
                      <m:e>
                        <m:r>
                          <a:rPr lang="vi-VN" sz="2000" b="0">
                            <a:solidFill>
                              <a:srgbClr val="1E293B"/>
                            </a:solidFill>
                            <a:latin typeface="Cambria Math" panose="02040503050406030204" pitchFamily="18" charset="0"/>
                          </a:rPr>
                          <m:t>AM</m:t>
                        </m:r>
                      </m:e>
                    </m:acc>
                  </m:oMath>
                </a14:m>
                <a:r>
                  <a:rPr sz="2000">
                    <a:solidFill>
                      <a:srgbClr val="1E293B"/>
                    </a:solidFill>
                    <a:latin typeface="Calibri"/>
                  </a:rPr>
                  <a:t> = </a:t>
                </a:r>
                <a14:m>
                  <m:oMath xmlns:m="http://schemas.openxmlformats.org/officeDocument/2006/math">
                    <m:d>
                      <m:dPr>
                        <m:sepChr m:val=""/>
                      </m:dPr>
                      <m:e>
                        <m:r>
                          <a:rPr lang="vi-VN" sz="2000" b="0">
                            <a:solidFill>
                              <a:srgbClr val="1E293B"/>
                            </a:solidFill>
                            <a:latin typeface="Cambria Math" panose="02040503050406030204" pitchFamily="18" charset="0"/>
                          </a:rPr>
                          <m:t>t</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1</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2</m:t>
                        </m:r>
                      </m:e>
                    </m:d>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BM</m:t>
                        </m:r>
                      </m:e>
                    </m:acc>
                  </m:oMath>
                </a14:m>
                <a:r>
                  <a:rPr sz="2000">
                    <a:solidFill>
                      <a:srgbClr val="1E293B"/>
                    </a:solidFill>
                    <a:latin typeface="Calibri"/>
                  </a:rPr>
                  <a:t> = </a:t>
                </a:r>
                <a14:m>
                  <m:oMath xmlns:m="http://schemas.openxmlformats.org/officeDocument/2006/math">
                    <m:d>
                      <m:dPr>
                        <m:sepChr m:val="+"/>
                      </m:dPr>
                      <m:e>
                        <m:r>
                          <a:rPr lang="vi-VN" sz="2000" b="0">
                            <a:solidFill>
                              <a:srgbClr val="1E293B"/>
                            </a:solidFill>
                            <a:latin typeface="Cambria Math" panose="02040503050406030204" pitchFamily="18" charset="0"/>
                          </a:rPr>
                          <m:t>t</m:t>
                        </m:r>
                      </m:e>
                      <m:e>
                        <m:r>
                          <a:rPr lang="vi-VN" sz="2000" b="0">
                            <a:solidFill>
                              <a:srgbClr val="1E293B"/>
                            </a:solidFill>
                            <a:latin typeface="Cambria Math" panose="02040503050406030204" pitchFamily="18" charset="0"/>
                          </a:rPr>
                          <m:t>4</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3</m:t>
                        </m:r>
                      </m:e>
                    </m:d>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AM</m:t>
                        </m:r>
                      </m:e>
                    </m:acc>
                  </m:oMath>
                </a14:m>
                <a14:m>
                  <m:oMath xmlns:m="http://schemas.openxmlformats.org/officeDocument/2006/math">
                    <m:r>
                      <a:rPr lang="vi-VN" sz="2000" b="0">
                        <a:solidFill>
                          <a:srgbClr val="1E293B"/>
                        </a:solidFill>
                        <a:latin typeface="Cambria Math" panose="02040503050406030204" pitchFamily="18" charset="0"/>
                      </a:rPr>
                      <m:t>·</m:t>
                    </m:r>
                  </m:oMath>
                </a14:m>
                <a14:m>
                  <m:oMath xmlns:m="http://schemas.openxmlformats.org/officeDocument/2006/math">
                    <m:acc>
                      <m:accPr>
                        <m:chr m:val="⃗"/>
                      </m:accPr>
                      <m:e>
                        <m:r>
                          <a:rPr lang="vi-VN" sz="2000" b="0">
                            <a:solidFill>
                              <a:srgbClr val="1E293B"/>
                            </a:solidFill>
                            <a:latin typeface="Cambria Math" panose="02040503050406030204" pitchFamily="18" charset="0"/>
                          </a:rPr>
                          <m:t>BM</m:t>
                        </m:r>
                      </m:e>
                    </m:acc>
                  </m:oMath>
                </a14:m>
                <a:r>
                  <a:rPr sz="2000">
                    <a:solidFill>
                      <a:srgbClr val="1E293B"/>
                    </a:solidFill>
                    <a:latin typeface="Calibri"/>
                  </a:rPr>
                  <a:t> = </a:t>
                </a:r>
                <a14:m>
                  <m:oMath xmlns:m="http://schemas.openxmlformats.org/officeDocument/2006/math">
                    <m:sSup>
                      <m:e>
                        <m:r>
                          <a:rPr lang="vi-VN" sz="2000" b="0">
                            <a:solidFill>
                              <a:srgbClr val="1E293B"/>
                            </a:solidFill>
                            <a:latin typeface="Cambria Math" panose="02040503050406030204" pitchFamily="18" charset="0"/>
                          </a:rPr>
                          <m:t>t</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+3t+2</m:t>
                    </m:r>
                  </m:oMath>
                </a14:m>
                <a:r>
                  <a:rPr sz="2000">
                    <a:solidFill>
                      <a:srgbClr val="1E293B"/>
                    </a:solidFill>
                    <a:latin typeface="Calibri"/>
                  </a:rPr>
                  <a:t>. b) </a:t>
                </a:r>
                <a14:m>
                  <m:oMath xmlns:m="http://schemas.openxmlformats.org/officeDocument/2006/math">
                    <m:sSup>
                      <m:e>
                        <m:r>
                          <a:rPr lang="vi-VN" sz="2000" b="0">
                            <a:solidFill>
                              <a:srgbClr val="1E293B"/>
                            </a:solidFill>
                            <a:latin typeface="Cambria Math" panose="02040503050406030204" pitchFamily="18" charset="0"/>
                          </a:rPr>
                          <m:t>t</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+3t+2=0⇔t=−1</m:t>
                    </m:r>
                  </m:oMath>
                </a14:m>
                <a:r>
                  <a:rPr sz="2000">
                    <a:solidFill>
                      <a:srgbClr val="1E293B"/>
                    </a:solidFill>
                    <a:latin typeface="Calibri"/>
                  </a:rPr>
                  <a:t> hoặc </a:t>
                </a:r>
                <a14:m>
                  <m:oMath xmlns:m="http://schemas.openxmlformats.org/officeDocument/2006/math">
                    <m:r>
                      <a:rPr lang="vi-VN" sz="2000" b="0">
                        <a:solidFill>
                          <a:srgbClr val="1E293B"/>
                        </a:solidFill>
                        <a:latin typeface="Cambria Math" panose="02040503050406030204" pitchFamily="18" charset="0"/>
                      </a:rPr>
                      <m:t>t=−2</m:t>
                    </m:r>
                  </m:oMath>
                </a14:m>
                <a:r>
                  <a:rPr sz="2000">
                    <a:solidFill>
                      <a:srgbClr val="1E293B"/>
                    </a:solidFill>
                    <a:latin typeface="Calibri"/>
                  </a:rPr>
                  <a:t>.</a:t>
                </a:r>
              </a:p>
            </p:txBody>
          </p:sp>
        </mc:Choice>
        <mc:Fallback>
          <p:sp>
            <p:nvSpPr>
              <p:cNvPr id="9" name="TextBox 8"/>
              <p:cNvSpPr txBox="1"/>
              <p:nvPr/>
            </p:nvSpPr>
            <p:spPr>
              <a:xfrm>
                <a:off x="713232" y="2560320"/>
                <a:ext cx="7808976" cy="801623"/>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4.23.</a:t>
                </a:r>
                <a:r>
                  <a:rPr sz="2000">
                    <a:solidFill>
                      <a:srgbClr val="1E293B"/>
                    </a:solidFill>
                    <a:latin typeface="Calibri"/>
                  </a:rPr>
                  <a:t> a) </a:t>
                </a:r>
                <a:r>
                  <a:rPr lang="vi-VN"/>
                  <a:t>\overrightarrow{AM}</a:t>
                </a:r>
                <a:r>
                  <a:rPr sz="2000">
                    <a:solidFill>
                      <a:srgbClr val="1E293B"/>
                    </a:solidFill>
                    <a:latin typeface="Calibri"/>
                  </a:rPr>
                  <a:t> = </a:t>
                </a:r>
                <a:r>
                  <a:rPr lang="vi-VN"/>
                  <a:t>(t-1;\ -2)</a:t>
                </a:r>
                <a:r>
                  <a:rPr sz="2000">
                    <a:solidFill>
                      <a:srgbClr val="1E293B"/>
                    </a:solidFill>
                    <a:latin typeface="Calibri"/>
                  </a:rPr>
                  <a:t>, </a:t>
                </a:r>
                <a:r>
                  <a:rPr lang="vi-VN"/>
                  <a:t>\overrightarrow{BM}</a:t>
                </a:r>
                <a:r>
                  <a:rPr sz="2000">
                    <a:solidFill>
                      <a:srgbClr val="1E293B"/>
                    </a:solidFill>
                    <a:latin typeface="Calibri"/>
                  </a:rPr>
                  <a:t> = </a:t>
                </a:r>
                <a:r>
                  <a:rPr lang="vi-VN"/>
                  <a:t>(t+4;\ -3)</a:t>
                </a:r>
                <a:r>
                  <a:rPr sz="2000">
                    <a:solidFill>
                      <a:srgbClr val="1E293B"/>
                    </a:solidFill>
                    <a:latin typeface="Calibri"/>
                  </a:rPr>
                  <a:t> ⇒ </a:t>
                </a:r>
                <a:r>
                  <a:rPr lang="vi-VN"/>
                  <a:t>\overrightarrow{AM}</a:t>
                </a:r>
                <a:r>
                  <a:rPr lang="vi-VN"/>
                  <a:t>\cdot</a:t>
                </a:r>
                <a:r>
                  <a:rPr lang="vi-VN"/>
                  <a:t>\overrightarrow{BM}</a:t>
                </a:r>
                <a:r>
                  <a:rPr sz="2000">
                    <a:solidFill>
                      <a:srgbClr val="1E293B"/>
                    </a:solidFill>
                    <a:latin typeface="Calibri"/>
                  </a:rPr>
                  <a:t> = </a:t>
                </a:r>
                <a:r>
                  <a:rPr lang="vi-VN"/>
                  <a:t>t^2+3t+2</a:t>
                </a:r>
                <a:r>
                  <a:rPr sz="2000">
                    <a:solidFill>
                      <a:srgbClr val="1E293B"/>
                    </a:solidFill>
                    <a:latin typeface="Calibri"/>
                  </a:rPr>
                  <a:t>. b) </a:t>
                </a:r>
                <a:r>
                  <a:rPr lang="vi-VN"/>
                  <a:t>t^2+3t+2=0\Leftrightarrow t=-1</a:t>
                </a:r>
                <a:r>
                  <a:rPr sz="2000">
                    <a:solidFill>
                      <a:srgbClr val="1E293B"/>
                    </a:solidFill>
                    <a:latin typeface="Calibri"/>
                  </a:rPr>
                  <a:t> hoặc </a:t>
                </a:r>
                <a:r>
                  <a:rPr lang="vi-VN"/>
                  <a:t>t=-2</a:t>
                </a:r>
                <a:r>
                  <a:rPr sz="20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462528"/>
                <a:ext cx="813816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4.24.</a:t>
                </a:r>
                <a:r>
                  <a:rPr sz="2000">
                    <a:solidFill>
                      <a:srgbClr val="1E293B"/>
                    </a:solidFill>
                    <a:latin typeface="Calibri"/>
                  </a:rPr>
                  <a:t> Cho ba điểm không thẳng hàng </a:t>
                </a:r>
                <a14:m>
                  <m:oMath xmlns:m="http://schemas.openxmlformats.org/officeDocument/2006/math">
                    <m:r>
                      <a:rPr lang="vi-VN" sz="2000" b="0">
                        <a:solidFill>
                          <a:srgbClr val="1E293B"/>
                        </a:solidFill>
                        <a:latin typeface="Cambria Math" panose="02040503050406030204" pitchFamily="18" charset="0"/>
                      </a:rPr>
                      <m:t>A(−4;</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1)</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B(2;</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4)</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C(2;</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−2)</m:t>
                    </m:r>
                  </m:oMath>
                </a14:m>
                <a:r>
                  <a:rPr sz="2000">
                    <a:solidFill>
                      <a:srgbClr val="1E293B"/>
                    </a:solidFill>
                    <a:latin typeface="Calibri"/>
                  </a:rPr>
                  <a:t>. a) Giải tam giác </a:t>
                </a:r>
                <a14:m>
                  <m:oMath xmlns:m="http://schemas.openxmlformats.org/officeDocument/2006/math">
                    <m:r>
                      <a:rPr lang="vi-VN" sz="2000" b="0">
                        <a:solidFill>
                          <a:srgbClr val="1E293B"/>
                        </a:solidFill>
                        <a:latin typeface="Cambria Math" panose="02040503050406030204" pitchFamily="18" charset="0"/>
                      </a:rPr>
                      <m:t>ABC</m:t>
                    </m:r>
                  </m:oMath>
                </a14:m>
                <a:r>
                  <a:rPr sz="2000">
                    <a:solidFill>
                      <a:srgbClr val="1E293B"/>
                    </a:solidFill>
                    <a:latin typeface="Calibri"/>
                  </a:rPr>
                  <a:t>. b) Tìm toạ độ trực tâm </a:t>
                </a:r>
                <a14:m>
                  <m:oMath xmlns:m="http://schemas.openxmlformats.org/officeDocument/2006/math">
                    <m:r>
                      <a:rPr lang="vi-VN" sz="2000" b="0">
                        <a:solidFill>
                          <a:srgbClr val="1E293B"/>
                        </a:solidFill>
                        <a:latin typeface="Cambria Math" panose="02040503050406030204" pitchFamily="18" charset="0"/>
                      </a:rPr>
                      <m:t>H</m:t>
                    </m:r>
                  </m:oMath>
                </a14:m>
                <a:r>
                  <a:rPr sz="2000">
                    <a:solidFill>
                      <a:srgbClr val="1E293B"/>
                    </a:solidFill>
                    <a:latin typeface="Calibri"/>
                  </a:rPr>
                  <a:t> của tam giác </a:t>
                </a:r>
                <a14:m>
                  <m:oMath xmlns:m="http://schemas.openxmlformats.org/officeDocument/2006/math">
                    <m:r>
                      <a:rPr lang="vi-VN" sz="2000" b="0">
                        <a:solidFill>
                          <a:srgbClr val="1E293B"/>
                        </a:solidFill>
                        <a:latin typeface="Cambria Math" panose="02040503050406030204" pitchFamily="18" charset="0"/>
                      </a:rPr>
                      <m:t>ABC</m:t>
                    </m:r>
                  </m:oMath>
                </a14:m>
                <a:r>
                  <a:rPr sz="2000">
                    <a:solidFill>
                      <a:srgbClr val="1E293B"/>
                    </a:solidFill>
                    <a:latin typeface="Calibri"/>
                  </a:rPr>
                  <a:t>.</a:t>
                </a:r>
              </a:p>
            </p:txBody>
          </p:sp>
        </mc:Choice>
        <mc:Fallback>
          <p:sp>
            <p:nvSpPr>
              <p:cNvPr id="10" name="TextBox 9"/>
              <p:cNvSpPr txBox="1"/>
              <p:nvPr/>
            </p:nvSpPr>
            <p:spPr>
              <a:xfrm>
                <a:off x="548640" y="3462528"/>
                <a:ext cx="813816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4.24.</a:t>
                </a:r>
                <a:r>
                  <a:rPr sz="2000">
                    <a:solidFill>
                      <a:srgbClr val="1E293B"/>
                    </a:solidFill>
                    <a:latin typeface="Calibri"/>
                  </a:rPr>
                  <a:t> Cho ba điểm không thẳng hàng </a:t>
                </a:r>
                <a:r>
                  <a:rPr lang="vi-VN"/>
                  <a:t>A(-4;\ 1)</a:t>
                </a:r>
                <a:r>
                  <a:rPr sz="2000">
                    <a:solidFill>
                      <a:srgbClr val="1E293B"/>
                    </a:solidFill>
                    <a:latin typeface="Calibri"/>
                  </a:rPr>
                  <a:t>, </a:t>
                </a:r>
                <a:r>
                  <a:rPr lang="vi-VN"/>
                  <a:t>B(2;\ 4)</a:t>
                </a:r>
                <a:r>
                  <a:rPr sz="2000">
                    <a:solidFill>
                      <a:srgbClr val="1E293B"/>
                    </a:solidFill>
                    <a:latin typeface="Calibri"/>
                  </a:rPr>
                  <a:t>, </a:t>
                </a:r>
                <a:r>
                  <a:rPr lang="vi-VN"/>
                  <a:t>C(2;\ -2)</a:t>
                </a:r>
                <a:r>
                  <a:rPr sz="2000">
                    <a:solidFill>
                      <a:srgbClr val="1E293B"/>
                    </a:solidFill>
                    <a:latin typeface="Calibri"/>
                  </a:rPr>
                  <a:t>. a) Giải tam giác </a:t>
                </a:r>
                <a:r>
                  <a:rPr lang="vi-VN"/>
                  <a:t>ABC</a:t>
                </a:r>
                <a:r>
                  <a:rPr sz="2000">
                    <a:solidFill>
                      <a:srgbClr val="1E293B"/>
                    </a:solidFill>
                    <a:latin typeface="Calibri"/>
                  </a:rPr>
                  <a:t>. b) Tìm toạ độ trực tâm </a:t>
                </a:r>
                <a:r>
                  <a:rPr lang="vi-VN"/>
                  <a:t>H</a:t>
                </a:r>
                <a:r>
                  <a:rPr sz="2000">
                    <a:solidFill>
                      <a:srgbClr val="1E293B"/>
                    </a:solidFill>
                    <a:latin typeface="Calibri"/>
                  </a:rPr>
                  <a:t> của tam giác </a:t>
                </a:r>
                <a:r>
                  <a:rPr lang="vi-VN"/>
                  <a:t>ABC</a:t>
                </a:r>
                <a:r>
                  <a:rPr sz="2000">
                    <a:solidFill>
                      <a:srgbClr val="1E293B"/>
                    </a:solidFill>
                    <a:latin typeface="Calibri"/>
                  </a:rPr>
                  <a:t>.</a:t>
                </a:r>
              </a:p>
            </p:txBody>
          </p:sp>
        </mc:Fallback>
      </mc:AlternateContent>
      <p:sp>
        <p:nvSpPr>
          <p:cNvPr id="11" name="s3_nen"/>
          <p:cNvSpPr/>
          <p:nvPr/>
        </p:nvSpPr>
        <p:spPr>
          <a:xfrm>
            <a:off x="548640" y="4614672"/>
            <a:ext cx="8138160" cy="114909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651248"/>
                <a:ext cx="7808976" cy="1075944"/>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4.24.</a:t>
                </a:r>
                <a:r>
                  <a:rPr sz="2000">
                    <a:solidFill>
                      <a:srgbClr val="1E293B"/>
                    </a:solidFill>
                    <a:latin typeface="Calibri"/>
                  </a:rPr>
                  <a:t> a) </a:t>
                </a:r>
                <a14:m>
                  <m:oMath xmlns:m="http://schemas.openxmlformats.org/officeDocument/2006/math">
                    <m:r>
                      <a:rPr lang="vi-VN" sz="2000" b="0">
                        <a:solidFill>
                          <a:srgbClr val="1E293B"/>
                        </a:solidFill>
                        <a:latin typeface="Cambria Math" panose="02040503050406030204" pitchFamily="18" charset="0"/>
                      </a:rPr>
                      <m:t>AB=AC=3</m:t>
                    </m:r>
                    <m:rad>
                      <m:radPr>
                        <m:degHide m:val="on"/>
                      </m:radPr>
                      <m:deg/>
                      <m:e>
                        <m:r>
                          <a:rPr lang="vi-VN" sz="2000" b="0">
                            <a:solidFill>
                              <a:srgbClr val="1E293B"/>
                            </a:solidFill>
                            <a:latin typeface="Cambria Math" panose="02040503050406030204" pitchFamily="18" charset="0"/>
                          </a:rPr>
                          <m:t>5</m:t>
                        </m:r>
                      </m:e>
                    </m:rad>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BC=6</m:t>
                    </m:r>
                  </m:oMath>
                </a14:m>
                <a:r>
                  <a:rPr sz="2000">
                    <a:solidFill>
                      <a:srgbClr val="1E293B"/>
                    </a:solidFill>
                    <a:latin typeface="Calibri"/>
                  </a:rPr>
                  <a:t>; </a:t>
                </a:r>
                <a14:m>
                  <m:oMath xmlns:m="http://schemas.openxmlformats.org/officeDocument/2006/math">
                    <m:r>
                      <m:rPr>
                        <m:sty m:val="p"/>
                      </m:rPr>
                      <a:rPr lang="vi-VN" sz="2000" b="0">
                        <a:solidFill>
                          <a:srgbClr val="1E293B"/>
                        </a:solidFill>
                        <a:latin typeface="Cambria Math" panose="02040503050406030204" pitchFamily="18" charset="0"/>
                      </a:rPr>
                      <m:t>cos</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A=</m:t>
                    </m:r>
                    <m:f>
                      <m:fPr>
                        <m:type m:val="bar"/>
                      </m:fPr>
                      <m:num>
                        <m:r>
                          <a:rPr lang="vi-VN" sz="2000" b="0">
                            <a:solidFill>
                              <a:srgbClr val="1E293B"/>
                            </a:solidFill>
                            <a:latin typeface="Cambria Math" panose="02040503050406030204" pitchFamily="18" charset="0"/>
                          </a:rPr>
                          <m:t>3</m:t>
                        </m:r>
                      </m:num>
                      <m:den>
                        <m:r>
                          <a:rPr lang="vi-VN" sz="2000" b="0">
                            <a:solidFill>
                              <a:srgbClr val="1E293B"/>
                            </a:solidFill>
                            <a:latin typeface="Cambria Math" panose="02040503050406030204" pitchFamily="18" charset="0"/>
                          </a:rPr>
                          <m:t>5</m:t>
                        </m:r>
                      </m:den>
                    </m:f>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53</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7</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48</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B</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m:t>
                        </m:r>
                      </m:e>
                    </m:acc>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63</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26</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6</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b) </a:t>
                </a:r>
                <a14:m>
                  <m:oMath xmlns:m="http://schemas.openxmlformats.org/officeDocument/2006/math">
                    <m:acc>
                      <m:accPr>
                        <m:chr m:val="⃗"/>
                      </m:accPr>
                      <m:e>
                        <m:r>
                          <a:rPr lang="vi-VN" sz="2000" b="0">
                            <a:solidFill>
                              <a:srgbClr val="1E293B"/>
                            </a:solidFill>
                            <a:latin typeface="Cambria Math" panose="02040503050406030204" pitchFamily="18" charset="0"/>
                          </a:rPr>
                          <m:t>AH</m:t>
                        </m:r>
                      </m:e>
                    </m:acc>
                  </m:oMath>
                </a14:m>
                <a14:m>
                  <m:oMath xmlns:m="http://schemas.openxmlformats.org/officeDocument/2006/math">
                    <m:r>
                      <a:rPr lang="vi-VN" sz="2000" b="0">
                        <a:solidFill>
                          <a:srgbClr val="1E293B"/>
                        </a:solidFill>
                        <a:latin typeface="Cambria Math" panose="02040503050406030204" pitchFamily="18" charset="0"/>
                      </a:rPr>
                      <m:t>·</m:t>
                    </m:r>
                  </m:oMath>
                </a14:m>
                <a14:m>
                  <m:oMath xmlns:m="http://schemas.openxmlformats.org/officeDocument/2006/math">
                    <m:acc>
                      <m:accPr>
                        <m:chr m:val="⃗"/>
                      </m:accPr>
                      <m:e>
                        <m:r>
                          <a:rPr lang="vi-VN" sz="2000" b="0">
                            <a:solidFill>
                              <a:srgbClr val="1E293B"/>
                            </a:solidFill>
                            <a:latin typeface="Cambria Math" panose="02040503050406030204" pitchFamily="18" charset="0"/>
                          </a:rPr>
                          <m:t>CB</m:t>
                        </m:r>
                      </m:e>
                    </m:acc>
                  </m:oMath>
                </a14:m>
                <a:r>
                  <a:rPr sz="2000">
                    <a:solidFill>
                      <a:srgbClr val="1E293B"/>
                    </a:solidFill>
                    <a:latin typeface="Calibri"/>
                  </a:rPr>
                  <a:t> = 0, </a:t>
                </a:r>
                <a14:m>
                  <m:oMath xmlns:m="http://schemas.openxmlformats.org/officeDocument/2006/math">
                    <m:acc>
                      <m:accPr>
                        <m:chr m:val="⃗"/>
                      </m:accPr>
                      <m:e>
                        <m:r>
                          <a:rPr lang="vi-VN" sz="2000" b="0">
                            <a:solidFill>
                              <a:srgbClr val="1E293B"/>
                            </a:solidFill>
                            <a:latin typeface="Cambria Math" panose="02040503050406030204" pitchFamily="18" charset="0"/>
                          </a:rPr>
                          <m:t>BH</m:t>
                        </m:r>
                      </m:e>
                    </m:acc>
                  </m:oMath>
                </a14:m>
                <a14:m>
                  <m:oMath xmlns:m="http://schemas.openxmlformats.org/officeDocument/2006/math">
                    <m:r>
                      <a:rPr lang="vi-VN" sz="2000" b="0">
                        <a:solidFill>
                          <a:srgbClr val="1E293B"/>
                        </a:solidFill>
                        <a:latin typeface="Cambria Math" panose="02040503050406030204" pitchFamily="18" charset="0"/>
                      </a:rPr>
                      <m:t>·</m:t>
                    </m:r>
                  </m:oMath>
                </a14:m>
                <a14:m>
                  <m:oMath xmlns:m="http://schemas.openxmlformats.org/officeDocument/2006/math">
                    <m:acc>
                      <m:accPr>
                        <m:chr m:val="⃗"/>
                      </m:accPr>
                      <m:e>
                        <m:r>
                          <a:rPr lang="vi-VN" sz="2000" b="0">
                            <a:solidFill>
                              <a:srgbClr val="1E293B"/>
                            </a:solidFill>
                            <a:latin typeface="Cambria Math" panose="02040503050406030204" pitchFamily="18" charset="0"/>
                          </a:rPr>
                          <m:t>AC</m:t>
                        </m:r>
                      </m:e>
                    </m:acc>
                  </m:oMath>
                </a14:m>
                <a:r>
                  <a:rPr sz="2000">
                    <a:solidFill>
                      <a:srgbClr val="1E293B"/>
                    </a:solidFill>
                    <a:latin typeface="Calibri"/>
                  </a:rPr>
                  <a:t> = 0 ⇒ </a:t>
                </a:r>
                <a14:m>
                  <m:oMath xmlns:m="http://schemas.openxmlformats.org/officeDocument/2006/math">
                    <m:r>
                      <a:rPr lang="vi-VN" sz="2000" b="0">
                        <a:solidFill>
                          <a:srgbClr val="1E293B"/>
                        </a:solidFill>
                        <a:latin typeface="Cambria Math" panose="02040503050406030204" pitchFamily="18" charset="0"/>
                      </a:rPr>
                      <m:t>H</m:t>
                    </m:r>
                    <m:d>
                      <m:dPr>
                        <m:sepChr m:val=""/>
                      </m:dPr>
                      <m:e>
                        <m:f>
                          <m:fPr>
                            <m:type m:val="bar"/>
                          </m:fPr>
                          <m:num>
                            <m:r>
                              <a:rPr lang="vi-VN" sz="2000" b="0">
                                <a:solidFill>
                                  <a:srgbClr val="1E293B"/>
                                </a:solidFill>
                                <a:latin typeface="Cambria Math" panose="02040503050406030204" pitchFamily="18" charset="0"/>
                              </a:rPr>
                              <m:t>1</m:t>
                            </m:r>
                          </m:num>
                          <m:den>
                            <m:r>
                              <a:rPr lang="vi-VN" sz="2000" b="0">
                                <a:solidFill>
                                  <a:srgbClr val="1E293B"/>
                                </a:solidFill>
                                <a:latin typeface="Cambria Math" panose="02040503050406030204" pitchFamily="18" charset="0"/>
                              </a:rPr>
                              <m:t>2</m:t>
                            </m:r>
                          </m:den>
                        </m:f>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1</m:t>
                        </m:r>
                      </m:e>
                    </m:d>
                  </m:oMath>
                </a14:m>
                <a:r>
                  <a:rPr sz="2000">
                    <a:solidFill>
                      <a:srgbClr val="1E293B"/>
                    </a:solidFill>
                    <a:latin typeface="Calibri"/>
                  </a:rPr>
                  <a:t>.</a:t>
                </a:r>
              </a:p>
            </p:txBody>
          </p:sp>
        </mc:Choice>
        <mc:Fallback>
          <p:sp>
            <p:nvSpPr>
              <p:cNvPr id="12" name="TextBox 11"/>
              <p:cNvSpPr txBox="1"/>
              <p:nvPr/>
            </p:nvSpPr>
            <p:spPr>
              <a:xfrm>
                <a:off x="713232" y="4651248"/>
                <a:ext cx="7808976" cy="1075944"/>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4.24.</a:t>
                </a:r>
                <a:r>
                  <a:rPr sz="2000">
                    <a:solidFill>
                      <a:srgbClr val="1E293B"/>
                    </a:solidFill>
                    <a:latin typeface="Calibri"/>
                  </a:rPr>
                  <a:t> a) </a:t>
                </a:r>
                <a:r>
                  <a:rPr lang="vi-VN"/>
                  <a:t>AB=AC=3\sqrt{5}</a:t>
                </a:r>
                <a:r>
                  <a:rPr sz="2000">
                    <a:solidFill>
                      <a:srgbClr val="1E293B"/>
                    </a:solidFill>
                    <a:latin typeface="Calibri"/>
                  </a:rPr>
                  <a:t>, </a:t>
                </a:r>
                <a:r>
                  <a:rPr lang="vi-VN"/>
                  <a:t>BC=6</a:t>
                </a:r>
                <a:r>
                  <a:rPr sz="2000">
                    <a:solidFill>
                      <a:srgbClr val="1E293B"/>
                    </a:solidFill>
                    <a:latin typeface="Calibri"/>
                  </a:rPr>
                  <a:t>; </a:t>
                </a:r>
                <a:r>
                  <a:rPr lang="vi-VN"/>
                  <a:t>\cos A=\frac{3}{5}</a:t>
                </a:r>
                <a:r>
                  <a:rPr sz="2000">
                    <a:solidFill>
                      <a:srgbClr val="1E293B"/>
                    </a:solidFill>
                    <a:latin typeface="Calibri"/>
                  </a:rPr>
                  <a:t>, </a:t>
                </a:r>
                <a:r>
                  <a:rPr lang="vi-VN"/>
                  <a:t>\widehat{A}\approx 53^\circ 7'48''</a:t>
                </a:r>
                <a:r>
                  <a:rPr sz="2000">
                    <a:solidFill>
                      <a:srgbClr val="1E293B"/>
                    </a:solidFill>
                    <a:latin typeface="Calibri"/>
                  </a:rPr>
                  <a:t>, </a:t>
                </a:r>
                <a:r>
                  <a:rPr lang="vi-VN"/>
                  <a:t>\widehat{B}=\widehat{C}\approx 63^\circ 26'6''</a:t>
                </a:r>
                <a:r>
                  <a:rPr sz="2000">
                    <a:solidFill>
                      <a:srgbClr val="1E293B"/>
                    </a:solidFill>
                    <a:latin typeface="Calibri"/>
                  </a:rPr>
                  <a:t>. b) </a:t>
                </a:r>
                <a:r>
                  <a:rPr lang="vi-VN"/>
                  <a:t>\overrightarrow{AH}</a:t>
                </a:r>
                <a:r>
                  <a:rPr lang="vi-VN"/>
                  <a:t>\cdot</a:t>
                </a:r>
                <a:r>
                  <a:rPr lang="vi-VN"/>
                  <a:t>\overrightarrow{CB}</a:t>
                </a:r>
                <a:r>
                  <a:rPr sz="2000">
                    <a:solidFill>
                      <a:srgbClr val="1E293B"/>
                    </a:solidFill>
                    <a:latin typeface="Calibri"/>
                  </a:rPr>
                  <a:t> = 0, </a:t>
                </a:r>
                <a:r>
                  <a:rPr lang="vi-VN"/>
                  <a:t>\overrightarrow{BH}</a:t>
                </a:r>
                <a:r>
                  <a:rPr lang="vi-VN"/>
                  <a:t>\cdot</a:t>
                </a:r>
                <a:r>
                  <a:rPr lang="vi-VN"/>
                  <a:t>\overrightarrow{AC}</a:t>
                </a:r>
                <a:r>
                  <a:rPr sz="2000">
                    <a:solidFill>
                      <a:srgbClr val="1E293B"/>
                    </a:solidFill>
                    <a:latin typeface="Calibri"/>
                  </a:rPr>
                  <a:t> = 0 ⇒ </a:t>
                </a:r>
                <a:r>
                  <a:rPr lang="vi-VN"/>
                  <a:t>H\left(\frac{1}{2};\ 1\right)</a:t>
                </a:r>
                <a:r>
                  <a:rPr sz="2000">
                    <a:solidFill>
                      <a:srgbClr val="1E293B"/>
                    </a:solidFill>
                    <a:latin typeface="Calibri"/>
                  </a:rPr>
                  <a:t>.</a:t>
                </a:r>
              </a:p>
            </p:txBody>
          </p:sp>
        </mc:Fallback>
      </mc:AlternateContent>
      <p:pic>
        <p:nvPicPr>
          <p:cNvPr id="13" name="Picture 12" descr="h424.png"/>
          <p:cNvPicPr>
            <a:picLocks noChangeAspect="1"/>
          </p:cNvPicPr>
          <p:nvPr/>
        </p:nvPicPr>
        <p:blipFill>
          <a:blip r:embed="rId3"/>
          <a:stretch>
            <a:fillRect/>
          </a:stretch>
        </p:blipFill>
        <p:spPr>
          <a:xfrm>
            <a:off x="8886999" y="1463040"/>
            <a:ext cx="2800001" cy="2743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VẬN DỤNG – CÔNG CỦA LỰC (SGK TR.70)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32</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863840" cy="2612136"/>
              </a:xfrm>
              <a:prstGeom prst="rect">
                <a:avLst/>
              </a:prstGeom>
              <a:noFill/>
            </p:spPr>
            <p:txBody>
              <a:bodyPr wrap="square" anchor="t" lIns="45720" rIns="45720">
                <a:spAutoFit/>
              </a:bodyPr>
              <a:lstStyle/>
              <a:p>
                <a:pPr algn="l">
                  <a:spcAft>
                    <a:spcPts val="800"/>
                  </a:spcAft>
                </a:pPr>
                <a:r>
                  <a:rPr sz="2000">
                    <a:solidFill>
                      <a:srgbClr val="1E293B"/>
                    </a:solidFill>
                    <a:latin typeface="Calibri"/>
                  </a:rPr>
                  <a:t>Một lực </a:t>
                </a:r>
                <a14:m>
                  <m:oMath xmlns:m="http://schemas.openxmlformats.org/officeDocument/2006/math">
                    <m:acc>
                      <m:accPr>
                        <m:chr m:val="⃗"/>
                      </m:accPr>
                      <m:e>
                        <m:r>
                          <a:rPr lang="vi-VN" sz="2000" b="0">
                            <a:solidFill>
                              <a:srgbClr val="1E293B"/>
                            </a:solidFill>
                            <a:latin typeface="Cambria Math" panose="02040503050406030204" pitchFamily="18" charset="0"/>
                          </a:rPr>
                          <m:t>F</m:t>
                        </m:r>
                      </m:e>
                    </m:acc>
                  </m:oMath>
                </a14:m>
                <a:r>
                  <a:rPr sz="2000">
                    <a:solidFill>
                      <a:srgbClr val="1E293B"/>
                    </a:solidFill>
                    <a:latin typeface="Calibri"/>
                  </a:rPr>
                  <a:t> không đổi tác động vào một vật và điểm đặt của lực chuyển động thẳng từ </a:t>
                </a:r>
                <a14:m>
                  <m:oMath xmlns:m="http://schemas.openxmlformats.org/officeDocument/2006/math">
                    <m:r>
                      <a:rPr lang="vi-VN" sz="2000" b="0">
                        <a:solidFill>
                          <a:srgbClr val="1E293B"/>
                        </a:solidFill>
                        <a:latin typeface="Cambria Math" panose="02040503050406030204" pitchFamily="18" charset="0"/>
                      </a:rPr>
                      <m:t>A</m:t>
                    </m:r>
                  </m:oMath>
                </a14:m>
                <a:r>
                  <a:rPr sz="2000">
                    <a:solidFill>
                      <a:srgbClr val="1E293B"/>
                    </a:solidFill>
                    <a:latin typeface="Calibri"/>
                  </a:rPr>
                  <a:t> đến </a:t>
                </a:r>
                <a14:m>
                  <m:oMath xmlns:m="http://schemas.openxmlformats.org/officeDocument/2006/math">
                    <m:r>
                      <a:rPr lang="vi-VN" sz="2000" b="0">
                        <a:solidFill>
                          <a:srgbClr val="1E293B"/>
                        </a:solidFill>
                        <a:latin typeface="Cambria Math" panose="02040503050406030204" pitchFamily="18" charset="0"/>
                      </a:rPr>
                      <m:t>B</m:t>
                    </m:r>
                  </m:oMath>
                </a14:m>
                <a:r>
                  <a:rPr sz="2000">
                    <a:solidFill>
                      <a:srgbClr val="1E293B"/>
                    </a:solidFill>
                    <a:latin typeface="Calibri"/>
                  </a:rPr>
                  <a:t>. Lực </a:t>
                </a:r>
                <a14:m>
                  <m:oMath xmlns:m="http://schemas.openxmlformats.org/officeDocument/2006/math">
                    <m:acc>
                      <m:accPr>
                        <m:chr m:val="⃗"/>
                      </m:accPr>
                      <m:e>
                        <m:r>
                          <a:rPr lang="vi-VN" sz="2000" b="0">
                            <a:solidFill>
                              <a:srgbClr val="1E293B"/>
                            </a:solidFill>
                            <a:latin typeface="Cambria Math" panose="02040503050406030204" pitchFamily="18" charset="0"/>
                          </a:rPr>
                          <m:t>F</m:t>
                        </m:r>
                      </m:e>
                    </m:acc>
                  </m:oMath>
                </a14:m>
                <a:r>
                  <a:rPr sz="2000">
                    <a:solidFill>
                      <a:srgbClr val="1E293B"/>
                    </a:solidFill>
                    <a:latin typeface="Calibri"/>
                  </a:rPr>
                  <a:t> được phân tích thành hai lực thành phần </a:t>
                </a:r>
                <a14:m>
                  <m:oMath xmlns:m="http://schemas.openxmlformats.org/officeDocument/2006/math">
                    <m:acc>
                      <m:accPr>
                        <m:chr m:val="⃗"/>
                      </m:accPr>
                      <m:e>
                        <m:sSub>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1</m:t>
                            </m:r>
                          </m:sub>
                        </m:sSub>
                      </m:e>
                    </m:acc>
                  </m:oMath>
                </a14:m>
                <a:r>
                  <a:rPr sz="2000">
                    <a:solidFill>
                      <a:srgbClr val="1E293B"/>
                    </a:solidFill>
                    <a:latin typeface="Calibri"/>
                  </a:rPr>
                  <a:t> và </a:t>
                </a:r>
                <a14:m>
                  <m:oMath xmlns:m="http://schemas.openxmlformats.org/officeDocument/2006/math">
                    <m:acc>
                      <m:accPr>
                        <m:chr m:val="⃗"/>
                      </m:accPr>
                      <m:e>
                        <m:sSub>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2</m:t>
                            </m:r>
                          </m:sub>
                        </m:sSub>
                      </m:e>
                    </m:acc>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F</m:t>
                        </m:r>
                      </m:e>
                    </m:acc>
                    <m:r>
                      <a:rPr lang="vi-VN" sz="2000" b="0">
                        <a:solidFill>
                          <a:srgbClr val="1E293B"/>
                        </a:solidFill>
                        <a:latin typeface="Cambria Math" panose="02040503050406030204" pitchFamily="18" charset="0"/>
                      </a:rPr>
                      <m:t>=</m:t>
                    </m:r>
                    <m:acc>
                      <m:accPr>
                        <m:chr m:val="⃗"/>
                      </m:accPr>
                      <m:e>
                        <m:sSub>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1</m:t>
                            </m:r>
                          </m:sub>
                        </m:sSub>
                      </m:e>
                    </m:acc>
                    <m:r>
                      <a:rPr lang="vi-VN" sz="2000" b="0">
                        <a:solidFill>
                          <a:srgbClr val="1E293B"/>
                        </a:solidFill>
                        <a:latin typeface="Cambria Math" panose="02040503050406030204" pitchFamily="18" charset="0"/>
                      </a:rPr>
                      <m:t>+</m:t>
                    </m:r>
                    <m:acc>
                      <m:accPr>
                        <m:chr m:val="⃗"/>
                      </m:accPr>
                      <m:e>
                        <m:sSub>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2</m:t>
                            </m:r>
                          </m:sub>
                        </m:sSub>
                      </m:e>
                    </m:acc>
                  </m:oMath>
                </a14:m>
                <a:r>
                  <a:rPr sz="2000">
                    <a:solidFill>
                      <a:srgbClr val="1E293B"/>
                    </a:solidFill>
                    <a:latin typeface="Calibri"/>
                  </a:rPr>
                  <a:t>). a) Dựa vào tính chất của tích vô hướng, hãy giải thích vì sao công sinh bởi lực </a:t>
                </a:r>
                <a14:m>
                  <m:oMath xmlns:m="http://schemas.openxmlformats.org/officeDocument/2006/math">
                    <m:acc>
                      <m:accPr>
                        <m:chr m:val="⃗"/>
                      </m:accPr>
                      <m:e>
                        <m:r>
                          <a:rPr lang="vi-VN" sz="2000" b="0">
                            <a:solidFill>
                              <a:srgbClr val="1E293B"/>
                            </a:solidFill>
                            <a:latin typeface="Cambria Math" panose="02040503050406030204" pitchFamily="18" charset="0"/>
                          </a:rPr>
                          <m:t>F</m:t>
                        </m:r>
                      </m:e>
                    </m:acc>
                  </m:oMath>
                </a14:m>
                <a:r>
                  <a:rPr sz="2000">
                    <a:solidFill>
                      <a:srgbClr val="1E293B"/>
                    </a:solidFill>
                    <a:latin typeface="Calibri"/>
                  </a:rPr>
                  <a:t> bằng tổng các công sinh bởi </a:t>
                </a:r>
                <a14:m>
                  <m:oMath xmlns:m="http://schemas.openxmlformats.org/officeDocument/2006/math">
                    <m:acc>
                      <m:accPr>
                        <m:chr m:val="⃗"/>
                      </m:accPr>
                      <m:e>
                        <m:sSub>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1</m:t>
                            </m:r>
                          </m:sub>
                        </m:sSub>
                      </m:e>
                    </m:acc>
                  </m:oMath>
                </a14:m>
                <a:r>
                  <a:rPr sz="2000">
                    <a:solidFill>
                      <a:srgbClr val="1E293B"/>
                    </a:solidFill>
                    <a:latin typeface="Calibri"/>
                  </a:rPr>
                  <a:t> và </a:t>
                </a:r>
                <a14:m>
                  <m:oMath xmlns:m="http://schemas.openxmlformats.org/officeDocument/2006/math">
                    <m:acc>
                      <m:accPr>
                        <m:chr m:val="⃗"/>
                      </m:accPr>
                      <m:e>
                        <m:sSub>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2</m:t>
                            </m:r>
                          </m:sub>
                        </m:sSub>
                      </m:e>
                    </m:acc>
                  </m:oMath>
                </a14:m>
                <a:r>
                  <a:rPr sz="2000">
                    <a:solidFill>
                      <a:srgbClr val="1E293B"/>
                    </a:solidFill>
                    <a:latin typeface="Calibri"/>
                  </a:rPr>
                  <a:t>. b) Giả sử </a:t>
                </a:r>
                <a14:m>
                  <m:oMath xmlns:m="http://schemas.openxmlformats.org/officeDocument/2006/math">
                    <m:acc>
                      <m:accPr>
                        <m:chr m:val="⃗"/>
                      </m:accPr>
                      <m:e>
                        <m:sSub>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1</m:t>
                            </m:r>
                          </m:sub>
                        </m:sSub>
                      </m:e>
                    </m:acc>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acc>
                      <m:accPr>
                        <m:chr m:val="⃗"/>
                      </m:accPr>
                      <m:e>
                        <m:sSub>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2</m:t>
                            </m:r>
                          </m:sub>
                        </m:sSub>
                      </m:e>
                    </m:acc>
                  </m:oMath>
                </a14:m>
                <a:r>
                  <a:rPr sz="2000">
                    <a:solidFill>
                      <a:srgbClr val="1E293B"/>
                    </a:solidFill>
                    <a:latin typeface="Calibri"/>
                  </a:rPr>
                  <a:t> tương ứng cùng phương, vuông góc với phương chuyển động. Tìm mối quan hệ giữa các công sinh bởi lực </a:t>
                </a:r>
                <a14:m>
                  <m:oMath xmlns:m="http://schemas.openxmlformats.org/officeDocument/2006/math">
                    <m:acc>
                      <m:accPr>
                        <m:chr m:val="⃗"/>
                      </m:accPr>
                      <m:e>
                        <m:r>
                          <a:rPr lang="vi-VN" sz="2000" b="0">
                            <a:solidFill>
                              <a:srgbClr val="1E293B"/>
                            </a:solidFill>
                            <a:latin typeface="Cambria Math" panose="02040503050406030204" pitchFamily="18" charset="0"/>
                          </a:rPr>
                          <m:t>F</m:t>
                        </m:r>
                      </m:e>
                    </m:acc>
                  </m:oMath>
                </a14:m>
                <a:r>
                  <a:rPr sz="2000">
                    <a:solidFill>
                      <a:srgbClr val="1E293B"/>
                    </a:solidFill>
                    <a:latin typeface="Calibri"/>
                  </a:rPr>
                  <a:t> và lực </a:t>
                </a:r>
                <a14:m>
                  <m:oMath xmlns:m="http://schemas.openxmlformats.org/officeDocument/2006/math">
                    <m:acc>
                      <m:accPr>
                        <m:chr m:val="⃗"/>
                      </m:accPr>
                      <m:e>
                        <m:sSub>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1</m:t>
                            </m:r>
                          </m:sub>
                        </m:sSub>
                      </m:e>
                    </m:acc>
                  </m:oMath>
                </a14:m>
                <a:r>
                  <a:rPr sz="2000">
                    <a:solidFill>
                      <a:srgbClr val="1E293B"/>
                    </a:solidFill>
                    <a:latin typeface="Calibri"/>
                  </a:rPr>
                  <a:t>.</a:t>
                </a:r>
              </a:p>
            </p:txBody>
          </p:sp>
        </mc:Choice>
        <mc:Fallback>
          <p:sp>
            <p:nvSpPr>
              <p:cNvPr id="7" name="TextBox 6"/>
              <p:cNvSpPr txBox="1"/>
              <p:nvPr/>
            </p:nvSpPr>
            <p:spPr>
              <a:xfrm>
                <a:off x="548640" y="1371600"/>
                <a:ext cx="7863840" cy="2612136"/>
              </a:xfrm>
              <a:prstGeom prst="rect">
                <a:avLst/>
              </a:prstGeom>
              <a:noFill/>
            </p:spPr>
            <p:txBody>
              <a:bodyPr wrap="square" anchor="t" lIns="45720" rIns="45720">
                <a:spAutoFit/>
              </a:bodyPr>
              <a:lstStyle/>
              <a:p>
                <a:pPr algn="l">
                  <a:spcAft>
                    <a:spcPts val="800"/>
                  </a:spcAft>
                </a:pPr>
                <a:r>
                  <a:rPr sz="2000">
                    <a:solidFill>
                      <a:srgbClr val="1E293B"/>
                    </a:solidFill>
                    <a:latin typeface="Calibri"/>
                  </a:rPr>
                  <a:t>Một lực </a:t>
                </a:r>
                <a:r>
                  <a:rPr lang="vi-VN"/>
                  <a:t>\vec{F}</a:t>
                </a:r>
                <a:r>
                  <a:rPr sz="2000">
                    <a:solidFill>
                      <a:srgbClr val="1E293B"/>
                    </a:solidFill>
                    <a:latin typeface="Calibri"/>
                  </a:rPr>
                  <a:t> không đổi tác động vào một vật và điểm đặt của lực chuyển động thẳng từ </a:t>
                </a:r>
                <a:r>
                  <a:rPr lang="vi-VN"/>
                  <a:t>A</a:t>
                </a:r>
                <a:r>
                  <a:rPr sz="2000">
                    <a:solidFill>
                      <a:srgbClr val="1E293B"/>
                    </a:solidFill>
                    <a:latin typeface="Calibri"/>
                  </a:rPr>
                  <a:t> đến </a:t>
                </a:r>
                <a:r>
                  <a:rPr lang="vi-VN"/>
                  <a:t>B</a:t>
                </a:r>
                <a:r>
                  <a:rPr sz="2000">
                    <a:solidFill>
                      <a:srgbClr val="1E293B"/>
                    </a:solidFill>
                    <a:latin typeface="Calibri"/>
                  </a:rPr>
                  <a:t>. Lực </a:t>
                </a:r>
                <a:r>
                  <a:rPr lang="vi-VN"/>
                  <a:t>\vec{F}</a:t>
                </a:r>
                <a:r>
                  <a:rPr sz="2000">
                    <a:solidFill>
                      <a:srgbClr val="1E293B"/>
                    </a:solidFill>
                    <a:latin typeface="Calibri"/>
                  </a:rPr>
                  <a:t> được phân tích thành hai lực thành phần </a:t>
                </a:r>
                <a:r>
                  <a:rPr lang="vi-VN"/>
                  <a:t>\vec{F_1}</a:t>
                </a:r>
                <a:r>
                  <a:rPr sz="2000">
                    <a:solidFill>
                      <a:srgbClr val="1E293B"/>
                    </a:solidFill>
                    <a:latin typeface="Calibri"/>
                  </a:rPr>
                  <a:t> và </a:t>
                </a:r>
                <a:r>
                  <a:rPr lang="vi-VN"/>
                  <a:t>\vec{F_2}</a:t>
                </a:r>
                <a:r>
                  <a:rPr sz="2000">
                    <a:solidFill>
                      <a:srgbClr val="1E293B"/>
                    </a:solidFill>
                    <a:latin typeface="Calibri"/>
                  </a:rPr>
                  <a:t> (</a:t>
                </a:r>
                <a:r>
                  <a:rPr lang="vi-VN"/>
                  <a:t>\vec{F}=\vec{F_1}+\vec{F_2}</a:t>
                </a:r>
                <a:r>
                  <a:rPr sz="2000">
                    <a:solidFill>
                      <a:srgbClr val="1E293B"/>
                    </a:solidFill>
                    <a:latin typeface="Calibri"/>
                  </a:rPr>
                  <a:t>). a) Dựa vào tính chất của tích vô hướng, hãy giải thích vì sao công sinh bởi lực </a:t>
                </a:r>
                <a:r>
                  <a:rPr lang="vi-VN"/>
                  <a:t>\vec{F}</a:t>
                </a:r>
                <a:r>
                  <a:rPr sz="2000">
                    <a:solidFill>
                      <a:srgbClr val="1E293B"/>
                    </a:solidFill>
                    <a:latin typeface="Calibri"/>
                  </a:rPr>
                  <a:t> bằng tổng các công sinh bởi </a:t>
                </a:r>
                <a:r>
                  <a:rPr lang="vi-VN"/>
                  <a:t>\vec{F_1}</a:t>
                </a:r>
                <a:r>
                  <a:rPr sz="2000">
                    <a:solidFill>
                      <a:srgbClr val="1E293B"/>
                    </a:solidFill>
                    <a:latin typeface="Calibri"/>
                  </a:rPr>
                  <a:t> và </a:t>
                </a:r>
                <a:r>
                  <a:rPr lang="vi-VN"/>
                  <a:t>\vec{F_2}</a:t>
                </a:r>
                <a:r>
                  <a:rPr sz="2000">
                    <a:solidFill>
                      <a:srgbClr val="1E293B"/>
                    </a:solidFill>
                    <a:latin typeface="Calibri"/>
                  </a:rPr>
                  <a:t>. b) Giả sử </a:t>
                </a:r>
                <a:r>
                  <a:rPr lang="vi-VN"/>
                  <a:t>\vec{F_1},\ \vec{F_2}</a:t>
                </a:r>
                <a:r>
                  <a:rPr sz="2000">
                    <a:solidFill>
                      <a:srgbClr val="1E293B"/>
                    </a:solidFill>
                    <a:latin typeface="Calibri"/>
                  </a:rPr>
                  <a:t> tương ứng cùng phương, vuông góc với phương chuyển động. Tìm mối quan hệ giữa các công sinh bởi lực </a:t>
                </a:r>
                <a:r>
                  <a:rPr lang="vi-VN"/>
                  <a:t>\vec{F}</a:t>
                </a:r>
                <a:r>
                  <a:rPr sz="2000">
                    <a:solidFill>
                      <a:srgbClr val="1E293B"/>
                    </a:solidFill>
                    <a:latin typeface="Calibri"/>
                  </a:rPr>
                  <a:t> và lực </a:t>
                </a:r>
                <a:r>
                  <a:rPr lang="vi-VN"/>
                  <a:t>\vec{F_1}</a:t>
                </a:r>
                <a:r>
                  <a:rPr sz="2000">
                    <a:solidFill>
                      <a:srgbClr val="1E293B"/>
                    </a:solidFill>
                    <a:latin typeface="Calibri"/>
                  </a:rPr>
                  <a:t>.</a:t>
                </a:r>
              </a:p>
            </p:txBody>
          </p:sp>
        </mc:Fallback>
      </mc:AlternateContent>
      <p:sp>
        <p:nvSpPr>
          <p:cNvPr id="8" name="s1_nen"/>
          <p:cNvSpPr/>
          <p:nvPr/>
        </p:nvSpPr>
        <p:spPr>
          <a:xfrm>
            <a:off x="548640" y="4075176"/>
            <a:ext cx="786384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4111752"/>
                <a:ext cx="75346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14:m>
                  <m:oMath xmlns:m="http://schemas.openxmlformats.org/officeDocument/2006/math">
                    <m:acc>
                      <m:accPr>
                        <m:chr m:val="⃗"/>
                      </m:accPr>
                      <m:e>
                        <m:r>
                          <a:rPr lang="vi-VN" sz="2000" b="0">
                            <a:solidFill>
                              <a:srgbClr val="1E293B"/>
                            </a:solidFill>
                            <a:latin typeface="Cambria Math" panose="02040503050406030204" pitchFamily="18" charset="0"/>
                          </a:rPr>
                          <m:t>F</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AB</m:t>
                        </m:r>
                      </m:e>
                    </m:acc>
                    <m:r>
                      <a:rPr lang="vi-VN" sz="2000" b="0">
                        <a:solidFill>
                          <a:srgbClr val="1E293B"/>
                        </a:solidFill>
                        <a:latin typeface="Cambria Math" panose="02040503050406030204" pitchFamily="18" charset="0"/>
                      </a:rPr>
                      <m:t>=(</m:t>
                    </m:r>
                    <m:acc>
                      <m:accPr>
                        <m:chr m:val="⃗"/>
                      </m:accPr>
                      <m:e>
                        <m:sSub>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1</m:t>
                            </m:r>
                          </m:sub>
                        </m:sSub>
                      </m:e>
                    </m:acc>
                    <m:r>
                      <a:rPr lang="vi-VN" sz="2000" b="0">
                        <a:solidFill>
                          <a:srgbClr val="1E293B"/>
                        </a:solidFill>
                        <a:latin typeface="Cambria Math" panose="02040503050406030204" pitchFamily="18" charset="0"/>
                      </a:rPr>
                      <m:t>+</m:t>
                    </m:r>
                    <m:acc>
                      <m:accPr>
                        <m:chr m:val="⃗"/>
                      </m:accPr>
                      <m:e>
                        <m:sSub>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2</m:t>
                            </m:r>
                          </m:sub>
                        </m:sSub>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AB</m:t>
                        </m:r>
                      </m:e>
                    </m:acc>
                    <m:r>
                      <a:rPr lang="vi-VN" sz="2000" b="0">
                        <a:solidFill>
                          <a:srgbClr val="1E293B"/>
                        </a:solidFill>
                        <a:latin typeface="Cambria Math" panose="02040503050406030204" pitchFamily="18" charset="0"/>
                      </a:rPr>
                      <m:t>=</m:t>
                    </m:r>
                    <m:acc>
                      <m:accPr>
                        <m:chr m:val="⃗"/>
                      </m:accPr>
                      <m:e>
                        <m:sSub>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1</m:t>
                            </m:r>
                          </m:sub>
                        </m:sSub>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AB</m:t>
                        </m:r>
                      </m:e>
                    </m:acc>
                    <m:r>
                      <a:rPr lang="vi-VN" sz="2000" b="0">
                        <a:solidFill>
                          <a:srgbClr val="1E293B"/>
                        </a:solidFill>
                        <a:latin typeface="Cambria Math" panose="02040503050406030204" pitchFamily="18" charset="0"/>
                      </a:rPr>
                      <m:t>+</m:t>
                    </m:r>
                    <m:acc>
                      <m:accPr>
                        <m:chr m:val="⃗"/>
                      </m:accPr>
                      <m:e>
                        <m:sSub>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2</m:t>
                            </m:r>
                          </m:sub>
                        </m:sSub>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AB</m:t>
                        </m:r>
                      </m:e>
                    </m:acc>
                  </m:oMath>
                </a14:m>
                <a:r>
                  <a:rPr sz="2000">
                    <a:solidFill>
                      <a:srgbClr val="1E293B"/>
                    </a:solidFill>
                    <a:latin typeface="Calibri"/>
                  </a:rPr>
                  <a:t> (tính chất phân phối).</a:t>
                </a:r>
              </a:p>
            </p:txBody>
          </p:sp>
        </mc:Choice>
        <mc:Fallback>
          <p:sp>
            <p:nvSpPr>
              <p:cNvPr id="9" name="TextBox 8"/>
              <p:cNvSpPr txBox="1"/>
              <p:nvPr/>
            </p:nvSpPr>
            <p:spPr>
              <a:xfrm>
                <a:off x="713232" y="4111752"/>
                <a:ext cx="75346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r>
                  <a:rPr lang="vi-VN"/>
                  <a:t>\vec{F}\cdot\overrightarrow{AB}=(\vec{F_1}+\vec{F_2})\cdot\overrightarrow{AB}=\vec{F_1}\cdot\overrightarrow{AB}+\vec{F_2}\cdot\overrightarrow{AB}</a:t>
                </a:r>
                <a:r>
                  <a:rPr sz="2000">
                    <a:solidFill>
                      <a:srgbClr val="1E293B"/>
                    </a:solidFill>
                    <a:latin typeface="Calibri"/>
                  </a:rPr>
                  <a:t> (tính chất phân phối).</a:t>
                </a:r>
              </a:p>
            </p:txBody>
          </p:sp>
        </mc:Fallback>
      </mc:AlternateContent>
      <p:sp>
        <p:nvSpPr>
          <p:cNvPr id="10" name="s2_nen"/>
          <p:cNvSpPr/>
          <p:nvPr/>
        </p:nvSpPr>
        <p:spPr>
          <a:xfrm>
            <a:off x="548640" y="4736592"/>
            <a:ext cx="786384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773168"/>
                <a:ext cx="75346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14:m>
                  <m:oMath xmlns:m="http://schemas.openxmlformats.org/officeDocument/2006/math">
                    <m:acc>
                      <m:accPr>
                        <m:chr m:val="⃗"/>
                      </m:accPr>
                      <m:e>
                        <m:sSub>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2</m:t>
                            </m:r>
                          </m:sub>
                        </m:sSub>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AB</m:t>
                        </m:r>
                      </m:e>
                    </m:acc>
                  </m:oMath>
                </a14:m>
                <a:r>
                  <a:rPr sz="2000">
                    <a:solidFill>
                      <a:srgbClr val="1E293B"/>
                    </a:solidFill>
                    <a:latin typeface="Calibri"/>
                  </a:rPr>
                  <a:t> nên </a:t>
                </a:r>
                <a14:m>
                  <m:oMath xmlns:m="http://schemas.openxmlformats.org/officeDocument/2006/math">
                    <m:acc>
                      <m:accPr>
                        <m:chr m:val="⃗"/>
                      </m:accPr>
                      <m:e>
                        <m:sSub>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2</m:t>
                            </m:r>
                          </m:sub>
                        </m:sSub>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AB</m:t>
                        </m:r>
                      </m:e>
                    </m:acc>
                    <m:r>
                      <a:rPr lang="vi-VN" sz="2000" b="0">
                        <a:solidFill>
                          <a:srgbClr val="1E293B"/>
                        </a:solidFill>
                        <a:latin typeface="Cambria Math" panose="02040503050406030204" pitchFamily="18" charset="0"/>
                      </a:rPr>
                      <m:t>=0</m:t>
                    </m:r>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F</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AB</m:t>
                        </m:r>
                      </m:e>
                    </m:acc>
                    <m:r>
                      <a:rPr lang="vi-VN" sz="2000" b="0">
                        <a:solidFill>
                          <a:srgbClr val="1E293B"/>
                        </a:solidFill>
                        <a:latin typeface="Cambria Math" panose="02040503050406030204" pitchFamily="18" charset="0"/>
                      </a:rPr>
                      <m:t>=</m:t>
                    </m:r>
                    <m:acc>
                      <m:accPr>
                        <m:chr m:val="⃗"/>
                      </m:accPr>
                      <m:e>
                        <m:sSub>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1</m:t>
                            </m:r>
                          </m:sub>
                        </m:sSub>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AB</m:t>
                        </m:r>
                      </m:e>
                    </m:acc>
                  </m:oMath>
                </a14:m>
                <a:r>
                  <a:rPr sz="2000">
                    <a:solidFill>
                      <a:srgbClr val="1E293B"/>
                    </a:solidFill>
                    <a:latin typeface="Calibri"/>
                  </a:rPr>
                  <a:t>: công của </a:t>
                </a:r>
                <a14:m>
                  <m:oMath xmlns:m="http://schemas.openxmlformats.org/officeDocument/2006/math">
                    <m:acc>
                      <m:accPr>
                        <m:chr m:val="⃗"/>
                      </m:accPr>
                      <m:e>
                        <m:r>
                          <a:rPr lang="vi-VN" sz="2000" b="0">
                            <a:solidFill>
                              <a:srgbClr val="1E293B"/>
                            </a:solidFill>
                            <a:latin typeface="Cambria Math" panose="02040503050406030204" pitchFamily="18" charset="0"/>
                          </a:rPr>
                          <m:t>F</m:t>
                        </m:r>
                      </m:e>
                    </m:acc>
                  </m:oMath>
                </a14:m>
                <a:r>
                  <a:rPr sz="2000">
                    <a:solidFill>
                      <a:srgbClr val="1E293B"/>
                    </a:solidFill>
                    <a:latin typeface="Calibri"/>
                  </a:rPr>
                  <a:t> bằng công của </a:t>
                </a:r>
                <a14:m>
                  <m:oMath xmlns:m="http://schemas.openxmlformats.org/officeDocument/2006/math">
                    <m:acc>
                      <m:accPr>
                        <m:chr m:val="⃗"/>
                      </m:accPr>
                      <m:e>
                        <m:sSub>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1</m:t>
                            </m:r>
                          </m:sub>
                        </m:sSub>
                      </m:e>
                    </m:acc>
                  </m:oMath>
                </a14:m>
                <a:r>
                  <a:rPr sz="2000">
                    <a:solidFill>
                      <a:srgbClr val="1E293B"/>
                    </a:solidFill>
                    <a:latin typeface="Calibri"/>
                  </a:rPr>
                  <a:t>.</a:t>
                </a:r>
              </a:p>
            </p:txBody>
          </p:sp>
        </mc:Choice>
        <mc:Fallback>
          <p:sp>
            <p:nvSpPr>
              <p:cNvPr id="11" name="TextBox 10"/>
              <p:cNvSpPr txBox="1"/>
              <p:nvPr/>
            </p:nvSpPr>
            <p:spPr>
              <a:xfrm>
                <a:off x="713232" y="4773168"/>
                <a:ext cx="75346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r>
                  <a:rPr lang="vi-VN"/>
                  <a:t>\vec{F_2}\perp\overrightarrow{AB}</a:t>
                </a:r>
                <a:r>
                  <a:rPr sz="2000">
                    <a:solidFill>
                      <a:srgbClr val="1E293B"/>
                    </a:solidFill>
                    <a:latin typeface="Calibri"/>
                  </a:rPr>
                  <a:t> nên </a:t>
                </a:r>
                <a:r>
                  <a:rPr lang="vi-VN"/>
                  <a:t>\vec{F_2}\cdot\overrightarrow{AB}=0</a:t>
                </a:r>
                <a:r>
                  <a:rPr sz="2000">
                    <a:solidFill>
                      <a:srgbClr val="1E293B"/>
                    </a:solidFill>
                    <a:latin typeface="Calibri"/>
                  </a:rPr>
                  <a:t> ⇒ </a:t>
                </a:r>
                <a:r>
                  <a:rPr lang="vi-VN"/>
                  <a:t>\vec{F}\cdot\overrightarrow{AB}=\vec{F_1}\cdot\overrightarrow{AB}</a:t>
                </a:r>
                <a:r>
                  <a:rPr sz="2000">
                    <a:solidFill>
                      <a:srgbClr val="1E293B"/>
                    </a:solidFill>
                    <a:latin typeface="Calibri"/>
                  </a:rPr>
                  <a:t>: công của </a:t>
                </a:r>
                <a:r>
                  <a:rPr lang="vi-VN"/>
                  <a:t>\vec{F}</a:t>
                </a:r>
                <a:r>
                  <a:rPr sz="2000">
                    <a:solidFill>
                      <a:srgbClr val="1E293B"/>
                    </a:solidFill>
                    <a:latin typeface="Calibri"/>
                  </a:rPr>
                  <a:t> bằng công của </a:t>
                </a:r>
                <a:r>
                  <a:rPr lang="vi-VN"/>
                  <a:t>\vec{F_1}</a:t>
                </a:r>
                <a:r>
                  <a:rPr sz="2000">
                    <a:solidFill>
                      <a:srgbClr val="1E293B"/>
                    </a:solidFill>
                    <a:latin typeface="Calibri"/>
                  </a:rPr>
                  <a:t>.</a:t>
                </a:r>
              </a:p>
            </p:txBody>
          </p:sp>
        </mc:Fallback>
      </mc:AlternateContent>
      <p:pic>
        <p:nvPicPr>
          <p:cNvPr id="12" name="Picture 11" descr="h446.png"/>
          <p:cNvPicPr>
            <a:picLocks noChangeAspect="1"/>
          </p:cNvPicPr>
          <p:nvPr/>
        </p:nvPicPr>
        <p:blipFill>
          <a:blip r:embed="rId3"/>
          <a:stretch>
            <a:fillRect/>
          </a:stretch>
        </p:blipFill>
        <p:spPr>
          <a:xfrm>
            <a:off x="8595360" y="1606605"/>
            <a:ext cx="3108960" cy="190742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BÀI TẬP 4.25 – 4.26 (SGK TR.70) – HS KHÁ, GIỎI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33</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659891"/>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4.25.</a:t>
                </a:r>
                <a:r>
                  <a:rPr sz="2200">
                    <a:solidFill>
                      <a:srgbClr val="1E293B"/>
                    </a:solidFill>
                    <a:latin typeface="Calibri"/>
                  </a:rPr>
                  <a:t> Chứng minh rằng với mọi tam giác </a:t>
                </a:r>
                <a14:m>
                  <m:oMath xmlns:m="http://schemas.openxmlformats.org/officeDocument/2006/math">
                    <m:r>
                      <a:rPr lang="vi-VN" sz="2200" b="0">
                        <a:solidFill>
                          <a:srgbClr val="1E293B"/>
                        </a:solidFill>
                        <a:latin typeface="Cambria Math" panose="02040503050406030204" pitchFamily="18" charset="0"/>
                      </a:rPr>
                      <m:t>ABC</m:t>
                    </m:r>
                  </m:oMath>
                </a14:m>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ABC</m:t>
                        </m:r>
                      </m:sub>
                    </m:sSub>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2</m:t>
                        </m:r>
                      </m:den>
                    </m:f>
                    <m:rad>
                      <m:radPr>
                        <m:degHide m:val="on"/>
                      </m:radPr>
                      <m:deg/>
                      <m:e>
                        <m:sSup>
                          <m:e>
                            <m:acc>
                              <m:accPr>
                                <m:chr m:val="⃗"/>
                              </m:accPr>
                              <m:e>
                                <m:r>
                                  <a:rPr lang="vi-VN" sz="2200" b="0">
                                    <a:solidFill>
                                      <a:srgbClr val="1E293B"/>
                                    </a:solidFill>
                                    <a:latin typeface="Cambria Math" panose="02040503050406030204" pitchFamily="18" charset="0"/>
                                  </a:rPr>
                                  <m:t>AB</m:t>
                                </m:r>
                              </m:e>
                            </m:acc>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sSup>
                          <m:e>
                            <m:acc>
                              <m:accPr>
                                <m:chr m:val="⃗"/>
                              </m:accPr>
                              <m:e>
                                <m:r>
                                  <a:rPr lang="vi-VN" sz="2200" b="0">
                                    <a:solidFill>
                                      <a:srgbClr val="1E293B"/>
                                    </a:solidFill>
                                    <a:latin typeface="Cambria Math" panose="02040503050406030204" pitchFamily="18" charset="0"/>
                                  </a:rPr>
                                  <m:t>AC</m:t>
                                </m:r>
                              </m:e>
                            </m:acc>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sSup>
                          <m:e>
                            <m:d>
                              <m:dPr>
                                <m:sepChr m:val="·"/>
                              </m:dPr>
                              <m:e>
                                <m:acc>
                                  <m:accPr>
                                    <m:chr m:val="⃗"/>
                                  </m:accPr>
                                  <m:e>
                                    <m:r>
                                      <a:rPr lang="vi-VN" sz="2200" b="0">
                                        <a:solidFill>
                                          <a:srgbClr val="1E293B"/>
                                        </a:solidFill>
                                        <a:latin typeface="Cambria Math" panose="02040503050406030204" pitchFamily="18" charset="0"/>
                                      </a:rPr>
                                      <m:t>AB</m:t>
                                    </m:r>
                                  </m:e>
                                </m:acc>
                              </m:e>
                              <m:e>
                                <m:acc>
                                  <m:accPr>
                                    <m:chr m:val="⃗"/>
                                  </m:accPr>
                                  <m:e>
                                    <m:r>
                                      <a:rPr lang="vi-VN" sz="2200" b="0">
                                        <a:solidFill>
                                          <a:srgbClr val="1E293B"/>
                                        </a:solidFill>
                                        <a:latin typeface="Cambria Math" panose="02040503050406030204" pitchFamily="18" charset="0"/>
                                      </a:rPr>
                                      <m:t>AC</m:t>
                                    </m:r>
                                  </m:e>
                                </m:acc>
                              </m:e>
                            </m:d>
                          </m:e>
                          <m:sup>
                            <m:r>
                              <a:rPr lang="vi-VN" sz="2200" b="0">
                                <a:solidFill>
                                  <a:srgbClr val="1E293B"/>
                                </a:solidFill>
                                <a:latin typeface="Cambria Math" panose="02040503050406030204" pitchFamily="18" charset="0"/>
                              </a:rPr>
                              <m:t>2</m:t>
                            </m:r>
                          </m:sup>
                        </m:sSup>
                      </m:e>
                    </m:rad>
                  </m:oMath>
                </a14:m>
                <a:r>
                  <a:rPr sz="2200">
                    <a:solidFill>
                      <a:srgbClr val="1E293B"/>
                    </a:solidFill>
                    <a:latin typeface="Calibri"/>
                  </a:rPr>
                  <a:t>.</a:t>
                </a:r>
              </a:p>
            </p:txBody>
          </p:sp>
        </mc:Choice>
        <mc:Fallback>
          <p:sp>
            <p:nvSpPr>
              <p:cNvPr id="7" name="TextBox 6"/>
              <p:cNvSpPr txBox="1"/>
              <p:nvPr/>
            </p:nvSpPr>
            <p:spPr>
              <a:xfrm>
                <a:off x="548640" y="1371600"/>
                <a:ext cx="11064240" cy="659891"/>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4.25.</a:t>
                </a:r>
                <a:r>
                  <a:rPr sz="2200">
                    <a:solidFill>
                      <a:srgbClr val="1E293B"/>
                    </a:solidFill>
                    <a:latin typeface="Calibri"/>
                  </a:rPr>
                  <a:t> Chứng minh rằng với mọi tam giác </a:t>
                </a:r>
                <a:r>
                  <a:rPr lang="vi-VN"/>
                  <a:t>ABC</a:t>
                </a:r>
                <a:r>
                  <a:rPr sz="2200">
                    <a:solidFill>
                      <a:srgbClr val="1E293B"/>
                    </a:solidFill>
                    <a:latin typeface="Calibri"/>
                  </a:rPr>
                  <a:t>, </a:t>
                </a:r>
                <a:r>
                  <a:rPr lang="vi-VN"/>
                  <a:t>S_{ABC}=\frac{1}{2}\sqrt{\overrightarrow{AB}^2\cdot\overrightarrow{AC}^2-\left(\overrightarrow{AB}\cdot\overrightarrow{AC}\right)^2}</a:t>
                </a:r>
                <a:r>
                  <a:rPr sz="2200">
                    <a:solidFill>
                      <a:srgbClr val="1E293B"/>
                    </a:solidFill>
                    <a:latin typeface="Calibri"/>
                  </a:rPr>
                  <a:t>.</a:t>
                </a:r>
              </a:p>
            </p:txBody>
          </p:sp>
        </mc:Fallback>
      </mc:AlternateContent>
      <p:sp>
        <p:nvSpPr>
          <p:cNvPr id="8" name="s1_nen"/>
          <p:cNvSpPr/>
          <p:nvPr/>
        </p:nvSpPr>
        <p:spPr>
          <a:xfrm>
            <a:off x="548640" y="2095499"/>
            <a:ext cx="11064240" cy="935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132076"/>
                <a:ext cx="107350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Gợi ý: </a:t>
                </a:r>
                <a14:m>
                  <m:oMath xmlns:m="http://schemas.openxmlformats.org/officeDocument/2006/math">
                    <m:sSup>
                      <m:e>
                        <m:acc>
                          <m:accPr>
                            <m:chr m:val="⃗"/>
                          </m:accPr>
                          <m:e>
                            <m:r>
                              <a:rPr lang="vi-VN" sz="2200" b="0">
                                <a:solidFill>
                                  <a:srgbClr val="1E293B"/>
                                </a:solidFill>
                                <a:latin typeface="Cambria Math" panose="02040503050406030204" pitchFamily="18" charset="0"/>
                              </a:rPr>
                              <m:t>AB</m:t>
                            </m:r>
                          </m:e>
                        </m:acc>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sSup>
                      <m:e>
                        <m:acc>
                          <m:accPr>
                            <m:chr m:val="⃗"/>
                          </m:accPr>
                          <m:e>
                            <m:r>
                              <a:rPr lang="vi-VN" sz="2200" b="0">
                                <a:solidFill>
                                  <a:srgbClr val="1E293B"/>
                                </a:solidFill>
                                <a:latin typeface="Cambria Math" panose="02040503050406030204" pitchFamily="18" charset="0"/>
                              </a:rPr>
                              <m:t>AC</m:t>
                            </m:r>
                          </m:e>
                        </m:acc>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AC</m:t>
                        </m:r>
                      </m:e>
                    </m:acc>
                    <m:sSup>
                      <m:e>
                        <m:r>
                          <a:rPr lang="vi-VN" sz="2200" b="0">
                            <a:solidFill>
                              <a:srgbClr val="1E293B"/>
                            </a:solidFill>
                            <a:latin typeface="Cambria Math" panose="02040503050406030204" pitchFamily="18" charset="0"/>
                          </a:rPr>
                          <m:t>)</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(1−</m:t>
                    </m:r>
                    <m:sSup>
                      <m:e>
                        <m:r>
                          <m:rPr>
                            <m:sty m:val="p"/>
                          </m:rPr>
                          <a:rPr lang="vi-VN" sz="2200" b="0">
                            <a:solidFill>
                              <a:srgbClr val="1E293B"/>
                            </a:solidFill>
                            <a:latin typeface="Cambria Math" panose="02040503050406030204" pitchFamily="18" charset="0"/>
                          </a:rPr>
                          <m:t>cos</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A)=A</m:t>
                    </m:r>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2</m:t>
                        </m:r>
                      </m:sup>
                    </m:sSup>
                    <m:sSup>
                      <m:e>
                        <m:r>
                          <m:rPr>
                            <m:sty m:val="p"/>
                          </m:rPr>
                          <a:rPr lang="vi-VN" sz="2200" b="0">
                            <a:solidFill>
                              <a:srgbClr val="1E293B"/>
                            </a:solidFill>
                            <a:latin typeface="Cambria Math" panose="02040503050406030204" pitchFamily="18" charset="0"/>
                          </a:rPr>
                          <m:t>sin</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A</m:t>
                    </m:r>
                  </m:oMath>
                </a14:m>
                <a:r>
                  <a:rPr sz="2200">
                    <a:solidFill>
                      <a:srgbClr val="1E293B"/>
                    </a:solidFill>
                    <a:latin typeface="Calibri"/>
                  </a:rPr>
                  <a:t> ⇒ căn bậc hai bằng </a:t>
                </a:r>
                <a14:m>
                  <m:oMath xmlns:m="http://schemas.openxmlformats.org/officeDocument/2006/math">
                    <m:r>
                      <a:rPr lang="vi-VN" sz="2200" b="0">
                        <a:solidFill>
                          <a:srgbClr val="1E293B"/>
                        </a:solidFill>
                        <a:latin typeface="Cambria Math" panose="02040503050406030204" pitchFamily="18" charset="0"/>
                      </a:rPr>
                      <m:t>2</m:t>
                    </m:r>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ABC</m:t>
                        </m:r>
                      </m:sub>
                    </m:sSub>
                  </m:oMath>
                </a14:m>
                <a:r>
                  <a:rPr sz="2200">
                    <a:solidFill>
                      <a:srgbClr val="1E293B"/>
                    </a:solidFill>
                    <a:latin typeface="Calibri"/>
                  </a:rPr>
                  <a:t>.</a:t>
                </a:r>
              </a:p>
            </p:txBody>
          </p:sp>
        </mc:Choice>
        <mc:Fallback>
          <p:sp>
            <p:nvSpPr>
              <p:cNvPr id="9" name="TextBox 8"/>
              <p:cNvSpPr txBox="1"/>
              <p:nvPr/>
            </p:nvSpPr>
            <p:spPr>
              <a:xfrm>
                <a:off x="713232" y="2132076"/>
                <a:ext cx="107350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Gợi ý: </a:t>
                </a:r>
                <a:r>
                  <a:rPr lang="vi-VN"/>
                  <a:t>\overrightarrow{AB}^2\cdot\overrightarrow{AC}^2-(\overrightarrow{AB}\cdot\overrightarrow{AC})^2=AB^2\cdot AC^2(1-\cos^2 A)=AB^2\cdot AC^2\sin^2 A</a:t>
                </a:r>
                <a:r>
                  <a:rPr sz="2200">
                    <a:solidFill>
                      <a:srgbClr val="1E293B"/>
                    </a:solidFill>
                    <a:latin typeface="Calibri"/>
                  </a:rPr>
                  <a:t> ⇒ căn bậc hai bằng </a:t>
                </a:r>
                <a:r>
                  <a:rPr lang="vi-VN"/>
                  <a:t>2S_{ABC}</a:t>
                </a:r>
                <a:r>
                  <a:rPr sz="22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095243"/>
                <a:ext cx="11064240" cy="844295"/>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4.26.</a:t>
                </a:r>
                <a:r>
                  <a:rPr sz="2200">
                    <a:solidFill>
                      <a:srgbClr val="1E293B"/>
                    </a:solidFill>
                    <a:latin typeface="Calibri"/>
                  </a:rPr>
                  <a:t> Cho tam giác </a:t>
                </a:r>
                <a14:m>
                  <m:oMath xmlns:m="http://schemas.openxmlformats.org/officeDocument/2006/math">
                    <m:r>
                      <a:rPr lang="vi-VN" sz="2200" b="0">
                        <a:solidFill>
                          <a:srgbClr val="1E293B"/>
                        </a:solidFill>
                        <a:latin typeface="Cambria Math" panose="02040503050406030204" pitchFamily="18" charset="0"/>
                      </a:rPr>
                      <m:t>ABC</m:t>
                    </m:r>
                  </m:oMath>
                </a14:m>
                <a:r>
                  <a:rPr sz="2200">
                    <a:solidFill>
                      <a:srgbClr val="1E293B"/>
                    </a:solidFill>
                    <a:latin typeface="Calibri"/>
                  </a:rPr>
                  <a:t> có trọng tâm </a:t>
                </a:r>
                <a14:m>
                  <m:oMath xmlns:m="http://schemas.openxmlformats.org/officeDocument/2006/math">
                    <m:r>
                      <a:rPr lang="vi-VN" sz="2200" b="0">
                        <a:solidFill>
                          <a:srgbClr val="1E293B"/>
                        </a:solidFill>
                        <a:latin typeface="Cambria Math" panose="02040503050406030204" pitchFamily="18" charset="0"/>
                      </a:rPr>
                      <m:t>G</m:t>
                    </m:r>
                  </m:oMath>
                </a14:m>
                <a:r>
                  <a:rPr sz="2200">
                    <a:solidFill>
                      <a:srgbClr val="1E293B"/>
                    </a:solidFill>
                    <a:latin typeface="Calibri"/>
                  </a:rPr>
                  <a:t>. Chứng minh rằng với mọi điểm </a:t>
                </a:r>
                <a14:m>
                  <m:oMath xmlns:m="http://schemas.openxmlformats.org/officeDocument/2006/math">
                    <m:r>
                      <a:rPr lang="vi-VN" sz="2200" b="0">
                        <a:solidFill>
                          <a:srgbClr val="1E293B"/>
                        </a:solidFill>
                        <a:latin typeface="Cambria Math" panose="02040503050406030204" pitchFamily="18" charset="0"/>
                      </a:rPr>
                      <m:t>M</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M</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m:t>
                    </m:r>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m:t>
                    </m:r>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=3M</m:t>
                    </m:r>
                    <m:sSup>
                      <m:e>
                        <m:r>
                          <a:rPr lang="vi-VN" sz="2200" b="0">
                            <a:solidFill>
                              <a:srgbClr val="1E293B"/>
                            </a:solidFill>
                            <a:latin typeface="Cambria Math" panose="02040503050406030204" pitchFamily="18" charset="0"/>
                          </a:rPr>
                          <m:t>G</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+G</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+G</m:t>
                    </m:r>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+G</m:t>
                    </m:r>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2</m:t>
                        </m:r>
                      </m:sup>
                    </m:sSup>
                  </m:oMath>
                </a14:m>
                <a:r>
                  <a:rPr sz="2200">
                    <a:solidFill>
                      <a:srgbClr val="1E293B"/>
                    </a:solidFill>
                    <a:latin typeface="Calibri"/>
                  </a:rPr>
                  <a:t>.</a:t>
                </a:r>
              </a:p>
            </p:txBody>
          </p:sp>
        </mc:Choice>
        <mc:Fallback>
          <p:sp>
            <p:nvSpPr>
              <p:cNvPr id="10" name="TextBox 9"/>
              <p:cNvSpPr txBox="1"/>
              <p:nvPr/>
            </p:nvSpPr>
            <p:spPr>
              <a:xfrm>
                <a:off x="548640" y="3095243"/>
                <a:ext cx="11064240" cy="844295"/>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4.26.</a:t>
                </a:r>
                <a:r>
                  <a:rPr sz="2200">
                    <a:solidFill>
                      <a:srgbClr val="1E293B"/>
                    </a:solidFill>
                    <a:latin typeface="Calibri"/>
                  </a:rPr>
                  <a:t> Cho tam giác </a:t>
                </a:r>
                <a:r>
                  <a:rPr lang="vi-VN"/>
                  <a:t>ABC</a:t>
                </a:r>
                <a:r>
                  <a:rPr sz="2200">
                    <a:solidFill>
                      <a:srgbClr val="1E293B"/>
                    </a:solidFill>
                    <a:latin typeface="Calibri"/>
                  </a:rPr>
                  <a:t> có trọng tâm </a:t>
                </a:r>
                <a:r>
                  <a:rPr lang="vi-VN"/>
                  <a:t>G</a:t>
                </a:r>
                <a:r>
                  <a:rPr sz="2200">
                    <a:solidFill>
                      <a:srgbClr val="1E293B"/>
                    </a:solidFill>
                    <a:latin typeface="Calibri"/>
                  </a:rPr>
                  <a:t>. Chứng minh rằng với mọi điểm </a:t>
                </a:r>
                <a:r>
                  <a:rPr lang="vi-VN"/>
                  <a:t>M</a:t>
                </a:r>
                <a:r>
                  <a:rPr sz="2200">
                    <a:solidFill>
                      <a:srgbClr val="1E293B"/>
                    </a:solidFill>
                    <a:latin typeface="Calibri"/>
                  </a:rPr>
                  <a:t>, </a:t>
                </a:r>
                <a:r>
                  <a:rPr lang="vi-VN"/>
                  <a:t>MA^2+MB^2+MC^2=3MG^2+GA^2+GB^2+GC^2</a:t>
                </a:r>
                <a:r>
                  <a:rPr sz="2200">
                    <a:solidFill>
                      <a:srgbClr val="1E293B"/>
                    </a:solidFill>
                    <a:latin typeface="Calibri"/>
                  </a:rPr>
                  <a:t>.</a:t>
                </a:r>
              </a:p>
            </p:txBody>
          </p:sp>
        </mc:Fallback>
      </mc:AlternateContent>
      <p:sp>
        <p:nvSpPr>
          <p:cNvPr id="11" name="s3_nen"/>
          <p:cNvSpPr/>
          <p:nvPr/>
        </p:nvSpPr>
        <p:spPr>
          <a:xfrm>
            <a:off x="548640" y="4003547"/>
            <a:ext cx="11064240" cy="935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040123"/>
                <a:ext cx="107350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Gợi ý: </a:t>
                </a:r>
                <a14:m>
                  <m:oMath xmlns:m="http://schemas.openxmlformats.org/officeDocument/2006/math">
                    <m:r>
                      <a:rPr lang="vi-VN" sz="2200" b="0">
                        <a:solidFill>
                          <a:srgbClr val="1E293B"/>
                        </a:solidFill>
                        <a:latin typeface="Cambria Math" panose="02040503050406030204" pitchFamily="18" charset="0"/>
                      </a:rPr>
                      <m:t>M</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MG</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GA</m:t>
                        </m:r>
                      </m:e>
                    </m:acc>
                    <m:sSup>
                      <m:e>
                        <m:r>
                          <a:rPr lang="vi-VN" sz="2200" b="0">
                            <a:solidFill>
                              <a:srgbClr val="1E293B"/>
                            </a:solidFill>
                            <a:latin typeface="Cambria Math" panose="02040503050406030204" pitchFamily="18" charset="0"/>
                          </a:rPr>
                          <m:t>)</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m:t>
                    </m:r>
                    <m:sSup>
                      <m:e>
                        <m:r>
                          <a:rPr lang="vi-VN" sz="2200" b="0">
                            <a:solidFill>
                              <a:srgbClr val="1E293B"/>
                            </a:solidFill>
                            <a:latin typeface="Cambria Math" panose="02040503050406030204" pitchFamily="18" charset="0"/>
                          </a:rPr>
                          <m:t>G</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+G</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+2</m:t>
                    </m:r>
                    <m:acc>
                      <m:accPr>
                        <m:chr m:val="⃗"/>
                      </m:accPr>
                      <m:e>
                        <m:r>
                          <a:rPr lang="vi-VN" sz="2200" b="0">
                            <a:solidFill>
                              <a:srgbClr val="1E293B"/>
                            </a:solidFill>
                            <a:latin typeface="Cambria Math" panose="02040503050406030204" pitchFamily="18" charset="0"/>
                          </a:rPr>
                          <m:t>MG</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GA</m:t>
                        </m:r>
                      </m:e>
                    </m:acc>
                  </m:oMath>
                </a14:m>
                <a:r>
                  <a:rPr sz="2200">
                    <a:solidFill>
                      <a:srgbClr val="1E293B"/>
                    </a:solidFill>
                    <a:latin typeface="Calibri"/>
                  </a:rPr>
                  <a:t>; cộng ba đẳng thức, dùng </a:t>
                </a:r>
                <a14:m>
                  <m:oMath xmlns:m="http://schemas.openxmlformats.org/officeDocument/2006/math">
                    <m:acc>
                      <m:accPr>
                        <m:chr m:val="⃗"/>
                      </m:accPr>
                      <m:e>
                        <m:r>
                          <a:rPr lang="vi-VN" sz="2200" b="0">
                            <a:solidFill>
                              <a:srgbClr val="1E293B"/>
                            </a:solidFill>
                            <a:latin typeface="Cambria Math" panose="02040503050406030204" pitchFamily="18" charset="0"/>
                          </a:rPr>
                          <m:t>GA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GB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GC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0</m:t>
                        </m:r>
                      </m:e>
                    </m:acc>
                  </m:oMath>
                </a14:m>
                <a:r>
                  <a:rPr sz="2200">
                    <a:solidFill>
                      <a:srgbClr val="1E293B"/>
                    </a:solidFill>
                    <a:latin typeface="Calibri"/>
                  </a:rPr>
                  <a:t>.</a:t>
                </a:r>
              </a:p>
            </p:txBody>
          </p:sp>
        </mc:Choice>
        <mc:Fallback>
          <p:sp>
            <p:nvSpPr>
              <p:cNvPr id="12" name="TextBox 11"/>
              <p:cNvSpPr txBox="1"/>
              <p:nvPr/>
            </p:nvSpPr>
            <p:spPr>
              <a:xfrm>
                <a:off x="713232" y="4040123"/>
                <a:ext cx="107350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Gợi ý: </a:t>
                </a:r>
                <a:r>
                  <a:rPr lang="vi-VN"/>
                  <a:t>MA^2=(\overrightarrow{MG}+\overrightarrow{GA})^2=MG^2+GA^2+2\overrightarrow{MG}\cdot\overrightarrow{GA}</a:t>
                </a:r>
                <a:r>
                  <a:rPr sz="2200">
                    <a:solidFill>
                      <a:srgbClr val="1E293B"/>
                    </a:solidFill>
                    <a:latin typeface="Calibri"/>
                  </a:rPr>
                  <a:t>; cộng ba đẳng thức, dùng </a:t>
                </a:r>
                <a:r>
                  <a:rPr lang="vi-VN"/>
                  <a:t>\overrightarrow{GA}+\overrightarrow{GB}+\overrightarrow{GC}=\vec{0}</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TRẠM KIỂM CHỨNG AI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34</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11064240" cy="874775"/>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Lời giải AI số 1.</a:t>
                </a:r>
                <a:r>
                  <a:rPr sz="2300">
                    <a:solidFill>
                      <a:srgbClr val="1E293B"/>
                    </a:solidFill>
                    <a:latin typeface="Calibri"/>
                  </a:rPr>
                  <a:t> Tam giác đều </a:t>
                </a:r>
                <a14:m>
                  <m:oMath xmlns:m="http://schemas.openxmlformats.org/officeDocument/2006/math">
                    <m:r>
                      <a:rPr lang="vi-VN" sz="2300" b="0">
                        <a:solidFill>
                          <a:srgbClr val="1E293B"/>
                        </a:solidFill>
                        <a:latin typeface="Cambria Math" panose="02040503050406030204" pitchFamily="18" charset="0"/>
                      </a:rPr>
                      <m:t>ABC</m:t>
                    </m:r>
                  </m:oMath>
                </a14:m>
                <a:r>
                  <a:rPr sz="2300">
                    <a:solidFill>
                      <a:srgbClr val="1E293B"/>
                    </a:solidFill>
                    <a:latin typeface="Calibri"/>
                  </a:rPr>
                  <a:t>: "Góc giữa </a:t>
                </a:r>
                <a14:m>
                  <m:oMath xmlns:m="http://schemas.openxmlformats.org/officeDocument/2006/math">
                    <m:acc>
                      <m:accPr>
                        <m:chr m:val="⃗"/>
                      </m:accPr>
                      <m:e>
                        <m:r>
                          <a:rPr lang="vi-VN" sz="2300" b="0">
                            <a:solidFill>
                              <a:srgbClr val="1E293B"/>
                            </a:solidFill>
                            <a:latin typeface="Cambria Math" panose="02040503050406030204" pitchFamily="18" charset="0"/>
                          </a:rPr>
                          <m:t>AB</m:t>
                        </m:r>
                      </m:e>
                    </m:acc>
                  </m:oMath>
                </a14:m>
                <a:r>
                  <a:rPr sz="2300">
                    <a:solidFill>
                      <a:srgbClr val="1E293B"/>
                    </a:solidFill>
                    <a:latin typeface="Calibri"/>
                  </a:rPr>
                  <a:t> và </a:t>
                </a:r>
                <a14:m>
                  <m:oMath xmlns:m="http://schemas.openxmlformats.org/officeDocument/2006/math">
                    <m:acc>
                      <m:accPr>
                        <m:chr m:val="⃗"/>
                      </m:accPr>
                      <m:e>
                        <m:r>
                          <a:rPr lang="vi-VN" sz="2300" b="0">
                            <a:solidFill>
                              <a:srgbClr val="1E293B"/>
                            </a:solidFill>
                            <a:latin typeface="Cambria Math" panose="02040503050406030204" pitchFamily="18" charset="0"/>
                          </a:rPr>
                          <m:t>BC</m:t>
                        </m:r>
                      </m:e>
                    </m:acc>
                  </m:oMath>
                </a14:m>
                <a:r>
                  <a:rPr sz="2300">
                    <a:solidFill>
                      <a:srgbClr val="1E293B"/>
                    </a:solidFill>
                    <a:latin typeface="Calibri"/>
                  </a:rPr>
                  <a:t> là góc </a:t>
                </a:r>
                <a14:m>
                  <m:oMath xmlns:m="http://schemas.openxmlformats.org/officeDocument/2006/math">
                    <m:acc>
                      <m:accPr>
                        <m:chr m:val="̂"/>
                      </m:accPr>
                      <m:e>
                        <m:r>
                          <a:rPr lang="vi-VN" sz="2300" b="0">
                            <a:solidFill>
                              <a:srgbClr val="1E293B"/>
                            </a:solidFill>
                            <a:latin typeface="Cambria Math" panose="02040503050406030204" pitchFamily="18" charset="0"/>
                          </a:rPr>
                          <m:t>ABC</m:t>
                        </m:r>
                      </m:e>
                    </m:acc>
                    <m:r>
                      <a:rPr lang="vi-VN" sz="2300" b="0">
                        <a:solidFill>
                          <a:srgbClr val="1E293B"/>
                        </a:solidFill>
                        <a:latin typeface="Cambria Math" panose="02040503050406030204" pitchFamily="18" charset="0"/>
                      </a:rPr>
                      <m:t>=</m:t>
                    </m:r>
                    <m:sSup>
                      <m:e>
                        <m:r>
                          <a:rPr lang="vi-VN" sz="2300" b="0">
                            <a:solidFill>
                              <a:srgbClr val="1E293B"/>
                            </a:solidFill>
                            <a:latin typeface="Cambria Math" panose="02040503050406030204" pitchFamily="18" charset="0"/>
                          </a:rPr>
                          <m:t>60</m:t>
                        </m:r>
                      </m:e>
                      <m:sup>
                        <m:r>
                          <a:rPr lang="vi-VN" sz="2300" b="0">
                            <a:solidFill>
                              <a:srgbClr val="1E293B"/>
                            </a:solidFill>
                            <a:latin typeface="Cambria Math" panose="02040503050406030204" pitchFamily="18" charset="0"/>
                          </a:rPr>
                          <m:t>∘</m:t>
                        </m:r>
                      </m:sup>
                    </m:sSup>
                  </m:oMath>
                </a14:m>
                <a:r>
                  <a:rPr sz="2300">
                    <a:solidFill>
                      <a:srgbClr val="1E293B"/>
                    </a:solidFill>
                    <a:latin typeface="Calibri"/>
                  </a:rPr>
                  <a:t>." – Đúng hay sai?</a:t>
                </a:r>
              </a:p>
            </p:txBody>
          </p:sp>
        </mc:Choice>
        <mc:Fallback>
          <p:sp>
            <p:nvSpPr>
              <p:cNvPr id="7" name="TextBox 6"/>
              <p:cNvSpPr txBox="1"/>
              <p:nvPr/>
            </p:nvSpPr>
            <p:spPr>
              <a:xfrm>
                <a:off x="548640" y="1463040"/>
                <a:ext cx="11064240" cy="874775"/>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Lời giải AI số 1.</a:t>
                </a:r>
                <a:r>
                  <a:rPr sz="2300">
                    <a:solidFill>
                      <a:srgbClr val="1E293B"/>
                    </a:solidFill>
                    <a:latin typeface="Calibri"/>
                  </a:rPr>
                  <a:t> Tam giác đều </a:t>
                </a:r>
                <a:r>
                  <a:rPr lang="vi-VN"/>
                  <a:t>ABC</a:t>
                </a:r>
                <a:r>
                  <a:rPr sz="2300">
                    <a:solidFill>
                      <a:srgbClr val="1E293B"/>
                    </a:solidFill>
                    <a:latin typeface="Calibri"/>
                  </a:rPr>
                  <a:t>: "Góc giữa </a:t>
                </a:r>
                <a:r>
                  <a:rPr lang="vi-VN"/>
                  <a:t>\overrightarrow{AB}</a:t>
                </a:r>
                <a:r>
                  <a:rPr sz="2300">
                    <a:solidFill>
                      <a:srgbClr val="1E293B"/>
                    </a:solidFill>
                    <a:latin typeface="Calibri"/>
                  </a:rPr>
                  <a:t> và </a:t>
                </a:r>
                <a:r>
                  <a:rPr lang="vi-VN"/>
                  <a:t>\overrightarrow{BC}</a:t>
                </a:r>
                <a:r>
                  <a:rPr sz="2300">
                    <a:solidFill>
                      <a:srgbClr val="1E293B"/>
                    </a:solidFill>
                    <a:latin typeface="Calibri"/>
                  </a:rPr>
                  <a:t> là góc </a:t>
                </a:r>
                <a:r>
                  <a:rPr lang="vi-VN"/>
                  <a:t>\widehat{ABC}=60^\circ</a:t>
                </a:r>
                <a:r>
                  <a:rPr sz="2300">
                    <a:solidFill>
                      <a:srgbClr val="1E293B"/>
                    </a:solidFill>
                    <a:latin typeface="Calibri"/>
                  </a:rPr>
                  <a:t>." – Đúng hay sai?</a:t>
                </a:r>
              </a:p>
            </p:txBody>
          </p:sp>
        </mc:Fallback>
      </mc:AlternateContent>
      <p:sp>
        <p:nvSpPr>
          <p:cNvPr id="8" name="s1_nen"/>
          <p:cNvSpPr/>
          <p:nvPr/>
        </p:nvSpPr>
        <p:spPr>
          <a:xfrm>
            <a:off x="548640" y="2520696"/>
            <a:ext cx="11064240" cy="96621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557272"/>
                <a:ext cx="10735056" cy="893064"/>
              </a:xfrm>
              <a:prstGeom prst="rect">
                <a:avLst/>
              </a:prstGeom>
              <a:noFill/>
            </p:spPr>
            <p:txBody>
              <a:bodyPr wrap="square" anchor="ctr" lIns="45720" rIns="45720">
                <a:spAutoFit/>
              </a:bodyPr>
              <a:lstStyle/>
              <a:p>
                <a:pPr algn="l">
                  <a:spcAft>
                    <a:spcPts val="800"/>
                  </a:spcAft>
                </a:pPr>
                <a:r>
                  <a:rPr sz="2300" b="1">
                    <a:solidFill>
                      <a:srgbClr val="1E293B"/>
                    </a:solidFill>
                    <a:latin typeface="Calibri"/>
                  </a:rPr>
                  <a:t>Sai.</a:t>
                </a:r>
                <a:r>
                  <a:rPr sz="2300">
                    <a:solidFill>
                      <a:srgbClr val="1E293B"/>
                    </a:solidFill>
                    <a:latin typeface="Calibri"/>
                  </a:rPr>
                  <a:t> Hai vectơ không chung điểm đầu; phải vẽ </a:t>
                </a:r>
                <a14:m>
                  <m:oMath xmlns:m="http://schemas.openxmlformats.org/officeDocument/2006/math">
                    <m:acc>
                      <m:accPr>
                        <m:chr m:val="⃗"/>
                      </m:accPr>
                      <m:e>
                        <m:r>
                          <a:rPr lang="vi-VN" sz="2300" b="0">
                            <a:solidFill>
                              <a:srgbClr val="1E293B"/>
                            </a:solidFill>
                            <a:latin typeface="Cambria Math" panose="02040503050406030204" pitchFamily="18" charset="0"/>
                          </a:rPr>
                          <m:t>BD</m:t>
                        </m:r>
                      </m:e>
                    </m:acc>
                  </m:oMath>
                </a14:m>
                <a:r>
                  <a:rPr sz="2300">
                    <a:solidFill>
                      <a:srgbClr val="1E293B"/>
                    </a:solidFill>
                    <a:latin typeface="Calibri"/>
                  </a:rPr>
                  <a:t> = </a:t>
                </a:r>
                <a14:m>
                  <m:oMath xmlns:m="http://schemas.openxmlformats.org/officeDocument/2006/math">
                    <m:acc>
                      <m:accPr>
                        <m:chr m:val="⃗"/>
                      </m:accPr>
                      <m:e>
                        <m:r>
                          <a:rPr lang="vi-VN" sz="2300" b="0">
                            <a:solidFill>
                              <a:srgbClr val="1E293B"/>
                            </a:solidFill>
                            <a:latin typeface="Cambria Math" panose="02040503050406030204" pitchFamily="18" charset="0"/>
                          </a:rPr>
                          <m:t>AB</m:t>
                        </m:r>
                      </m:e>
                    </m:acc>
                  </m:oMath>
                </a14:m>
                <a:r>
                  <a:rPr sz="2300">
                    <a:solidFill>
                      <a:srgbClr val="1E293B"/>
                    </a:solidFill>
                    <a:latin typeface="Calibri"/>
                  </a:rPr>
                  <a:t> rồi lấy góc </a:t>
                </a:r>
                <a14:m>
                  <m:oMath xmlns:m="http://schemas.openxmlformats.org/officeDocument/2006/math">
                    <m:acc>
                      <m:accPr>
                        <m:chr m:val="̂"/>
                      </m:accPr>
                      <m:e>
                        <m:r>
                          <a:rPr lang="vi-VN" sz="2300" b="0">
                            <a:solidFill>
                              <a:srgbClr val="1E293B"/>
                            </a:solidFill>
                            <a:latin typeface="Cambria Math" panose="02040503050406030204" pitchFamily="18" charset="0"/>
                          </a:rPr>
                          <m:t>DBC</m:t>
                        </m:r>
                      </m:e>
                    </m:acc>
                    <m:r>
                      <a:rPr lang="vi-VN" sz="2300" b="0">
                        <a:solidFill>
                          <a:srgbClr val="1E293B"/>
                        </a:solidFill>
                        <a:latin typeface="Cambria Math" panose="02040503050406030204" pitchFamily="18" charset="0"/>
                      </a:rPr>
                      <m:t>=</m:t>
                    </m:r>
                    <m:sSup>
                      <m:e>
                        <m:r>
                          <a:rPr lang="vi-VN" sz="2300" b="0">
                            <a:solidFill>
                              <a:srgbClr val="1E293B"/>
                            </a:solidFill>
                            <a:latin typeface="Cambria Math" panose="02040503050406030204" pitchFamily="18" charset="0"/>
                          </a:rPr>
                          <m:t>120</m:t>
                        </m:r>
                      </m:e>
                      <m:sup>
                        <m:r>
                          <a:rPr lang="vi-VN" sz="2300" b="0">
                            <a:solidFill>
                              <a:srgbClr val="1E293B"/>
                            </a:solidFill>
                            <a:latin typeface="Cambria Math" panose="02040503050406030204" pitchFamily="18" charset="0"/>
                          </a:rPr>
                          <m:t>∘</m:t>
                        </m:r>
                      </m:sup>
                    </m:sSup>
                  </m:oMath>
                </a14:m>
                <a:r>
                  <a:rPr sz="2300">
                    <a:solidFill>
                      <a:srgbClr val="1E293B"/>
                    </a:solidFill>
                    <a:latin typeface="Calibri"/>
                  </a:rPr>
                  <a:t>.</a:t>
                </a:r>
              </a:p>
            </p:txBody>
          </p:sp>
        </mc:Choice>
        <mc:Fallback>
          <p:sp>
            <p:nvSpPr>
              <p:cNvPr id="9" name="TextBox 8"/>
              <p:cNvSpPr txBox="1"/>
              <p:nvPr/>
            </p:nvSpPr>
            <p:spPr>
              <a:xfrm>
                <a:off x="713232" y="2557272"/>
                <a:ext cx="10735056" cy="893064"/>
              </a:xfrm>
              <a:prstGeom prst="rect">
                <a:avLst/>
              </a:prstGeom>
              <a:noFill/>
            </p:spPr>
            <p:txBody>
              <a:bodyPr wrap="square" anchor="ctr" lIns="45720" rIns="45720">
                <a:spAutoFit/>
              </a:bodyPr>
              <a:lstStyle/>
              <a:p>
                <a:pPr algn="l">
                  <a:spcAft>
                    <a:spcPts val="800"/>
                  </a:spcAft>
                </a:pPr>
                <a:r>
                  <a:rPr sz="2300" b="1">
                    <a:solidFill>
                      <a:srgbClr val="1E293B"/>
                    </a:solidFill>
                    <a:latin typeface="Calibri"/>
                  </a:rPr>
                  <a:t>Sai.</a:t>
                </a:r>
                <a:r>
                  <a:rPr sz="2300">
                    <a:solidFill>
                      <a:srgbClr val="1E293B"/>
                    </a:solidFill>
                    <a:latin typeface="Calibri"/>
                  </a:rPr>
                  <a:t> Hai vectơ không chung điểm đầu; phải vẽ </a:t>
                </a:r>
                <a:r>
                  <a:rPr lang="vi-VN"/>
                  <a:t>\overrightarrow{BD}</a:t>
                </a:r>
                <a:r>
                  <a:rPr sz="2300">
                    <a:solidFill>
                      <a:srgbClr val="1E293B"/>
                    </a:solidFill>
                    <a:latin typeface="Calibri"/>
                  </a:rPr>
                  <a:t> = </a:t>
                </a:r>
                <a:r>
                  <a:rPr lang="vi-VN"/>
                  <a:t>\overrightarrow{AB}</a:t>
                </a:r>
                <a:r>
                  <a:rPr sz="2300">
                    <a:solidFill>
                      <a:srgbClr val="1E293B"/>
                    </a:solidFill>
                    <a:latin typeface="Calibri"/>
                  </a:rPr>
                  <a:t> rồi lấy góc </a:t>
                </a:r>
                <a:r>
                  <a:rPr lang="vi-VN"/>
                  <a:t>\widehat{DBC}=120^\circ</a:t>
                </a:r>
                <a:r>
                  <a:rPr sz="23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669792"/>
                <a:ext cx="11064240" cy="874775"/>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Lời giải AI số 2.</a:t>
                </a:r>
                <a:r>
                  <a:rPr sz="2300">
                    <a:solidFill>
                      <a:srgbClr val="1E293B"/>
                    </a:solidFill>
                    <a:latin typeface="Calibri"/>
                  </a:rPr>
                  <a:t> "</a:t>
                </a:r>
                <a14:m>
                  <m:oMath xmlns:m="http://schemas.openxmlformats.org/officeDocument/2006/math">
                    <m:acc>
                      <m:accPr>
                        <m:chr m:val="⃗"/>
                      </m:accPr>
                      <m:e>
                        <m:r>
                          <a:rPr lang="vi-VN" sz="2300" b="0">
                            <a:solidFill>
                              <a:srgbClr val="1E293B"/>
                            </a:solidFill>
                            <a:latin typeface="Cambria Math" panose="02040503050406030204" pitchFamily="18" charset="0"/>
                          </a:rPr>
                          <m:t>u</m:t>
                        </m:r>
                      </m:e>
                    </m:acc>
                    <m:r>
                      <a:rPr lang="vi-VN" sz="2300" b="0">
                        <a:solidFill>
                          <a:srgbClr val="1E293B"/>
                        </a:solidFill>
                        <a:latin typeface="Cambria Math" panose="02040503050406030204" pitchFamily="18" charset="0"/>
                      </a:rPr>
                      <m:t>=(2;</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−3)</m:t>
                    </m:r>
                  </m:oMath>
                </a14:m>
                <a:r>
                  <a:rPr sz="2300">
                    <a:solidFill>
                      <a:srgbClr val="1E293B"/>
                    </a:solidFill>
                    <a:latin typeface="Calibri"/>
                  </a:rPr>
                  <a:t>, </a:t>
                </a:r>
                <a14:m>
                  <m:oMath xmlns:m="http://schemas.openxmlformats.org/officeDocument/2006/math">
                    <m:acc>
                      <m:accPr>
                        <m:chr m:val="⃗"/>
                      </m:accPr>
                      <m:e>
                        <m:r>
                          <a:rPr lang="vi-VN" sz="2300" b="0">
                            <a:solidFill>
                              <a:srgbClr val="1E293B"/>
                            </a:solidFill>
                            <a:latin typeface="Cambria Math" panose="02040503050406030204" pitchFamily="18" charset="0"/>
                          </a:rPr>
                          <m:t>v</m:t>
                        </m:r>
                      </m:e>
                    </m:acc>
                    <m:r>
                      <a:rPr lang="vi-VN" sz="2300" b="0">
                        <a:solidFill>
                          <a:srgbClr val="1E293B"/>
                        </a:solidFill>
                        <a:latin typeface="Cambria Math" panose="02040503050406030204" pitchFamily="18" charset="0"/>
                      </a:rPr>
                      <m:t>=(5;</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3)</m:t>
                    </m:r>
                  </m:oMath>
                </a14:m>
                <a:r>
                  <a:rPr sz="2300">
                    <a:solidFill>
                      <a:srgbClr val="1E293B"/>
                    </a:solidFill>
                    <a:latin typeface="Calibri"/>
                  </a:rPr>
                  <a:t> thì </a:t>
                </a:r>
                <a14:m>
                  <m:oMath xmlns:m="http://schemas.openxmlformats.org/officeDocument/2006/math">
                    <m:acc>
                      <m:accPr>
                        <m:chr m:val="⃗"/>
                      </m:accPr>
                      <m:e>
                        <m:r>
                          <a:rPr lang="vi-VN" sz="2300" b="0">
                            <a:solidFill>
                              <a:srgbClr val="1E293B"/>
                            </a:solidFill>
                            <a:latin typeface="Cambria Math" panose="02040503050406030204" pitchFamily="18" charset="0"/>
                          </a:rPr>
                          <m:t>u</m:t>
                        </m:r>
                      </m:e>
                    </m:acc>
                    <m:r>
                      <a:rPr lang="vi-VN" sz="2300" b="0">
                        <a:solidFill>
                          <a:srgbClr val="1E293B"/>
                        </a:solidFill>
                        <a:latin typeface="Cambria Math" panose="02040503050406030204" pitchFamily="18" charset="0"/>
                      </a:rPr>
                      <m:t>·</m:t>
                    </m:r>
                    <m:acc>
                      <m:accPr>
                        <m:chr m:val="⃗"/>
                      </m:accPr>
                      <m:e>
                        <m:r>
                          <a:rPr lang="vi-VN" sz="2300" b="0">
                            <a:solidFill>
                              <a:srgbClr val="1E293B"/>
                            </a:solidFill>
                            <a:latin typeface="Cambria Math" panose="02040503050406030204" pitchFamily="18" charset="0"/>
                          </a:rPr>
                          <m:t>v</m:t>
                        </m:r>
                      </m:e>
                    </m:acc>
                    <m:r>
                      <a:rPr lang="vi-VN" sz="2300" b="0">
                        <a:solidFill>
                          <a:srgbClr val="1E293B"/>
                        </a:solidFill>
                        <a:latin typeface="Cambria Math" panose="02040503050406030204" pitchFamily="18" charset="0"/>
                      </a:rPr>
                      <m:t>=(10;</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−9)</m:t>
                    </m:r>
                  </m:oMath>
                </a14:m>
                <a:r>
                  <a:rPr sz="2300">
                    <a:solidFill>
                      <a:srgbClr val="1E293B"/>
                    </a:solidFill>
                    <a:latin typeface="Calibri"/>
                  </a:rPr>
                  <a:t>." – Đúng hay sai?</a:t>
                </a:r>
              </a:p>
            </p:txBody>
          </p:sp>
        </mc:Choice>
        <mc:Fallback>
          <p:sp>
            <p:nvSpPr>
              <p:cNvPr id="10" name="TextBox 9"/>
              <p:cNvSpPr txBox="1"/>
              <p:nvPr/>
            </p:nvSpPr>
            <p:spPr>
              <a:xfrm>
                <a:off x="548640" y="3669792"/>
                <a:ext cx="11064240" cy="874775"/>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Lời giải AI số 2.</a:t>
                </a:r>
                <a:r>
                  <a:rPr sz="2300">
                    <a:solidFill>
                      <a:srgbClr val="1E293B"/>
                    </a:solidFill>
                    <a:latin typeface="Calibri"/>
                  </a:rPr>
                  <a:t> "</a:t>
                </a:r>
                <a:r>
                  <a:rPr lang="vi-VN"/>
                  <a:t>\vec{u}=(2;\ -3)</a:t>
                </a:r>
                <a:r>
                  <a:rPr sz="2300">
                    <a:solidFill>
                      <a:srgbClr val="1E293B"/>
                    </a:solidFill>
                    <a:latin typeface="Calibri"/>
                  </a:rPr>
                  <a:t>, </a:t>
                </a:r>
                <a:r>
                  <a:rPr lang="vi-VN"/>
                  <a:t>\vec{v}=(5;\ 3)</a:t>
                </a:r>
                <a:r>
                  <a:rPr sz="2300">
                    <a:solidFill>
                      <a:srgbClr val="1E293B"/>
                    </a:solidFill>
                    <a:latin typeface="Calibri"/>
                  </a:rPr>
                  <a:t> thì </a:t>
                </a:r>
                <a:r>
                  <a:rPr lang="vi-VN"/>
                  <a:t>\vec{u}\cdot\vec{v}=(10;\ -9)</a:t>
                </a:r>
                <a:r>
                  <a:rPr sz="2300">
                    <a:solidFill>
                      <a:srgbClr val="1E293B"/>
                    </a:solidFill>
                    <a:latin typeface="Calibri"/>
                  </a:rPr>
                  <a:t>." – Đúng hay sai?</a:t>
                </a:r>
              </a:p>
            </p:txBody>
          </p:sp>
        </mc:Fallback>
      </mc:AlternateContent>
      <p:sp>
        <p:nvSpPr>
          <p:cNvPr id="11" name="s3_nen"/>
          <p:cNvSpPr/>
          <p:nvPr/>
        </p:nvSpPr>
        <p:spPr>
          <a:xfrm>
            <a:off x="548640" y="4727448"/>
            <a:ext cx="11064240" cy="6156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764024"/>
                <a:ext cx="10735056" cy="542543"/>
              </a:xfrm>
              <a:prstGeom prst="rect">
                <a:avLst/>
              </a:prstGeom>
              <a:noFill/>
            </p:spPr>
            <p:txBody>
              <a:bodyPr wrap="square" anchor="ctr" lIns="45720" rIns="45720">
                <a:spAutoFit/>
              </a:bodyPr>
              <a:lstStyle/>
              <a:p>
                <a:pPr algn="l">
                  <a:spcAft>
                    <a:spcPts val="800"/>
                  </a:spcAft>
                </a:pPr>
                <a:r>
                  <a:rPr sz="2300" b="1">
                    <a:solidFill>
                      <a:srgbClr val="1E293B"/>
                    </a:solidFill>
                    <a:latin typeface="Calibri"/>
                  </a:rPr>
                  <a:t>Sai.</a:t>
                </a:r>
                <a:r>
                  <a:rPr sz="2300">
                    <a:solidFill>
                      <a:srgbClr val="1E293B"/>
                    </a:solidFill>
                    <a:latin typeface="Calibri"/>
                  </a:rPr>
                  <a:t> Tích vô hướng là một </a:t>
                </a:r>
                <a:r>
                  <a:rPr sz="2300" b="1">
                    <a:solidFill>
                      <a:srgbClr val="1E293B"/>
                    </a:solidFill>
                    <a:latin typeface="Calibri"/>
                  </a:rPr>
                  <a:t>số</a:t>
                </a:r>
                <a:r>
                  <a:rPr sz="2300">
                    <a:solidFill>
                      <a:srgbClr val="1E293B"/>
                    </a:solidFill>
                    <a:latin typeface="Calibri"/>
                  </a:rPr>
                  <a:t>, không phải vectơ: </a:t>
                </a:r>
                <a14:m>
                  <m:oMath xmlns:m="http://schemas.openxmlformats.org/officeDocument/2006/math">
                    <m:acc>
                      <m:accPr>
                        <m:chr m:val="⃗"/>
                      </m:accPr>
                      <m:e>
                        <m:r>
                          <a:rPr lang="vi-VN" sz="2300" b="0">
                            <a:solidFill>
                              <a:srgbClr val="1E293B"/>
                            </a:solidFill>
                            <a:latin typeface="Cambria Math" panose="02040503050406030204" pitchFamily="18" charset="0"/>
                          </a:rPr>
                          <m:t>u</m:t>
                        </m:r>
                      </m:e>
                    </m:acc>
                    <m:r>
                      <a:rPr lang="vi-VN" sz="2300" b="0">
                        <a:solidFill>
                          <a:srgbClr val="1E293B"/>
                        </a:solidFill>
                        <a:latin typeface="Cambria Math" panose="02040503050406030204" pitchFamily="18" charset="0"/>
                      </a:rPr>
                      <m:t>·</m:t>
                    </m:r>
                    <m:acc>
                      <m:accPr>
                        <m:chr m:val="⃗"/>
                      </m:accPr>
                      <m:e>
                        <m:r>
                          <a:rPr lang="vi-VN" sz="2300" b="0">
                            <a:solidFill>
                              <a:srgbClr val="1E293B"/>
                            </a:solidFill>
                            <a:latin typeface="Cambria Math" panose="02040503050406030204" pitchFamily="18" charset="0"/>
                          </a:rPr>
                          <m:t>v</m:t>
                        </m:r>
                      </m:e>
                    </m:acc>
                    <m:r>
                      <a:rPr lang="vi-VN" sz="2300" b="0">
                        <a:solidFill>
                          <a:srgbClr val="1E293B"/>
                        </a:solidFill>
                        <a:latin typeface="Cambria Math" panose="02040503050406030204" pitchFamily="18" charset="0"/>
                      </a:rPr>
                      <m:t>=10+(−9)=1</m:t>
                    </m:r>
                  </m:oMath>
                </a14:m>
                <a:r>
                  <a:rPr sz="2300">
                    <a:solidFill>
                      <a:srgbClr val="1E293B"/>
                    </a:solidFill>
                    <a:latin typeface="Calibri"/>
                  </a:rPr>
                  <a:t>.</a:t>
                </a:r>
              </a:p>
            </p:txBody>
          </p:sp>
        </mc:Choice>
        <mc:Fallback>
          <p:sp>
            <p:nvSpPr>
              <p:cNvPr id="12" name="TextBox 11"/>
              <p:cNvSpPr txBox="1"/>
              <p:nvPr/>
            </p:nvSpPr>
            <p:spPr>
              <a:xfrm>
                <a:off x="713232" y="4764024"/>
                <a:ext cx="10735056" cy="542543"/>
              </a:xfrm>
              <a:prstGeom prst="rect">
                <a:avLst/>
              </a:prstGeom>
              <a:noFill/>
            </p:spPr>
            <p:txBody>
              <a:bodyPr wrap="square" anchor="ctr" lIns="45720" rIns="45720">
                <a:spAutoFit/>
              </a:bodyPr>
              <a:lstStyle/>
              <a:p>
                <a:pPr algn="l">
                  <a:spcAft>
                    <a:spcPts val="800"/>
                  </a:spcAft>
                </a:pPr>
                <a:r>
                  <a:rPr sz="2300" b="1">
                    <a:solidFill>
                      <a:srgbClr val="1E293B"/>
                    </a:solidFill>
                    <a:latin typeface="Calibri"/>
                  </a:rPr>
                  <a:t>Sai.</a:t>
                </a:r>
                <a:r>
                  <a:rPr sz="2300">
                    <a:solidFill>
                      <a:srgbClr val="1E293B"/>
                    </a:solidFill>
                    <a:latin typeface="Calibri"/>
                  </a:rPr>
                  <a:t> Tích vô hướng là một </a:t>
                </a:r>
                <a:r>
                  <a:rPr sz="2300" b="1">
                    <a:solidFill>
                      <a:srgbClr val="1E293B"/>
                    </a:solidFill>
                    <a:latin typeface="Calibri"/>
                  </a:rPr>
                  <a:t>số</a:t>
                </a:r>
                <a:r>
                  <a:rPr sz="2300">
                    <a:solidFill>
                      <a:srgbClr val="1E293B"/>
                    </a:solidFill>
                    <a:latin typeface="Calibri"/>
                  </a:rPr>
                  <a:t>, không phải vectơ: </a:t>
                </a:r>
                <a:r>
                  <a:rPr lang="vi-VN"/>
                  <a:t>\vec{u}\cdot\vec{v}=10+(-9)=1</a:t>
                </a:r>
                <a:r>
                  <a:rPr sz="23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RUNG CHUÔNG VÀNG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35</a:t>
            </a:r>
          </a:p>
        </p:txBody>
      </p:sp>
      <p:sp>
        <p:nvSpPr>
          <p:cNvPr id="7" name="Rounded Rectangle 6"/>
          <p:cNvSpPr/>
          <p:nvPr/>
        </p:nvSpPr>
        <p:spPr>
          <a:xfrm>
            <a:off x="1371600" y="1554480"/>
            <a:ext cx="9418320" cy="296265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36192" y="1591056"/>
            <a:ext cx="9089136" cy="2889504"/>
          </a:xfrm>
          <a:prstGeom prst="rect">
            <a:avLst/>
          </a:prstGeom>
          <a:noFill/>
        </p:spPr>
        <p:txBody>
          <a:bodyPr wrap="square" anchor="ctr" lIns="45720" rIns="45720">
            <a:spAutoFit/>
          </a:bodyPr>
          <a:lstStyle/>
          <a:p>
            <a:pPr algn="ctr">
              <a:spcAft>
                <a:spcPts val="800"/>
              </a:spcAft>
            </a:pPr>
            <a:r>
              <a:rPr sz="3000">
                <a:solidFill>
                  <a:srgbClr val="1E293B"/>
                </a:solidFill>
                <a:latin typeface="Calibri"/>
              </a:rPr>
              <a:t>🔔 </a:t>
            </a:r>
            <a:r>
              <a:rPr sz="3000" b="1">
                <a:solidFill>
                  <a:srgbClr val="1E293B"/>
                </a:solidFill>
                <a:latin typeface="Calibri"/>
              </a:rPr>
              <a:t>Luật chơi</a:t>
            </a:r>
          </a:p>
          <a:p>
            <a:pPr algn="l" marL="365760" indent="-365760">
              <a:spcAft>
                <a:spcPts val="800"/>
              </a:spcAft>
              <a:buClr>
                <a:srgbClr val="1E40AF"/>
              </a:buClr>
              <a:buFont typeface="Arial"/>
              <a:buChar char="•"/>
            </a:pPr>
            <a:r>
              <a:rPr sz="2400">
                <a:solidFill>
                  <a:srgbClr val="1E293B"/>
                </a:solidFill>
                <a:latin typeface="Calibri"/>
              </a:rPr>
              <a:t>Mỗi bạn một bảng con – viết đáp án khi hết giờ.</a:t>
            </a:r>
          </a:p>
          <a:p>
            <a:pPr algn="l" marL="365760" indent="-365760">
              <a:spcAft>
                <a:spcPts val="800"/>
              </a:spcAft>
              <a:buClr>
                <a:srgbClr val="1E40AF"/>
              </a:buClr>
              <a:buFont typeface="Arial"/>
              <a:buChar char="•"/>
            </a:pPr>
            <a:r>
              <a:rPr sz="2400">
                <a:solidFill>
                  <a:srgbClr val="1E293B"/>
                </a:solidFill>
                <a:latin typeface="Calibri"/>
              </a:rPr>
              <a:t>Câu nhiều lựa chọn: ghi A, B, C hoặc D (30 giây).</a:t>
            </a:r>
          </a:p>
          <a:p>
            <a:pPr algn="l" marL="365760" indent="-365760">
              <a:spcAft>
                <a:spcPts val="800"/>
              </a:spcAft>
              <a:buClr>
                <a:srgbClr val="1E40AF"/>
              </a:buClr>
              <a:buFont typeface="Arial"/>
              <a:buChar char="•"/>
            </a:pPr>
            <a:r>
              <a:rPr sz="2400">
                <a:solidFill>
                  <a:srgbClr val="1E293B"/>
                </a:solidFill>
                <a:latin typeface="Calibri"/>
              </a:rPr>
              <a:t>Câu Đúng/Sai: ghi Đ hoặc S cho từng ý (60 giây).</a:t>
            </a:r>
          </a:p>
          <a:p>
            <a:pPr algn="l" marL="365760" indent="-365760">
              <a:spcAft>
                <a:spcPts val="800"/>
              </a:spcAft>
              <a:buClr>
                <a:srgbClr val="1E40AF"/>
              </a:buClr>
              <a:buFont typeface="Arial"/>
              <a:buChar char="•"/>
            </a:pPr>
            <a:r>
              <a:rPr sz="2400">
                <a:solidFill>
                  <a:srgbClr val="1E293B"/>
                </a:solidFill>
                <a:latin typeface="Calibri"/>
              </a:rPr>
              <a:t>Câu trả lời ngắn, thực tế: ghi một số (60 giây).</a:t>
            </a:r>
          </a:p>
          <a:p>
            <a:pPr algn="l" marL="365760" indent="-365760">
              <a:spcAft>
                <a:spcPts val="800"/>
              </a:spcAft>
              <a:buClr>
                <a:srgbClr val="1E40AF"/>
              </a:buClr>
              <a:buFont typeface="Arial"/>
              <a:buChar char="•"/>
            </a:pPr>
            <a:r>
              <a:rPr sz="2400">
                <a:solidFill>
                  <a:srgbClr val="1E293B"/>
                </a:solidFill>
                <a:latin typeface="Calibri"/>
              </a:rPr>
              <a:t>Sai: rời sàn thi. Bạn trụ lại cuối cùng </a:t>
            </a:r>
            <a:r>
              <a:rPr sz="2400" b="1">
                <a:solidFill>
                  <a:srgbClr val="1E293B"/>
                </a:solidFill>
                <a:latin typeface="Calibri"/>
              </a:rPr>
              <a:t>rung chuông vàng</a:t>
            </a:r>
            <a:r>
              <a:rPr sz="2400">
                <a:solidFill>
                  <a:srgbClr val="1E293B"/>
                </a:solidFill>
                <a:latin typeface="Calibri"/>
              </a:rPr>
              <a: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1 (BIẾT)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36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a:t>
                </a:r>
                <a14:m>
                  <m:oMath xmlns:m="http://schemas.openxmlformats.org/officeDocument/2006/math">
                    <m:acc>
                      <m:accPr>
                        <m:chr m:val="⃗"/>
                      </m:accPr>
                      <m:e>
                        <m:r>
                          <a:rPr lang="vi-VN" sz="2600" b="0">
                            <a:solidFill>
                              <a:srgbClr val="1E293B"/>
                            </a:solidFill>
                            <a:latin typeface="Cambria Math" panose="02040503050406030204" pitchFamily="18" charset="0"/>
                          </a:rPr>
                          <m:t>u</m:t>
                        </m:r>
                      </m:e>
                    </m:acc>
                    <m:r>
                      <a:rPr lang="vi-VN" sz="2600" b="0">
                        <a:solidFill>
                          <a:srgbClr val="1E293B"/>
                        </a:solidFill>
                        <a:latin typeface="Cambria Math" panose="02040503050406030204" pitchFamily="18" charset="0"/>
                      </a:rPr>
                      <m:t>=(2;</m:t>
                    </m:r>
                    <m:r>
                      <m:rPr>
                        <m:sty m:val="p"/>
                      </m:rPr>
                      <a:rPr lang="vi-VN" sz="2600" b="0">
                        <a:solidFill>
                          <a:srgbClr val="1E293B"/>
                        </a:solidFill>
                        <a:latin typeface="Cambria Math" panose="02040503050406030204" pitchFamily="18" charset="0"/>
                      </a:rPr>
                      <m:t> </m:t>
                    </m:r>
                    <m:r>
                      <a:rPr lang="vi-VN" sz="2600" b="0">
                        <a:solidFill>
                          <a:srgbClr val="1E293B"/>
                        </a:solidFill>
                        <a:latin typeface="Cambria Math" panose="02040503050406030204" pitchFamily="18" charset="0"/>
                      </a:rPr>
                      <m:t>−1)</m:t>
                    </m:r>
                  </m:oMath>
                </a14:m>
                <a:r>
                  <a:rPr sz="2600">
                    <a:solidFill>
                      <a:srgbClr val="1E293B"/>
                    </a:solidFill>
                    <a:latin typeface="Calibri"/>
                  </a:rPr>
                  <a:t>, </a:t>
                </a:r>
                <a14:m>
                  <m:oMath xmlns:m="http://schemas.openxmlformats.org/officeDocument/2006/math">
                    <m:acc>
                      <m:accPr>
                        <m:chr m:val="⃗"/>
                      </m:accPr>
                      <m:e>
                        <m:r>
                          <a:rPr lang="vi-VN" sz="2600" b="0">
                            <a:solidFill>
                              <a:srgbClr val="1E293B"/>
                            </a:solidFill>
                            <a:latin typeface="Cambria Math" panose="02040503050406030204" pitchFamily="18" charset="0"/>
                          </a:rPr>
                          <m:t>v</m:t>
                        </m:r>
                      </m:e>
                    </m:acc>
                    <m:r>
                      <a:rPr lang="vi-VN" sz="2600" b="0">
                        <a:solidFill>
                          <a:srgbClr val="1E293B"/>
                        </a:solidFill>
                        <a:latin typeface="Cambria Math" panose="02040503050406030204" pitchFamily="18" charset="0"/>
                      </a:rPr>
                      <m:t>=(3;</m:t>
                    </m:r>
                    <m:r>
                      <m:rPr>
                        <m:sty m:val="p"/>
                      </m:rPr>
                      <a:rPr lang="vi-VN" sz="2600" b="0">
                        <a:solidFill>
                          <a:srgbClr val="1E293B"/>
                        </a:solidFill>
                        <a:latin typeface="Cambria Math" panose="02040503050406030204" pitchFamily="18" charset="0"/>
                      </a:rPr>
                      <m:t> </m:t>
                    </m:r>
                    <m:r>
                      <a:rPr lang="vi-VN" sz="2600" b="0">
                        <a:solidFill>
                          <a:srgbClr val="1E293B"/>
                        </a:solidFill>
                        <a:latin typeface="Cambria Math" panose="02040503050406030204" pitchFamily="18" charset="0"/>
                      </a:rPr>
                      <m:t>4)</m:t>
                    </m:r>
                  </m:oMath>
                </a14:m>
                <a:r>
                  <a:rPr sz="2600">
                    <a:solidFill>
                      <a:srgbClr val="1E293B"/>
                    </a:solidFill>
                    <a:latin typeface="Calibri"/>
                  </a:rPr>
                  <a:t>. Tích vô hướng </a:t>
                </a:r>
                <a14:m>
                  <m:oMath xmlns:m="http://schemas.openxmlformats.org/officeDocument/2006/math">
                    <m:acc>
                      <m:accPr>
                        <m:chr m:val="⃗"/>
                      </m:accPr>
                      <m:e>
                        <m:r>
                          <a:rPr lang="vi-VN" sz="2600" b="0">
                            <a:solidFill>
                              <a:srgbClr val="1E293B"/>
                            </a:solidFill>
                            <a:latin typeface="Cambria Math" panose="02040503050406030204" pitchFamily="18" charset="0"/>
                          </a:rPr>
                          <m:t>u</m:t>
                        </m:r>
                      </m:e>
                    </m:acc>
                    <m:r>
                      <a:rPr lang="vi-VN" sz="2600" b="0">
                        <a:solidFill>
                          <a:srgbClr val="1E293B"/>
                        </a:solidFill>
                        <a:latin typeface="Cambria Math" panose="02040503050406030204" pitchFamily="18" charset="0"/>
                      </a:rPr>
                      <m:t>·</m:t>
                    </m:r>
                    <m:acc>
                      <m:accPr>
                        <m:chr m:val="⃗"/>
                      </m:accPr>
                      <m:e>
                        <m:r>
                          <a:rPr lang="vi-VN" sz="2600" b="0">
                            <a:solidFill>
                              <a:srgbClr val="1E293B"/>
                            </a:solidFill>
                            <a:latin typeface="Cambria Math" panose="02040503050406030204" pitchFamily="18" charset="0"/>
                          </a:rPr>
                          <m:t>v</m:t>
                        </m:r>
                      </m:e>
                    </m:acc>
                  </m:oMath>
                </a14:m>
                <a:r>
                  <a:rPr sz="2600">
                    <a:solidFill>
                      <a:srgbClr val="1E293B"/>
                    </a:solidFill>
                    <a:latin typeface="Calibri"/>
                  </a:rPr>
                  <a:t> bằng</a:t>
                </a:r>
              </a:p>
            </p:txBody>
          </p:sp>
        </mc:Choice>
        <mc:Fallback>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a:t>
                </a:r>
                <a:r>
                  <a:rPr lang="vi-VN"/>
                  <a:t>\vec{u}=(2;\ -1)</a:t>
                </a:r>
                <a:r>
                  <a:rPr sz="2600">
                    <a:solidFill>
                      <a:srgbClr val="1E293B"/>
                    </a:solidFill>
                    <a:latin typeface="Calibri"/>
                  </a:rPr>
                  <a:t>, </a:t>
                </a:r>
                <a:r>
                  <a:rPr lang="vi-VN"/>
                  <a:t>\vec{v}=(3;\ 4)</a:t>
                </a:r>
                <a:r>
                  <a:rPr sz="2600">
                    <a:solidFill>
                      <a:srgbClr val="1E293B"/>
                    </a:solidFill>
                    <a:latin typeface="Calibri"/>
                  </a:rPr>
                  <a:t>. Tích vô hướng </a:t>
                </a:r>
                <a:r>
                  <a:rPr lang="vi-VN"/>
                  <a:t>\vec{u}\cdot\vec{v}</a:t>
                </a:r>
                <a:r>
                  <a:rPr sz="2600">
                    <a:solidFill>
                      <a:srgbClr val="1E293B"/>
                    </a:solidFill>
                    <a:latin typeface="Calibri"/>
                  </a:rPr>
                  <a:t> bằng</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2</m:t>
                    </m:r>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2</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10</m:t>
                    </m:r>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10</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6</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4</m:t>
                        </m:r>
                      </m:e>
                    </m:d>
                  </m:oMath>
                </a14:m>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(6;\ -4)</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−2</m:t>
                    </m:r>
                  </m:oMath>
                </a14:m>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-2</a:t>
                </a:r>
              </a:p>
            </p:txBody>
          </p:sp>
        </mc:Fallback>
      </mc:AlternateContent>
      <p:sp>
        <p:nvSpPr>
          <p:cNvPr id="16" name="s1_nen"/>
          <p:cNvSpPr/>
          <p:nvPr/>
        </p:nvSpPr>
        <p:spPr>
          <a:xfrm>
            <a:off x="548640" y="46177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A.</a:t>
                </a:r>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u</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v</m:t>
                        </m:r>
                      </m:e>
                    </m:acc>
                    <m:r>
                      <a:rPr lang="vi-VN" sz="2200" b="0">
                        <a:solidFill>
                          <a:srgbClr val="1E293B"/>
                        </a:solidFill>
                        <a:latin typeface="Cambria Math" panose="02040503050406030204" pitchFamily="18" charset="0"/>
                      </a:rPr>
                      <m:t>=2·3+(−1)·4=2</m:t>
                    </m:r>
                  </m:oMath>
                </a14:m>
                <a:r>
                  <a:rPr sz="2200">
                    <a:solidFill>
                      <a:srgbClr val="1E293B"/>
                    </a:solidFill>
                    <a:latin typeface="Calibri"/>
                  </a:rPr>
                  <a:t>.</a:t>
                </a:r>
              </a:p>
            </p:txBody>
          </p:sp>
        </mc:Choice>
        <mc:Fallback>
          <p:sp>
            <p:nvSpPr>
              <p:cNvPr id="17" name="TextBox 16"/>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A.</a:t>
                </a:r>
                <a:r>
                  <a:rPr sz="2200">
                    <a:solidFill>
                      <a:srgbClr val="1E293B"/>
                    </a:solidFill>
                    <a:latin typeface="Calibri"/>
                  </a:rPr>
                  <a:t> </a:t>
                </a:r>
                <a:r>
                  <a:rPr lang="vi-VN"/>
                  <a:t>\vec{u}\cdot\vec{v}=2\cdot 3+(-1)\cdot 4=2</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2 (BIẾT)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37</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a:t>
                </a:r>
                <a14:m>
                  <m:oMath xmlns:m="http://schemas.openxmlformats.org/officeDocument/2006/math">
                    <m:r>
                      <a:rPr lang="vi-VN" sz="2600" b="0">
                        <a:solidFill>
                          <a:srgbClr val="1E293B"/>
                        </a:solidFill>
                        <a:latin typeface="Cambria Math" panose="02040503050406030204" pitchFamily="18" charset="0"/>
                      </a:rPr>
                      <m:t>|</m:t>
                    </m:r>
                    <m:acc>
                      <m:accPr>
                        <m:chr m:val="⃗"/>
                      </m:accPr>
                      <m:e>
                        <m:r>
                          <a:rPr lang="vi-VN" sz="2600" b="0">
                            <a:solidFill>
                              <a:srgbClr val="1E293B"/>
                            </a:solidFill>
                            <a:latin typeface="Cambria Math" panose="02040503050406030204" pitchFamily="18" charset="0"/>
                          </a:rPr>
                          <m:t>a</m:t>
                        </m:r>
                      </m:e>
                    </m:acc>
                    <m:r>
                      <a:rPr lang="vi-VN" sz="2600" b="0">
                        <a:solidFill>
                          <a:srgbClr val="1E293B"/>
                        </a:solidFill>
                        <a:latin typeface="Cambria Math" panose="02040503050406030204" pitchFamily="18" charset="0"/>
                      </a:rPr>
                      <m:t>|=3</m:t>
                    </m:r>
                  </m:oMath>
                </a14:m>
                <a:r>
                  <a:rPr sz="2600">
                    <a:solidFill>
                      <a:srgbClr val="1E293B"/>
                    </a:solidFill>
                    <a:latin typeface="Calibri"/>
                  </a:rPr>
                  <a:t>, </a:t>
                </a:r>
                <a14:m>
                  <m:oMath xmlns:m="http://schemas.openxmlformats.org/officeDocument/2006/math">
                    <m:r>
                      <a:rPr lang="vi-VN" sz="2600" b="0">
                        <a:solidFill>
                          <a:srgbClr val="1E293B"/>
                        </a:solidFill>
                        <a:latin typeface="Cambria Math" panose="02040503050406030204" pitchFamily="18" charset="0"/>
                      </a:rPr>
                      <m:t>|</m:t>
                    </m:r>
                    <m:acc>
                      <m:accPr>
                        <m:chr m:val="⃗"/>
                      </m:accPr>
                      <m:e>
                        <m:r>
                          <a:rPr lang="vi-VN" sz="2600" b="0">
                            <a:solidFill>
                              <a:srgbClr val="1E293B"/>
                            </a:solidFill>
                            <a:latin typeface="Cambria Math" panose="02040503050406030204" pitchFamily="18" charset="0"/>
                          </a:rPr>
                          <m:t>b</m:t>
                        </m:r>
                      </m:e>
                    </m:acc>
                    <m:r>
                      <a:rPr lang="vi-VN" sz="2600" b="0">
                        <a:solidFill>
                          <a:srgbClr val="1E293B"/>
                        </a:solidFill>
                        <a:latin typeface="Cambria Math" panose="02040503050406030204" pitchFamily="18" charset="0"/>
                      </a:rPr>
                      <m:t>|=4</m:t>
                    </m:r>
                  </m:oMath>
                </a14:m>
                <a:r>
                  <a:rPr sz="2600">
                    <a:solidFill>
                      <a:srgbClr val="1E293B"/>
                    </a:solidFill>
                    <a:latin typeface="Calibri"/>
                  </a:rPr>
                  <a:t> và </a:t>
                </a:r>
                <a14:m>
                  <m:oMath xmlns:m="http://schemas.openxmlformats.org/officeDocument/2006/math">
                    <m:r>
                      <a:rPr lang="vi-VN" sz="2600" b="0">
                        <a:solidFill>
                          <a:srgbClr val="1E293B"/>
                        </a:solidFill>
                        <a:latin typeface="Cambria Math" panose="02040503050406030204" pitchFamily="18" charset="0"/>
                      </a:rPr>
                      <m:t>(</m:t>
                    </m:r>
                    <m:acc>
                      <m:accPr>
                        <m:chr m:val="⃗"/>
                      </m:accPr>
                      <m:e>
                        <m:r>
                          <a:rPr lang="vi-VN" sz="2600" b="0">
                            <a:solidFill>
                              <a:srgbClr val="1E293B"/>
                            </a:solidFill>
                            <a:latin typeface="Cambria Math" panose="02040503050406030204" pitchFamily="18" charset="0"/>
                          </a:rPr>
                          <m:t>a</m:t>
                        </m:r>
                      </m:e>
                    </m:acc>
                    <m:r>
                      <a:rPr lang="vi-VN" sz="2600" b="0">
                        <a:solidFill>
                          <a:srgbClr val="1E293B"/>
                        </a:solidFill>
                        <a:latin typeface="Cambria Math" panose="02040503050406030204" pitchFamily="18" charset="0"/>
                      </a:rPr>
                      <m:t>,</m:t>
                    </m:r>
                    <m:r>
                      <m:rPr>
                        <m:sty m:val="p"/>
                      </m:rPr>
                      <a:rPr lang="vi-VN" sz="2600" b="0">
                        <a:solidFill>
                          <a:srgbClr val="1E293B"/>
                        </a:solidFill>
                        <a:latin typeface="Cambria Math" panose="02040503050406030204" pitchFamily="18" charset="0"/>
                      </a:rPr>
                      <m:t> </m:t>
                    </m:r>
                    <m:acc>
                      <m:accPr>
                        <m:chr m:val="⃗"/>
                      </m:accPr>
                      <m:e>
                        <m:r>
                          <a:rPr lang="vi-VN" sz="2600" b="0">
                            <a:solidFill>
                              <a:srgbClr val="1E293B"/>
                            </a:solidFill>
                            <a:latin typeface="Cambria Math" panose="02040503050406030204" pitchFamily="18" charset="0"/>
                          </a:rPr>
                          <m:t>b</m:t>
                        </m:r>
                      </m:e>
                    </m:acc>
                    <m:r>
                      <a:rPr lang="vi-VN" sz="2600" b="0">
                        <a:solidFill>
                          <a:srgbClr val="1E293B"/>
                        </a:solidFill>
                        <a:latin typeface="Cambria Math" panose="02040503050406030204" pitchFamily="18" charset="0"/>
                      </a:rPr>
                      <m:t>)=</m:t>
                    </m:r>
                    <m:sSup>
                      <m:e>
                        <m:r>
                          <a:rPr lang="vi-VN" sz="2600" b="0">
                            <a:solidFill>
                              <a:srgbClr val="1E293B"/>
                            </a:solidFill>
                            <a:latin typeface="Cambria Math" panose="02040503050406030204" pitchFamily="18" charset="0"/>
                          </a:rPr>
                          <m:t>60</m:t>
                        </m:r>
                      </m:e>
                      <m:sup>
                        <m:r>
                          <a:rPr lang="vi-VN" sz="2600" b="0">
                            <a:solidFill>
                              <a:srgbClr val="1E293B"/>
                            </a:solidFill>
                            <a:latin typeface="Cambria Math" panose="02040503050406030204" pitchFamily="18" charset="0"/>
                          </a:rPr>
                          <m:t>∘</m:t>
                        </m:r>
                      </m:sup>
                    </m:sSup>
                  </m:oMath>
                </a14:m>
                <a:r>
                  <a:rPr sz="2600">
                    <a:solidFill>
                      <a:srgbClr val="1E293B"/>
                    </a:solidFill>
                    <a:latin typeface="Calibri"/>
                  </a:rPr>
                  <a:t>. Khi đó </a:t>
                </a:r>
                <a14:m>
                  <m:oMath xmlns:m="http://schemas.openxmlformats.org/officeDocument/2006/math">
                    <m:acc>
                      <m:accPr>
                        <m:chr m:val="⃗"/>
                      </m:accPr>
                      <m:e>
                        <m:r>
                          <a:rPr lang="vi-VN" sz="2600" b="0">
                            <a:solidFill>
                              <a:srgbClr val="1E293B"/>
                            </a:solidFill>
                            <a:latin typeface="Cambria Math" panose="02040503050406030204" pitchFamily="18" charset="0"/>
                          </a:rPr>
                          <m:t>a</m:t>
                        </m:r>
                      </m:e>
                    </m:acc>
                    <m:r>
                      <a:rPr lang="vi-VN" sz="2600" b="0">
                        <a:solidFill>
                          <a:srgbClr val="1E293B"/>
                        </a:solidFill>
                        <a:latin typeface="Cambria Math" panose="02040503050406030204" pitchFamily="18" charset="0"/>
                      </a:rPr>
                      <m:t>·</m:t>
                    </m:r>
                    <m:acc>
                      <m:accPr>
                        <m:chr m:val="⃗"/>
                      </m:accPr>
                      <m:e>
                        <m:r>
                          <a:rPr lang="vi-VN" sz="2600" b="0">
                            <a:solidFill>
                              <a:srgbClr val="1E293B"/>
                            </a:solidFill>
                            <a:latin typeface="Cambria Math" panose="02040503050406030204" pitchFamily="18" charset="0"/>
                          </a:rPr>
                          <m:t>b</m:t>
                        </m:r>
                      </m:e>
                    </m:acc>
                  </m:oMath>
                </a14:m>
                <a:r>
                  <a:rPr sz="2600">
                    <a:solidFill>
                      <a:srgbClr val="1E293B"/>
                    </a:solidFill>
                    <a:latin typeface="Calibri"/>
                  </a:rPr>
                  <a:t> bằng</a:t>
                </a:r>
              </a:p>
            </p:txBody>
          </p:sp>
        </mc:Choice>
        <mc:Fallback>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a:t>
                </a:r>
                <a:r>
                  <a:rPr lang="vi-VN"/>
                  <a:t>|\vec{a}|=3</a:t>
                </a:r>
                <a:r>
                  <a:rPr sz="2600">
                    <a:solidFill>
                      <a:srgbClr val="1E293B"/>
                    </a:solidFill>
                    <a:latin typeface="Calibri"/>
                  </a:rPr>
                  <a:t>, </a:t>
                </a:r>
                <a:r>
                  <a:rPr lang="vi-VN"/>
                  <a:t>|\vec{b}|=4</a:t>
                </a:r>
                <a:r>
                  <a:rPr sz="2600">
                    <a:solidFill>
                      <a:srgbClr val="1E293B"/>
                    </a:solidFill>
                    <a:latin typeface="Calibri"/>
                  </a:rPr>
                  <a:t> và </a:t>
                </a:r>
                <a:r>
                  <a:rPr lang="vi-VN"/>
                  <a:t>(\vec{a},\ \vec{b})=60^\circ</a:t>
                </a:r>
                <a:r>
                  <a:rPr sz="2600">
                    <a:solidFill>
                      <a:srgbClr val="1E293B"/>
                    </a:solidFill>
                    <a:latin typeface="Calibri"/>
                  </a:rPr>
                  <a:t>. Khi đó </a:t>
                </a:r>
                <a:r>
                  <a:rPr lang="vi-VN"/>
                  <a:t>\vec{a}\cdot\vec{b}</a:t>
                </a:r>
                <a:r>
                  <a:rPr sz="2600">
                    <a:solidFill>
                      <a:srgbClr val="1E293B"/>
                    </a:solidFill>
                    <a:latin typeface="Calibri"/>
                  </a:rPr>
                  <a:t> bằng</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6</m:t>
                    </m:r>
                    <m:rad>
                      <m:radPr>
                        <m:degHide m:val="on"/>
                      </m:radPr>
                      <m:deg/>
                      <m:e>
                        <m:r>
                          <a:rPr lang="vi-VN" sz="2400" b="0">
                            <a:solidFill>
                              <a:srgbClr val="1E293B"/>
                            </a:solidFill>
                            <a:latin typeface="Cambria Math" panose="02040503050406030204" pitchFamily="18" charset="0"/>
                          </a:rPr>
                          <m:t>3</m:t>
                        </m:r>
                      </m:e>
                    </m:rad>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6\sqrt{3}</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12</m:t>
                    </m:r>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12</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6</m:t>
                    </m:r>
                  </m:oMath>
                </a14:m>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6</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−6</m:t>
                    </m:r>
                  </m:oMath>
                </a14:m>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-6</a:t>
                </a:r>
              </a:p>
            </p:txBody>
          </p:sp>
        </mc:Fallback>
      </mc:AlternateContent>
      <p:sp>
        <p:nvSpPr>
          <p:cNvPr id="16" name="s1_nen"/>
          <p:cNvSpPr/>
          <p:nvPr/>
        </p:nvSpPr>
        <p:spPr>
          <a:xfrm>
            <a:off x="548640" y="46177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C.</a:t>
                </a:r>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=3·4·</m:t>
                    </m:r>
                    <m:r>
                      <m:rPr>
                        <m:sty m:val="p"/>
                      </m:rPr>
                      <a:rPr lang="vi-VN" sz="2200" b="0">
                        <a:solidFill>
                          <a:srgbClr val="1E293B"/>
                        </a:solidFill>
                        <a:latin typeface="Cambria Math" panose="02040503050406030204" pitchFamily="18" charset="0"/>
                      </a:rPr>
                      <m:t>cos</m:t>
                    </m:r>
                    <m:r>
                      <m:rPr>
                        <m:sty m:val="p"/>
                      </m:rPr>
                      <a:rPr lang="vi-VN" sz="2200" b="0">
                        <a:solidFill>
                          <a:srgbClr val="1E293B"/>
                        </a:solidFill>
                        <a:latin typeface="Cambria Math" panose="02040503050406030204" pitchFamily="18" charset="0"/>
                      </a:rPr>
                      <m:t> </m:t>
                    </m:r>
                    <m:sSup>
                      <m:e>
                        <m:r>
                          <a:rPr lang="vi-VN" sz="2200" b="0">
                            <a:solidFill>
                              <a:srgbClr val="1E293B"/>
                            </a:solidFill>
                            <a:latin typeface="Cambria Math" panose="02040503050406030204" pitchFamily="18" charset="0"/>
                          </a:rPr>
                          <m:t>60</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=6</m:t>
                    </m:r>
                  </m:oMath>
                </a14:m>
                <a:r>
                  <a:rPr sz="2200">
                    <a:solidFill>
                      <a:srgbClr val="1E293B"/>
                    </a:solidFill>
                    <a:latin typeface="Calibri"/>
                  </a:rPr>
                  <a:t>.</a:t>
                </a:r>
              </a:p>
            </p:txBody>
          </p:sp>
        </mc:Choice>
        <mc:Fallback>
          <p:sp>
            <p:nvSpPr>
              <p:cNvPr id="17" name="TextBox 16"/>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C.</a:t>
                </a:r>
                <a:r>
                  <a:rPr sz="2200">
                    <a:solidFill>
                      <a:srgbClr val="1E293B"/>
                    </a:solidFill>
                    <a:latin typeface="Calibri"/>
                  </a:rPr>
                  <a:t> </a:t>
                </a:r>
                <a:r>
                  <a:rPr lang="vi-VN"/>
                  <a:t>\vec{a}\cdot\vec{b}=3\cdot 4\cdot\cos 60^\circ=6</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3 (HIỂU)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38</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tam giác đều </a:t>
                </a:r>
                <a14:m>
                  <m:oMath xmlns:m="http://schemas.openxmlformats.org/officeDocument/2006/math">
                    <m:r>
                      <a:rPr lang="vi-VN" sz="2600" b="0">
                        <a:solidFill>
                          <a:srgbClr val="1E293B"/>
                        </a:solidFill>
                        <a:latin typeface="Cambria Math" panose="02040503050406030204" pitchFamily="18" charset="0"/>
                      </a:rPr>
                      <m:t>ABC</m:t>
                    </m:r>
                  </m:oMath>
                </a14:m>
                <a:r>
                  <a:rPr sz="2600">
                    <a:solidFill>
                      <a:srgbClr val="1E293B"/>
                    </a:solidFill>
                    <a:latin typeface="Calibri"/>
                  </a:rPr>
                  <a:t> cạnh bằng 2. Tích vô hướng </a:t>
                </a:r>
                <a14:m>
                  <m:oMath xmlns:m="http://schemas.openxmlformats.org/officeDocument/2006/math">
                    <m:acc>
                      <m:accPr>
                        <m:chr m:val="⃗"/>
                      </m:accPr>
                      <m:e>
                        <m:r>
                          <a:rPr lang="vi-VN" sz="2600" b="0">
                            <a:solidFill>
                              <a:srgbClr val="1E293B"/>
                            </a:solidFill>
                            <a:latin typeface="Cambria Math" panose="02040503050406030204" pitchFamily="18" charset="0"/>
                          </a:rPr>
                          <m:t>AB</m:t>
                        </m:r>
                      </m:e>
                    </m:acc>
                  </m:oMath>
                </a14:m>
                <a14:m>
                  <m:oMath xmlns:m="http://schemas.openxmlformats.org/officeDocument/2006/math">
                    <m:r>
                      <a:rPr lang="vi-VN" sz="2600" b="0">
                        <a:solidFill>
                          <a:srgbClr val="1E293B"/>
                        </a:solidFill>
                        <a:latin typeface="Cambria Math" panose="02040503050406030204" pitchFamily="18" charset="0"/>
                      </a:rPr>
                      <m:t>·</m:t>
                    </m:r>
                  </m:oMath>
                </a14:m>
                <a14:m>
                  <m:oMath xmlns:m="http://schemas.openxmlformats.org/officeDocument/2006/math">
                    <m:acc>
                      <m:accPr>
                        <m:chr m:val="⃗"/>
                      </m:accPr>
                      <m:e>
                        <m:r>
                          <a:rPr lang="vi-VN" sz="2600" b="0">
                            <a:solidFill>
                              <a:srgbClr val="1E293B"/>
                            </a:solidFill>
                            <a:latin typeface="Cambria Math" panose="02040503050406030204" pitchFamily="18" charset="0"/>
                          </a:rPr>
                          <m:t>BC</m:t>
                        </m:r>
                      </m:e>
                    </m:acc>
                  </m:oMath>
                </a14:m>
                <a:r>
                  <a:rPr sz="2600">
                    <a:solidFill>
                      <a:srgbClr val="1E293B"/>
                    </a:solidFill>
                    <a:latin typeface="Calibri"/>
                  </a:rPr>
                  <a:t> bằng</a:t>
                </a:r>
              </a:p>
            </p:txBody>
          </p:sp>
        </mc:Choice>
        <mc:Fallback>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tam giác đều </a:t>
                </a:r>
                <a:r>
                  <a:rPr lang="vi-VN"/>
                  <a:t>ABC</a:t>
                </a:r>
                <a:r>
                  <a:rPr sz="2600">
                    <a:solidFill>
                      <a:srgbClr val="1E293B"/>
                    </a:solidFill>
                    <a:latin typeface="Calibri"/>
                  </a:rPr>
                  <a:t> cạnh bằng 2. Tích vô hướng </a:t>
                </a:r>
                <a:r>
                  <a:rPr lang="vi-VN"/>
                  <a:t>\overrightarrow{AB}</a:t>
                </a:r>
                <a:r>
                  <a:rPr lang="vi-VN"/>
                  <a:t>\cdot</a:t>
                </a:r>
                <a:r>
                  <a:rPr lang="vi-VN"/>
                  <a:t>\overrightarrow{BC}</a:t>
                </a:r>
                <a:r>
                  <a:rPr sz="2600">
                    <a:solidFill>
                      <a:srgbClr val="1E293B"/>
                    </a:solidFill>
                    <a:latin typeface="Calibri"/>
                  </a:rPr>
                  <a:t> bằng</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2</m:t>
                    </m:r>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2</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−2</m:t>
                    </m:r>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-2</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2</m:t>
                    </m:r>
                    <m:rad>
                      <m:radPr>
                        <m:degHide m:val="on"/>
                      </m:radPr>
                      <m:deg/>
                      <m:e>
                        <m:r>
                          <a:rPr lang="vi-VN" sz="2400" b="0">
                            <a:solidFill>
                              <a:srgbClr val="1E293B"/>
                            </a:solidFill>
                            <a:latin typeface="Cambria Math" panose="02040503050406030204" pitchFamily="18" charset="0"/>
                          </a:rPr>
                          <m:t>3</m:t>
                        </m:r>
                      </m:e>
                    </m:rad>
                  </m:oMath>
                </a14:m>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2\sqrt{3}</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4</m:t>
                    </m:r>
                  </m:oMath>
                </a14:m>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4</a:t>
                </a:r>
              </a:p>
            </p:txBody>
          </p:sp>
        </mc:Fallback>
      </mc:AlternateContent>
      <p:sp>
        <p:nvSpPr>
          <p:cNvPr id="16" name="s1_nen"/>
          <p:cNvSpPr/>
          <p:nvPr/>
        </p:nvSpPr>
        <p:spPr>
          <a:xfrm>
            <a:off x="548640" y="46177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14:m>
                  <m:oMath xmlns:m="http://schemas.openxmlformats.org/officeDocument/2006/math">
                    <m:d>
                      <m:dPr>
                        <m:sepChr m:val=","/>
                      </m:dPr>
                      <m:e>
                        <m:acc>
                          <m:accPr>
                            <m:chr m:val="⃗"/>
                          </m:accPr>
                          <m:e>
                            <m:r>
                              <a:rPr lang="vi-VN" sz="2200" b="0">
                                <a:solidFill>
                                  <a:srgbClr val="1E293B"/>
                                </a:solidFill>
                                <a:latin typeface="Cambria Math" panose="02040503050406030204" pitchFamily="18" charset="0"/>
                              </a:rPr>
                              <m:t>AB</m:t>
                            </m:r>
                          </m:e>
                        </m:acc>
                      </m:e>
                      <m:e>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BC</m:t>
                            </m:r>
                          </m:e>
                        </m:acc>
                      </m:e>
                    </m:d>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120</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nên </a:t>
                </a:r>
                <a14:m>
                  <m:oMath xmlns:m="http://schemas.openxmlformats.org/officeDocument/2006/math">
                    <m:acc>
                      <m:accPr>
                        <m:chr m:val="⃗"/>
                      </m:accPr>
                      <m:e>
                        <m:r>
                          <a:rPr lang="vi-VN" sz="2200" b="0">
                            <a:solidFill>
                              <a:srgbClr val="1E293B"/>
                            </a:solidFill>
                            <a:latin typeface="Cambria Math" panose="02040503050406030204" pitchFamily="18" charset="0"/>
                          </a:rPr>
                          <m:t>AB</m:t>
                        </m:r>
                      </m:e>
                    </m:acc>
                  </m:oMath>
                </a14:m>
                <a14:m>
                  <m:oMath xmlns:m="http://schemas.openxmlformats.org/officeDocument/2006/math">
                    <m:r>
                      <a:rPr lang="vi-VN" sz="2200" b="0">
                        <a:solidFill>
                          <a:srgbClr val="1E293B"/>
                        </a:solidFill>
                        <a:latin typeface="Cambria Math" panose="02040503050406030204" pitchFamily="18" charset="0"/>
                      </a:rPr>
                      <m:t>·</m:t>
                    </m:r>
                  </m:oMath>
                </a14:m>
                <a14:m>
                  <m:oMath xmlns:m="http://schemas.openxmlformats.org/officeDocument/2006/math">
                    <m:acc>
                      <m:accPr>
                        <m:chr m:val="⃗"/>
                      </m:accPr>
                      <m:e>
                        <m:r>
                          <a:rPr lang="vi-VN" sz="2200" b="0">
                            <a:solidFill>
                              <a:srgbClr val="1E293B"/>
                            </a:solidFill>
                            <a:latin typeface="Cambria Math" panose="02040503050406030204" pitchFamily="18" charset="0"/>
                          </a:rPr>
                          <m:t>BC</m:t>
                        </m:r>
                      </m:e>
                    </m:acc>
                  </m:oMath>
                </a14:m>
                <a:r>
                  <a:rPr sz="2200">
                    <a:solidFill>
                      <a:srgbClr val="1E293B"/>
                    </a:solidFill>
                    <a:latin typeface="Calibri"/>
                  </a:rPr>
                  <a:t> = </a:t>
                </a:r>
                <a14:m>
                  <m:oMath xmlns:m="http://schemas.openxmlformats.org/officeDocument/2006/math">
                    <m:r>
                      <a:rPr lang="vi-VN" sz="2200" b="0">
                        <a:solidFill>
                          <a:srgbClr val="1E293B"/>
                        </a:solidFill>
                        <a:latin typeface="Cambria Math" panose="02040503050406030204" pitchFamily="18" charset="0"/>
                      </a:rPr>
                      <m:t>2·2·</m:t>
                    </m:r>
                    <m:r>
                      <m:rPr>
                        <m:sty m:val="p"/>
                      </m:rPr>
                      <a:rPr lang="vi-VN" sz="2200" b="0">
                        <a:solidFill>
                          <a:srgbClr val="1E293B"/>
                        </a:solidFill>
                        <a:latin typeface="Cambria Math" panose="02040503050406030204" pitchFamily="18" charset="0"/>
                      </a:rPr>
                      <m:t>cos</m:t>
                    </m:r>
                    <m:r>
                      <m:rPr>
                        <m:sty m:val="p"/>
                      </m:rPr>
                      <a:rPr lang="vi-VN" sz="2200" b="0">
                        <a:solidFill>
                          <a:srgbClr val="1E293B"/>
                        </a:solidFill>
                        <a:latin typeface="Cambria Math" panose="02040503050406030204" pitchFamily="18" charset="0"/>
                      </a:rPr>
                      <m:t> </m:t>
                    </m:r>
                    <m:sSup>
                      <m:e>
                        <m:r>
                          <a:rPr lang="vi-VN" sz="2200" b="0">
                            <a:solidFill>
                              <a:srgbClr val="1E293B"/>
                            </a:solidFill>
                            <a:latin typeface="Cambria Math" panose="02040503050406030204" pitchFamily="18" charset="0"/>
                          </a:rPr>
                          <m:t>120</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=−2</m:t>
                    </m:r>
                  </m:oMath>
                </a14:m>
                <a:r>
                  <a:rPr sz="2200">
                    <a:solidFill>
                      <a:srgbClr val="1E293B"/>
                    </a:solidFill>
                    <a:latin typeface="Calibri"/>
                  </a:rPr>
                  <a:t>.</a:t>
                </a:r>
              </a:p>
            </p:txBody>
          </p:sp>
        </mc:Choice>
        <mc:Fallback>
          <p:sp>
            <p:nvSpPr>
              <p:cNvPr id="17" name="TextBox 16"/>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r>
                  <a:rPr lang="vi-VN"/>
                  <a:t>\left(\overrightarrow{AB},\ \overrightarrow{BC}\right)=120^\circ</a:t>
                </a:r>
                <a:r>
                  <a:rPr sz="2200">
                    <a:solidFill>
                      <a:srgbClr val="1E293B"/>
                    </a:solidFill>
                    <a:latin typeface="Calibri"/>
                  </a:rPr>
                  <a:t> nên </a:t>
                </a:r>
                <a:r>
                  <a:rPr lang="vi-VN"/>
                  <a:t>\overrightarrow{AB}</a:t>
                </a:r>
                <a:r>
                  <a:rPr lang="vi-VN"/>
                  <a:t>\cdot</a:t>
                </a:r>
                <a:r>
                  <a:rPr lang="vi-VN"/>
                  <a:t>\overrightarrow{BC}</a:t>
                </a:r>
                <a:r>
                  <a:rPr sz="2200">
                    <a:solidFill>
                      <a:srgbClr val="1E293B"/>
                    </a:solidFill>
                    <a:latin typeface="Calibri"/>
                  </a:rPr>
                  <a:t> = </a:t>
                </a:r>
                <a:r>
                  <a:rPr lang="vi-VN"/>
                  <a:t>2\cdot 2\cdot\cos 120^\circ=-2</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4 (HIỂU)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39</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a:t>
                </a:r>
                <a14:m>
                  <m:oMath xmlns:m="http://schemas.openxmlformats.org/officeDocument/2006/math">
                    <m:acc>
                      <m:accPr>
                        <m:chr m:val="⃗"/>
                      </m:accPr>
                      <m:e>
                        <m:r>
                          <a:rPr lang="vi-VN" sz="2600" b="0">
                            <a:solidFill>
                              <a:srgbClr val="1E293B"/>
                            </a:solidFill>
                            <a:latin typeface="Cambria Math" panose="02040503050406030204" pitchFamily="18" charset="0"/>
                          </a:rPr>
                          <m:t>u</m:t>
                        </m:r>
                      </m:e>
                    </m:acc>
                    <m:r>
                      <a:rPr lang="vi-VN" sz="2600" b="0">
                        <a:solidFill>
                          <a:srgbClr val="1E293B"/>
                        </a:solidFill>
                        <a:latin typeface="Cambria Math" panose="02040503050406030204" pitchFamily="18" charset="0"/>
                      </a:rPr>
                      <m:t>=(m;</m:t>
                    </m:r>
                    <m:r>
                      <m:rPr>
                        <m:sty m:val="p"/>
                      </m:rPr>
                      <a:rPr lang="vi-VN" sz="2600" b="0">
                        <a:solidFill>
                          <a:srgbClr val="1E293B"/>
                        </a:solidFill>
                        <a:latin typeface="Cambria Math" panose="02040503050406030204" pitchFamily="18" charset="0"/>
                      </a:rPr>
                      <m:t> </m:t>
                    </m:r>
                    <m:r>
                      <a:rPr lang="vi-VN" sz="2600" b="0">
                        <a:solidFill>
                          <a:srgbClr val="1E293B"/>
                        </a:solidFill>
                        <a:latin typeface="Cambria Math" panose="02040503050406030204" pitchFamily="18" charset="0"/>
                      </a:rPr>
                      <m:t>2)</m:t>
                    </m:r>
                  </m:oMath>
                </a14:m>
                <a:r>
                  <a:rPr sz="2600">
                    <a:solidFill>
                      <a:srgbClr val="1E293B"/>
                    </a:solidFill>
                    <a:latin typeface="Calibri"/>
                  </a:rPr>
                  <a:t>, </a:t>
                </a:r>
                <a14:m>
                  <m:oMath xmlns:m="http://schemas.openxmlformats.org/officeDocument/2006/math">
                    <m:acc>
                      <m:accPr>
                        <m:chr m:val="⃗"/>
                      </m:accPr>
                      <m:e>
                        <m:r>
                          <a:rPr lang="vi-VN" sz="2600" b="0">
                            <a:solidFill>
                              <a:srgbClr val="1E293B"/>
                            </a:solidFill>
                            <a:latin typeface="Cambria Math" panose="02040503050406030204" pitchFamily="18" charset="0"/>
                          </a:rPr>
                          <m:t>v</m:t>
                        </m:r>
                      </m:e>
                    </m:acc>
                    <m:r>
                      <a:rPr lang="vi-VN" sz="2600" b="0">
                        <a:solidFill>
                          <a:srgbClr val="1E293B"/>
                        </a:solidFill>
                        <a:latin typeface="Cambria Math" panose="02040503050406030204" pitchFamily="18" charset="0"/>
                      </a:rPr>
                      <m:t>=(3;</m:t>
                    </m:r>
                    <m:r>
                      <m:rPr>
                        <m:sty m:val="p"/>
                      </m:rPr>
                      <a:rPr lang="vi-VN" sz="2600" b="0">
                        <a:solidFill>
                          <a:srgbClr val="1E293B"/>
                        </a:solidFill>
                        <a:latin typeface="Cambria Math" panose="02040503050406030204" pitchFamily="18" charset="0"/>
                      </a:rPr>
                      <m:t> </m:t>
                    </m:r>
                    <m:r>
                      <a:rPr lang="vi-VN" sz="2600" b="0">
                        <a:solidFill>
                          <a:srgbClr val="1E293B"/>
                        </a:solidFill>
                        <a:latin typeface="Cambria Math" panose="02040503050406030204" pitchFamily="18" charset="0"/>
                      </a:rPr>
                      <m:t>−6)</m:t>
                    </m:r>
                  </m:oMath>
                </a14:m>
                <a:r>
                  <a:rPr sz="2600">
                    <a:solidFill>
                      <a:srgbClr val="1E293B"/>
                    </a:solidFill>
                    <a:latin typeface="Calibri"/>
                  </a:rPr>
                  <a:t>. Hai vectơ </a:t>
                </a:r>
                <a14:m>
                  <m:oMath xmlns:m="http://schemas.openxmlformats.org/officeDocument/2006/math">
                    <m:acc>
                      <m:accPr>
                        <m:chr m:val="⃗"/>
                      </m:accPr>
                      <m:e>
                        <m:r>
                          <a:rPr lang="vi-VN" sz="2600" b="0">
                            <a:solidFill>
                              <a:srgbClr val="1E293B"/>
                            </a:solidFill>
                            <a:latin typeface="Cambria Math" panose="02040503050406030204" pitchFamily="18" charset="0"/>
                          </a:rPr>
                          <m:t>u</m:t>
                        </m:r>
                      </m:e>
                    </m:acc>
                    <m:r>
                      <a:rPr lang="vi-VN" sz="2600" b="0">
                        <a:solidFill>
                          <a:srgbClr val="1E293B"/>
                        </a:solidFill>
                        <a:latin typeface="Cambria Math" panose="02040503050406030204" pitchFamily="18" charset="0"/>
                      </a:rPr>
                      <m:t>,</m:t>
                    </m:r>
                    <m:r>
                      <m:rPr>
                        <m:sty m:val="p"/>
                      </m:rPr>
                      <a:rPr lang="vi-VN" sz="2600" b="0">
                        <a:solidFill>
                          <a:srgbClr val="1E293B"/>
                        </a:solidFill>
                        <a:latin typeface="Cambria Math" panose="02040503050406030204" pitchFamily="18" charset="0"/>
                      </a:rPr>
                      <m:t> </m:t>
                    </m:r>
                    <m:acc>
                      <m:accPr>
                        <m:chr m:val="⃗"/>
                      </m:accPr>
                      <m:e>
                        <m:r>
                          <a:rPr lang="vi-VN" sz="2600" b="0">
                            <a:solidFill>
                              <a:srgbClr val="1E293B"/>
                            </a:solidFill>
                            <a:latin typeface="Cambria Math" panose="02040503050406030204" pitchFamily="18" charset="0"/>
                          </a:rPr>
                          <m:t>v</m:t>
                        </m:r>
                      </m:e>
                    </m:acc>
                  </m:oMath>
                </a14:m>
                <a:r>
                  <a:rPr sz="2600">
                    <a:solidFill>
                      <a:srgbClr val="1E293B"/>
                    </a:solidFill>
                    <a:latin typeface="Calibri"/>
                  </a:rPr>
                  <a:t> vuông góc với nhau khi </a:t>
                </a:r>
                <a14:m>
                  <m:oMath xmlns:m="http://schemas.openxmlformats.org/officeDocument/2006/math">
                    <m:r>
                      <a:rPr lang="vi-VN" sz="2600" b="0">
                        <a:solidFill>
                          <a:srgbClr val="1E293B"/>
                        </a:solidFill>
                        <a:latin typeface="Cambria Math" panose="02040503050406030204" pitchFamily="18" charset="0"/>
                      </a:rPr>
                      <m:t>m</m:t>
                    </m:r>
                  </m:oMath>
                </a14:m>
                <a:r>
                  <a:rPr sz="2600">
                    <a:solidFill>
                      <a:srgbClr val="1E293B"/>
                    </a:solidFill>
                    <a:latin typeface="Calibri"/>
                  </a:rPr>
                  <a:t> bằng</a:t>
                </a:r>
              </a:p>
            </p:txBody>
          </p:sp>
        </mc:Choice>
        <mc:Fallback>
          <p:sp>
            <p:nvSpPr>
              <p:cNvPr id="7" name="TextBox 6"/>
              <p:cNvSpPr txBox="1"/>
              <p:nvPr/>
            </p:nvSpPr>
            <p:spPr>
              <a:xfrm>
                <a:off x="548640" y="137160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a:t>
                </a:r>
                <a:r>
                  <a:rPr lang="vi-VN"/>
                  <a:t>\vec{u}=(m;\ 2)</a:t>
                </a:r>
                <a:r>
                  <a:rPr sz="2600">
                    <a:solidFill>
                      <a:srgbClr val="1E293B"/>
                    </a:solidFill>
                    <a:latin typeface="Calibri"/>
                  </a:rPr>
                  <a:t>, </a:t>
                </a:r>
                <a:r>
                  <a:rPr lang="vi-VN"/>
                  <a:t>\vec{v}=(3;\ -6)</a:t>
                </a:r>
                <a:r>
                  <a:rPr sz="2600">
                    <a:solidFill>
                      <a:srgbClr val="1E293B"/>
                    </a:solidFill>
                    <a:latin typeface="Calibri"/>
                  </a:rPr>
                  <a:t>. Hai vectơ </a:t>
                </a:r>
                <a:r>
                  <a:rPr lang="vi-VN"/>
                  <a:t>\vec{u},\ \vec{v}</a:t>
                </a:r>
                <a:r>
                  <a:rPr sz="2600">
                    <a:solidFill>
                      <a:srgbClr val="1E293B"/>
                    </a:solidFill>
                    <a:latin typeface="Calibri"/>
                  </a:rPr>
                  <a:t> vuông góc với nhau khi </a:t>
                </a:r>
                <a:r>
                  <a:rPr lang="vi-VN"/>
                  <a:t>m</a:t>
                </a:r>
                <a:r>
                  <a:rPr sz="2600">
                    <a:solidFill>
                      <a:srgbClr val="1E293B"/>
                    </a:solidFill>
                    <a:latin typeface="Calibri"/>
                  </a:rPr>
                  <a:t> bằng</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−4</m:t>
                    </m:r>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-4</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m:t>
                    </m:r>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-1</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m:t>
                    </m:r>
                  </m:oMath>
                </a14:m>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1</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4</m:t>
                    </m:r>
                  </m:oMath>
                </a14:m>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4</a:t>
                </a:r>
              </a:p>
            </p:txBody>
          </p:sp>
        </mc:Fallback>
      </mc:AlternateContent>
      <p:sp>
        <p:nvSpPr>
          <p:cNvPr id="16" name="s1_nen"/>
          <p:cNvSpPr/>
          <p:nvPr/>
        </p:nvSpPr>
        <p:spPr>
          <a:xfrm>
            <a:off x="548640" y="46177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D.</a:t>
                </a:r>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3m−12=0⇔m=4</m:t>
                    </m:r>
                  </m:oMath>
                </a14:m>
                <a:r>
                  <a:rPr sz="2200">
                    <a:solidFill>
                      <a:srgbClr val="1E293B"/>
                    </a:solidFill>
                    <a:latin typeface="Calibri"/>
                  </a:rPr>
                  <a:t>.</a:t>
                </a:r>
              </a:p>
            </p:txBody>
          </p:sp>
        </mc:Choice>
        <mc:Fallback>
          <p:sp>
            <p:nvSpPr>
              <p:cNvPr id="17" name="TextBox 16"/>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D.</a:t>
                </a:r>
                <a:r>
                  <a:rPr sz="2200">
                    <a:solidFill>
                      <a:srgbClr val="1E293B"/>
                    </a:solidFill>
                    <a:latin typeface="Calibri"/>
                  </a:rPr>
                  <a:t> </a:t>
                </a:r>
                <a:r>
                  <a:rPr lang="vi-VN"/>
                  <a:t>3m-12=0\Leftrightarrow m=4</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5 (ĐÚNG/SAI)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40</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539496"/>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a:t>
                </a:r>
                <a14:m>
                  <m:oMath xmlns:m="http://schemas.openxmlformats.org/officeDocument/2006/math">
                    <m:acc>
                      <m:accPr>
                        <m:chr m:val="⃗"/>
                      </m:accPr>
                      <m:e>
                        <m:r>
                          <a:rPr lang="vi-VN" sz="2400" b="0">
                            <a:solidFill>
                              <a:srgbClr val="1E293B"/>
                            </a:solidFill>
                            <a:latin typeface="Cambria Math" panose="02040503050406030204" pitchFamily="18" charset="0"/>
                          </a:rPr>
                          <m:t>u</m:t>
                        </m:r>
                      </m:e>
                    </m:acc>
                    <m:r>
                      <a:rPr lang="vi-VN" sz="2400" b="0">
                        <a:solidFill>
                          <a:srgbClr val="1E293B"/>
                        </a:solidFill>
                        <a:latin typeface="Cambria Math" panose="02040503050406030204" pitchFamily="18" charset="0"/>
                      </a:rPr>
                      <m:t>=(3;</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4)</m:t>
                    </m:r>
                  </m:oMath>
                </a14:m>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v</m:t>
                        </m:r>
                      </m:e>
                    </m:acc>
                    <m:r>
                      <a:rPr lang="vi-VN" sz="2400" b="0">
                        <a:solidFill>
                          <a:srgbClr val="1E293B"/>
                        </a:solidFill>
                        <a:latin typeface="Cambria Math" panose="02040503050406030204" pitchFamily="18" charset="0"/>
                      </a:rPr>
                      <m:t>=(4;</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−3)</m:t>
                    </m:r>
                  </m:oMath>
                </a14:m>
                <a:r>
                  <a:rPr sz="2400">
                    <a:solidFill>
                      <a:srgbClr val="1E293B"/>
                    </a:solidFill>
                    <a:latin typeface="Calibri"/>
                  </a:rPr>
                  <a:t>. Xét tính đúng, sai:</a:t>
                </a:r>
              </a:p>
            </p:txBody>
          </p:sp>
        </mc:Choice>
        <mc:Fallback>
          <p:sp>
            <p:nvSpPr>
              <p:cNvPr id="7" name="TextBox 6"/>
              <p:cNvSpPr txBox="1"/>
              <p:nvPr/>
            </p:nvSpPr>
            <p:spPr>
              <a:xfrm>
                <a:off x="548640" y="1371600"/>
                <a:ext cx="11064240" cy="539496"/>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a:t>
                </a:r>
                <a:r>
                  <a:rPr lang="vi-VN"/>
                  <a:t>\vec{u}=(3;\ 4)</a:t>
                </a:r>
                <a:r>
                  <a:rPr sz="2400">
                    <a:solidFill>
                      <a:srgbClr val="1E293B"/>
                    </a:solidFill>
                    <a:latin typeface="Calibri"/>
                  </a:rPr>
                  <a:t>, </a:t>
                </a:r>
                <a:r>
                  <a:rPr lang="vi-VN"/>
                  <a:t>\vec{v}=(4;\ -3)</a:t>
                </a:r>
                <a:r>
                  <a:rPr sz="2400">
                    <a:solidFill>
                      <a:srgbClr val="1E293B"/>
                    </a:solidFill>
                    <a:latin typeface="Calibri"/>
                  </a:rPr>
                  <a:t>. Xét tính đúng, sai:</a:t>
                </a:r>
              </a:p>
            </p:txBody>
          </p:sp>
        </mc:Fallback>
      </mc:AlternateContent>
      <mc:AlternateContent xmlns:mc="http://schemas.openxmlformats.org/markup-compatibility/2006">
        <mc:Choice xmlns:a14="http://schemas.microsoft.com/office/drawing/2010/main" Requires="a14">
          <p:sp>
            <p:nvSpPr>
              <p:cNvPr id="8" name="TextBox 7"/>
              <p:cNvSpPr txBox="1"/>
              <p:nvPr/>
            </p:nvSpPr>
            <p:spPr>
              <a:xfrm>
                <a:off x="548640" y="2002536"/>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a) </a:t>
                </a:r>
                <a14:m>
                  <m:oMath xmlns:m="http://schemas.openxmlformats.org/officeDocument/2006/math">
                    <m:acc>
                      <m:accPr>
                        <m:chr m:val="⃗"/>
                      </m:accPr>
                      <m:e>
                        <m:r>
                          <a:rPr lang="vi-VN" sz="2300" b="0">
                            <a:solidFill>
                              <a:srgbClr val="1E293B"/>
                            </a:solidFill>
                            <a:latin typeface="Cambria Math" panose="02040503050406030204" pitchFamily="18" charset="0"/>
                          </a:rPr>
                          <m:t>u</m:t>
                        </m:r>
                      </m:e>
                    </m:acc>
                    <m:r>
                      <a:rPr lang="vi-VN" sz="2300" b="0">
                        <a:solidFill>
                          <a:srgbClr val="1E293B"/>
                        </a:solidFill>
                        <a:latin typeface="Cambria Math" panose="02040503050406030204" pitchFamily="18" charset="0"/>
                      </a:rPr>
                      <m:t>·</m:t>
                    </m:r>
                    <m:acc>
                      <m:accPr>
                        <m:chr m:val="⃗"/>
                      </m:accPr>
                      <m:e>
                        <m:r>
                          <a:rPr lang="vi-VN" sz="2300" b="0">
                            <a:solidFill>
                              <a:srgbClr val="1E293B"/>
                            </a:solidFill>
                            <a:latin typeface="Cambria Math" panose="02040503050406030204" pitchFamily="18" charset="0"/>
                          </a:rPr>
                          <m:t>v</m:t>
                        </m:r>
                      </m:e>
                    </m:acc>
                    <m:r>
                      <a:rPr lang="vi-VN" sz="2300" b="0">
                        <a:solidFill>
                          <a:srgbClr val="1E293B"/>
                        </a:solidFill>
                        <a:latin typeface="Cambria Math" panose="02040503050406030204" pitchFamily="18" charset="0"/>
                      </a:rPr>
                      <m:t>=0</m:t>
                    </m:r>
                  </m:oMath>
                </a14:m>
                <a:r>
                  <a:rPr sz="2300">
                    <a:solidFill>
                      <a:srgbClr val="1E293B"/>
                    </a:solidFill>
                    <a:latin typeface="Calibri"/>
                  </a:rPr>
                  <a:t>.</a:t>
                </a:r>
              </a:p>
            </p:txBody>
          </p:sp>
        </mc:Choice>
        <mc:Fallback>
          <p:sp>
            <p:nvSpPr>
              <p:cNvPr id="8" name="TextBox 7"/>
              <p:cNvSpPr txBox="1"/>
              <p:nvPr/>
            </p:nvSpPr>
            <p:spPr>
              <a:xfrm>
                <a:off x="548640" y="2002536"/>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a) </a:t>
                </a:r>
                <a:r>
                  <a:rPr lang="vi-VN"/>
                  <a:t>\vec{u}\cdot\vec{v}=0</a:t>
                </a:r>
                <a:r>
                  <a:rPr sz="2300">
                    <a:solidFill>
                      <a:srgbClr val="1E293B"/>
                    </a:solidFill>
                    <a:latin typeface="Calibri"/>
                  </a:rPr>
                  <a:t>.</a:t>
                </a:r>
              </a:p>
            </p:txBody>
          </p:sp>
        </mc:Fallback>
      </mc:AlternateContent>
      <p:sp>
        <p:nvSpPr>
          <p:cNvPr id="9" name="s1_nen"/>
          <p:cNvSpPr/>
          <p:nvPr/>
        </p:nvSpPr>
        <p:spPr>
          <a:xfrm>
            <a:off x="8412480" y="1975104"/>
            <a:ext cx="3200400" cy="80467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1_chu"/>
          <p:cNvSpPr txBox="1"/>
          <p:nvPr/>
        </p:nvSpPr>
        <p:spPr>
          <a:xfrm>
            <a:off x="8577072" y="2011680"/>
            <a:ext cx="2871216" cy="731520"/>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ĐÚNG</a:t>
            </a:r>
          </a:p>
        </p:txBody>
      </p:sp>
      <mc:AlternateContent xmlns:mc="http://schemas.openxmlformats.org/markup-compatibility/2006">
        <mc:Choice xmlns:a14="http://schemas.microsoft.com/office/drawing/2010/main" Requires="a14">
          <p:sp>
            <p:nvSpPr>
              <p:cNvPr id="11" name="TextBox 10"/>
              <p:cNvSpPr txBox="1"/>
              <p:nvPr/>
            </p:nvSpPr>
            <p:spPr>
              <a:xfrm>
                <a:off x="548640" y="2990088"/>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b) </a:t>
                </a:r>
                <a14:m>
                  <m:oMath xmlns:m="http://schemas.openxmlformats.org/officeDocument/2006/math">
                    <m:r>
                      <a:rPr lang="vi-VN" sz="2300" b="0">
                        <a:solidFill>
                          <a:srgbClr val="1E293B"/>
                        </a:solidFill>
                        <a:latin typeface="Cambria Math" panose="02040503050406030204" pitchFamily="18" charset="0"/>
                      </a:rPr>
                      <m:t>|</m:t>
                    </m:r>
                    <m:acc>
                      <m:accPr>
                        <m:chr m:val="⃗"/>
                      </m:accPr>
                      <m:e>
                        <m:r>
                          <a:rPr lang="vi-VN" sz="2300" b="0">
                            <a:solidFill>
                              <a:srgbClr val="1E293B"/>
                            </a:solidFill>
                            <a:latin typeface="Cambria Math" panose="02040503050406030204" pitchFamily="18" charset="0"/>
                          </a:rPr>
                          <m:t>u</m:t>
                        </m:r>
                      </m:e>
                    </m:acc>
                    <m:r>
                      <a:rPr lang="vi-VN" sz="2300" b="0">
                        <a:solidFill>
                          <a:srgbClr val="1E293B"/>
                        </a:solidFill>
                        <a:latin typeface="Cambria Math" panose="02040503050406030204" pitchFamily="18" charset="0"/>
                      </a:rPr>
                      <m:t>|=5</m:t>
                    </m:r>
                  </m:oMath>
                </a14:m>
                <a:r>
                  <a:rPr sz="2300">
                    <a:solidFill>
                      <a:srgbClr val="1E293B"/>
                    </a:solidFill>
                    <a:latin typeface="Calibri"/>
                  </a:rPr>
                  <a:t>.</a:t>
                </a:r>
              </a:p>
            </p:txBody>
          </p:sp>
        </mc:Choice>
        <mc:Fallback>
          <p:sp>
            <p:nvSpPr>
              <p:cNvPr id="11" name="TextBox 10"/>
              <p:cNvSpPr txBox="1"/>
              <p:nvPr/>
            </p:nvSpPr>
            <p:spPr>
              <a:xfrm>
                <a:off x="548640" y="2990088"/>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b) </a:t>
                </a:r>
                <a:r>
                  <a:rPr lang="vi-VN"/>
                  <a:t>|\vec{u}|=5</a:t>
                </a:r>
                <a:r>
                  <a:rPr sz="2300">
                    <a:solidFill>
                      <a:srgbClr val="1E293B"/>
                    </a:solidFill>
                    <a:latin typeface="Calibri"/>
                  </a:rPr>
                  <a:t>.</a:t>
                </a:r>
              </a:p>
            </p:txBody>
          </p:sp>
        </mc:Fallback>
      </mc:AlternateContent>
      <p:sp>
        <p:nvSpPr>
          <p:cNvPr id="12" name="s2_nen"/>
          <p:cNvSpPr/>
          <p:nvPr/>
        </p:nvSpPr>
        <p:spPr>
          <a:xfrm>
            <a:off x="8412480" y="2962656"/>
            <a:ext cx="3200400" cy="80467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2_chu"/>
          <p:cNvSpPr txBox="1"/>
          <p:nvPr/>
        </p:nvSpPr>
        <p:spPr>
          <a:xfrm>
            <a:off x="8577072" y="2999232"/>
            <a:ext cx="2871216" cy="731520"/>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ĐÚNG</a:t>
            </a:r>
          </a:p>
        </p:txBody>
      </p:sp>
      <mc:AlternateContent xmlns:mc="http://schemas.openxmlformats.org/markup-compatibility/2006">
        <mc:Choice xmlns:a14="http://schemas.microsoft.com/office/drawing/2010/main" Requires="a14">
          <p:sp>
            <p:nvSpPr>
              <p:cNvPr id="14" name="TextBox 13"/>
              <p:cNvSpPr txBox="1"/>
              <p:nvPr/>
            </p:nvSpPr>
            <p:spPr>
              <a:xfrm>
                <a:off x="548640" y="3977639"/>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c) </a:t>
                </a:r>
                <a14:m>
                  <m:oMath xmlns:m="http://schemas.openxmlformats.org/officeDocument/2006/math">
                    <m:r>
                      <a:rPr lang="vi-VN" sz="2300" b="0">
                        <a:solidFill>
                          <a:srgbClr val="1E293B"/>
                        </a:solidFill>
                        <a:latin typeface="Cambria Math" panose="02040503050406030204" pitchFamily="18" charset="0"/>
                      </a:rPr>
                      <m:t>(</m:t>
                    </m:r>
                    <m:acc>
                      <m:accPr>
                        <m:chr m:val="⃗"/>
                      </m:accPr>
                      <m:e>
                        <m:r>
                          <a:rPr lang="vi-VN" sz="2300" b="0">
                            <a:solidFill>
                              <a:srgbClr val="1E293B"/>
                            </a:solidFill>
                            <a:latin typeface="Cambria Math" panose="02040503050406030204" pitchFamily="18" charset="0"/>
                          </a:rPr>
                          <m:t>u</m:t>
                        </m:r>
                      </m:e>
                    </m:acc>
                    <m:r>
                      <a:rPr lang="vi-VN" sz="2300" b="0">
                        <a:solidFill>
                          <a:srgbClr val="1E293B"/>
                        </a:solidFill>
                        <a:latin typeface="Cambria Math" panose="02040503050406030204" pitchFamily="18" charset="0"/>
                      </a:rPr>
                      <m:t>,</m:t>
                    </m:r>
                    <m:r>
                      <m:rPr>
                        <m:sty m:val="p"/>
                      </m:rPr>
                      <a:rPr lang="vi-VN" sz="2300" b="0">
                        <a:solidFill>
                          <a:srgbClr val="1E293B"/>
                        </a:solidFill>
                        <a:latin typeface="Cambria Math" panose="02040503050406030204" pitchFamily="18" charset="0"/>
                      </a:rPr>
                      <m:t> </m:t>
                    </m:r>
                    <m:acc>
                      <m:accPr>
                        <m:chr m:val="⃗"/>
                      </m:accPr>
                      <m:e>
                        <m:r>
                          <a:rPr lang="vi-VN" sz="2300" b="0">
                            <a:solidFill>
                              <a:srgbClr val="1E293B"/>
                            </a:solidFill>
                            <a:latin typeface="Cambria Math" panose="02040503050406030204" pitchFamily="18" charset="0"/>
                          </a:rPr>
                          <m:t>v</m:t>
                        </m:r>
                      </m:e>
                    </m:acc>
                    <m:r>
                      <a:rPr lang="vi-VN" sz="2300" b="0">
                        <a:solidFill>
                          <a:srgbClr val="1E293B"/>
                        </a:solidFill>
                        <a:latin typeface="Cambria Math" panose="02040503050406030204" pitchFamily="18" charset="0"/>
                      </a:rPr>
                      <m:t>)=</m:t>
                    </m:r>
                    <m:sSup>
                      <m:e>
                        <m:r>
                          <a:rPr lang="vi-VN" sz="2300" b="0">
                            <a:solidFill>
                              <a:srgbClr val="1E293B"/>
                            </a:solidFill>
                            <a:latin typeface="Cambria Math" panose="02040503050406030204" pitchFamily="18" charset="0"/>
                          </a:rPr>
                          <m:t>0</m:t>
                        </m:r>
                      </m:e>
                      <m:sup>
                        <m:r>
                          <a:rPr lang="vi-VN" sz="2300" b="0">
                            <a:solidFill>
                              <a:srgbClr val="1E293B"/>
                            </a:solidFill>
                            <a:latin typeface="Cambria Math" panose="02040503050406030204" pitchFamily="18" charset="0"/>
                          </a:rPr>
                          <m:t>∘</m:t>
                        </m:r>
                      </m:sup>
                    </m:sSup>
                  </m:oMath>
                </a14:m>
                <a:r>
                  <a:rPr sz="2300">
                    <a:solidFill>
                      <a:srgbClr val="1E293B"/>
                    </a:solidFill>
                    <a:latin typeface="Calibri"/>
                  </a:rPr>
                  <a:t>.</a:t>
                </a:r>
              </a:p>
            </p:txBody>
          </p:sp>
        </mc:Choice>
        <mc:Fallback>
          <p:sp>
            <p:nvSpPr>
              <p:cNvPr id="14" name="TextBox 13"/>
              <p:cNvSpPr txBox="1"/>
              <p:nvPr/>
            </p:nvSpPr>
            <p:spPr>
              <a:xfrm>
                <a:off x="548640" y="3977639"/>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c) </a:t>
                </a:r>
                <a:r>
                  <a:rPr lang="vi-VN"/>
                  <a:t>(\vec{u},\ \vec{v})=0^\circ</a:t>
                </a:r>
                <a:r>
                  <a:rPr sz="2300">
                    <a:solidFill>
                      <a:srgbClr val="1E293B"/>
                    </a:solidFill>
                    <a:latin typeface="Calibri"/>
                  </a:rPr>
                  <a:t>.</a:t>
                </a:r>
              </a:p>
            </p:txBody>
          </p:sp>
        </mc:Fallback>
      </mc:AlternateContent>
      <p:sp>
        <p:nvSpPr>
          <p:cNvPr id="15" name="s3_nen"/>
          <p:cNvSpPr/>
          <p:nvPr/>
        </p:nvSpPr>
        <p:spPr>
          <a:xfrm>
            <a:off x="8412480" y="3950207"/>
            <a:ext cx="3200400" cy="80467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3_chu"/>
          <p:cNvSpPr txBox="1"/>
          <p:nvPr/>
        </p:nvSpPr>
        <p:spPr>
          <a:xfrm>
            <a:off x="8577072" y="3986783"/>
            <a:ext cx="2871216" cy="731520"/>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SAI</a:t>
            </a:r>
            <a:r>
              <a:rPr sz="2100">
                <a:solidFill>
                  <a:srgbClr val="1E293B"/>
                </a:solidFill>
                <a:latin typeface="Calibri"/>
              </a:rPr>
              <a:t> (bằng 90°)</a:t>
            </a:r>
          </a:p>
        </p:txBody>
      </p:sp>
      <mc:AlternateContent xmlns:mc="http://schemas.openxmlformats.org/markup-compatibility/2006">
        <mc:Choice xmlns:a14="http://schemas.microsoft.com/office/drawing/2010/main" Requires="a14">
          <p:sp>
            <p:nvSpPr>
              <p:cNvPr id="17" name="TextBox 16"/>
              <p:cNvSpPr txBox="1"/>
              <p:nvPr/>
            </p:nvSpPr>
            <p:spPr>
              <a:xfrm>
                <a:off x="548640" y="4965192"/>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d) </a:t>
                </a:r>
                <a14:m>
                  <m:oMath xmlns:m="http://schemas.openxmlformats.org/officeDocument/2006/math">
                    <m:d>
                      <m:dPr>
                        <m:sepChr m:val=""/>
                        <m:endChr m:val=""/>
                      </m:dPr>
                      <m:e>
                        <m:acc>
                          <m:accPr>
                            <m:chr m:val="⃗"/>
                          </m:accPr>
                          <m:e>
                            <m:r>
                              <a:rPr lang="vi-VN" sz="2300" b="0">
                                <a:solidFill>
                                  <a:srgbClr val="1E293B"/>
                                </a:solidFill>
                                <a:latin typeface="Cambria Math" panose="02040503050406030204" pitchFamily="18" charset="0"/>
                              </a:rPr>
                              <m:t>u</m:t>
                            </m:r>
                          </m:e>
                        </m:acc>
                        <m:r>
                          <a:rPr lang="vi-VN" sz="2300" b="0">
                            <a:solidFill>
                              <a:srgbClr val="1E293B"/>
                            </a:solidFill>
                            <a:latin typeface="Cambria Math" panose="02040503050406030204" pitchFamily="18" charset="0"/>
                          </a:rPr>
                          <m:t>+</m:t>
                        </m:r>
                        <m:acc>
                          <m:accPr>
                            <m:chr m:val="⃗"/>
                          </m:accPr>
                          <m:e>
                            <m:r>
                              <a:rPr lang="vi-VN" sz="2300" b="0">
                                <a:solidFill>
                                  <a:srgbClr val="1E293B"/>
                                </a:solidFill>
                                <a:latin typeface="Cambria Math" panose="02040503050406030204" pitchFamily="18" charset="0"/>
                              </a:rPr>
                              <m:t>v</m:t>
                            </m:r>
                          </m:e>
                        </m:acc>
                        <m:sSup>
                          <m:e>
                            <m:r>
                              <a:rPr lang="vi-VN" sz="2300" b="0">
                                <a:solidFill>
                                  <a:srgbClr val="1E293B"/>
                                </a:solidFill>
                                <a:latin typeface="Cambria Math" panose="02040503050406030204" pitchFamily="18" charset="0"/>
                              </a:rPr>
                              <m:t>)</m:t>
                            </m:r>
                          </m:e>
                          <m:sup>
                            <m:r>
                              <a:rPr lang="vi-VN" sz="2300" b="0">
                                <a:solidFill>
                                  <a:srgbClr val="1E293B"/>
                                </a:solidFill>
                                <a:latin typeface="Cambria Math" panose="02040503050406030204" pitchFamily="18" charset="0"/>
                              </a:rPr>
                              <m:t>2</m:t>
                            </m:r>
                          </m:sup>
                        </m:sSup>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50</m:t>
                        </m:r>
                      </m:e>
                    </m:d>
                  </m:oMath>
                </a14:m>
                <a:r>
                  <a:rPr sz="2300">
                    <a:solidFill>
                      <a:srgbClr val="1E293B"/>
                    </a:solidFill>
                    <a:latin typeface="Calibri"/>
                  </a:rPr>
                  <a:t>.</a:t>
                </a:r>
              </a:p>
            </p:txBody>
          </p:sp>
        </mc:Choice>
        <mc:Fallback>
          <p:sp>
            <p:nvSpPr>
              <p:cNvPr id="17" name="TextBox 16"/>
              <p:cNvSpPr txBox="1"/>
              <p:nvPr/>
            </p:nvSpPr>
            <p:spPr>
              <a:xfrm>
                <a:off x="548640" y="4965192"/>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d) </a:t>
                </a:r>
                <a:r>
                  <a:rPr lang="vi-VN"/>
                  <a:t>(\vec{u}+\vec{v})^2=50</a:t>
                </a:r>
                <a:r>
                  <a:rPr sz="2300">
                    <a:solidFill>
                      <a:srgbClr val="1E293B"/>
                    </a:solidFill>
                    <a:latin typeface="Calibri"/>
                  </a:rPr>
                  <a:t>.</a:t>
                </a:r>
              </a:p>
            </p:txBody>
          </p:sp>
        </mc:Fallback>
      </mc:AlternateContent>
      <p:sp>
        <p:nvSpPr>
          <p:cNvPr id="18" name="s4_nen"/>
          <p:cNvSpPr/>
          <p:nvPr/>
        </p:nvSpPr>
        <p:spPr>
          <a:xfrm>
            <a:off x="8412480" y="4937759"/>
            <a:ext cx="3200400" cy="80467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4_chu"/>
          <p:cNvSpPr txBox="1"/>
          <p:nvPr/>
        </p:nvSpPr>
        <p:spPr>
          <a:xfrm>
            <a:off x="8577072" y="4974336"/>
            <a:ext cx="2871216" cy="731520"/>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ĐÚNG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6 (TRẢ LỜI NGẮN)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41</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a:t>
                </a:r>
                <a14:m>
                  <m:oMath xmlns:m="http://schemas.openxmlformats.org/officeDocument/2006/math">
                    <m:r>
                      <a:rPr lang="vi-VN" sz="2600" b="0">
                        <a:solidFill>
                          <a:srgbClr val="1E293B"/>
                        </a:solidFill>
                        <a:latin typeface="Cambria Math" panose="02040503050406030204" pitchFamily="18" charset="0"/>
                      </a:rPr>
                      <m:t>|</m:t>
                    </m:r>
                    <m:acc>
                      <m:accPr>
                        <m:chr m:val="⃗"/>
                      </m:accPr>
                      <m:e>
                        <m:r>
                          <a:rPr lang="vi-VN" sz="2600" b="0">
                            <a:solidFill>
                              <a:srgbClr val="1E293B"/>
                            </a:solidFill>
                            <a:latin typeface="Cambria Math" panose="02040503050406030204" pitchFamily="18" charset="0"/>
                          </a:rPr>
                          <m:t>a</m:t>
                        </m:r>
                      </m:e>
                    </m:acc>
                    <m:r>
                      <a:rPr lang="vi-VN" sz="2600" b="0">
                        <a:solidFill>
                          <a:srgbClr val="1E293B"/>
                        </a:solidFill>
                        <a:latin typeface="Cambria Math" panose="02040503050406030204" pitchFamily="18" charset="0"/>
                      </a:rPr>
                      <m:t>|=2</m:t>
                    </m:r>
                  </m:oMath>
                </a14:m>
                <a:r>
                  <a:rPr sz="2600">
                    <a:solidFill>
                      <a:srgbClr val="1E293B"/>
                    </a:solidFill>
                    <a:latin typeface="Calibri"/>
                  </a:rPr>
                  <a:t>, </a:t>
                </a:r>
                <a14:m>
                  <m:oMath xmlns:m="http://schemas.openxmlformats.org/officeDocument/2006/math">
                    <m:r>
                      <a:rPr lang="vi-VN" sz="2600" b="0">
                        <a:solidFill>
                          <a:srgbClr val="1E293B"/>
                        </a:solidFill>
                        <a:latin typeface="Cambria Math" panose="02040503050406030204" pitchFamily="18" charset="0"/>
                      </a:rPr>
                      <m:t>|</m:t>
                    </m:r>
                    <m:acc>
                      <m:accPr>
                        <m:chr m:val="⃗"/>
                      </m:accPr>
                      <m:e>
                        <m:r>
                          <a:rPr lang="vi-VN" sz="2600" b="0">
                            <a:solidFill>
                              <a:srgbClr val="1E293B"/>
                            </a:solidFill>
                            <a:latin typeface="Cambria Math" panose="02040503050406030204" pitchFamily="18" charset="0"/>
                          </a:rPr>
                          <m:t>b</m:t>
                        </m:r>
                      </m:e>
                    </m:acc>
                    <m:r>
                      <a:rPr lang="vi-VN" sz="2600" b="0">
                        <a:solidFill>
                          <a:srgbClr val="1E293B"/>
                        </a:solidFill>
                        <a:latin typeface="Cambria Math" panose="02040503050406030204" pitchFamily="18" charset="0"/>
                      </a:rPr>
                      <m:t>|=3</m:t>
                    </m:r>
                  </m:oMath>
                </a14:m>
                <a:r>
                  <a:rPr sz="2600">
                    <a:solidFill>
                      <a:srgbClr val="1E293B"/>
                    </a:solidFill>
                    <a:latin typeface="Calibri"/>
                  </a:rPr>
                  <a:t> và </a:t>
                </a:r>
                <a14:m>
                  <m:oMath xmlns:m="http://schemas.openxmlformats.org/officeDocument/2006/math">
                    <m:r>
                      <a:rPr lang="vi-VN" sz="2600" b="0">
                        <a:solidFill>
                          <a:srgbClr val="1E293B"/>
                        </a:solidFill>
                        <a:latin typeface="Cambria Math" panose="02040503050406030204" pitchFamily="18" charset="0"/>
                      </a:rPr>
                      <m:t>(</m:t>
                    </m:r>
                    <m:acc>
                      <m:accPr>
                        <m:chr m:val="⃗"/>
                      </m:accPr>
                      <m:e>
                        <m:r>
                          <a:rPr lang="vi-VN" sz="2600" b="0">
                            <a:solidFill>
                              <a:srgbClr val="1E293B"/>
                            </a:solidFill>
                            <a:latin typeface="Cambria Math" panose="02040503050406030204" pitchFamily="18" charset="0"/>
                          </a:rPr>
                          <m:t>a</m:t>
                        </m:r>
                      </m:e>
                    </m:acc>
                    <m:r>
                      <a:rPr lang="vi-VN" sz="2600" b="0">
                        <a:solidFill>
                          <a:srgbClr val="1E293B"/>
                        </a:solidFill>
                        <a:latin typeface="Cambria Math" panose="02040503050406030204" pitchFamily="18" charset="0"/>
                      </a:rPr>
                      <m:t>,</m:t>
                    </m:r>
                    <m:r>
                      <m:rPr>
                        <m:sty m:val="p"/>
                      </m:rPr>
                      <a:rPr lang="vi-VN" sz="2600" b="0">
                        <a:solidFill>
                          <a:srgbClr val="1E293B"/>
                        </a:solidFill>
                        <a:latin typeface="Cambria Math" panose="02040503050406030204" pitchFamily="18" charset="0"/>
                      </a:rPr>
                      <m:t> </m:t>
                    </m:r>
                    <m:acc>
                      <m:accPr>
                        <m:chr m:val="⃗"/>
                      </m:accPr>
                      <m:e>
                        <m:r>
                          <a:rPr lang="vi-VN" sz="2600" b="0">
                            <a:solidFill>
                              <a:srgbClr val="1E293B"/>
                            </a:solidFill>
                            <a:latin typeface="Cambria Math" panose="02040503050406030204" pitchFamily="18" charset="0"/>
                          </a:rPr>
                          <m:t>b</m:t>
                        </m:r>
                      </m:e>
                    </m:acc>
                    <m:r>
                      <a:rPr lang="vi-VN" sz="2600" b="0">
                        <a:solidFill>
                          <a:srgbClr val="1E293B"/>
                        </a:solidFill>
                        <a:latin typeface="Cambria Math" panose="02040503050406030204" pitchFamily="18" charset="0"/>
                      </a:rPr>
                      <m:t>)=</m:t>
                    </m:r>
                    <m:sSup>
                      <m:e>
                        <m:r>
                          <a:rPr lang="vi-VN" sz="2600" b="0">
                            <a:solidFill>
                              <a:srgbClr val="1E293B"/>
                            </a:solidFill>
                            <a:latin typeface="Cambria Math" panose="02040503050406030204" pitchFamily="18" charset="0"/>
                          </a:rPr>
                          <m:t>60</m:t>
                        </m:r>
                      </m:e>
                      <m:sup>
                        <m:r>
                          <a:rPr lang="vi-VN" sz="2600" b="0">
                            <a:solidFill>
                              <a:srgbClr val="1E293B"/>
                            </a:solidFill>
                            <a:latin typeface="Cambria Math" panose="02040503050406030204" pitchFamily="18" charset="0"/>
                          </a:rPr>
                          <m:t>∘</m:t>
                        </m:r>
                      </m:sup>
                    </m:sSup>
                  </m:oMath>
                </a14:m>
                <a:r>
                  <a:rPr sz="2600">
                    <a:solidFill>
                      <a:srgbClr val="1E293B"/>
                    </a:solidFill>
                    <a:latin typeface="Calibri"/>
                  </a:rPr>
                  <a:t>. Tính </a:t>
                </a:r>
                <a14:m>
                  <m:oMath xmlns:m="http://schemas.openxmlformats.org/officeDocument/2006/math">
                    <m:sSup>
                      <m:e>
                        <m:d>
                          <m:dPr>
                            <m:sepChr m:val=""/>
                          </m:dPr>
                          <m:e>
                            <m:acc>
                              <m:accPr>
                                <m:chr m:val="⃗"/>
                              </m:accPr>
                              <m:e>
                                <m:r>
                                  <a:rPr lang="vi-VN" sz="2600" b="0">
                                    <a:solidFill>
                                      <a:srgbClr val="1E293B"/>
                                    </a:solidFill>
                                    <a:latin typeface="Cambria Math" panose="02040503050406030204" pitchFamily="18" charset="0"/>
                                  </a:rPr>
                                  <m:t>a</m:t>
                                </m:r>
                              </m:e>
                            </m:acc>
                            <m:r>
                              <a:rPr lang="vi-VN" sz="2600" b="0">
                                <a:solidFill>
                                  <a:srgbClr val="1E293B"/>
                                </a:solidFill>
                                <a:latin typeface="Cambria Math" panose="02040503050406030204" pitchFamily="18" charset="0"/>
                              </a:rPr>
                              <m:t>+</m:t>
                            </m:r>
                            <m:acc>
                              <m:accPr>
                                <m:chr m:val="⃗"/>
                              </m:accPr>
                              <m:e>
                                <m:r>
                                  <a:rPr lang="vi-VN" sz="2600" b="0">
                                    <a:solidFill>
                                      <a:srgbClr val="1E293B"/>
                                    </a:solidFill>
                                    <a:latin typeface="Cambria Math" panose="02040503050406030204" pitchFamily="18" charset="0"/>
                                  </a:rPr>
                                  <m:t>b</m:t>
                                </m:r>
                              </m:e>
                            </m:acc>
                          </m:e>
                        </m:d>
                      </m:e>
                      <m:sup>
                        <m:r>
                          <a:rPr lang="vi-VN" sz="2600" b="0">
                            <a:solidFill>
                              <a:srgbClr val="1E293B"/>
                            </a:solidFill>
                            <a:latin typeface="Cambria Math" panose="02040503050406030204" pitchFamily="18" charset="0"/>
                          </a:rPr>
                          <m:t>2</m:t>
                        </m:r>
                      </m:sup>
                    </m:sSup>
                  </m:oMath>
                </a14:m>
                <a:r>
                  <a:rPr sz="2600">
                    <a:solidFill>
                      <a:srgbClr val="1E293B"/>
                    </a:solidFill>
                    <a:latin typeface="Calibri"/>
                  </a:rPr>
                  <a:t>.</a:t>
                </a:r>
              </a:p>
            </p:txBody>
          </p:sp>
        </mc:Choice>
        <mc:Fallback>
          <p:sp>
            <p:nvSpPr>
              <p:cNvPr id="7" name="TextBox 6"/>
              <p:cNvSpPr txBox="1"/>
              <p:nvPr/>
            </p:nvSpPr>
            <p:spPr>
              <a:xfrm>
                <a:off x="548640" y="146304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a:t>
                </a:r>
                <a:r>
                  <a:rPr lang="vi-VN"/>
                  <a:t>|\vec{a}|=2</a:t>
                </a:r>
                <a:r>
                  <a:rPr sz="2600">
                    <a:solidFill>
                      <a:srgbClr val="1E293B"/>
                    </a:solidFill>
                    <a:latin typeface="Calibri"/>
                  </a:rPr>
                  <a:t>, </a:t>
                </a:r>
                <a:r>
                  <a:rPr lang="vi-VN"/>
                  <a:t>|\vec{b}|=3</a:t>
                </a:r>
                <a:r>
                  <a:rPr sz="2600">
                    <a:solidFill>
                      <a:srgbClr val="1E293B"/>
                    </a:solidFill>
                    <a:latin typeface="Calibri"/>
                  </a:rPr>
                  <a:t> và </a:t>
                </a:r>
                <a:r>
                  <a:rPr lang="vi-VN"/>
                  <a:t>(\vec{a},\ \vec{b})=60^\circ</a:t>
                </a:r>
                <a:r>
                  <a:rPr sz="2600">
                    <a:solidFill>
                      <a:srgbClr val="1E293B"/>
                    </a:solidFill>
                    <a:latin typeface="Calibri"/>
                  </a:rPr>
                  <a:t>. Tính </a:t>
                </a:r>
                <a:r>
                  <a:rPr lang="vi-VN"/>
                  <a:t>(\vec{a}+\vec{b})^2</a:t>
                </a:r>
                <a:r>
                  <a:rPr sz="2600">
                    <a:solidFill>
                      <a:srgbClr val="1E293B"/>
                    </a:solidFill>
                    <a:latin typeface="Calibri"/>
                  </a:rPr>
                  <a:t>.</a:t>
                </a:r>
              </a:p>
            </p:txBody>
          </p:sp>
        </mc:Fallback>
      </mc:AlternateContent>
      <p:sp>
        <p:nvSpPr>
          <p:cNvPr id="8" name="s1_nen"/>
          <p:cNvSpPr/>
          <p:nvPr/>
        </p:nvSpPr>
        <p:spPr>
          <a:xfrm>
            <a:off x="548640" y="3931920"/>
            <a:ext cx="1106424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968496"/>
                <a:ext cx="10735056" cy="557784"/>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19.</a:t>
                </a:r>
                <a:r>
                  <a:rPr sz="2400">
                    <a:solidFill>
                      <a:srgbClr val="1E293B"/>
                    </a:solidFill>
                    <a:latin typeface="Calibri"/>
                  </a:rPr>
                  <a:t> </a:t>
                </a:r>
                <a14:m>
                  <m:oMath xmlns:m="http://schemas.openxmlformats.org/officeDocument/2006/math">
                    <m:d>
                      <m:dPr>
                        <m:sepChr m:val=""/>
                        <m:endChr m:val=""/>
                      </m:dPr>
                      <m:e>
                        <m:acc>
                          <m:accPr>
                            <m:chr m:val="⃗"/>
                          </m:accPr>
                          <m:e>
                            <m:r>
                              <a:rPr lang="vi-VN" sz="2400" b="0">
                                <a:solidFill>
                                  <a:srgbClr val="1E293B"/>
                                </a:solidFill>
                                <a:latin typeface="Cambria Math" panose="02040503050406030204" pitchFamily="18" charset="0"/>
                              </a:rPr>
                              <m:t>a</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b</m:t>
                            </m:r>
                          </m:e>
                        </m:acc>
                        <m:sSup>
                          <m:e>
                            <m:r>
                              <a:rPr lang="vi-VN" sz="2400" b="0">
                                <a:solidFill>
                                  <a:srgbClr val="1E293B"/>
                                </a:solidFill>
                                <a:latin typeface="Cambria Math" panose="02040503050406030204" pitchFamily="18" charset="0"/>
                              </a:rPr>
                              <m:t>)</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m:t>
                        </m:r>
                        <m:sSup>
                          <m:e>
                            <m:acc>
                              <m:accPr>
                                <m:chr m:val="⃗"/>
                              </m:accPr>
                              <m:e>
                                <m:r>
                                  <a:rPr lang="vi-VN" sz="2400" b="0">
                                    <a:solidFill>
                                      <a:srgbClr val="1E293B"/>
                                    </a:solidFill>
                                    <a:latin typeface="Cambria Math" panose="02040503050406030204" pitchFamily="18" charset="0"/>
                                  </a:rPr>
                                  <m:t>a</m:t>
                                </m:r>
                              </m:e>
                            </m:acc>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acc>
                          <m:accPr>
                            <m:chr m:val="⃗"/>
                          </m:accPr>
                          <m:e>
                            <m:r>
                              <a:rPr lang="vi-VN" sz="2400" b="0">
                                <a:solidFill>
                                  <a:srgbClr val="1E293B"/>
                                </a:solidFill>
                                <a:latin typeface="Cambria Math" panose="02040503050406030204" pitchFamily="18" charset="0"/>
                              </a:rPr>
                              <m:t>a</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b</m:t>
                            </m:r>
                          </m:e>
                        </m:acc>
                        <m:r>
                          <a:rPr lang="vi-VN" sz="2400" b="0">
                            <a:solidFill>
                              <a:srgbClr val="1E293B"/>
                            </a:solidFill>
                            <a:latin typeface="Cambria Math" panose="02040503050406030204" pitchFamily="18" charset="0"/>
                          </a:rPr>
                          <m:t>+</m:t>
                        </m:r>
                        <m:sSup>
                          <m:e>
                            <m:acc>
                              <m:accPr>
                                <m:chr m:val="⃗"/>
                              </m:accPr>
                              <m:e>
                                <m:r>
                                  <a:rPr lang="vi-VN" sz="2400" b="0">
                                    <a:solidFill>
                                      <a:srgbClr val="1E293B"/>
                                    </a:solidFill>
                                    <a:latin typeface="Cambria Math" panose="02040503050406030204" pitchFamily="18" charset="0"/>
                                  </a:rPr>
                                  <m:t>b</m:t>
                                </m:r>
                              </m:e>
                            </m:acc>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4</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3</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9</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19</m:t>
                        </m:r>
                      </m:e>
                    </m:d>
                  </m:oMath>
                </a14:m>
                <a:r>
                  <a:rPr sz="2400">
                    <a:solidFill>
                      <a:srgbClr val="1E293B"/>
                    </a:solidFill>
                    <a:latin typeface="Calibri"/>
                  </a:rPr>
                  <a:t>.</a:t>
                </a:r>
              </a:p>
            </p:txBody>
          </p:sp>
        </mc:Choice>
        <mc:Fallback>
          <p:sp>
            <p:nvSpPr>
              <p:cNvPr id="9" name="TextBox 8"/>
              <p:cNvSpPr txBox="1"/>
              <p:nvPr/>
            </p:nvSpPr>
            <p:spPr>
              <a:xfrm>
                <a:off x="713232" y="3968496"/>
                <a:ext cx="10735056" cy="557784"/>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19.</a:t>
                </a:r>
                <a:r>
                  <a:rPr sz="2400">
                    <a:solidFill>
                      <a:srgbClr val="1E293B"/>
                    </a:solidFill>
                    <a:latin typeface="Calibri"/>
                  </a:rPr>
                  <a:t> </a:t>
                </a:r>
                <a:r>
                  <a:rPr lang="vi-VN"/>
                  <a:t>(\vec{a}+\vec{b})^2=\vec{a}^2+2\vec{a}\cdot\vec{b}+\vec{b}^2=4+2\cdot 3+9=19</a:t>
                </a:r>
                <a:r>
                  <a:rPr sz="24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7 (TRẢ LỜI NGẮN)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42</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a:t>
                </a:r>
                <a14:m>
                  <m:oMath xmlns:m="http://schemas.openxmlformats.org/officeDocument/2006/math">
                    <m:r>
                      <a:rPr lang="vi-VN" sz="2600" b="0">
                        <a:solidFill>
                          <a:srgbClr val="1E293B"/>
                        </a:solidFill>
                        <a:latin typeface="Cambria Math" panose="02040503050406030204" pitchFamily="18" charset="0"/>
                      </a:rPr>
                      <m:t>A(1;</m:t>
                    </m:r>
                    <m:r>
                      <m:rPr>
                        <m:sty m:val="p"/>
                      </m:rPr>
                      <a:rPr lang="vi-VN" sz="2600" b="0">
                        <a:solidFill>
                          <a:srgbClr val="1E293B"/>
                        </a:solidFill>
                        <a:latin typeface="Cambria Math" panose="02040503050406030204" pitchFamily="18" charset="0"/>
                      </a:rPr>
                      <m:t> </m:t>
                    </m:r>
                    <m:r>
                      <a:rPr lang="vi-VN" sz="2600" b="0">
                        <a:solidFill>
                          <a:srgbClr val="1E293B"/>
                        </a:solidFill>
                        <a:latin typeface="Cambria Math" panose="02040503050406030204" pitchFamily="18" charset="0"/>
                      </a:rPr>
                      <m:t>2)</m:t>
                    </m:r>
                  </m:oMath>
                </a14:m>
                <a:r>
                  <a:rPr sz="2600">
                    <a:solidFill>
                      <a:srgbClr val="1E293B"/>
                    </a:solidFill>
                    <a:latin typeface="Calibri"/>
                  </a:rPr>
                  <a:t>, </a:t>
                </a:r>
                <a14:m>
                  <m:oMath xmlns:m="http://schemas.openxmlformats.org/officeDocument/2006/math">
                    <m:r>
                      <a:rPr lang="vi-VN" sz="2600" b="0">
                        <a:solidFill>
                          <a:srgbClr val="1E293B"/>
                        </a:solidFill>
                        <a:latin typeface="Cambria Math" panose="02040503050406030204" pitchFamily="18" charset="0"/>
                      </a:rPr>
                      <m:t>B(4;</m:t>
                    </m:r>
                    <m:r>
                      <m:rPr>
                        <m:sty m:val="p"/>
                      </m:rPr>
                      <a:rPr lang="vi-VN" sz="2600" b="0">
                        <a:solidFill>
                          <a:srgbClr val="1E293B"/>
                        </a:solidFill>
                        <a:latin typeface="Cambria Math" panose="02040503050406030204" pitchFamily="18" charset="0"/>
                      </a:rPr>
                      <m:t> </m:t>
                    </m:r>
                    <m:r>
                      <a:rPr lang="vi-VN" sz="2600" b="0">
                        <a:solidFill>
                          <a:srgbClr val="1E293B"/>
                        </a:solidFill>
                        <a:latin typeface="Cambria Math" panose="02040503050406030204" pitchFamily="18" charset="0"/>
                      </a:rPr>
                      <m:t>−2)</m:t>
                    </m:r>
                  </m:oMath>
                </a14:m>
                <a:r>
                  <a:rPr sz="2600">
                    <a:solidFill>
                      <a:srgbClr val="1E293B"/>
                    </a:solidFill>
                    <a:latin typeface="Calibri"/>
                  </a:rPr>
                  <a:t>. Tìm </a:t>
                </a:r>
                <a14:m>
                  <m:oMath xmlns:m="http://schemas.openxmlformats.org/officeDocument/2006/math">
                    <m:r>
                      <a:rPr lang="vi-VN" sz="2600" b="0">
                        <a:solidFill>
                          <a:srgbClr val="1E293B"/>
                        </a:solidFill>
                        <a:latin typeface="Cambria Math" panose="02040503050406030204" pitchFamily="18" charset="0"/>
                      </a:rPr>
                      <m:t>x&gt;0</m:t>
                    </m:r>
                  </m:oMath>
                </a14:m>
                <a:r>
                  <a:rPr sz="2600">
                    <a:solidFill>
                      <a:srgbClr val="1E293B"/>
                    </a:solidFill>
                    <a:latin typeface="Calibri"/>
                  </a:rPr>
                  <a:t> để điểm </a:t>
                </a:r>
                <a14:m>
                  <m:oMath xmlns:m="http://schemas.openxmlformats.org/officeDocument/2006/math">
                    <m:r>
                      <a:rPr lang="vi-VN" sz="2600" b="0">
                        <a:solidFill>
                          <a:srgbClr val="1E293B"/>
                        </a:solidFill>
                        <a:latin typeface="Cambria Math" panose="02040503050406030204" pitchFamily="18" charset="0"/>
                      </a:rPr>
                      <m:t>C(x;</m:t>
                    </m:r>
                    <m:r>
                      <m:rPr>
                        <m:sty m:val="p"/>
                      </m:rPr>
                      <a:rPr lang="vi-VN" sz="2600" b="0">
                        <a:solidFill>
                          <a:srgbClr val="1E293B"/>
                        </a:solidFill>
                        <a:latin typeface="Cambria Math" panose="02040503050406030204" pitchFamily="18" charset="0"/>
                      </a:rPr>
                      <m:t> </m:t>
                    </m:r>
                    <m:r>
                      <a:rPr lang="vi-VN" sz="2600" b="0">
                        <a:solidFill>
                          <a:srgbClr val="1E293B"/>
                        </a:solidFill>
                        <a:latin typeface="Cambria Math" panose="02040503050406030204" pitchFamily="18" charset="0"/>
                      </a:rPr>
                      <m:t>0)</m:t>
                    </m:r>
                  </m:oMath>
                </a14:m>
                <a:r>
                  <a:rPr sz="2600">
                    <a:solidFill>
                      <a:srgbClr val="1E293B"/>
                    </a:solidFill>
                    <a:latin typeface="Calibri"/>
                  </a:rPr>
                  <a:t> thoả mãn </a:t>
                </a:r>
                <a14:m>
                  <m:oMath xmlns:m="http://schemas.openxmlformats.org/officeDocument/2006/math">
                    <m:acc>
                      <m:accPr>
                        <m:chr m:val="̂"/>
                      </m:accPr>
                      <m:e>
                        <m:r>
                          <a:rPr lang="vi-VN" sz="2600" b="0">
                            <a:solidFill>
                              <a:srgbClr val="1E293B"/>
                            </a:solidFill>
                            <a:latin typeface="Cambria Math" panose="02040503050406030204" pitchFamily="18" charset="0"/>
                          </a:rPr>
                          <m:t>ACB</m:t>
                        </m:r>
                      </m:e>
                    </m:acc>
                    <m:r>
                      <a:rPr lang="vi-VN" sz="2600" b="0">
                        <a:solidFill>
                          <a:srgbClr val="1E293B"/>
                        </a:solidFill>
                        <a:latin typeface="Cambria Math" panose="02040503050406030204" pitchFamily="18" charset="0"/>
                      </a:rPr>
                      <m:t>=</m:t>
                    </m:r>
                    <m:sSup>
                      <m:e>
                        <m:r>
                          <a:rPr lang="vi-VN" sz="2600" b="0">
                            <a:solidFill>
                              <a:srgbClr val="1E293B"/>
                            </a:solidFill>
                            <a:latin typeface="Cambria Math" panose="02040503050406030204" pitchFamily="18" charset="0"/>
                          </a:rPr>
                          <m:t>90</m:t>
                        </m:r>
                      </m:e>
                      <m:sup>
                        <m:r>
                          <a:rPr lang="vi-VN" sz="2600" b="0">
                            <a:solidFill>
                              <a:srgbClr val="1E293B"/>
                            </a:solidFill>
                            <a:latin typeface="Cambria Math" panose="02040503050406030204" pitchFamily="18" charset="0"/>
                          </a:rPr>
                          <m:t>∘</m:t>
                        </m:r>
                      </m:sup>
                    </m:sSup>
                  </m:oMath>
                </a14:m>
                <a:r>
                  <a:rPr sz="2600">
                    <a:solidFill>
                      <a:srgbClr val="1E293B"/>
                    </a:solidFill>
                    <a:latin typeface="Calibri"/>
                  </a:rPr>
                  <a:t>.</a:t>
                </a:r>
              </a:p>
            </p:txBody>
          </p:sp>
        </mc:Choice>
        <mc:Fallback>
          <p:sp>
            <p:nvSpPr>
              <p:cNvPr id="7" name="TextBox 6"/>
              <p:cNvSpPr txBox="1"/>
              <p:nvPr/>
            </p:nvSpPr>
            <p:spPr>
              <a:xfrm>
                <a:off x="548640" y="146304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a:t>
                </a:r>
                <a:r>
                  <a:rPr lang="vi-VN"/>
                  <a:t>A(1;\ 2)</a:t>
                </a:r>
                <a:r>
                  <a:rPr sz="2600">
                    <a:solidFill>
                      <a:srgbClr val="1E293B"/>
                    </a:solidFill>
                    <a:latin typeface="Calibri"/>
                  </a:rPr>
                  <a:t>, </a:t>
                </a:r>
                <a:r>
                  <a:rPr lang="vi-VN"/>
                  <a:t>B(4;\ -2)</a:t>
                </a:r>
                <a:r>
                  <a:rPr sz="2600">
                    <a:solidFill>
                      <a:srgbClr val="1E293B"/>
                    </a:solidFill>
                    <a:latin typeface="Calibri"/>
                  </a:rPr>
                  <a:t>. Tìm </a:t>
                </a:r>
                <a:r>
                  <a:rPr lang="vi-VN"/>
                  <a:t>x&gt;0</a:t>
                </a:r>
                <a:r>
                  <a:rPr sz="2600">
                    <a:solidFill>
                      <a:srgbClr val="1E293B"/>
                    </a:solidFill>
                    <a:latin typeface="Calibri"/>
                  </a:rPr>
                  <a:t> để điểm </a:t>
                </a:r>
                <a:r>
                  <a:rPr lang="vi-VN"/>
                  <a:t>C(x;\ 0)</a:t>
                </a:r>
                <a:r>
                  <a:rPr sz="2600">
                    <a:solidFill>
                      <a:srgbClr val="1E293B"/>
                    </a:solidFill>
                    <a:latin typeface="Calibri"/>
                  </a:rPr>
                  <a:t> thoả mãn </a:t>
                </a:r>
                <a:r>
                  <a:rPr lang="vi-VN"/>
                  <a:t>\widehat{ACB}=90^\circ</a:t>
                </a:r>
                <a:r>
                  <a:rPr sz="2600">
                    <a:solidFill>
                      <a:srgbClr val="1E293B"/>
                    </a:solidFill>
                    <a:latin typeface="Calibri"/>
                  </a:rPr>
                  <a:t>.</a:t>
                </a:r>
              </a:p>
            </p:txBody>
          </p:sp>
        </mc:Fallback>
      </mc:AlternateContent>
      <p:sp>
        <p:nvSpPr>
          <p:cNvPr id="8" name="s1_nen"/>
          <p:cNvSpPr/>
          <p:nvPr/>
        </p:nvSpPr>
        <p:spPr>
          <a:xfrm>
            <a:off x="548640" y="3931920"/>
            <a:ext cx="11064240" cy="9966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968496"/>
                <a:ext cx="10735056" cy="923543"/>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5.</a:t>
                </a: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CA</m:t>
                        </m:r>
                      </m:e>
                    </m:acc>
                  </m:oMath>
                </a14:m>
                <a:r>
                  <a:rPr sz="2400">
                    <a:solidFill>
                      <a:srgbClr val="1E293B"/>
                    </a:solidFill>
                    <a:latin typeface="Calibri"/>
                  </a:rPr>
                  <a:t> = </a:t>
                </a:r>
                <a14:m>
                  <m:oMath xmlns:m="http://schemas.openxmlformats.org/officeDocument/2006/math">
                    <m:d>
                      <m:dPr>
                        <m:sepChr m:val=""/>
                      </m:dPr>
                      <m:e>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x</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2</m:t>
                        </m:r>
                      </m:e>
                    </m:d>
                  </m:oMath>
                </a14:m>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CB</m:t>
                        </m:r>
                      </m:e>
                    </m:acc>
                  </m:oMath>
                </a14:m>
                <a:r>
                  <a:rPr sz="2400">
                    <a:solidFill>
                      <a:srgbClr val="1E293B"/>
                    </a:solidFill>
                    <a:latin typeface="Calibri"/>
                  </a:rPr>
                  <a:t> = </a:t>
                </a:r>
                <a14:m>
                  <m:oMath xmlns:m="http://schemas.openxmlformats.org/officeDocument/2006/math">
                    <m:d>
                      <m:dPr>
                        <m:sepChr m:val=""/>
                      </m:dPr>
                      <m:e>
                        <m:r>
                          <a:rPr lang="vi-VN" sz="2400" b="0">
                            <a:solidFill>
                              <a:srgbClr val="1E293B"/>
                            </a:solidFill>
                            <a:latin typeface="Cambria Math" panose="02040503050406030204" pitchFamily="18" charset="0"/>
                          </a:rPr>
                          <m:t>4</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x</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e>
                    </m:d>
                  </m:oMath>
                </a14:m>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CA</m:t>
                        </m:r>
                      </m:e>
                    </m:acc>
                  </m:oMath>
                </a14:m>
                <a14:m>
                  <m:oMath xmlns:m="http://schemas.openxmlformats.org/officeDocument/2006/math">
                    <m:r>
                      <a:rPr lang="vi-VN" sz="2400" b="0">
                        <a:solidFill>
                          <a:srgbClr val="1E293B"/>
                        </a:solidFill>
                        <a:latin typeface="Cambria Math" panose="02040503050406030204" pitchFamily="18" charset="0"/>
                      </a:rPr>
                      <m:t>·</m:t>
                    </m:r>
                  </m:oMath>
                </a14:m>
                <a14:m>
                  <m:oMath xmlns:m="http://schemas.openxmlformats.org/officeDocument/2006/math">
                    <m:acc>
                      <m:accPr>
                        <m:chr m:val="⃗"/>
                      </m:accPr>
                      <m:e>
                        <m:r>
                          <a:rPr lang="vi-VN" sz="2400" b="0">
                            <a:solidFill>
                              <a:srgbClr val="1E293B"/>
                            </a:solidFill>
                            <a:latin typeface="Cambria Math" panose="02040503050406030204" pitchFamily="18" charset="0"/>
                          </a:rPr>
                          <m:t>CB</m:t>
                        </m:r>
                      </m:e>
                    </m:acc>
                  </m:oMath>
                </a14:m>
                <a:r>
                  <a:rPr sz="2400">
                    <a:solidFill>
                      <a:srgbClr val="1E293B"/>
                    </a:solidFill>
                    <a:latin typeface="Calibri"/>
                  </a:rPr>
                  <a:t> = </a:t>
                </a:r>
                <a14:m>
                  <m:oMath xmlns:m="http://schemas.openxmlformats.org/officeDocument/2006/math">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−5x=0</m:t>
                    </m:r>
                  </m:oMath>
                </a14:m>
                <a:r>
                  <a:rPr sz="2400">
                    <a:solidFill>
                      <a:srgbClr val="1E293B"/>
                    </a:solidFill>
                    <a:latin typeface="Calibri"/>
                  </a:rPr>
                  <a:t> ⇒ </a:t>
                </a:r>
                <a14:m>
                  <m:oMath xmlns:m="http://schemas.openxmlformats.org/officeDocument/2006/math">
                    <m:r>
                      <a:rPr lang="vi-VN" sz="2400" b="0">
                        <a:solidFill>
                          <a:srgbClr val="1E293B"/>
                        </a:solidFill>
                        <a:latin typeface="Cambria Math" panose="02040503050406030204" pitchFamily="18" charset="0"/>
                      </a:rPr>
                      <m:t>x=5</m:t>
                    </m:r>
                  </m:oMath>
                </a14:m>
                <a:r>
                  <a:rPr sz="2400">
                    <a:solidFill>
                      <a:srgbClr val="1E293B"/>
                    </a:solidFill>
                    <a:latin typeface="Calibri"/>
                  </a:rPr>
                  <a:t> (vì </a:t>
                </a:r>
                <a14:m>
                  <m:oMath xmlns:m="http://schemas.openxmlformats.org/officeDocument/2006/math">
                    <m:r>
                      <a:rPr lang="vi-VN" sz="2400" b="0">
                        <a:solidFill>
                          <a:srgbClr val="1E293B"/>
                        </a:solidFill>
                        <a:latin typeface="Cambria Math" panose="02040503050406030204" pitchFamily="18" charset="0"/>
                      </a:rPr>
                      <m:t>x&gt;0</m:t>
                    </m:r>
                  </m:oMath>
                </a14:m>
                <a:r>
                  <a:rPr sz="2400">
                    <a:solidFill>
                      <a:srgbClr val="1E293B"/>
                    </a:solidFill>
                    <a:latin typeface="Calibri"/>
                  </a:rPr>
                  <a:t>).</a:t>
                </a:r>
              </a:p>
            </p:txBody>
          </p:sp>
        </mc:Choice>
        <mc:Fallback>
          <p:sp>
            <p:nvSpPr>
              <p:cNvPr id="9" name="TextBox 8"/>
              <p:cNvSpPr txBox="1"/>
              <p:nvPr/>
            </p:nvSpPr>
            <p:spPr>
              <a:xfrm>
                <a:off x="713232" y="3968496"/>
                <a:ext cx="10735056" cy="923543"/>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5.</a:t>
                </a:r>
                <a:r>
                  <a:rPr sz="2400">
                    <a:solidFill>
                      <a:srgbClr val="1E293B"/>
                    </a:solidFill>
                    <a:latin typeface="Calibri"/>
                  </a:rPr>
                  <a:t> </a:t>
                </a:r>
                <a:r>
                  <a:rPr lang="vi-VN"/>
                  <a:t>\overrightarrow{CA}</a:t>
                </a:r>
                <a:r>
                  <a:rPr sz="2400">
                    <a:solidFill>
                      <a:srgbClr val="1E293B"/>
                    </a:solidFill>
                    <a:latin typeface="Calibri"/>
                  </a:rPr>
                  <a:t> = </a:t>
                </a:r>
                <a:r>
                  <a:rPr lang="vi-VN"/>
                  <a:t>(1-x;\ 2)</a:t>
                </a:r>
                <a:r>
                  <a:rPr sz="2400">
                    <a:solidFill>
                      <a:srgbClr val="1E293B"/>
                    </a:solidFill>
                    <a:latin typeface="Calibri"/>
                  </a:rPr>
                  <a:t>, </a:t>
                </a:r>
                <a:r>
                  <a:rPr lang="vi-VN"/>
                  <a:t>\overrightarrow{CB}</a:t>
                </a:r>
                <a:r>
                  <a:rPr sz="2400">
                    <a:solidFill>
                      <a:srgbClr val="1E293B"/>
                    </a:solidFill>
                    <a:latin typeface="Calibri"/>
                  </a:rPr>
                  <a:t> = </a:t>
                </a:r>
                <a:r>
                  <a:rPr lang="vi-VN"/>
                  <a:t>(4-x;\ -2)</a:t>
                </a:r>
                <a:r>
                  <a:rPr sz="2400">
                    <a:solidFill>
                      <a:srgbClr val="1E293B"/>
                    </a:solidFill>
                    <a:latin typeface="Calibri"/>
                  </a:rPr>
                  <a:t>; </a:t>
                </a:r>
                <a:r>
                  <a:rPr lang="vi-VN"/>
                  <a:t>\overrightarrow{CA}</a:t>
                </a:r>
                <a:r>
                  <a:rPr lang="vi-VN"/>
                  <a:t>\cdot</a:t>
                </a:r>
                <a:r>
                  <a:rPr lang="vi-VN"/>
                  <a:t>\overrightarrow{CB}</a:t>
                </a:r>
                <a:r>
                  <a:rPr sz="2400">
                    <a:solidFill>
                      <a:srgbClr val="1E293B"/>
                    </a:solidFill>
                    <a:latin typeface="Calibri"/>
                  </a:rPr>
                  <a:t> = </a:t>
                </a:r>
                <a:r>
                  <a:rPr lang="vi-VN"/>
                  <a:t>x^2-5x=0</a:t>
                </a:r>
                <a:r>
                  <a:rPr sz="2400">
                    <a:solidFill>
                      <a:srgbClr val="1E293B"/>
                    </a:solidFill>
                    <a:latin typeface="Calibri"/>
                  </a:rPr>
                  <a:t> ⇒ </a:t>
                </a:r>
                <a:r>
                  <a:rPr lang="vi-VN"/>
                  <a:t>x=5</a:t>
                </a:r>
                <a:r>
                  <a:rPr sz="2400">
                    <a:solidFill>
                      <a:srgbClr val="1E293B"/>
                    </a:solidFill>
                    <a:latin typeface="Calibri"/>
                  </a:rPr>
                  <a:t> (vì </a:t>
                </a:r>
                <a:r>
                  <a:rPr lang="vi-VN"/>
                  <a:t>x&gt;0</a:t>
                </a:r>
                <a:r>
                  <a:rPr sz="24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8 (THỰC TẾ)</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43</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7863840" cy="1758696"/>
              </a:xfrm>
              <a:prstGeom prst="rect">
                <a:avLst/>
              </a:prstGeom>
              <a:noFill/>
            </p:spPr>
            <p:txBody>
              <a:bodyPr wrap="square" anchor="t" lIns="45720" rIns="45720">
                <a:spAutoFit/>
              </a:bodyPr>
              <a:lstStyle/>
              <a:p>
                <a:pPr algn="l">
                  <a:spcAft>
                    <a:spcPts val="800"/>
                  </a:spcAft>
                </a:pPr>
                <a:r>
                  <a:rPr sz="2600">
                    <a:solidFill>
                      <a:srgbClr val="1E293B"/>
                    </a:solidFill>
                    <a:latin typeface="Calibri"/>
                  </a:rPr>
                  <a:t>Bạn An kéo xe rùa chở cà phê đi thẳng 20 m trên đường bằng; lực kéo có độ lớn 50 N, hợp với hướng chuyển động một góc </a:t>
                </a:r>
                <a14:m>
                  <m:oMath xmlns:m="http://schemas.openxmlformats.org/officeDocument/2006/math">
                    <m:sSup>
                      <m:e>
                        <m:r>
                          <a:rPr lang="vi-VN" sz="2600" b="0">
                            <a:solidFill>
                              <a:srgbClr val="1E293B"/>
                            </a:solidFill>
                            <a:latin typeface="Cambria Math" panose="02040503050406030204" pitchFamily="18" charset="0"/>
                          </a:rPr>
                          <m:t>60</m:t>
                        </m:r>
                      </m:e>
                      <m:sup>
                        <m:r>
                          <a:rPr lang="vi-VN" sz="2600" b="0">
                            <a:solidFill>
                              <a:srgbClr val="1E293B"/>
                            </a:solidFill>
                            <a:latin typeface="Cambria Math" panose="02040503050406030204" pitchFamily="18" charset="0"/>
                          </a:rPr>
                          <m:t>∘</m:t>
                        </m:r>
                      </m:sup>
                    </m:sSup>
                  </m:oMath>
                </a14:m>
                <a:r>
                  <a:rPr sz="2600">
                    <a:solidFill>
                      <a:srgbClr val="1E293B"/>
                    </a:solidFill>
                    <a:latin typeface="Calibri"/>
                  </a:rPr>
                  <a:t>. Công sinh bởi lực kéo bằng bao nhiêu jun?</a:t>
                </a:r>
              </a:p>
            </p:txBody>
          </p:sp>
        </mc:Choice>
        <mc:Fallback>
          <p:sp>
            <p:nvSpPr>
              <p:cNvPr id="7" name="TextBox 6"/>
              <p:cNvSpPr txBox="1"/>
              <p:nvPr/>
            </p:nvSpPr>
            <p:spPr>
              <a:xfrm>
                <a:off x="548640" y="1463040"/>
                <a:ext cx="7863840" cy="1758696"/>
              </a:xfrm>
              <a:prstGeom prst="rect">
                <a:avLst/>
              </a:prstGeom>
              <a:noFill/>
            </p:spPr>
            <p:txBody>
              <a:bodyPr wrap="square" anchor="t" lIns="45720" rIns="45720">
                <a:spAutoFit/>
              </a:bodyPr>
              <a:lstStyle/>
              <a:p>
                <a:pPr algn="l">
                  <a:spcAft>
                    <a:spcPts val="800"/>
                  </a:spcAft>
                </a:pPr>
                <a:r>
                  <a:rPr sz="2600">
                    <a:solidFill>
                      <a:srgbClr val="1E293B"/>
                    </a:solidFill>
                    <a:latin typeface="Calibri"/>
                  </a:rPr>
                  <a:t>Bạn An kéo xe rùa chở cà phê đi thẳng 20 m trên đường bằng; lực kéo có độ lớn 50 N, hợp với hướng chuyển động một góc </a:t>
                </a:r>
                <a:r>
                  <a:rPr lang="vi-VN"/>
                  <a:t>60^\circ</a:t>
                </a:r>
                <a:r>
                  <a:rPr sz="2600">
                    <a:solidFill>
                      <a:srgbClr val="1E293B"/>
                    </a:solidFill>
                    <a:latin typeface="Calibri"/>
                  </a:rPr>
                  <a:t>. Công sinh bởi lực kéo bằng bao nhiêu jun?</a:t>
                </a:r>
              </a:p>
            </p:txBody>
          </p:sp>
        </mc:Fallback>
      </mc:AlternateContent>
      <p:sp>
        <p:nvSpPr>
          <p:cNvPr id="8" name="s1_nen"/>
          <p:cNvSpPr/>
          <p:nvPr/>
        </p:nvSpPr>
        <p:spPr>
          <a:xfrm>
            <a:off x="548640" y="3931920"/>
            <a:ext cx="1106424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968496"/>
                <a:ext cx="10735056" cy="557784"/>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500.</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A=50·20·</m:t>
                    </m:r>
                    <m:r>
                      <m:rPr>
                        <m:sty m:val="p"/>
                      </m:rPr>
                      <a:rPr lang="vi-VN" sz="2400" b="0">
                        <a:solidFill>
                          <a:srgbClr val="1E293B"/>
                        </a:solidFill>
                        <a:latin typeface="Cambria Math" panose="02040503050406030204" pitchFamily="18" charset="0"/>
                      </a:rPr>
                      <m:t>cos</m:t>
                    </m:r>
                    <m:r>
                      <m:rPr>
                        <m:sty m:val="p"/>
                      </m:rPr>
                      <a:rPr lang="vi-VN" sz="2400" b="0">
                        <a:solidFill>
                          <a:srgbClr val="1E293B"/>
                        </a:solidFill>
                        <a:latin typeface="Cambria Math" panose="02040503050406030204" pitchFamily="18" charset="0"/>
                      </a:rPr>
                      <m:t> </m:t>
                    </m:r>
                    <m:sSup>
                      <m:e>
                        <m:r>
                          <a:rPr lang="vi-VN" sz="2400" b="0">
                            <a:solidFill>
                              <a:srgbClr val="1E293B"/>
                            </a:solidFill>
                            <a:latin typeface="Cambria Math" panose="02040503050406030204" pitchFamily="18" charset="0"/>
                          </a:rPr>
                          <m:t>60</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=500</m:t>
                    </m:r>
                  </m:oMath>
                </a14:m>
                <a:r>
                  <a:rPr sz="2400">
                    <a:solidFill>
                      <a:srgbClr val="1E293B"/>
                    </a:solidFill>
                    <a:latin typeface="Calibri"/>
                  </a:rPr>
                  <a:t> (J).</a:t>
                </a:r>
              </a:p>
            </p:txBody>
          </p:sp>
        </mc:Choice>
        <mc:Fallback>
          <p:sp>
            <p:nvSpPr>
              <p:cNvPr id="9" name="TextBox 8"/>
              <p:cNvSpPr txBox="1"/>
              <p:nvPr/>
            </p:nvSpPr>
            <p:spPr>
              <a:xfrm>
                <a:off x="713232" y="3968496"/>
                <a:ext cx="10735056" cy="557784"/>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500.</a:t>
                </a:r>
                <a:r>
                  <a:rPr sz="2400">
                    <a:solidFill>
                      <a:srgbClr val="1E293B"/>
                    </a:solidFill>
                    <a:latin typeface="Calibri"/>
                  </a:rPr>
                  <a:t> </a:t>
                </a:r>
                <a:r>
                  <a:rPr lang="vi-VN"/>
                  <a:t>A=50\cdot 20\cdot\cos 60^\circ=500</a:t>
                </a:r>
                <a:r>
                  <a:rPr sz="2400">
                    <a:solidFill>
                      <a:srgbClr val="1E293B"/>
                    </a:solidFill>
                    <a:latin typeface="Calibri"/>
                  </a:rPr>
                  <a:t> (J).</a:t>
                </a:r>
              </a:p>
            </p:txBody>
          </p:sp>
        </mc:Fallback>
      </mc:AlternateContent>
      <p:pic>
        <p:nvPicPr>
          <p:cNvPr id="10" name="Picture 9" descr="h442.png"/>
          <p:cNvPicPr>
            <a:picLocks noChangeAspect="1"/>
          </p:cNvPicPr>
          <p:nvPr/>
        </p:nvPicPr>
        <p:blipFill>
          <a:blip r:embed="rId3"/>
          <a:stretch>
            <a:fillRect/>
          </a:stretch>
        </p:blipFill>
        <p:spPr>
          <a:xfrm>
            <a:off x="8595360" y="2032679"/>
            <a:ext cx="3108960" cy="123816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CỦNG CỐ TRỰC TUYẾN – NHIỆM VỤ VỀ NHÀ</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44</a:t>
            </a:r>
          </a:p>
        </p:txBody>
      </p:sp>
      <mc:AlternateContent xmlns:mc="http://schemas.openxmlformats.org/markup-compatibility/2006">
        <mc:Choice xmlns:a14="http://schemas.microsoft.com/office/drawing/2010/main" Requires="a14">
          <p:sp>
            <p:nvSpPr>
              <p:cNvPr id="7" name="TextBox 6"/>
              <p:cNvSpPr txBox="1"/>
              <p:nvPr/>
            </p:nvSpPr>
            <p:spPr>
              <a:xfrm>
                <a:off x="548640" y="1417320"/>
                <a:ext cx="7589520" cy="475488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Bài củng cố trực tuyến</a:t>
                </a:r>
                <a:r>
                  <a:rPr sz="2200">
                    <a:solidFill>
                      <a:srgbClr val="1E293B"/>
                    </a:solidFill>
                    <a:latin typeface="Calibri"/>
                  </a:rPr>
                  <a:t> – quét mã QR hoặc mở đường link:</a:t>
                </a:r>
              </a:p>
              <a:p>
                <a:pPr algn="l">
                  <a:spcAft>
                    <a:spcPts val="800"/>
                  </a:spcAft>
                </a:pPr>
                <a:r>
                  <a:rPr sz="2000">
                    <a:solidFill>
                      <a:srgbClr val="64748B"/>
                    </a:solidFill>
                    <a:latin typeface="Calibri"/>
                  </a:rPr>
                  <a:t>https://trangtu66.github.io/Taode_thi_online/cc_bai11_t10.html</a:t>
                </a:r>
              </a:p>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Hoàn thành Bài tập 4.21 – 4.26.</a:t>
                </a:r>
              </a:p>
              <a:p>
                <a:pPr algn="l" marL="365760" indent="-365760">
                  <a:spcAft>
                    <a:spcPts val="800"/>
                  </a:spcAft>
                  <a:buClr>
                    <a:srgbClr val="1E40AF"/>
                  </a:buClr>
                  <a:buFont typeface="Arial"/>
                  <a:buChar char="•"/>
                </a:pPr>
                <a:r>
                  <a:rPr sz="2200">
                    <a:solidFill>
                      <a:srgbClr val="1E293B"/>
                    </a:solidFill>
                    <a:latin typeface="Calibri"/>
                  </a:rPr>
                  <a:t>Nhóm: ước lượng công kéo xe rùa chở cà phê 20 m với góc dây kéo </a:t>
                </a:r>
                <a14:m>
                  <m:oMath xmlns:m="http://schemas.openxmlformats.org/officeDocument/2006/math">
                    <m:sSup>
                      <m:e>
                        <m:r>
                          <a:rPr lang="vi-VN" sz="2200" b="0">
                            <a:solidFill>
                              <a:srgbClr val="1E293B"/>
                            </a:solidFill>
                            <a:latin typeface="Cambria Math" panose="02040503050406030204" pitchFamily="18" charset="0"/>
                          </a:rPr>
                          <m:t>30</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và </a:t>
                </a:r>
                <a14:m>
                  <m:oMath xmlns:m="http://schemas.openxmlformats.org/officeDocument/2006/math">
                    <m:sSup>
                      <m:e>
                        <m:r>
                          <a:rPr lang="vi-VN" sz="2200" b="0">
                            <a:solidFill>
                              <a:srgbClr val="1E293B"/>
                            </a:solidFill>
                            <a:latin typeface="Cambria Math" panose="02040503050406030204" pitchFamily="18" charset="0"/>
                          </a:rPr>
                          <m:t>60</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nộp Padlet kèm Nhật ký sử dụng AI.</a:t>
                </a:r>
              </a:p>
              <a:p>
                <a:pPr algn="l" marL="365760" indent="-365760">
                  <a:spcAft>
                    <a:spcPts val="800"/>
                  </a:spcAft>
                  <a:buClr>
                    <a:srgbClr val="1E40AF"/>
                  </a:buClr>
                  <a:buFont typeface="Arial"/>
                  <a:buChar char="•"/>
                </a:pPr>
                <a:r>
                  <a:rPr sz="2200">
                    <a:solidFill>
                      <a:srgbClr val="1E293B"/>
                    </a:solidFill>
                    <a:latin typeface="Calibri"/>
                  </a:rPr>
                  <a:t>Ôn Bài 7 – Bài 11, làm trước Bài 4.27 – 4.32 (</a:t>
                </a:r>
                <a:r>
                  <a:rPr sz="2200" b="1">
                    <a:solidFill>
                      <a:srgbClr val="1E293B"/>
                    </a:solidFill>
                    <a:latin typeface="Calibri"/>
                  </a:rPr>
                  <a:t>Bài tập cuối chương IV</a:t>
                </a:r>
                <a:r>
                  <a:rPr sz="2200">
                    <a:solidFill>
                      <a:srgbClr val="1E293B"/>
                    </a:solidFill>
                    <a:latin typeface="Calibri"/>
                  </a:rPr>
                  <a:t>, SGK tr.71).</a:t>
                </a:r>
              </a:p>
            </p:txBody>
          </p:sp>
        </mc:Choice>
        <mc:Fallback>
          <p:sp>
            <p:nvSpPr>
              <p:cNvPr id="7" name="TextBox 6"/>
              <p:cNvSpPr txBox="1"/>
              <p:nvPr/>
            </p:nvSpPr>
            <p:spPr>
              <a:xfrm>
                <a:off x="548640" y="1417320"/>
                <a:ext cx="7589520" cy="475488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Bài củng cố trực tuyến</a:t>
                </a:r>
                <a:r>
                  <a:rPr sz="2200">
                    <a:solidFill>
                      <a:srgbClr val="1E293B"/>
                    </a:solidFill>
                    <a:latin typeface="Calibri"/>
                  </a:rPr>
                  <a:t> – quét mã QR hoặc mở đường link:</a:t>
                </a:r>
              </a:p>
              <a:p>
                <a:pPr algn="l">
                  <a:spcAft>
                    <a:spcPts val="800"/>
                  </a:spcAft>
                </a:pPr>
                <a:r>
                  <a:rPr sz="2000">
                    <a:solidFill>
                      <a:srgbClr val="64748B"/>
                    </a:solidFill>
                    <a:latin typeface="Calibri"/>
                  </a:rPr>
                  <a:t>https://trangtu66.github.io/Taode_thi_online/cc_bai11_t10.html</a:t>
                </a:r>
              </a:p>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Hoàn thành Bài tập 4.21 – 4.26.</a:t>
                </a:r>
              </a:p>
              <a:p>
                <a:pPr algn="l" marL="365760" indent="-365760">
                  <a:spcAft>
                    <a:spcPts val="800"/>
                  </a:spcAft>
                  <a:buClr>
                    <a:srgbClr val="1E40AF"/>
                  </a:buClr>
                  <a:buFont typeface="Arial"/>
                  <a:buChar char="•"/>
                </a:pPr>
                <a:r>
                  <a:rPr sz="2200">
                    <a:solidFill>
                      <a:srgbClr val="1E293B"/>
                    </a:solidFill>
                    <a:latin typeface="Calibri"/>
                  </a:rPr>
                  <a:t>Nhóm: ước lượng công kéo xe rùa chở cà phê 20 m với góc dây kéo </a:t>
                </a:r>
                <a:r>
                  <a:rPr lang="vi-VN"/>
                  <a:t>30^\circ</a:t>
                </a:r>
                <a:r>
                  <a:rPr sz="2200">
                    <a:solidFill>
                      <a:srgbClr val="1E293B"/>
                    </a:solidFill>
                    <a:latin typeface="Calibri"/>
                  </a:rPr>
                  <a:t> và </a:t>
                </a:r>
                <a:r>
                  <a:rPr lang="vi-VN"/>
                  <a:t>60^\circ</a:t>
                </a:r>
                <a:r>
                  <a:rPr sz="2200">
                    <a:solidFill>
                      <a:srgbClr val="1E293B"/>
                    </a:solidFill>
                    <a:latin typeface="Calibri"/>
                  </a:rPr>
                  <a:t>; nộp Padlet kèm Nhật ký sử dụng AI.</a:t>
                </a:r>
              </a:p>
              <a:p>
                <a:pPr algn="l" marL="365760" indent="-365760">
                  <a:spcAft>
                    <a:spcPts val="800"/>
                  </a:spcAft>
                  <a:buClr>
                    <a:srgbClr val="1E40AF"/>
                  </a:buClr>
                  <a:buFont typeface="Arial"/>
                  <a:buChar char="•"/>
                </a:pPr>
                <a:r>
                  <a:rPr sz="2200">
                    <a:solidFill>
                      <a:srgbClr val="1E293B"/>
                    </a:solidFill>
                    <a:latin typeface="Calibri"/>
                  </a:rPr>
                  <a:t>Ôn Bài 7 – Bài 11, làm trước Bài 4.27 – 4.32 (</a:t>
                </a:r>
                <a:r>
                  <a:rPr sz="2200" b="1">
                    <a:solidFill>
                      <a:srgbClr val="1E293B"/>
                    </a:solidFill>
                    <a:latin typeface="Calibri"/>
                  </a:rPr>
                  <a:t>Bài tập cuối chương IV</a:t>
                </a:r>
                <a:r>
                  <a:rPr sz="2200">
                    <a:solidFill>
                      <a:srgbClr val="1E293B"/>
                    </a:solidFill>
                    <a:latin typeface="Calibri"/>
                  </a:rPr>
                  <a:t>, SGK tr.71).</a:t>
                </a:r>
              </a:p>
            </p:txBody>
          </p:sp>
        </mc:Fallback>
      </mc:AlternateContent>
      <p:pic>
        <p:nvPicPr>
          <p:cNvPr id="8" name="Picture 7" descr="QR_CungCo_Bai11_Toan10.png"/>
          <p:cNvPicPr>
            <a:picLocks noChangeAspect="1"/>
          </p:cNvPicPr>
          <p:nvPr/>
        </p:nvPicPr>
        <p:blipFill>
          <a:blip r:embed="rId3"/>
          <a:stretch>
            <a:fillRect/>
          </a:stretch>
        </p:blipFill>
        <p:spPr>
          <a:xfrm>
            <a:off x="8412480" y="1554480"/>
            <a:ext cx="3291840" cy="3291840"/>
          </a:xfrm>
          <a:prstGeom prst="rect">
            <a:avLst/>
          </a:prstGeom>
        </p:spPr>
      </p:pic>
      <p:sp>
        <p:nvSpPr>
          <p:cNvPr id="9" name="Rounded Rectangle 8">
            <a:hlinkClick r:id="rId4"/>
          </p:cNvPr>
          <p:cNvSpPr/>
          <p:nvPr/>
        </p:nvSpPr>
        <p:spPr>
          <a:xfrm>
            <a:off x="8412480" y="5029200"/>
            <a:ext cx="3291840" cy="59436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MỞ BÀI CỦNG CỐ</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SƠ ĐỒ TƯ DUY – BÀI 11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45</a:t>
            </a:r>
          </a:p>
        </p:txBody>
      </p:sp>
      <p:pic>
        <p:nvPicPr>
          <p:cNvPr id="7" name="Picture 6" descr="SoDoTuDuy_TOAN10_Bai11_TichVoHuong_T35-37.png"/>
          <p:cNvPicPr>
            <a:picLocks noChangeAspect="1"/>
          </p:cNvPicPr>
          <p:nvPr/>
        </p:nvPicPr>
        <p:blipFill>
          <a:blip r:embed="rId3"/>
          <a:stretch>
            <a:fillRect/>
          </a:stretch>
        </p:blipFill>
        <p:spPr>
          <a:xfrm>
            <a:off x="1765397" y="1371600"/>
            <a:ext cx="8630725" cy="484632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1 – SAI LẦM THƯỜNG GẶP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46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Lấy góc giữa hai vectơ không chung gốc: </a:t>
                </a:r>
                <a14:m>
                  <m:oMath xmlns:m="http://schemas.openxmlformats.org/officeDocument/2006/math">
                    <m:d>
                      <m:dPr>
                        <m:sepChr m:val=","/>
                      </m:dPr>
                      <m:e>
                        <m:acc>
                          <m:accPr>
                            <m:chr m:val="⃗"/>
                          </m:accPr>
                          <m:e>
                            <m:r>
                              <a:rPr lang="vi-VN" sz="2100" b="0">
                                <a:solidFill>
                                  <a:srgbClr val="1E293B"/>
                                </a:solidFill>
                                <a:latin typeface="Cambria Math" panose="02040503050406030204" pitchFamily="18" charset="0"/>
                              </a:rPr>
                              <m:t>AB</m:t>
                            </m:r>
                          </m:e>
                        </m:acc>
                      </m:e>
                      <m:e>
                        <m:r>
                          <m:rPr>
                            <m:sty m:val="p"/>
                          </m:rPr>
                          <a:rPr lang="vi-VN" sz="2100" b="0">
                            <a:solidFill>
                              <a:srgbClr val="1E293B"/>
                            </a:solidFill>
                            <a:latin typeface="Cambria Math" panose="02040503050406030204" pitchFamily="18" charset="0"/>
                          </a:rPr>
                          <m:t> </m:t>
                        </m:r>
                        <m:acc>
                          <m:accPr>
                            <m:chr m:val="⃗"/>
                          </m:accPr>
                          <m:e>
                            <m:r>
                              <a:rPr lang="vi-VN" sz="2100" b="0">
                                <a:solidFill>
                                  <a:srgbClr val="1E293B"/>
                                </a:solidFill>
                                <a:latin typeface="Cambria Math" panose="02040503050406030204" pitchFamily="18" charset="0"/>
                              </a:rPr>
                              <m:t>BC</m:t>
                            </m:r>
                          </m:e>
                        </m:acc>
                      </m:e>
                    </m:d>
                  </m:oMath>
                </a14:m>
                <a:r>
                  <a:rPr sz="2100">
                    <a:solidFill>
                      <a:srgbClr val="1E293B"/>
                    </a:solidFill>
                    <a:latin typeface="Calibri"/>
                  </a:rPr>
                  <a:t> trong tam giác đều là </a:t>
                </a:r>
                <a14:m>
                  <m:oMath xmlns:m="http://schemas.openxmlformats.org/officeDocument/2006/math">
                    <m:sSup>
                      <m:e>
                        <m:r>
                          <a:rPr lang="vi-VN" sz="2100" b="0">
                            <a:solidFill>
                              <a:srgbClr val="1E293B"/>
                            </a:solidFill>
                            <a:latin typeface="Cambria Math" panose="02040503050406030204" pitchFamily="18" charset="0"/>
                          </a:rPr>
                          <m:t>120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không phải </a:t>
                </a:r>
                <a14:m>
                  <m:oMath xmlns:m="http://schemas.openxmlformats.org/officeDocument/2006/math">
                    <m:sSup>
                      <m:e>
                        <m:r>
                          <a:rPr lang="vi-VN" sz="2100" b="0">
                            <a:solidFill>
                              <a:srgbClr val="1E293B"/>
                            </a:solidFill>
                            <a:latin typeface="Cambria Math" panose="02040503050406030204" pitchFamily="18" charset="0"/>
                          </a:rPr>
                          <m:t>60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Viết tích vô hướng thành vectơ </a:t>
                </a:r>
                <a14:m>
                  <m:oMath xmlns:m="http://schemas.openxmlformats.org/officeDocument/2006/math">
                    <m:d>
                      <m:dPr>
                        <m:sepChr m:val=""/>
                      </m:dPr>
                      <m:e>
                        <m:r>
                          <a:rPr lang="vi-VN" sz="2100" b="0">
                            <a:solidFill>
                              <a:srgbClr val="1E293B"/>
                            </a:solidFill>
                            <a:latin typeface="Cambria Math" panose="02040503050406030204" pitchFamily="18" charset="0"/>
                          </a:rPr>
                          <m:t>x</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y</m:t>
                        </m:r>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e>
                    </m:d>
                  </m:oMath>
                </a14:m>
                <a:r>
                  <a:rPr sz="2100">
                    <a:solidFill>
                      <a:srgbClr val="1E293B"/>
                    </a:solidFill>
                    <a:latin typeface="Calibri"/>
                  </a:rPr>
                  <a:t> – sai, tích vô hướng là một số.</a:t>
                </a:r>
              </a:p>
              <a:p>
                <a:pPr algn="l" marL="365760" indent="-365760">
                  <a:spcAft>
                    <a:spcPts val="800"/>
                  </a:spcAft>
                  <a:buClr>
                    <a:srgbClr val="1E40AF"/>
                  </a:buClr>
                  <a:buFont typeface="Arial"/>
                  <a:buChar char="•"/>
                </a:pPr>
                <a:r>
                  <a:rPr sz="2100">
                    <a:solidFill>
                      <a:srgbClr val="1E293B"/>
                    </a:solidFill>
                    <a:latin typeface="Calibri"/>
                  </a:rPr>
                  <a:t>Nhầm điều kiện vuông góc </a:t>
                </a:r>
                <a14:m>
                  <m:oMath xmlns:m="http://schemas.openxmlformats.org/officeDocument/2006/math">
                    <m:r>
                      <a:rPr lang="vi-VN" sz="2100" b="0">
                        <a:solidFill>
                          <a:srgbClr val="1E293B"/>
                        </a:solidFill>
                        <a:latin typeface="Cambria Math" panose="02040503050406030204" pitchFamily="18" charset="0"/>
                      </a:rPr>
                      <m:t>x</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+y</m:t>
                    </m:r>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=0</m:t>
                    </m:r>
                  </m:oMath>
                </a14:m>
                <a:r>
                  <a:rPr sz="2100">
                    <a:solidFill>
                      <a:srgbClr val="1E293B"/>
                    </a:solidFill>
                    <a:latin typeface="Calibri"/>
                  </a:rPr>
                  <a:t> với điều kiện cùng phương </a:t>
                </a:r>
                <a14:m>
                  <m:oMath xmlns:m="http://schemas.openxmlformats.org/officeDocument/2006/math">
                    <m:r>
                      <a:rPr lang="vi-VN" sz="2100" b="0">
                        <a:solidFill>
                          <a:srgbClr val="1E293B"/>
                        </a:solidFill>
                        <a:latin typeface="Cambria Math" panose="02040503050406030204" pitchFamily="18" charset="0"/>
                      </a:rPr>
                      <m:t>x</m:t>
                    </m:r>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y=0</m:t>
                    </m:r>
                  </m:oMath>
                </a14:m>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Cho rằng </a:t>
                </a:r>
                <a14:m>
                  <m:oMath xmlns:m="http://schemas.openxmlformats.org/officeDocument/2006/math">
                    <m:d>
                      <m:dPr>
                        <m:sepChr m:val=""/>
                      </m:dPr>
                      <m:e>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c</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c</m:t>
                            </m:r>
                          </m:e>
                        </m:acc>
                      </m:e>
                    </m:d>
                  </m:oMath>
                </a14:m>
                <a:r>
                  <a:rPr sz="2100">
                    <a:solidFill>
                      <a:srgbClr val="1E293B"/>
                    </a:solidFill>
                    <a:latin typeface="Calibri"/>
                  </a:rPr>
                  <a:t> hoặc </a:t>
                </a:r>
                <a14:m>
                  <m:oMath xmlns:m="http://schemas.openxmlformats.org/officeDocument/2006/math">
                    <m:d>
                      <m:dPr>
                        <m:sepChr m:val=""/>
                        <m:endChr m:val=""/>
                      </m:dPr>
                      <m:e>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m:t>
                            </m:r>
                          </m:e>
                        </m:acc>
                        <m:sSup>
                          <m:e>
                            <m:r>
                              <a:rPr lang="vi-VN" sz="2100" b="0">
                                <a:solidFill>
                                  <a:srgbClr val="1E293B"/>
                                </a:solidFill>
                                <a:latin typeface="Cambria Math" panose="02040503050406030204" pitchFamily="18" charset="0"/>
                              </a:rPr>
                              <m:t>)</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m:t>
                        </m:r>
                        <m:sSup>
                          <m:e>
                            <m:acc>
                              <m:accPr>
                                <m:chr m:val="⃗"/>
                              </m:accPr>
                              <m:e>
                                <m:r>
                                  <a:rPr lang="vi-VN" sz="2100" b="0">
                                    <a:solidFill>
                                      <a:srgbClr val="1E293B"/>
                                    </a:solidFill>
                                    <a:latin typeface="Cambria Math" panose="02040503050406030204" pitchFamily="18" charset="0"/>
                                  </a:rPr>
                                  <m:t>a</m:t>
                                </m:r>
                              </m:e>
                            </m:acc>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m:t>
                        </m:r>
                        <m:sSup>
                          <m:e>
                            <m:acc>
                              <m:accPr>
                                <m:chr m:val="⃗"/>
                              </m:accPr>
                              <m:e>
                                <m:r>
                                  <a:rPr lang="vi-VN" sz="2100" b="0">
                                    <a:solidFill>
                                      <a:srgbClr val="1E293B"/>
                                    </a:solidFill>
                                    <a:latin typeface="Cambria Math" panose="02040503050406030204" pitchFamily="18" charset="0"/>
                                  </a:rPr>
                                  <m:t>b</m:t>
                                </m:r>
                              </m:e>
                            </m:acc>
                          </m:e>
                          <m:sup>
                            <m:r>
                              <a:rPr lang="vi-VN" sz="2100" b="0">
                                <a:solidFill>
                                  <a:srgbClr val="1E293B"/>
                                </a:solidFill>
                                <a:latin typeface="Cambria Math" panose="02040503050406030204" pitchFamily="18" charset="0"/>
                              </a:rPr>
                              <m:t>2</m:t>
                            </m:r>
                          </m:sup>
                        </m:sSup>
                      </m:e>
                    </m:d>
                  </m:oMath>
                </a14:m>
                <a:r>
                  <a:rPr sz="2100">
                    <a:solidFill>
                      <a:srgbClr val="1E293B"/>
                    </a:solidFill>
                    <a:latin typeface="Calibri"/>
                  </a:rPr>
                  <a:t>.</a:t>
                </a:r>
              </a:p>
            </p:txBody>
          </p:sp>
        </mc:Choice>
        <mc:Fallback>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Lấy góc giữa hai vectơ không chung gốc: </a:t>
                </a:r>
                <a:r>
                  <a:rPr lang="vi-VN"/>
                  <a:t>\left(\overrightarrow{AB},\ \overrightarrow{BC}\right)</a:t>
                </a:r>
                <a:r>
                  <a:rPr sz="2100">
                    <a:solidFill>
                      <a:srgbClr val="1E293B"/>
                    </a:solidFill>
                    <a:latin typeface="Calibri"/>
                  </a:rPr>
                  <a:t> trong tam giác đều là </a:t>
                </a:r>
                <a:r>
                  <a:rPr lang="vi-VN"/>
                  <a:t>120^\circ</a:t>
                </a:r>
                <a:r>
                  <a:rPr sz="2100">
                    <a:solidFill>
                      <a:srgbClr val="1E293B"/>
                    </a:solidFill>
                    <a:latin typeface="Calibri"/>
                  </a:rPr>
                  <a:t>, không phải </a:t>
                </a:r>
                <a:r>
                  <a:rPr lang="vi-VN"/>
                  <a:t>60^\circ</a:t>
                </a:r>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Viết tích vô hướng thành vectơ </a:t>
                </a:r>
                <a:r>
                  <a:rPr lang="vi-VN"/>
                  <a:t>(xx';\ yy')</a:t>
                </a:r>
                <a:r>
                  <a:rPr sz="2100">
                    <a:solidFill>
                      <a:srgbClr val="1E293B"/>
                    </a:solidFill>
                    <a:latin typeface="Calibri"/>
                  </a:rPr>
                  <a:t> – sai, tích vô hướng là một số.</a:t>
                </a:r>
              </a:p>
              <a:p>
                <a:pPr algn="l" marL="365760" indent="-365760">
                  <a:spcAft>
                    <a:spcPts val="800"/>
                  </a:spcAft>
                  <a:buClr>
                    <a:srgbClr val="1E40AF"/>
                  </a:buClr>
                  <a:buFont typeface="Arial"/>
                  <a:buChar char="•"/>
                </a:pPr>
                <a:r>
                  <a:rPr sz="2100">
                    <a:solidFill>
                      <a:srgbClr val="1E293B"/>
                    </a:solidFill>
                    <a:latin typeface="Calibri"/>
                  </a:rPr>
                  <a:t>Nhầm điều kiện vuông góc </a:t>
                </a:r>
                <a:r>
                  <a:rPr lang="vi-VN"/>
                  <a:t>xx'+yy'=0</a:t>
                </a:r>
                <a:r>
                  <a:rPr sz="2100">
                    <a:solidFill>
                      <a:srgbClr val="1E293B"/>
                    </a:solidFill>
                    <a:latin typeface="Calibri"/>
                  </a:rPr>
                  <a:t> với điều kiện cùng phương </a:t>
                </a:r>
                <a:r>
                  <a:rPr lang="vi-VN"/>
                  <a:t>xy'-x'y=0</a:t>
                </a:r>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Cho rằng </a:t>
                </a:r>
                <a:r>
                  <a:rPr lang="vi-VN"/>
                  <a:t>(\vec{a}\cdot\vec{b})\vec{c}=\vec{a}(\vec{b}\cdot\vec{c})</a:t>
                </a:r>
                <a:r>
                  <a:rPr sz="2100">
                    <a:solidFill>
                      <a:srgbClr val="1E293B"/>
                    </a:solidFill>
                    <a:latin typeface="Calibri"/>
                  </a:rPr>
                  <a:t> hoặc </a:t>
                </a:r>
                <a:r>
                  <a:rPr lang="vi-VN"/>
                  <a:t>(\vec{a}+\vec{b})^2=\vec{a}^2+\vec{b}^2</a:t>
                </a:r>
                <a:r>
                  <a:rPr sz="2100">
                    <a:solidFill>
                      <a:srgbClr val="1E293B"/>
                    </a:solidFill>
                    <a:latin typeface="Calibri"/>
                  </a:rPr>
                  <a:t>.</a:t>
                </a:r>
              </a:p>
            </p:txBody>
          </p:sp>
        </mc:Fallback>
      </mc:AlternateContent>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2 – PHÂN HOÁ, DỰ PHÒNG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11. Tích vô hướng của hai vectơ – Toán 10          47</a:t>
            </a:r>
          </a:p>
        </p:txBody>
      </p:sp>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b="1">
                <a:solidFill>
                  <a:srgbClr val="1E293B"/>
                </a:solidFill>
                <a:latin typeface="Calibri"/>
              </a:rPr>
              <a:t>HS cần hỗ trợ:</a:t>
            </a:r>
            <a:r>
              <a:rPr sz="2000">
                <a:solidFill>
                  <a:srgbClr val="1E293B"/>
                </a:solidFill>
                <a:latin typeface="Calibri"/>
              </a:rPr>
              <a:t> thước đo góc, vẽ lại hai vectơ chung gốc; giao Ví dụ 3, Luyện tập 3, Bài 4.21.</a:t>
            </a:r>
          </a:p>
          <a:p>
            <a:pPr algn="l" marL="365760" indent="-365760">
              <a:spcAft>
                <a:spcPts val="800"/>
              </a:spcAft>
              <a:buClr>
                <a:srgbClr val="1E40AF"/>
              </a:buClr>
              <a:buFont typeface="Arial"/>
              <a:buChar char="•"/>
            </a:pPr>
            <a:r>
              <a:rPr sz="2000" b="1">
                <a:solidFill>
                  <a:srgbClr val="1E293B"/>
                </a:solidFill>
                <a:latin typeface="Calibri"/>
              </a:rPr>
              <a:t>HS khá, giỏi:</a:t>
            </a:r>
            <a:r>
              <a:rPr sz="2000">
                <a:solidFill>
                  <a:srgbClr val="1E293B"/>
                </a:solidFill>
                <a:latin typeface="Calibri"/>
              </a:rPr>
              <a:t> Ví dụ 4, Bài 4.24, 4.25, 4.26; kiểm chứng bằng GeoGebra.</a:t>
            </a:r>
          </a:p>
          <a:p>
            <a:pPr algn="l" marL="365760" indent="-365760">
              <a:spcAft>
                <a:spcPts val="800"/>
              </a:spcAft>
              <a:buClr>
                <a:srgbClr val="1E40AF"/>
              </a:buClr>
              <a:buFont typeface="Arial"/>
              <a:buChar char="•"/>
            </a:pPr>
            <a:r>
              <a:rPr sz="2000" b="1">
                <a:solidFill>
                  <a:srgbClr val="1E293B"/>
                </a:solidFill>
                <a:latin typeface="Calibri"/>
              </a:rPr>
              <a:t>10A7 (khiếm thính):</a:t>
            </a:r>
            <a:r>
              <a:rPr sz="2000">
                <a:solidFill>
                  <a:srgbClr val="1E293B"/>
                </a:solidFill>
                <a:latin typeface="Calibri"/>
              </a:rPr>
              <a:t> yêu cầu, luật chơi có chữ trên slide; video có phụ đề. </a:t>
            </a:r>
            <a:r>
              <a:rPr sz="2000" b="1">
                <a:solidFill>
                  <a:srgbClr val="1E293B"/>
                </a:solidFill>
                <a:latin typeface="Calibri"/>
              </a:rPr>
              <a:t>10A4:</a:t>
            </a:r>
            <a:r>
              <a:rPr sz="2000">
                <a:solidFill>
                  <a:srgbClr val="1E293B"/>
                </a:solidFill>
                <a:latin typeface="Calibri"/>
              </a:rPr>
              <a:t> trả lời tại chỗ bằng bảng con.</a:t>
            </a:r>
          </a:p>
          <a:p>
            <a:pPr algn="l" marL="365760" indent="-365760">
              <a:spcAft>
                <a:spcPts val="800"/>
              </a:spcAft>
              <a:buClr>
                <a:srgbClr val="1E40AF"/>
              </a:buClr>
              <a:buFont typeface="Arial"/>
              <a:buChar char="•"/>
            </a:pPr>
            <a:r>
              <a:rPr sz="2000" b="1">
                <a:solidFill>
                  <a:srgbClr val="1E293B"/>
                </a:solidFill>
                <a:latin typeface="Calibri"/>
              </a:rPr>
              <a:t>Mất điện/mạng:</a:t>
            </a:r>
            <a:r>
              <a:rPr sz="2000">
                <a:solidFill>
                  <a:srgbClr val="1E293B"/>
                </a:solidFill>
                <a:latin typeface="Calibri"/>
              </a:rPr>
              <a:t> KHBD in, vẽ hình trên bảng; tính bằng máy tính cầm tay thay GeoGebra; bài củng cố in phiếu.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