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9" r:id="rId30"/>
    <p:sldId id="261" r:id="rId12"/>
    <p:sldId id="262" r:id="rId13"/>
    <p:sldId id="263" r:id="rId14"/>
    <p:sldId id="278" r:id="rId29"/>
    <p:sldId id="264" r:id="rId15"/>
    <p:sldId id="265" r:id="rId16"/>
    <p:sldId id="266" r:id="rId17"/>
    <p:sldId id="277" r:id="rId28"/>
    <p:sldId id="267" r:id="rId18"/>
    <p:sldId id="268" r:id="rId19"/>
    <p:sldId id="276" r:id="rId27"/>
    <p:sldId id="269" r:id="rId20"/>
    <p:sldId id="275" r:id="rId26"/>
    <p:sldId id="270" r:id="rId21"/>
    <p:sldId id="274" r:id="rId25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1.xml"/><Relationship Id="rId26" Type="http://schemas.openxmlformats.org/officeDocument/2006/relationships/slide" Target="slides/slide19.xml"/><Relationship Id="rId27" Type="http://schemas.openxmlformats.org/officeDocument/2006/relationships/slide" Target="slides/slide17.xml"/><Relationship Id="rId28" Type="http://schemas.openxmlformats.org/officeDocument/2006/relationships/slide" Target="slides/slide14.xml"/><Relationship Id="rId29" Type="http://schemas.openxmlformats.org/officeDocument/2006/relationships/slide" Target="slides/slide10.xml"/><Relationship Id="rId30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trangtu66.github.io/Taode_thi_online/cc_cd1bai1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HỆ PHƯƠNG TRÌNH BẬC NHẤT BA 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 – Bài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5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hệ bậc nhất ba 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hệ dạng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hệ bằng phương pháp Gauss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số nghiệm của hệ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hệ bằng máy tính cầm tay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hệ 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ÔNG AN ĐẦU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Ông An đầu tư 240 triệu vào 3 quỹ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Lãi suất: 3%, 4%, 7% một năm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Ngân hàng hơn trái phiếu 80 triệu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Tổng lãi năm đầu: 13,4 triệu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Mỗi quỹ bao nhiêu tiền?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HỆ PHƯƠNG TRÌNH BẬC NHẤT BA 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Nghiệm: bộ ba số 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z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Hệ gồm các phương trình như trên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Nghiệm của hệ: nghiệm chung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ax+by+cz=d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a, b, c không đồng thời bằng 0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ax+by+cz=d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a, b, c không đồng thời bằng 0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40782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Hệ nào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2x+3y−5z=13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4x−2y−3z=3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−x+2y+4</m:t>
                            </m:r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=−1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−2x+y+z=−3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5x+y−3z=16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x+2y=5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(1; 2; −3) có là nghiệm của hệ b)?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40782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Hệ nào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\begin{cases}2x+3y−5z=13\\4x−2y−3z=3\\−x+2y+4z^2=−1\end{cases}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\begin{cases}−2x+y+z=−3\\5x+y−3z=16\\x+2y=5\end{cases}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(1; 2; −3) có là nghiệm của hệ b)?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Đâu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2x+3y−5z=13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4x−2y−3z=3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−x+2y+4</m:t>
                            </m:r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=−1</m:t>
                            </m:r>
                          </m:e>
                        </m:eqAr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  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−2x+y+z=−3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5x+y−3z=16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x+2y=5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Đâu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\begin{cases}2x+3y−5z=13\\4x−2y−3z=3\\−x+2y+4z^2=−1\end{cases}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  b) </a:t>
                </a:r>
                <a:r>
                  <a:rPr lang="vi-VN"/>
                  <a:t>\begin{cases}−2x+y+z=−3\\5x+y−3z=16\\x+2y=5\end{cases}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850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850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a) chứa z²: không;  b) là hệ bậc nhất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(1; 2; −3) là nghiệm của hệ 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HỆ DẠNG TAM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x+y−2z=4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−z=1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−1  ⇒  y = 1  ⇒  x =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\begin{cases}x+y−2z=4\\3y+z=2\\−z=1\end{cases}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−1  ⇒  y = 1  ⇒  x =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Giải từ dưới lên, thế ngược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Nghiệm: (1; 1; −1)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PHƯƠNG PHÁP GAUSS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Nhân một phương trình với số ≠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Đổi vị trí hai phương trình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Cộng hai phương trình để khử ẩn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Đưa hệ về dạng tam giác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472" y="1463040"/>
            <a:ext cx="3707456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GIẢI BẰNG GAUSS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hệ bằng phương pháp Gauss: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7x+3y+z=4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−5x+7y−2z=5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Khử x ở PT 2, 3; khử y ở PT 3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hệ bằng phương pháp Gauss: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\begin{cases}x+y+z=2\\7x+3y+z=4\\−5x+7y−2z=5\end{cases}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Khử x ở PT 2, 3; khử y ở PT 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GIẢI BẰNG GAUSS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Khử x ở PT 2, 3; khử y ở PT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7x+3y+z=4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−5x+7y−2z=5</m:t>
                            </m:r>
                          </m:e>
                        </m:eqArr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−4y−6z=−10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−15z=−15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1,  y = 1,  x = 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Khử x ở PT 2, 3; khử y ở PT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\begin{cases}x+y+z=2\\7x+3y+z=4\\−5x+7y−2z=5\end{cases}\Leftrightarrow\begin{cases}x+y+z=2\\−4y−6z=−10\\−15z=−15\end{cases}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1,  y = 1,  x = 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 duy nhất: (0; 1;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BA TRƯỜNG HỢP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Nghiệm duy nhất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55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Xuất hiện 0z = −1: vô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Xuất hiện 0z = 0: vô số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 = {(−2 − 2z; 5 + 5z; z) | z ∈ ℝ}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Nghiệm duy nhất </a:t>
                </a:r>
                <a:r>
                  <a:rPr lang="vi-VN"/>
                  <a:t>\left(\frac{25}{37};\frac{55}{37};−\frac{2}{37}\right)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Xuất hiện 0z = −1: vô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Xuất hiện 0z = 0: vô số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 = {(−2 − 2z; 5 + 5z; z) | z ∈ ℝ}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87951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87951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phương trình cuối để kết luận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TÌNH HUỐNG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x, y, z: tiền đầu tư ba quỹ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x+y+z=240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−y+z=80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03x+0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04y+0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07z=13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⟶  0,05z = 7  ⇒  z = 140,  y = 60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x, y, z: tiền đầu tư ba quỹ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\begin{cases}x+y+z=240\\−y+z=80\\0{,}03x+0{,}04y+0{,}07z=13{,}4\end{cases}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⟶  0,05z = 7  ⇒  z = 140,  y = 60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Tiền tệ 40 triệu; trái phiếu 60 triệu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Ngân hàng 140 triệu đồng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1: VĂN PHÒNG PHẨM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Hà, Lan, Minh trả tổng 820 nghìn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Lan ít hơn nửa số tiền của Hà 5 nghìn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Minh trả hơn Lan 210 nghìn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trả bao nhiêu?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1: VĂN PHÒNG PHẨM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7296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Hà, Lan, Minh trả tổng 820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Lan ít hơn nửa của Hà 5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Minh hơn Lan 210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x+y+z=820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x−2y=10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−y+z=210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7296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Hà, Lan, Minh trả tổng 820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Lan ít hơn nửa của Hà 5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Minh hơn Lan 210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\begin{cases}x+y+z=820\\x−2y=10\\−y+z=210\end{cases}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818888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18888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Lan 150 nghìn;  Minh 360 nghìn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MODE 5 → chọn 2 (hệ ba ẩn)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Nhập hệ số, ấn = để xem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No-Solution: hệ vô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Infinite Sol: vô số nghiệm</a:t>
            </a:r>
          </a:p>
        </p:txBody>
      </p:sp>
      <p:pic>
        <p:nvPicPr>
          <p:cNvPr id="7" name="Picture 6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93836"/>
            <a:ext cx="4389120" cy="16475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BẤM MÁY HĐ4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hệ bằng máy tính cầm tay: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−2x−3y+z=5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2x+y+2z=−3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−x+2y−3z=2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hệ bằng máy tính cầm tay: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\begin{cases}−2x−3y+z=5\\2x+y+2z=−3\\−x+2y−3z=2\end{cases}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BẤM MÁY HĐ4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72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−2x−3y+z=5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2x+y+2z=−3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−x+2y−3z=2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72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\begin{cases}−2x−3y+z=5\\2x+y+2z=−3\\−x+2y−3z=2\end{cases}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11810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1181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Nghiệm: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1181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Nghiệm: </a:t>
                </a:r>
                <a:r>
                  <a:rPr lang="vi-VN"/>
                  <a:t>\left(−4;\ \frac{11}{7};\ \frac{12}{7}\right)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248" y="4215384"/>
            <a:ext cx="5389023" cy="2002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2: LOÀI NGUY CẤP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400 loài có nguy cơ tuyệt chủng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Thú, chim, cá chiếm 55%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Chim hơn cá 0,7%; cá hơn thú 1,5%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tỉ lệ mỗi loại?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2: LOÀI NGUY CẤP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400 loài có nguy cơ tuyệt chủng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Thú, chim, cá chiếm 55%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Chim hơn cá 0,7%; cá hơn thú 1,5%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Thú 17,1%;  chim 19,3%;  cá 18,6%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1: khử ẩn trong hệ (Phiếu)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2: 0z = 0 ⇒ “vô nghiệm”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bước sai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1: quên nhân vế phải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12y + 3z = 5 (đúng phải là 15)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2: 0z = 0 ⇒ “vô nghiệm”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0z = 0: hệ có vô số nghiệm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Thử lại nghiệm, bấm máy kiểm chứng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PHỐI TRỘN NPK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118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Cần 78,5 kg N; 63,5 kg P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2</a:t>
            </a:r>
            <a:r>
              <a:rPr sz="2200">
                <a:solidFill>
                  <a:srgbClr val="1E293B"/>
                </a:solidFill>
                <a:latin typeface="Calibri"/>
              </a:rPr>
              <a:t>O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5</a:t>
            </a:r>
            <a:r>
              <a:rPr sz="2200">
                <a:solidFill>
                  <a:srgbClr val="1E293B"/>
                </a:solidFill>
                <a:latin typeface="Calibri"/>
              </a:rPr>
              <a:t>; 68 kg K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2</a:t>
            </a:r>
            <a:r>
              <a:rPr sz="2200">
                <a:solidFill>
                  <a:srgbClr val="1E293B"/>
                </a:solidFill>
                <a:latin typeface="Calibri"/>
              </a:rPr>
              <a:t>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Dùng NPK 16-16-8, 20-20-15, 15-5-20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Lập hệ, giải Gauss, bấm máy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Đáp số gợi ý: 100; 200; 150 kg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Tự đặt bài toán, số liệu thật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Nộp bảng tính và Nhật ký 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23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678925" y="2144161"/>
            <a:ext cx="1659963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33716" y="1867849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3 phương trình, 3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ẩn x, y, z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764777" y="2670962"/>
            <a:ext cx="1574111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7864" y="2495362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Nghiệm (x₀; y₀; z₀)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thỏa cả 3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635999" y="2670962"/>
            <a:ext cx="1702889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6642" y="3122874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Hệ dạng tam giác</a:t>
            </a:r>
          </a:p>
        </p:txBody>
      </p:sp>
      <p:sp>
        <p:nvSpPr>
          <p:cNvPr id="13" name="Oval 12"/>
          <p:cNvSpPr/>
          <p:nvPr/>
        </p:nvSpPr>
        <p:spPr>
          <a:xfrm>
            <a:off x="3571948" y="2427575"/>
            <a:ext cx="1533881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Khái niệm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15646" y="2043450"/>
            <a:ext cx="1788741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04387" y="1767138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Khử dần ẩn →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dạng tam giác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15646" y="2670962"/>
            <a:ext cx="1617037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32683" y="2394651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Giải ngược từ dưới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lên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788741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04387" y="3022163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Vô nghiệm / vô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số nghiệm</a:t>
            </a:r>
          </a:p>
        </p:txBody>
      </p:sp>
      <p:sp>
        <p:nvSpPr>
          <p:cNvPr id="21" name="Oval 20"/>
          <p:cNvSpPr/>
          <p:nvPr/>
        </p:nvSpPr>
        <p:spPr>
          <a:xfrm>
            <a:off x="6393969" y="2427575"/>
            <a:ext cx="2643353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Phương pháp Gauss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550147" y="5025552"/>
            <a:ext cx="1788741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62494" y="4749241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Chế độ giải hệ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3 ẩn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764777" y="5238597"/>
            <a:ext cx="1574111" cy="31375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47864" y="5376753"/>
            <a:ext cx="1916913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Kiểm tra lại nghiệm</a:t>
            </a:r>
          </a:p>
        </p:txBody>
      </p:sp>
      <p:sp>
        <p:nvSpPr>
          <p:cNvPr id="27" name="Oval 26"/>
          <p:cNvSpPr/>
          <p:nvPr/>
        </p:nvSpPr>
        <p:spPr>
          <a:xfrm>
            <a:off x="3363922" y="4826713"/>
            <a:ext cx="1949933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Máy tính cầm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tay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715646" y="4611085"/>
            <a:ext cx="1617037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332683" y="4334774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Bài toán pha trộn,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phân bón N–P–K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15646" y="5238597"/>
            <a:ext cx="1488259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203905" y="4962286"/>
            <a:ext cx="2088617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Cân bằng phương trình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hoá học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15646" y="5238597"/>
            <a:ext cx="1702889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18535" y="5589798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Bài toán kinh tế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– sản xuất</a:t>
            </a:r>
          </a:p>
        </p:txBody>
      </p:sp>
      <p:sp>
        <p:nvSpPr>
          <p:cNvPr id="35" name="Oval 34"/>
          <p:cNvSpPr/>
          <p:nvPr/>
        </p:nvSpPr>
        <p:spPr>
          <a:xfrm>
            <a:off x="7018047" y="4995210"/>
            <a:ext cx="1395197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Ứng dụng</a:t>
            </a:r>
          </a:p>
        </p:txBody>
      </p:sp>
      <p:sp>
        <p:nvSpPr>
          <p:cNvPr id="36" name="Oval 35"/>
          <p:cNvSpPr/>
          <p:nvPr/>
        </p:nvSpPr>
        <p:spPr>
          <a:xfrm>
            <a:off x="4705590" y="3089696"/>
            <a:ext cx="2643353" cy="1730166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CHUYÊN ĐỀ 1: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HỆ PHƯƠNG TRÌNH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BẬC NHẤT BA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ẨN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1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trangtu66.github.io/Taode_thi_online/cc_cd1bai1_t10.html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