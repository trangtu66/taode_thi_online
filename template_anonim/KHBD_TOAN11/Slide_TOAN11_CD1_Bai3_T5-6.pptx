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rangtu66.github.io/Taode_thi_online/cc_cd1bai3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PHÉP ĐỐI XỨNG TRỤC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1. Phép biến hình phẳng – Bài 3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5 – 6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phép đối xứng trục Đ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trục đối xứng của hình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ảnh qua Đ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Ox</a:t>
            </a:r>
            <a:r>
              <a:rPr sz="2600">
                <a:solidFill>
                  <a:srgbClr val="1E293B"/>
                </a:solidFill>
                <a:latin typeface="Calibri"/>
              </a:rPr>
              <a:t>, Đ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Oy</a:t>
            </a:r>
            <a:r>
              <a:rPr sz="2600">
                <a:solidFill>
                  <a:srgbClr val="1E293B"/>
                </a:solidFill>
                <a:latin typeface="Calibri"/>
              </a:rPr>
              <a:t>, Đ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Δ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Nắm tính chất bảo toàn khoảng cách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đường đi ngắn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Thiết kế hình cân đối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SỰ CÂN ĐỐI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Nhà Rông có trục đối xứng?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Gấp theo trục: điểm nào trùng?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Diễn đạt sự cân đối bằng Toán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97039"/>
            <a:ext cx="4389120" cy="36411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PHÉP ĐỐI XỨNG TRỤC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Kí hiệu: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 nhận d làm trục ⇔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d</a:t>
            </a:r>
            <a:r>
              <a:rPr sz="2400">
                <a:solidFill>
                  <a:srgbClr val="1E293B"/>
                </a:solidFill>
                <a:latin typeface="Calibri"/>
              </a:rPr>
              <a:t>(H) = 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Cầu Ponte Sisto và bóng dưới sông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 là trung trực của MM′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 ∈ d thì 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d</a:t>
            </a:r>
            <a:r>
              <a:rPr sz="2400" b="1">
                <a:solidFill>
                  <a:srgbClr val="991B1B"/>
                </a:solidFill>
                <a:latin typeface="Calibri"/>
              </a:rPr>
              <a:t>(M) = M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2306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BIỂU THỨC TỌA ĐỘ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1: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Ox</a:t>
            </a:r>
            <a:r>
              <a:rPr sz="2400">
                <a:solidFill>
                  <a:srgbClr val="1E293B"/>
                </a:solidFill>
                <a:latin typeface="Calibri"/>
              </a:rPr>
              <a:t>(A(1; 2)) = A′(1; −2)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2: 3x − y − 1 = 0 ↦ 3x + y − 1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Ox</a:t>
            </a:r>
            <a:r>
              <a:rPr sz="2400" b="1">
                <a:solidFill>
                  <a:srgbClr val="991B1B"/>
                </a:solidFill>
                <a:latin typeface="Calibri"/>
              </a:rPr>
              <a:t>: M(x; y) ↦ M′(x; −y)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Oy</a:t>
            </a:r>
            <a:r>
              <a:rPr sz="2400" b="1">
                <a:solidFill>
                  <a:srgbClr val="991B1B"/>
                </a:solidFill>
                <a:latin typeface="Calibri"/>
              </a:rPr>
              <a:t>: M(x; y) ↦ M′(−x; y)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53170"/>
            <a:ext cx="4389120" cy="4528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Δ: x + 3y − 15 = 0,   N(−1; 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Trung điểm I của NN′ thuộc Δ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⟂Δ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cùng phương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=(1;3)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N′(−1 + t; 2 + 3t) ⇒ t = 2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Δ: x + 3y − 15 = 0,   N(−1; 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Trung điểm I của NN′ thuộc Δ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NN'\perp\Delta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cùng phương </a:t>
                </a:r>
                <a:r>
                  <a:rPr lang="vi-VN"/>
                  <a:t>\vec{n}=(1;3)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N′(−1 + t; 2 + 3t) ⇒ t = 2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N′(1; 8)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50474"/>
            <a:ext cx="4389120" cy="37342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TÍNH CHẤT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Đoạn thẳng, tam giác ↦ hình bằng nó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tròn ↦ đường tròn cùng bán kính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thẳng ↦ đường thẳng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Bảo toàn khoảng cách: M′N′ = MN</a:t>
            </a:r>
          </a:p>
        </p:txBody>
      </p:sp>
      <p:pic>
        <p:nvPicPr>
          <p:cNvPr id="9" name="Picture 8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06" y="4169664"/>
            <a:ext cx="4036708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(C): (x − 3)² + (y − 5)² = 36,   Δ: x + 2y − 3 = 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Tâm A(3; 5) ↦ A′(−1; −3) qua Δ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kính giữ nguyên R =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(C′): (x + 1)² + (y + 3)² =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ĐƯỜNG ĐI NGẮN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M ∈ Δ để MA + MB nhỏ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A, B khác phía: M = AB ∩ Δ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A, B cùng phía: lấy A′ =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Δ</a:t>
            </a:r>
            <a:r>
              <a:rPr sz="2400">
                <a:solidFill>
                  <a:srgbClr val="1E293B"/>
                </a:solidFill>
                <a:latin typeface="Calibri"/>
              </a:rPr>
              <a:t>(A)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MA + MB = MA′ + MB ≥ A′B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 = A′B ∩ Δ</a:t>
            </a:r>
          </a:p>
        </p:txBody>
      </p:sp>
      <p:pic>
        <p:nvPicPr>
          <p:cNvPr id="9" name="Picture 8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90249"/>
            <a:ext cx="4389120" cy="34547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1.6 – 1.9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1.6: đối xứng qua trung trực AB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1.7: trung trực của O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1</a:t>
            </a:r>
            <a:r>
              <a:rPr sz="2400">
                <a:solidFill>
                  <a:srgbClr val="1E293B"/>
                </a:solidFill>
                <a:latin typeface="Calibri"/>
              </a:rPr>
              <a:t>O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1.8: ABMN là hình thang cân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1.9: d: x − 2y − 1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Ox</a:t>
            </a:r>
            <a:r>
              <a:rPr sz="2400" b="1">
                <a:solidFill>
                  <a:srgbClr val="991B1B"/>
                </a:solidFill>
                <a:latin typeface="Calibri"/>
              </a:rPr>
              <a:t>: thay y bởi −y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chỉ dùng “trung điểm thuộc Δ”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Ox</a:t>
            </a:r>
            <a:r>
              <a:rPr sz="2400">
                <a:solidFill>
                  <a:srgbClr val="1E293B"/>
                </a:solidFill>
                <a:latin typeface="Calibri"/>
              </a:rPr>
              <a:t>: (x; y) ↦ (−x; 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Thiếu NN′ ⊥ Δ; đúng: N′(1; 8)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Ox</a:t>
            </a:r>
            <a:r>
              <a:rPr sz="2400" b="1">
                <a:solidFill>
                  <a:srgbClr val="991B1B"/>
                </a:solidFill>
                <a:latin typeface="Calibri"/>
              </a:rPr>
              <a:t>: (x; y) ↦ (x; −y)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NHÀ RÔNG VÀ TRẠM BƠM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Vẽ nửa mặt tiền nhà Rông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Dùng Reflect qua trục Oy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tra bằng biểu thức tọa độ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Đặt trạm bơm: MA + MB nhỏ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chi phí ống 25 000 đồng/m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tệp GeoGebra, Nhật ký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13</a:t>
            </a:r>
          </a:p>
        </p:txBody>
      </p:sp>
      <p:pic>
        <p:nvPicPr>
          <p:cNvPr id="6" name="Picture 5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3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trangtu66.github.io/Taode_thi_online/cc_cd1bai3_t11.html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