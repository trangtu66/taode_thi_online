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nhanh Bài 2.3, 2.4 (Bài 5). HS dự đoán, GV ghi lại – giải ở Ví dụ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với dự đoán của HS ở phần Khởi động.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trangtu66.github.io/Taode_thi_online/cc_bai6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6. CẤP SỐ CỘNG</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13, 14 theo PPCT · Năm học 2026 – 2027</a:t>
            </a:r>
          </a:p>
          <a:p>
            <a:pPr algn="l">
              <a:spcAft>
                <a:spcPts val="800"/>
              </a:spcAft>
            </a:pPr>
            <a:r>
              <a:rPr sz="2200">
                <a:solidFill>
                  <a:srgbClr val="1E293B"/>
                </a:solidFill>
                <a:latin typeface="Calibri"/>
              </a:rPr>
              <a:t>GV soạn: TTT – Trường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một dãy số là cấp số cộng</a:t>
            </a:r>
          </a:p>
          <a:p>
            <a:pPr algn="l" marL="365760" indent="-365760">
              <a:spcAft>
                <a:spcPts val="800"/>
              </a:spcAft>
              <a:buClr>
                <a:srgbClr val="1E40AF"/>
              </a:buClr>
              <a:buFont typeface="Arial"/>
              <a:buChar char="•"/>
            </a:pPr>
            <a:r>
              <a:rPr sz="2400">
                <a:solidFill>
                  <a:srgbClr val="1E293B"/>
                </a:solidFill>
                <a:latin typeface="Calibri"/>
              </a:rPr>
              <a:t>Giải thích công thức số hạng tổng quát</a:t>
            </a:r>
          </a:p>
          <a:p>
            <a:pPr algn="l" marL="365760" indent="-365760">
              <a:spcAft>
                <a:spcPts val="800"/>
              </a:spcAft>
              <a:buClr>
                <a:srgbClr val="1E40AF"/>
              </a:buClr>
              <a:buFont typeface="Arial"/>
              <a:buChar char="•"/>
            </a:pPr>
            <a:r>
              <a:rPr sz="2400">
                <a:solidFill>
                  <a:srgbClr val="1E293B"/>
                </a:solidFill>
                <a:latin typeface="Calibri"/>
              </a:rPr>
              <a:t>Tính tổng n số hạng đầu của cấp số cộng</a:t>
            </a:r>
          </a:p>
          <a:p>
            <a:pPr algn="l" marL="365760" indent="-365760">
              <a:spcAft>
                <a:spcPts val="800"/>
              </a:spcAft>
              <a:buClr>
                <a:srgbClr val="1E40AF"/>
              </a:buClr>
              <a:buFont typeface="Arial"/>
              <a:buChar char="•"/>
            </a:pPr>
            <a:r>
              <a:rPr sz="2400">
                <a:solidFill>
                  <a:srgbClr val="1E293B"/>
                </a:solidFill>
                <a:latin typeface="Calibri"/>
              </a:rPr>
              <a:t>Giải quyết bài toán thực tiễn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NHÀ HÁT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a:t>
            </a:r>
          </a:p>
        </p:txBody>
      </p:sp>
      <p:sp>
        <p:nvSpPr>
          <p:cNvPr id="7" name="TextBox 6"/>
          <p:cNvSpPr txBox="1"/>
          <p:nvPr/>
        </p:nvSpPr>
        <p:spPr>
          <a:xfrm>
            <a:off x="731520" y="1463040"/>
            <a:ext cx="758952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hát có 25 hàng ghế với 16 ghế ở hàng thứ nhất, 18 ghế ở hàng thứ hai, 20 ghế ở hàng thứ ba và cứ tiếp tục theo quy luật đó, tức là hàng sau nhiều hơn hàng liền trước nó 2 ghế. Tính tổng số ghế của nhà hát đó.</a:t>
            </a:r>
          </a:p>
          <a:p>
            <a:pPr algn="l">
              <a:spcAft>
                <a:spcPts val="800"/>
              </a:spcAft>
            </a:pPr>
            <a:r>
              <a:rPr sz="2200" b="1">
                <a:solidFill>
                  <a:srgbClr val="1E40AF"/>
                </a:solidFill>
                <a:latin typeface="Calibri"/>
              </a:rPr>
              <a:t>Gợi mở: Có cách nào không phải cộng lần lượt 25 số?</a:t>
            </a:r>
          </a:p>
        </p:txBody>
      </p:sp>
      <p:pic>
        <p:nvPicPr>
          <p:cNvPr id="8" name="Picture 7" descr="img02.png"/>
          <p:cNvPicPr>
            <a:picLocks noChangeAspect="1"/>
          </p:cNvPicPr>
          <p:nvPr/>
        </p:nvPicPr>
        <p:blipFill>
          <a:blip r:embed="rId2"/>
          <a:stretch>
            <a:fillRect/>
          </a:stretch>
        </p:blipFill>
        <p:spPr>
          <a:xfrm>
            <a:off x="8503920" y="2788447"/>
            <a:ext cx="3291840" cy="205834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NHẬN BIẾT 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gồm tất cả các số tự nhiên lẻ, xếp theo thứ tự tăng dần.</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biểu diễn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theo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a:t>
                </a:r>
              </a:p>
              <a:p>
                <a:pPr algn="l">
                  <a:spcAft>
                    <a:spcPts val="800"/>
                  </a:spcAft>
                </a:pPr>
                <a:r>
                  <a:rPr sz="2400" b="1">
                    <a:solidFill>
                      <a:srgbClr val="1E40AF"/>
                    </a:solidFill>
                    <a:latin typeface="Calibri"/>
                  </a:rPr>
                  <a:t>Gợi mở: Số lẻ sau hơn số lẻ trước bao nhiêu?</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gồm tất cả các số tự nhiên lẻ, xếp theo thứ tự tăng dần.</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biểu diễn số hạng </a:t>
                </a:r>
                <a:r>
                  <a:rPr lang="vi-VN"/>
                  <a:t>u_n</a:t>
                </a:r>
                <a:r>
                  <a:rPr sz="2400">
                    <a:solidFill>
                      <a:srgbClr val="1E293B"/>
                    </a:solidFill>
                    <a:latin typeface="Calibri"/>
                  </a:rPr>
                  <a:t> theo số hạng </a:t>
                </a:r>
                <a:r>
                  <a:rPr lang="vi-VN"/>
                  <a:t>u_(n−1)</a:t>
                </a:r>
                <a:r>
                  <a:rPr sz="2400">
                    <a:solidFill>
                      <a:srgbClr val="1E293B"/>
                    </a:solidFill>
                    <a:latin typeface="Calibri"/>
                  </a:rPr>
                  <a:t>.</a:t>
                </a:r>
              </a:p>
              <a:p>
                <a:pPr algn="l">
                  <a:spcAft>
                    <a:spcPts val="800"/>
                  </a:spcAft>
                </a:pPr>
                <a:r>
                  <a:rPr sz="2400" b="1">
                    <a:solidFill>
                      <a:srgbClr val="1E40AF"/>
                    </a:solidFill>
                    <a:latin typeface="Calibri"/>
                  </a:rPr>
                  <a:t>Gợi mở: Số lẻ sau hơn số lẻ trước bao nhiêu?</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NHẬN BIẾT 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a:t>
            </a:r>
          </a:p>
        </p:txBody>
      </p:sp>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1, 3, 5, 7, 9</a:t>
            </a:r>
          </a:p>
          <a:p>
            <a:pPr algn="l" marL="365760" indent="-365760">
              <a:spcAft>
                <a:spcPts val="800"/>
              </a:spcAft>
              <a:buClr>
                <a:srgbClr val="1E40AF"/>
              </a:buClr>
              <a:buFont typeface="Arial"/>
              <a:buChar char="•"/>
            </a:pPr>
            <a:r>
              <a:rPr sz="2400">
                <a:solidFill>
                  <a:srgbClr val="1E293B"/>
                </a:solidFill>
                <a:latin typeface="Calibri"/>
              </a:rPr>
              <a:t>b) Mỗi số hạng hơn số hạng liền trước 2 đơn vị</a:t>
            </a:r>
          </a:p>
        </p:txBody>
      </p:sp>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+2</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u_n=u_{n-1}+2</a:t>
                </a:r>
                <a:r>
                  <a:rPr sz="2400" b="1">
                    <a:solidFill>
                      <a:srgbClr val="991B1B"/>
                    </a:solidFill>
                    <a:latin typeface="Calibri"/>
                  </a:rPr>
                  <a:t> </a:t>
                </a:r>
                <a:r>
                  <a:rPr lang="vi-VN"/>
                  <a:t>(n\ge 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7</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a:t>
                </a:r>
                <a:r>
                  <a:rPr sz="2400" b="1">
                    <a:solidFill>
                      <a:srgbClr val="991B1B"/>
                    </a:solidFill>
                    <a:latin typeface="Calibri"/>
                  </a:rPr>
                  <a:t> là một dãy số (hữu hạn hay vô hạn), trong đó kể từ số hạng thứ hai, mỗi số hạng đều bằng số hạng đứng ngay trước nó cộng với một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được gọi là </a:t>
                </a:r>
                <a:r>
                  <a:rPr sz="2400" b="1">
                    <a:solidFill>
                      <a:srgbClr val="991B1B"/>
                    </a:solidFill>
                    <a:latin typeface="Calibri"/>
                  </a:rPr>
                  <a:t>công sai</a:t>
                </a:r>
                <a:r>
                  <a:rPr sz="2400" b="1">
                    <a:solidFill>
                      <a:srgbClr val="991B1B"/>
                    </a:solidFill>
                    <a:latin typeface="Calibri"/>
                  </a:rPr>
                  <a:t> của cấp số cộng.</a:t>
                </a:r>
              </a:p>
              <a:p>
                <a:pPr algn="l">
                  <a:spcAft>
                    <a:spcPts val="400"/>
                  </a:spcAft>
                </a:pPr>
                <a:r>
                  <a:rPr sz="2400" b="1">
                    <a:solidFill>
                      <a:srgbClr val="991B1B"/>
                    </a:solidFill>
                    <a:latin typeface="Calibri"/>
                  </a:rPr>
                  <a:t>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được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+d</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a:t>
                </a:r>
                <a:r>
                  <a:rPr sz="2400" b="1">
                    <a:solidFill>
                      <a:srgbClr val="991B1B"/>
                    </a:solidFill>
                    <a:latin typeface="Calibri"/>
                  </a:rPr>
                  <a:t> là một dãy số (hữu hạn hay vô hạn), trong đó kể từ số hạng thứ hai, mỗi số hạng đều bằng số hạng đứng ngay trước nó cộng với một số không đổi </a:t>
                </a:r>
                <a:r>
                  <a:rPr lang="vi-VN"/>
                  <a:t>d</a:t>
                </a:r>
                <a:r>
                  <a:rPr sz="2400" b="1">
                    <a:solidFill>
                      <a:srgbClr val="991B1B"/>
                    </a:solidFill>
                    <a:latin typeface="Calibri"/>
                  </a:rPr>
                  <a:t>. Số </a:t>
                </a:r>
                <a:r>
                  <a:rPr lang="vi-VN"/>
                  <a:t>d</a:t>
                </a:r>
                <a:r>
                  <a:rPr sz="2400" b="1">
                    <a:solidFill>
                      <a:srgbClr val="991B1B"/>
                    </a:solidFill>
                    <a:latin typeface="Calibri"/>
                  </a:rPr>
                  <a:t> được gọi là </a:t>
                </a:r>
                <a:r>
                  <a:rPr sz="2400" b="1">
                    <a:solidFill>
                      <a:srgbClr val="991B1B"/>
                    </a:solidFill>
                    <a:latin typeface="Calibri"/>
                  </a:rPr>
                  <a:t>công sai</a:t>
                </a:r>
                <a:r>
                  <a:rPr sz="2400" b="1">
                    <a:solidFill>
                      <a:srgbClr val="991B1B"/>
                    </a:solidFill>
                    <a:latin typeface="Calibri"/>
                  </a:rPr>
                  <a:t> của cấp số cộng.</a:t>
                </a:r>
              </a:p>
              <a:p>
                <a:pPr algn="l">
                  <a:spcAft>
                    <a:spcPts val="400"/>
                  </a:spcAft>
                </a:pPr>
                <a:r>
                  <a:rPr sz="2400" b="1">
                    <a:solidFill>
                      <a:srgbClr val="991B1B"/>
                    </a:solidFill>
                    <a:latin typeface="Calibri"/>
                  </a:rPr>
                  <a:t>Cấp số cộng </a:t>
                </a:r>
                <a:r>
                  <a:rPr lang="vi-VN"/>
                  <a:t>(u_n)</a:t>
                </a:r>
                <a:r>
                  <a:rPr sz="2400" b="1">
                    <a:solidFill>
                      <a:srgbClr val="991B1B"/>
                    </a:solidFill>
                    <a:latin typeface="Calibri"/>
                  </a:rPr>
                  <a:t> với công sai </a:t>
                </a:r>
                <a:r>
                  <a:rPr lang="vi-VN"/>
                  <a:t>d</a:t>
                </a:r>
                <a:r>
                  <a:rPr sz="2400" b="1">
                    <a:solidFill>
                      <a:srgbClr val="991B1B"/>
                    </a:solidFill>
                    <a:latin typeface="Calibri"/>
                  </a:rPr>
                  <a:t> được cho bởi hệ thức truy hồi </a:t>
                </a:r>
                <a:r>
                  <a:rPr lang="vi-VN"/>
                  <a:t>u_n=u_(n−1)+d</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có phải là một cấp số cộng không?</a:t>
                </a:r>
              </a:p>
              <a:p>
                <a:pPr algn="l">
                  <a:spcAft>
                    <a:spcPts val="800"/>
                  </a:spcAft>
                </a:pPr>
                <a:r>
                  <a:rPr sz="2400" b="1">
                    <a:solidFill>
                      <a:srgbClr val="1E40AF"/>
                    </a:solidFill>
                    <a:latin typeface="Calibri"/>
                  </a:rPr>
                  <a:t>Gợi mở: Hiệu hai số hạng liên tiếp bằng bao nhiêu?</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r>
                  <a:rPr lang="vi-VN"/>
                  <a:t>a, a, a, …</a:t>
                </a:r>
                <a:r>
                  <a:rPr sz="2400">
                    <a:solidFill>
                      <a:srgbClr val="1E293B"/>
                    </a:solidFill>
                    <a:latin typeface="Calibri"/>
                  </a:rPr>
                  <a:t> có phải là một cấp số cộng không?</a:t>
                </a:r>
              </a:p>
              <a:p>
                <a:pPr algn="l">
                  <a:spcAft>
                    <a:spcPts val="800"/>
                  </a:spcAft>
                </a:pPr>
                <a:r>
                  <a:rPr sz="2400" b="1">
                    <a:solidFill>
                      <a:srgbClr val="1E40AF"/>
                    </a:solidFill>
                    <a:latin typeface="Calibri"/>
                  </a:rPr>
                  <a:t>Gợi mở: Hiệu hai số hạng liên tiếp bằng bao nhiêu?</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=a−a=0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r>
                  <a:rPr sz="2400">
                    <a:solidFill>
                      <a:srgbClr val="1E293B"/>
                    </a:solidFill>
                    <a:latin typeface="Calibri"/>
                  </a:rPr>
                  <a:t>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u_n-u_{n-1}=a-a=0</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sz="2400">
                    <a:solidFill>
                      <a:srgbClr val="1E293B"/>
                    </a:solidFill>
                    <a:latin typeface="Calibri"/>
                  </a:rPr>
                  <a:t>Nên </a:t>
                </a:r>
                <a:r>
                  <a:rPr lang="vi-VN"/>
                  <a:t>u_n=u_{n-1}+0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cộng với công sai </a:t>
                </a:r>
                <a14:m>
                  <m:oMath xmlns:m="http://schemas.openxmlformats.org/officeDocument/2006/math">
                    <m:r>
                      <a:rPr lang="vi-VN" sz="2400" b="1">
                        <a:solidFill>
                          <a:srgbClr val="991B1B"/>
                        </a:solidFill>
                        <a:latin typeface="Cambria Math" panose="02040503050406030204" pitchFamily="18" charset="0"/>
                      </a:rPr>
                      <m:t>d=0</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cộng với công sai </a:t>
                </a:r>
                <a:r>
                  <a:rPr lang="vi-VN"/>
                  <a:t>d=0</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d=3</m:t>
                    </m:r>
                  </m:oMath>
                </a14:m>
                <a:r>
                  <a:rPr sz="2400">
                    <a:solidFill>
                      <a:srgbClr val="1E293B"/>
                    </a:solidFill>
                    <a:latin typeface="Calibri"/>
                  </a:rPr>
                  <a:t>. Hãy viết năm số hạng đầu của cấp số cộng này.</a:t>
                </a:r>
              </a:p>
              <a:p>
                <a:pPr algn="l">
                  <a:spcAft>
                    <a:spcPts val="800"/>
                  </a:spcAft>
                </a:pPr>
                <a:r>
                  <a:rPr sz="2400" b="1">
                    <a:solidFill>
                      <a:srgbClr val="1E40AF"/>
                    </a:solidFill>
                    <a:latin typeface="Calibri"/>
                  </a:rPr>
                  <a:t>Gợi mở: Cộng thêm công sai d = 3</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r>
                  <a:rPr lang="vi-VN"/>
                  <a:t>(u_n)</a:t>
                </a:r>
                <a:r>
                  <a:rPr sz="2400">
                    <a:solidFill>
                      <a:srgbClr val="1E293B"/>
                    </a:solidFill>
                    <a:latin typeface="Calibri"/>
                  </a:rPr>
                  <a:t> có số hạng đầu </a:t>
                </a:r>
                <a:r>
                  <a:rPr lang="vi-VN"/>
                  <a:t>u_1=2</a:t>
                </a:r>
                <a:r>
                  <a:rPr sz="2400">
                    <a:solidFill>
                      <a:srgbClr val="1E293B"/>
                    </a:solidFill>
                    <a:latin typeface="Calibri"/>
                  </a:rPr>
                  <a:t> và công sai </a:t>
                </a:r>
                <a:r>
                  <a:rPr lang="vi-VN"/>
                  <a:t>d=3</a:t>
                </a:r>
                <a:r>
                  <a:rPr sz="2400">
                    <a:solidFill>
                      <a:srgbClr val="1E293B"/>
                    </a:solidFill>
                    <a:latin typeface="Calibri"/>
                  </a:rPr>
                  <a:t>. Hãy viết năm số hạng đầu của cấp số cộng này.</a:t>
                </a:r>
              </a:p>
              <a:p>
                <a:pPr algn="l">
                  <a:spcAft>
                    <a:spcPts val="800"/>
                  </a:spcAft>
                </a:pPr>
                <a:r>
                  <a:rPr sz="2400" b="1">
                    <a:solidFill>
                      <a:srgbClr val="1E40AF"/>
                    </a:solidFill>
                    <a:latin typeface="Calibri"/>
                  </a:rPr>
                  <a:t>Gợi mở: Cộng thêm công sai d = 3</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+d=2+3=5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+d=5+3=8</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+d=8+3=11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+d=11+3=14</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p>
              <a:p>
                <a:pPr algn="l" marL="365760" indent="-365760">
                  <a:spcAft>
                    <a:spcPts val="800"/>
                  </a:spcAft>
                  <a:buClr>
                    <a:srgbClr val="1E40AF"/>
                  </a:buClr>
                  <a:buFont typeface="Arial"/>
                  <a:buChar char="•"/>
                </a:pPr>
                <a:r>
                  <a:rPr lang="vi-VN"/>
                  <a:t>u_2=u_1+d=2+3=5</a:t>
                </a:r>
                <a:r>
                  <a:rPr sz="2400">
                    <a:solidFill>
                      <a:srgbClr val="1E293B"/>
                    </a:solidFill>
                    <a:latin typeface="Calibri"/>
                  </a:rPr>
                  <a:t>;  </a:t>
                </a:r>
                <a:r>
                  <a:rPr lang="vi-VN"/>
                  <a:t>u_3=u_2+d=5+3=8</a:t>
                </a:r>
              </a:p>
              <a:p>
                <a:pPr algn="l" marL="365760" indent="-365760">
                  <a:spcAft>
                    <a:spcPts val="800"/>
                  </a:spcAft>
                  <a:buClr>
                    <a:srgbClr val="1E40AF"/>
                  </a:buClr>
                  <a:buFont typeface="Arial"/>
                  <a:buChar char="•"/>
                </a:pPr>
                <a:r>
                  <a:rPr lang="vi-VN"/>
                  <a:t>u_4=u_3+d=8+3=11</a:t>
                </a:r>
                <a:r>
                  <a:rPr sz="2400">
                    <a:solidFill>
                      <a:srgbClr val="1E293B"/>
                    </a:solidFill>
                    <a:latin typeface="Calibri"/>
                  </a:rPr>
                  <a:t>;  </a:t>
                </a:r>
                <a:r>
                  <a:rPr lang="vi-VN"/>
                  <a:t>u_5=u_4+d=11+3=14</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2, 5, 8, 11, 14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=5n−1</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Tìm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 của nó.</a:t>
                </a:r>
              </a:p>
              <a:p>
                <a:pPr algn="l">
                  <a:spcAft>
                    <a:spcPts val="800"/>
                  </a:spcAft>
                </a:pPr>
                <a:r>
                  <a:rPr sz="2400" b="1">
                    <a:solidFill>
                      <a:srgbClr val="1E40AF"/>
                    </a:solidFill>
                    <a:latin typeface="Calibri"/>
                  </a:rPr>
                  <a:t>Gợi mở: Chứng minh hiệu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oMath>
                </a14:m>
                <a:r>
                  <a:rPr sz="2400" b="1">
                    <a:solidFill>
                      <a:srgbClr val="1E40AF"/>
                    </a:solidFill>
                    <a:latin typeface="Calibri"/>
                  </a:rPr>
                  <a:t> không đổi</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u_n=5n−1</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Tìm số hạng đầu </a:t>
                </a:r>
                <a:r>
                  <a:rPr lang="vi-VN"/>
                  <a:t>u_1</a:t>
                </a:r>
                <a:r>
                  <a:rPr sz="2400">
                    <a:solidFill>
                      <a:srgbClr val="1E293B"/>
                    </a:solidFill>
                    <a:latin typeface="Calibri"/>
                  </a:rPr>
                  <a:t> và công sai </a:t>
                </a:r>
                <a:r>
                  <a:rPr lang="vi-VN"/>
                  <a:t>d</a:t>
                </a:r>
                <a:r>
                  <a:rPr sz="2400">
                    <a:solidFill>
                      <a:srgbClr val="1E293B"/>
                    </a:solidFill>
                    <a:latin typeface="Calibri"/>
                  </a:rPr>
                  <a:t> của nó.</a:t>
                </a:r>
              </a:p>
              <a:p>
                <a:pPr algn="l">
                  <a:spcAft>
                    <a:spcPts val="800"/>
                  </a:spcAft>
                </a:pPr>
                <a:r>
                  <a:rPr sz="2400" b="1">
                    <a:solidFill>
                      <a:srgbClr val="1E40AF"/>
                    </a:solidFill>
                    <a:latin typeface="Calibri"/>
                  </a:rPr>
                  <a:t>Gợi mở: Chứng minh hiệu </a:t>
                </a:r>
                <a:r>
                  <a:rPr lang="vi-VN"/>
                  <a:t>u_n-u_{n-1}</a:t>
                </a:r>
                <a:r>
                  <a:rPr sz="2400" b="1">
                    <a:solidFill>
                      <a:srgbClr val="1E40AF"/>
                    </a:solidFill>
                    <a:latin typeface="Calibri"/>
                  </a:rPr>
                  <a:t> không đổi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=(5n−1)−[5(n−1)−1]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=5n−1−5n+6=5</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=5·1−1=4</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u_n-u_{n-1}=(5n-1)-[5(n-1)-1]</a:t>
                </a:r>
              </a:p>
              <a:p>
                <a:pPr algn="l" marL="365760" indent="-365760">
                  <a:spcAft>
                    <a:spcPts val="800"/>
                  </a:spcAft>
                  <a:buClr>
                    <a:srgbClr val="1E40AF"/>
                  </a:buClr>
                  <a:buFont typeface="Arial"/>
                  <a:buChar char="•"/>
                </a:pPr>
                <a:r>
                  <a:rPr lang="vi-VN"/>
                  <a:t>=5n-1-5n+6=5</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u_1=5\cdot 1-1=4</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=4</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d=5</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r>
                  <a:rPr lang="vi-VN"/>
                  <a:t>u_1=4</a:t>
                </a:r>
                <a:r>
                  <a:rPr sz="2400" b="1">
                    <a:solidFill>
                      <a:srgbClr val="991B1B"/>
                    </a:solidFill>
                    <a:latin typeface="Calibri"/>
                  </a:rPr>
                  <a:t>, </a:t>
                </a:r>
                <a:r>
                  <a:rPr lang="vi-VN"/>
                  <a:t>d=5</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=−2n+3</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và công sai của cấp số cộng này.</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u_n=−2n+3</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và công sai của cấp số cộng này.</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=(−2n+3)−[−2(n−1)+3]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=−2n+3+2n−5=−2</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=−2·1+3=1</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u_n-u_{n-1}=(-2n+3)-[-2(n-1)+3]</a:t>
                </a:r>
              </a:p>
              <a:p>
                <a:pPr algn="l" marL="365760" indent="-365760">
                  <a:spcAft>
                    <a:spcPts val="800"/>
                  </a:spcAft>
                  <a:buClr>
                    <a:srgbClr val="1E40AF"/>
                  </a:buClr>
                  <a:buFont typeface="Arial"/>
                  <a:buChar char="•"/>
                </a:pPr>
                <a:r>
                  <a:rPr lang="vi-VN"/>
                  <a:t>=-2n+3+2n-5=-2</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u_1=-2\cdot 1+3=1</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d=−2</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r>
                  <a:rPr lang="vi-VN"/>
                  <a:t>u_1=1</a:t>
                </a:r>
                <a:r>
                  <a:rPr sz="2400" b="1">
                    <a:solidFill>
                      <a:srgbClr val="991B1B"/>
                    </a:solidFill>
                    <a:latin typeface="Calibri"/>
                  </a:rPr>
                  <a:t>, </a:t>
                </a:r>
                <a:r>
                  <a:rPr lang="vi-VN"/>
                  <a:t>d=-2</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SỐ HẠNG TỔNG QUÁT</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a:spcAft>
                    <a:spcPts val="800"/>
                  </a:spcAft>
                </a:pPr>
                <a:r>
                  <a:rPr sz="2400" b="1">
                    <a:solidFill>
                      <a:srgbClr val="1E40AF"/>
                    </a:solidFill>
                    <a:latin typeface="Calibri"/>
                  </a:rPr>
                  <a:t>Gợi mở: Mỗi bước cộng thêm một lần d</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cộng </a:t>
                </a:r>
                <a:r>
                  <a:rPr lang="vi-VN"/>
                  <a:t>(u_n)</a:t>
                </a:r>
                <a:r>
                  <a:rPr sz="2400">
                    <a:solidFill>
                      <a:srgbClr val="1E293B"/>
                    </a:solidFill>
                    <a:latin typeface="Calibri"/>
                  </a:rPr>
                  <a:t> với số hạng đầu </a:t>
                </a:r>
                <a:r>
                  <a:rPr lang="vi-VN"/>
                  <a:t>u_1</a:t>
                </a:r>
                <a:r>
                  <a:rPr sz="2400">
                    <a:solidFill>
                      <a:srgbClr val="1E293B"/>
                    </a:solidFill>
                    <a:latin typeface="Calibri"/>
                  </a:rPr>
                  <a:t> và công sai </a:t>
                </a:r>
                <a:r>
                  <a:rPr lang="vi-VN"/>
                  <a:t>d</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r>
                  <a:rPr lang="vi-VN"/>
                  <a:t>u_2</a:t>
                </a:r>
                <a:r>
                  <a:rPr sz="2400">
                    <a:solidFill>
                      <a:srgbClr val="1E293B"/>
                    </a:solidFill>
                    <a:latin typeface="Calibri"/>
                  </a:rPr>
                  <a:t>, </a:t>
                </a:r>
                <a:r>
                  <a:rPr lang="vi-VN"/>
                  <a:t>u_3</a:t>
                </a:r>
                <a:r>
                  <a:rPr sz="2400">
                    <a:solidFill>
                      <a:srgbClr val="1E293B"/>
                    </a:solidFill>
                    <a:latin typeface="Calibri"/>
                  </a:rPr>
                  <a:t>, </a:t>
                </a:r>
                <a:r>
                  <a:rPr lang="vi-VN"/>
                  <a:t>u_4</a:t>
                </a:r>
                <a:r>
                  <a:rPr sz="2400">
                    <a:solidFill>
                      <a:srgbClr val="1E293B"/>
                    </a:solidFill>
                    <a:latin typeface="Calibri"/>
                  </a:rPr>
                  <a:t>, </a:t>
                </a:r>
                <a:r>
                  <a:rPr lang="vi-VN"/>
                  <a:t>u_5</a:t>
                </a:r>
                <a:r>
                  <a:rPr sz="2400">
                    <a:solidFill>
                      <a:srgbClr val="1E293B"/>
                    </a:solidFill>
                    <a:latin typeface="Calibri"/>
                  </a:rPr>
                  <a:t> theo </a:t>
                </a:r>
                <a:r>
                  <a:rPr lang="vi-VN"/>
                  <a:t>u_1</a:t>
                </a:r>
                <a:r>
                  <a:rPr sz="2400">
                    <a:solidFill>
                      <a:srgbClr val="1E293B"/>
                    </a:solidFill>
                    <a:latin typeface="Calibri"/>
                  </a:rPr>
                  <a:t> và </a:t>
                </a:r>
                <a:r>
                  <a:rPr lang="vi-VN"/>
                  <a:t>d</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tổng quát </a:t>
                </a:r>
                <a:r>
                  <a:rPr lang="vi-VN"/>
                  <a:t>u_n</a:t>
                </a:r>
                <a:r>
                  <a:rPr sz="2400">
                    <a:solidFill>
                      <a:srgbClr val="1E293B"/>
                    </a:solidFill>
                    <a:latin typeface="Calibri"/>
                  </a:rPr>
                  <a:t> theo </a:t>
                </a:r>
                <a:r>
                  <a:rPr lang="vi-VN"/>
                  <a:t>u_1</a:t>
                </a:r>
                <a:r>
                  <a:rPr sz="2400">
                    <a:solidFill>
                      <a:srgbClr val="1E293B"/>
                    </a:solidFill>
                    <a:latin typeface="Calibri"/>
                  </a:rPr>
                  <a:t> và </a:t>
                </a:r>
                <a:r>
                  <a:rPr lang="vi-VN"/>
                  <a:t>d</a:t>
                </a:r>
                <a:r>
                  <a:rPr sz="2400">
                    <a:solidFill>
                      <a:srgbClr val="1E293B"/>
                    </a:solidFill>
                    <a:latin typeface="Calibri"/>
                  </a:rPr>
                  <a:t>.</a:t>
                </a:r>
              </a:p>
              <a:p>
                <a:pPr algn="l">
                  <a:spcAft>
                    <a:spcPts val="800"/>
                  </a:spcAft>
                </a:pPr>
                <a:r>
                  <a:rPr sz="2400" b="1">
                    <a:solidFill>
                      <a:srgbClr val="1E40AF"/>
                    </a:solidFill>
                    <a:latin typeface="Calibri"/>
                  </a:rPr>
                  <a:t>Gợi mở: Mỗi bước cộng thêm một lần d</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+2d</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+3d</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+4d</m:t>
                    </m:r>
                  </m:oMath>
                </a14:m>
              </a:p>
              <a:p>
                <a:pPr algn="l" marL="365760" indent="-365760">
                  <a:spcAft>
                    <a:spcPts val="800"/>
                  </a:spcAft>
                  <a:buClr>
                    <a:srgbClr val="1E40AF"/>
                  </a:buClr>
                  <a:buFont typeface="Arial"/>
                  <a:buChar char="•"/>
                </a:pPr>
                <a:r>
                  <a:rPr sz="2400">
                    <a:solidFill>
                      <a:srgbClr val="1E293B"/>
                    </a:solidFill>
                    <a:latin typeface="Calibri"/>
                  </a:rPr>
                  <a:t>Số hạng thứ n: cộng </a:t>
                </a:r>
                <a14:m>
                  <m:oMath xmlns:m="http://schemas.openxmlformats.org/officeDocument/2006/math">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lần công sai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u_2=u_1+d</a:t>
                </a:r>
                <a:r>
                  <a:rPr sz="2400">
                    <a:solidFill>
                      <a:srgbClr val="1E293B"/>
                    </a:solidFill>
                    <a:latin typeface="Calibri"/>
                  </a:rPr>
                  <a:t>;  </a:t>
                </a:r>
                <a:r>
                  <a:rPr lang="vi-VN"/>
                  <a:t>u_3=u_2+d=u_1+2d</a:t>
                </a:r>
              </a:p>
              <a:p>
                <a:pPr algn="l" marL="365760" indent="-365760">
                  <a:spcAft>
                    <a:spcPts val="800"/>
                  </a:spcAft>
                  <a:buClr>
                    <a:srgbClr val="1E40AF"/>
                  </a:buClr>
                  <a:buFont typeface="Arial"/>
                  <a:buChar char="•"/>
                </a:pPr>
                <a:r>
                  <a:rPr lang="vi-VN"/>
                  <a:t>u_4=u_1+3d</a:t>
                </a:r>
                <a:r>
                  <a:rPr sz="2400">
                    <a:solidFill>
                      <a:srgbClr val="1E293B"/>
                    </a:solidFill>
                    <a:latin typeface="Calibri"/>
                  </a:rPr>
                  <a:t>;  </a:t>
                </a:r>
                <a:r>
                  <a:rPr lang="vi-VN"/>
                  <a:t>u_5=u_1+4d</a:t>
                </a:r>
              </a:p>
              <a:p>
                <a:pPr algn="l" marL="365760" indent="-365760">
                  <a:spcAft>
                    <a:spcPts val="800"/>
                  </a:spcAft>
                  <a:buClr>
                    <a:srgbClr val="1E40AF"/>
                  </a:buClr>
                  <a:buFont typeface="Arial"/>
                  <a:buChar char="•"/>
                </a:pPr>
                <a:r>
                  <a:rPr sz="2400">
                    <a:solidFill>
                      <a:srgbClr val="1E293B"/>
                    </a:solidFill>
                    <a:latin typeface="Calibri"/>
                  </a:rPr>
                  <a:t>Số hạng thứ n: cộng </a:t>
                </a:r>
                <a:r>
                  <a:rPr lang="vi-VN"/>
                  <a:t>(n-1)</a:t>
                </a:r>
                <a:r>
                  <a:rPr sz="2400">
                    <a:solidFill>
                      <a:srgbClr val="1E293B"/>
                    </a:solidFill>
                    <a:latin typeface="Calibri"/>
                  </a:rPr>
                  <a:t> lần công sai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u_n=u_1+(n-1)d</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19</a:t>
            </a:r>
          </a:p>
        </p:txBody>
      </p:sp>
      <p:sp>
        <p:nvSpPr>
          <p:cNvPr id="7" name="Rounded Rectangle 6"/>
          <p:cNvSpPr/>
          <p:nvPr/>
        </p:nvSpPr>
        <p:spPr>
          <a:xfrm>
            <a:off x="731520" y="1463040"/>
            <a:ext cx="9601200" cy="1645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của nó được xác định theo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a:t>
                </a:r>
              </a:p>
            </p:txBody>
          </p:sp>
        </mc:Choice>
        <mc:Fallback>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cấp số cộng </a:t>
                </a:r>
                <a:r>
                  <a:rPr lang="vi-VN"/>
                  <a:t>(u_n)</a:t>
                </a:r>
                <a:r>
                  <a:rPr sz="2400" b="1">
                    <a:solidFill>
                      <a:srgbClr val="991B1B"/>
                    </a:solidFill>
                    <a:latin typeface="Calibri"/>
                  </a:rPr>
                  <a:t> có số hạng đầu </a:t>
                </a:r>
                <a:r>
                  <a:rPr lang="vi-VN"/>
                  <a:t>u_1</a:t>
                </a:r>
                <a:r>
                  <a:rPr sz="2400" b="1">
                    <a:solidFill>
                      <a:srgbClr val="991B1B"/>
                    </a:solidFill>
                    <a:latin typeface="Calibri"/>
                  </a:rPr>
                  <a:t> và công sai </a:t>
                </a:r>
                <a:r>
                  <a:rPr lang="vi-VN"/>
                  <a:t>d</a:t>
                </a:r>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r>
                  <a:rPr lang="vi-VN"/>
                  <a:t>u_n</a:t>
                </a:r>
                <a:r>
                  <a:rPr sz="2400" b="1">
                    <a:solidFill>
                      <a:srgbClr val="991B1B"/>
                    </a:solidFill>
                    <a:latin typeface="Calibri"/>
                  </a:rPr>
                  <a:t> của nó được xác định theo công thức </a:t>
                </a:r>
                <a:r>
                  <a:rPr lang="vi-VN"/>
                  <a:t>u_n=u_1+(n−1)d</a:t>
                </a:r>
                <a:r>
                  <a:rPr sz="2400" b="1">
                    <a:solidFill>
                      <a:srgbClr val="991B1B"/>
                    </a:solidFill>
                    <a:latin typeface="Calibri"/>
                  </a:rPr>
                  <a:t>.</a:t>
                </a:r>
              </a:p>
            </p:txBody>
          </p:sp>
        </mc:Fallback>
      </mc:AlternateContent>
      <p:pic>
        <p:nvPicPr>
          <p:cNvPr id="9" name="Picture 8" descr="img03.png"/>
          <p:cNvPicPr>
            <a:picLocks noChangeAspect="1"/>
          </p:cNvPicPr>
          <p:nvPr/>
        </p:nvPicPr>
        <p:blipFill>
          <a:blip r:embed="rId2"/>
          <a:stretch>
            <a:fillRect/>
          </a:stretch>
        </p:blipFill>
        <p:spPr>
          <a:xfrm>
            <a:off x="2759754" y="3246120"/>
            <a:ext cx="6642012" cy="30175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r>
                  <a:rPr sz="2400" b="1">
                    <a:solidFill>
                      <a:srgbClr val="1E40AF"/>
                    </a:solidFill>
                    <a:latin typeface="Calibri"/>
                  </a:rPr>
                  <a:t> trước</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cộng </a:t>
                </a:r>
                <a:r>
                  <a:rPr lang="vi-VN"/>
                  <a:t>(u_n)</a:t>
                </a:r>
                <a:r>
                  <a:rPr sz="2400">
                    <a:solidFill>
                      <a:srgbClr val="1E293B"/>
                    </a:solidFill>
                    <a:latin typeface="Calibri"/>
                  </a:rPr>
                  <a:t>: </a:t>
                </a:r>
                <a:r>
                  <a:rPr lang="vi-VN"/>
                  <a:t>10, 5, …</a:t>
                </a:r>
              </a:p>
              <a:p>
                <a:pPr algn="l">
                  <a:spcAft>
                    <a:spcPts val="800"/>
                  </a:spcAft>
                </a:pPr>
                <a:r>
                  <a:rPr sz="2400" b="1">
                    <a:solidFill>
                      <a:srgbClr val="1E40AF"/>
                    </a:solidFill>
                    <a:latin typeface="Calibri"/>
                  </a:rPr>
                  <a:t>Gợi mở: Tìm </a:t>
                </a:r>
                <a:r>
                  <a:rPr lang="vi-VN"/>
                  <a:t>u_1</a:t>
                </a:r>
                <a:r>
                  <a:rPr sz="2400" b="1">
                    <a:solidFill>
                      <a:srgbClr val="1E40AF"/>
                    </a:solidFill>
                    <a:latin typeface="Calibri"/>
                  </a:rPr>
                  <a:t> và </a:t>
                </a:r>
                <a:r>
                  <a:rPr lang="vi-VN"/>
                  <a:t>d</a:t>
                </a:r>
                <a:r>
                  <a:rPr sz="2400" b="1">
                    <a:solidFill>
                      <a:srgbClr val="1E40AF"/>
                    </a:solidFill>
                    <a:latin typeface="Calibri"/>
                  </a:rPr>
                  <a:t> trước</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d=5−10=−5</m:t>
                    </m:r>
                  </m:oMath>
                </a14:m>
              </a:p>
              <a:p>
                <a:pPr algn="l" marL="365760" indent="-365760">
                  <a:spcAft>
                    <a:spcPts val="800"/>
                  </a:spcAft>
                  <a:buClr>
                    <a:srgbClr val="1E40AF"/>
                  </a:buClr>
                  <a:buFont typeface="Arial"/>
                  <a:buChar char="•"/>
                </a:pPr>
                <a:r>
                  <a:rPr sz="2400">
                    <a:solidFill>
                      <a:srgbClr val="1E293B"/>
                    </a:solidFill>
                    <a:latin typeface="Calibri"/>
                  </a:rPr>
                  <a:t>Năm số hạng đầu: 10, 5, 0, −5, −10</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+(100−1)d=10+99·(−5)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u_1=10</a:t>
                </a:r>
                <a:r>
                  <a:rPr sz="2400">
                    <a:solidFill>
                      <a:srgbClr val="1E293B"/>
                    </a:solidFill>
                    <a:latin typeface="Calibri"/>
                  </a:rPr>
                  <a:t>, </a:t>
                </a:r>
                <a:r>
                  <a:rPr lang="vi-VN"/>
                  <a:t>d=5-10=-5</a:t>
                </a:r>
              </a:p>
              <a:p>
                <a:pPr algn="l" marL="365760" indent="-365760">
                  <a:spcAft>
                    <a:spcPts val="800"/>
                  </a:spcAft>
                  <a:buClr>
                    <a:srgbClr val="1E40AF"/>
                  </a:buClr>
                  <a:buFont typeface="Arial"/>
                  <a:buChar char="•"/>
                </a:pPr>
                <a:r>
                  <a:rPr sz="2400">
                    <a:solidFill>
                      <a:srgbClr val="1E293B"/>
                    </a:solidFill>
                    <a:latin typeface="Calibri"/>
                  </a:rPr>
                  <a:t>Năm số hạng đầu: 10, 5, 0, −5, −10</a:t>
                </a:r>
              </a:p>
              <a:p>
                <a:pPr algn="l" marL="365760" indent="-365760">
                  <a:spcAft>
                    <a:spcPts val="800"/>
                  </a:spcAft>
                  <a:buClr>
                    <a:srgbClr val="1E40AF"/>
                  </a:buClr>
                  <a:buFont typeface="Arial"/>
                  <a:buChar char="•"/>
                </a:pPr>
                <a:r>
                  <a:rPr lang="vi-VN"/>
                  <a:t>u_{100}=u_1+(100-1)d=10+99\cdot(-5)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=−485</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u_{100}=-485</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Số hạng thứ 10 của một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bằng 48 và số hạng thứ 18 bằng 88. Tìm số hạng thứ 100 của cấp số cộng đó.</a:t>
                </a:r>
              </a:p>
              <a:p>
                <a:pPr algn="l">
                  <a:spcAft>
                    <a:spcPts val="800"/>
                  </a:spcAft>
                </a:pPr>
                <a:r>
                  <a:rPr sz="2400" b="1">
                    <a:solidFill>
                      <a:srgbClr val="1E40AF"/>
                    </a:solidFill>
                    <a:latin typeface="Calibri"/>
                  </a:rPr>
                  <a:t>Gợi mở: Lập hệ hai phương trình theo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Số hạng thứ 10 của một cấp số cộng </a:t>
                </a:r>
                <a:r>
                  <a:rPr lang="vi-VN"/>
                  <a:t>(u_n)</a:t>
                </a:r>
                <a:r>
                  <a:rPr sz="2400">
                    <a:solidFill>
                      <a:srgbClr val="1E293B"/>
                    </a:solidFill>
                    <a:latin typeface="Calibri"/>
                  </a:rPr>
                  <a:t> bằng 48 và số hạng thứ 18 bằng 88. Tìm số hạng thứ 100 của cấp số cộng đó.</a:t>
                </a:r>
              </a:p>
              <a:p>
                <a:pPr algn="l">
                  <a:spcAft>
                    <a:spcPts val="800"/>
                  </a:spcAft>
                </a:pPr>
                <a:r>
                  <a:rPr sz="2400" b="1">
                    <a:solidFill>
                      <a:srgbClr val="1E40AF"/>
                    </a:solidFill>
                    <a:latin typeface="Calibri"/>
                  </a:rPr>
                  <a:t>Gợi mở: Lập hệ hai phương trình theo </a:t>
                </a:r>
                <a:r>
                  <a:rPr lang="vi-VN"/>
                  <a:t>u_1</a:t>
                </a:r>
                <a:r>
                  <a:rPr sz="2400" b="1">
                    <a:solidFill>
                      <a:srgbClr val="1E40AF"/>
                    </a:solidFill>
                    <a:latin typeface="Calibri"/>
                  </a:rPr>
                  <a:t> và </a:t>
                </a:r>
                <a:r>
                  <a:rPr lang="vi-VN"/>
                  <a:t>d</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+9d=48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18</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+17d=88</m:t>
                    </m:r>
                  </m:oMath>
                </a14:m>
              </a:p>
              <a:p>
                <a:pPr algn="l" marL="365760" indent="-365760">
                  <a:spcAft>
                    <a:spcPts val="800"/>
                  </a:spcAft>
                  <a:buClr>
                    <a:srgbClr val="1E40AF"/>
                  </a:buClr>
                  <a:buFont typeface="Arial"/>
                  <a:buChar char="•"/>
                </a:pPr>
                <a:r>
                  <a:rPr sz="2400">
                    <a:solidFill>
                      <a:srgbClr val="1E293B"/>
                    </a:solidFill>
                    <a:latin typeface="Calibri"/>
                  </a:rPr>
                  <a:t>Trừ vế: </a:t>
                </a:r>
                <a14:m>
                  <m:oMath xmlns:m="http://schemas.openxmlformats.org/officeDocument/2006/math">
                    <m:r>
                      <a:rPr lang="vi-VN" sz="2400" b="0">
                        <a:solidFill>
                          <a:srgbClr val="1E293B"/>
                        </a:solidFill>
                        <a:latin typeface="Cambria Math" panose="02040503050406030204" pitchFamily="18" charset="0"/>
                      </a:rPr>
                      <m:t>8d=40⇒d=5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=48−45=3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+99d=3+99·5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u_{10}=u_1+9d=48</a:t>
                </a:r>
                <a:r>
                  <a:rPr sz="2400">
                    <a:solidFill>
                      <a:srgbClr val="1E293B"/>
                    </a:solidFill>
                    <a:latin typeface="Calibri"/>
                  </a:rPr>
                  <a:t>;  </a:t>
                </a:r>
                <a:r>
                  <a:rPr lang="vi-VN"/>
                  <a:t>u_{18}=u_1+17d=88</a:t>
                </a:r>
              </a:p>
              <a:p>
                <a:pPr algn="l" marL="365760" indent="-365760">
                  <a:spcAft>
                    <a:spcPts val="800"/>
                  </a:spcAft>
                  <a:buClr>
                    <a:srgbClr val="1E40AF"/>
                  </a:buClr>
                  <a:buFont typeface="Arial"/>
                  <a:buChar char="•"/>
                </a:pPr>
                <a:r>
                  <a:rPr sz="2400">
                    <a:solidFill>
                      <a:srgbClr val="1E293B"/>
                    </a:solidFill>
                    <a:latin typeface="Calibri"/>
                  </a:rPr>
                  <a:t>Trừ vế: </a:t>
                </a:r>
                <a:r>
                  <a:rPr lang="vi-VN"/>
                  <a:t>8d=40\Rightarrow d=5</a:t>
                </a:r>
                <a:r>
                  <a:rPr sz="2400">
                    <a:solidFill>
                      <a:srgbClr val="1E293B"/>
                    </a:solidFill>
                    <a:latin typeface="Calibri"/>
                  </a:rPr>
                  <a:t>;  </a:t>
                </a:r>
                <a:r>
                  <a:rPr lang="vi-VN"/>
                  <a:t>u_1=48-45=3</a:t>
                </a:r>
              </a:p>
              <a:p>
                <a:pPr algn="l" marL="365760" indent="-365760">
                  <a:spcAft>
                    <a:spcPts val="800"/>
                  </a:spcAft>
                  <a:buClr>
                    <a:srgbClr val="1E40AF"/>
                  </a:buClr>
                  <a:buFont typeface="Arial"/>
                  <a:buChar char="•"/>
                </a:pPr>
                <a:r>
                  <a:rPr lang="vi-VN"/>
                  <a:t>u_{100}=u_1+99d=3+99\cdot 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=498</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u_{100}=498</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=4n−3</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 của cấp số cộng này.</a:t>
                </a:r>
              </a:p>
              <a:p>
                <a:pPr algn="l">
                  <a:spcAft>
                    <a:spcPts val="800"/>
                  </a:spcAft>
                </a:pPr>
                <a:r>
                  <a:rPr sz="2400">
                    <a:solidFill>
                      <a:srgbClr val="1E293B"/>
                    </a:solidFill>
                    <a:latin typeface="Calibri"/>
                  </a:rPr>
                  <a:t>Từ đó viết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r>
                  <a:rPr sz="2400">
                    <a:solidFill>
                      <a:srgbClr val="1E293B"/>
                    </a:solidFill>
                    <a:latin typeface="Calibri"/>
                  </a:rPr>
                  <a:t>.</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u_n=4n−3</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a:t>
                </a:r>
                <a:r>
                  <a:rPr lang="vi-VN"/>
                  <a:t>u_1</a:t>
                </a:r>
                <a:r>
                  <a:rPr sz="2400">
                    <a:solidFill>
                      <a:srgbClr val="1E293B"/>
                    </a:solidFill>
                    <a:latin typeface="Calibri"/>
                  </a:rPr>
                  <a:t> và công sai </a:t>
                </a:r>
                <a:r>
                  <a:rPr lang="vi-VN"/>
                  <a:t>d</a:t>
                </a:r>
                <a:r>
                  <a:rPr sz="2400">
                    <a:solidFill>
                      <a:srgbClr val="1E293B"/>
                    </a:solidFill>
                    <a:latin typeface="Calibri"/>
                  </a:rPr>
                  <a:t> của cấp số cộng này.</a:t>
                </a:r>
              </a:p>
              <a:p>
                <a:pPr algn="l">
                  <a:spcAft>
                    <a:spcPts val="800"/>
                  </a:spcAft>
                </a:pPr>
                <a:r>
                  <a:rPr sz="2400">
                    <a:solidFill>
                      <a:srgbClr val="1E293B"/>
                    </a:solidFill>
                    <a:latin typeface="Calibri"/>
                  </a:rPr>
                  <a:t>Từ đó viết số hạng tổng quát </a:t>
                </a:r>
                <a:r>
                  <a:rPr lang="vi-VN"/>
                  <a:t>u_n</a:t>
                </a:r>
                <a:r>
                  <a:rPr sz="2400">
                    <a:solidFill>
                      <a:srgbClr val="1E293B"/>
                    </a:solidFill>
                    <a:latin typeface="Calibri"/>
                  </a:rPr>
                  <a:t> dưới dạng </a:t>
                </a:r>
                <a:r>
                  <a:rPr lang="vi-VN"/>
                  <a:t>u_n=u_1+(n−1)d</a:t>
                </a:r>
                <a:r>
                  <a:rPr sz="2400">
                    <a:solidFill>
                      <a:srgbClr val="1E293B"/>
                    </a:solidFill>
                    <a:latin typeface="Calibri"/>
                  </a:rPr>
                  <a:t>.</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=(4n−3)−[4(n−1)−3]=4</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r>
                  <a:rPr sz="2400">
                    <a:solidFill>
                      <a:srgbClr val="1E293B"/>
                    </a:solidFill>
                    <a:latin typeface="Calibri"/>
                  </a:rPr>
                  <a:t>Nên </a:t>
                </a:r>
                <a14:m>
                  <m:oMath xmlns:m="http://schemas.openxmlformats.org/officeDocument/2006/math">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=4·1−3=1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d=4</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u_n-u_{n-1}=(4n-3)-[4(n-1)-3]=4</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sz="2400">
                    <a:solidFill>
                      <a:srgbClr val="1E293B"/>
                    </a:solidFill>
                    <a:latin typeface="Calibri"/>
                  </a:rPr>
                  <a:t>Nên </a:t>
                </a:r>
                <a:r>
                  <a:rPr lang="vi-VN"/>
                  <a:t>(u_n)</a:t>
                </a:r>
                <a:r>
                  <a:rPr sz="2400">
                    <a:solidFill>
                      <a:srgbClr val="1E293B"/>
                    </a:solidFill>
                    <a:latin typeface="Calibri"/>
                  </a:rPr>
                  <a:t> là cấp số cộng; </a:t>
                </a:r>
                <a:r>
                  <a:rPr lang="vi-VN"/>
                  <a:t>u_1=4\cdot 1-3=1</a:t>
                </a:r>
                <a:r>
                  <a:rPr sz="2400">
                    <a:solidFill>
                      <a:srgbClr val="1E293B"/>
                    </a:solidFill>
                    <a:latin typeface="Calibri"/>
                  </a:rPr>
                  <a:t>, </a:t>
                </a:r>
                <a:r>
                  <a:rPr lang="vi-VN"/>
                  <a:t>d=4</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=1+(n−1)·4</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u_n=1+(n-1)\cdot 4</a:t>
                </a: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Vì sao các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của một cấp số cộng nằm trên một đường thẳng? (Quan sát biểu đồ số ghế từng hàng.)</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Vì sao các điểm </a:t>
                </a:r>
                <a:r>
                  <a:rPr lang="vi-VN"/>
                  <a:t>(n;u_n)</a:t>
                </a:r>
                <a:r>
                  <a:rPr sz="2400">
                    <a:solidFill>
                      <a:srgbClr val="1E293B"/>
                    </a:solidFill>
                    <a:latin typeface="Calibri"/>
                  </a:rPr>
                  <a:t> của một cấp số cộng nằm trên một đường thẳng? (Quan sát biểu đồ số ghế từng hàng.)</a:t>
                </a:r>
              </a:p>
            </p:txBody>
          </p:sp>
        </mc:Fallback>
      </mc:AlternateContent>
      <p:pic>
        <p:nvPicPr>
          <p:cNvPr id="8" name="Picture 7" descr="img03.png"/>
          <p:cNvPicPr>
            <a:picLocks noChangeAspect="1"/>
          </p:cNvPicPr>
          <p:nvPr/>
        </p:nvPicPr>
        <p:blipFill>
          <a:blip r:embed="rId2"/>
          <a:stretch>
            <a:fillRect/>
          </a:stretch>
        </p:blipFill>
        <p:spPr>
          <a:xfrm>
            <a:off x="1941243" y="2502408"/>
            <a:ext cx="8279033" cy="376123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+(n−1)d=dn+(</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p>
              <a:p>
                <a:pPr algn="l" marL="365760" indent="-365760">
                  <a:spcAft>
                    <a:spcPts val="800"/>
                  </a:spcAft>
                  <a:buClr>
                    <a:srgbClr val="1E40AF"/>
                  </a:buClr>
                  <a:buFont typeface="Arial"/>
                  <a:buChar char="•"/>
                </a:pPr>
                <a:r>
                  <a:rPr sz="2400">
                    <a:solidFill>
                      <a:srgbClr val="1E293B"/>
                    </a:solidFill>
                    <a:latin typeface="Calibri"/>
                  </a:rPr>
                  <a:t>Đây là hàm số bậc nhất của n (khi </a:t>
                </a:r>
                <a14:m>
                  <m:oMath xmlns:m="http://schemas.openxmlformats.org/officeDocument/2006/math">
                    <m:r>
                      <a:rPr lang="vi-VN" sz="2400" b="0">
                        <a:solidFill>
                          <a:srgbClr val="1E293B"/>
                        </a:solidFill>
                        <a:latin typeface="Cambria Math" panose="02040503050406030204" pitchFamily="18" charset="0"/>
                      </a:rPr>
                      <m:t>d≠0</m:t>
                    </m:r>
                  </m:oMath>
                </a14:m>
                <a:r>
                  <a:rPr sz="2400">
                    <a:solidFill>
                      <a:srgbClr val="1E293B"/>
                    </a:solidFill>
                    <a:latin typeface="Calibri"/>
                  </a:rPr>
                  <a:t>)</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u_n=u_1+(n-1)d=dn+(u_1-d)</a:t>
                </a:r>
              </a:p>
              <a:p>
                <a:pPr algn="l" marL="365760" indent="-365760">
                  <a:spcAft>
                    <a:spcPts val="800"/>
                  </a:spcAft>
                  <a:buClr>
                    <a:srgbClr val="1E40AF"/>
                  </a:buClr>
                  <a:buFont typeface="Arial"/>
                  <a:buChar char="•"/>
                </a:pPr>
                <a:r>
                  <a:rPr sz="2400">
                    <a:solidFill>
                      <a:srgbClr val="1E293B"/>
                    </a:solidFill>
                    <a:latin typeface="Calibri"/>
                  </a:rPr>
                  <a:t>Đây là hàm số bậc nhất của n (khi </a:t>
                </a:r>
                <a:r>
                  <a:rPr lang="vi-VN"/>
                  <a:t>d\ne 0</a:t>
                </a:r>
                <a:r>
                  <a:rPr sz="2400">
                    <a:solidFill>
                      <a:srgbClr val="1E293B"/>
                    </a:solidFill>
                    <a:latin typeface="Calibri"/>
                  </a:rPr>
                  <a:t>)</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Các điểm </a:t>
                </a:r>
                <a14:m>
                  <m:oMath xmlns:m="http://schemas.openxmlformats.org/officeDocument/2006/math">
                    <m:d>
                      <m:dPr>
                        <m:sepChr m:val=""/>
                      </m:dPr>
                      <m:e>
                        <m:r>
                          <a:rPr lang="vi-VN" sz="2400" b="1">
                            <a:solidFill>
                              <a:srgbClr val="991B1B"/>
                            </a:solidFill>
                            <a:latin typeface="Cambria Math" panose="02040503050406030204" pitchFamily="18" charset="0"/>
                          </a:rPr>
                          <m:t>n</m:t>
                        </m:r>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nằm trên đường thẳng </a:t>
                </a:r>
                <a14:m>
                  <m:oMath xmlns:m="http://schemas.openxmlformats.org/officeDocument/2006/math">
                    <m:r>
                      <a:rPr lang="vi-VN" sz="2400" b="1">
                        <a:solidFill>
                          <a:srgbClr val="991B1B"/>
                        </a:solidFill>
                        <a:latin typeface="Cambria Math" panose="02040503050406030204" pitchFamily="18" charset="0"/>
                      </a:rPr>
                      <m:t>y=dx+(</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−d)</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Các điểm </a:t>
                </a:r>
                <a:r>
                  <a:rPr lang="vi-VN"/>
                  <a:t>(n;u_n)</a:t>
                </a:r>
                <a:r>
                  <a:rPr sz="2400" b="1">
                    <a:solidFill>
                      <a:srgbClr val="991B1B"/>
                    </a:solidFill>
                    <a:latin typeface="Calibri"/>
                  </a:rPr>
                  <a:t> nằm trên đường thẳng </a:t>
                </a:r>
                <a:r>
                  <a:rPr lang="vi-VN"/>
                  <a:t>y=dx+(u_1-d)</a:t>
                </a: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TỔNG n SỐ HẠNG ĐẦU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 Để tính tổng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hãy lần lượt thực hiện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Viết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thứ tự ngược lại: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sử dụng kết quả ở phần a) để biểu diễn mỗi số hạng trong tổng này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cộng </a:t>
                </a:r>
                <a:r>
                  <a:rPr lang="vi-VN"/>
                  <a:t>(u_n)</a:t>
                </a:r>
                <a:r>
                  <a:rPr sz="2200">
                    <a:solidFill>
                      <a:srgbClr val="1E293B"/>
                    </a:solidFill>
                    <a:latin typeface="Calibri"/>
                  </a:rPr>
                  <a:t> với số hạng đầu </a:t>
                </a:r>
                <a:r>
                  <a:rPr lang="vi-VN"/>
                  <a:t>u_1</a:t>
                </a:r>
                <a:r>
                  <a:rPr sz="2200">
                    <a:solidFill>
                      <a:srgbClr val="1E293B"/>
                    </a:solidFill>
                    <a:latin typeface="Calibri"/>
                  </a:rPr>
                  <a:t> và công sai </a:t>
                </a:r>
                <a:r>
                  <a:rPr lang="vi-VN"/>
                  <a:t>d</a:t>
                </a:r>
                <a:r>
                  <a:rPr sz="2200">
                    <a:solidFill>
                      <a:srgbClr val="1E293B"/>
                    </a:solidFill>
                    <a:latin typeface="Calibri"/>
                  </a:rPr>
                  <a:t>. Để tính tổng của </a:t>
                </a:r>
                <a:r>
                  <a:rPr lang="vi-VN"/>
                  <a:t>n</a:t>
                </a:r>
                <a:r>
                  <a:rPr sz="2200">
                    <a:solidFill>
                      <a:srgbClr val="1E293B"/>
                    </a:solidFill>
                    <a:latin typeface="Calibri"/>
                  </a:rPr>
                  <a:t> số hạng đầu </a:t>
                </a:r>
                <a:r>
                  <a:rPr lang="vi-VN"/>
                  <a:t>S_n=u_1+u_2+…+u_(n−1)+u_n</a:t>
                </a:r>
                <a:r>
                  <a:rPr sz="2200">
                    <a:solidFill>
                      <a:srgbClr val="1E293B"/>
                    </a:solidFill>
                    <a:latin typeface="Calibri"/>
                  </a:rPr>
                  <a:t>, hãy lần lượt thực hiện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a:t>
                </a:r>
                <a:r>
                  <a:rPr lang="vi-VN"/>
                  <a:t>S_n</a:t>
                </a:r>
                <a:r>
                  <a:rPr sz="2200">
                    <a:solidFill>
                      <a:srgbClr val="1E293B"/>
                    </a:solidFill>
                    <a:latin typeface="Calibri"/>
                  </a:rPr>
                  <a:t> theo số hạng đầu </a:t>
                </a:r>
                <a:r>
                  <a:rPr lang="vi-VN"/>
                  <a:t>u_1</a:t>
                </a:r>
                <a:r>
                  <a:rPr sz="2200">
                    <a:solidFill>
                      <a:srgbClr val="1E293B"/>
                    </a:solidFill>
                    <a:latin typeface="Calibri"/>
                  </a:rPr>
                  <a:t> và công sai </a:t>
                </a:r>
                <a:r>
                  <a:rPr lang="vi-VN"/>
                  <a:t>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Viết </a:t>
                </a:r>
                <a:r>
                  <a:rPr lang="vi-VN"/>
                  <a:t>S_n</a:t>
                </a:r>
                <a:r>
                  <a:rPr sz="2200">
                    <a:solidFill>
                      <a:srgbClr val="1E293B"/>
                    </a:solidFill>
                    <a:latin typeface="Calibri"/>
                  </a:rPr>
                  <a:t> theo thứ tự ngược lại: </a:t>
                </a:r>
                <a:r>
                  <a:rPr lang="vi-VN"/>
                  <a:t>S_n=u_n+u_(n−1)+…+u_2+u_1</a:t>
                </a:r>
                <a:r>
                  <a:rPr sz="2200">
                    <a:solidFill>
                      <a:srgbClr val="1E293B"/>
                    </a:solidFill>
                    <a:latin typeface="Calibri"/>
                  </a:rPr>
                  <a:t> và sử dụng kết quả ở phần a) để biểu diễn mỗi số hạng trong tổng này theo </a:t>
                </a:r>
                <a:r>
                  <a:rPr lang="vi-VN"/>
                  <a:t>u_1</a:t>
                </a:r>
                <a:r>
                  <a:rPr sz="2200">
                    <a:solidFill>
                      <a:srgbClr val="1E293B"/>
                    </a:solidFill>
                    <a:latin typeface="Calibri"/>
                  </a:rPr>
                  <a:t> và </a:t>
                </a:r>
                <a:r>
                  <a:rPr lang="vi-VN"/>
                  <a:t>d</a:t>
                </a:r>
                <a:r>
                  <a:rPr sz="2200">
                    <a:solidFill>
                      <a:srgbClr val="1E293B"/>
                    </a:solidFill>
                    <a:latin typeface="Calibri"/>
                  </a:rPr>
                  <a:t>.</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Cộng từng vế hai đẳng thức nhận được ở a), b), để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a:p>
                <a:pPr algn="l">
                  <a:spcAft>
                    <a:spcPts val="800"/>
                  </a:spcAft>
                </a:pPr>
                <a:r>
                  <a:rPr sz="2200" b="1">
                    <a:solidFill>
                      <a:srgbClr val="1E40AF"/>
                    </a:solidFill>
                    <a:latin typeface="Calibri"/>
                  </a:rPr>
                  <a:t>Gợi mở: Cộng từng cặp số hạng thẳng cột</a:t>
                </a:r>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Cộng từng vế hai đẳng thức nhận được ở a), b), để tính </a:t>
                </a:r>
                <a:r>
                  <a:rPr lang="vi-VN"/>
                  <a:t>S_n</a:t>
                </a:r>
                <a:r>
                  <a:rPr sz="2200">
                    <a:solidFill>
                      <a:srgbClr val="1E293B"/>
                    </a:solidFill>
                    <a:latin typeface="Calibri"/>
                  </a:rPr>
                  <a:t> theo </a:t>
                </a:r>
                <a:r>
                  <a:rPr lang="vi-VN"/>
                  <a:t>u_1</a:t>
                </a:r>
                <a:r>
                  <a:rPr sz="2200">
                    <a:solidFill>
                      <a:srgbClr val="1E293B"/>
                    </a:solidFill>
                    <a:latin typeface="Calibri"/>
                  </a:rPr>
                  <a:t> và </a:t>
                </a:r>
                <a:r>
                  <a:rPr lang="vi-VN"/>
                  <a:t>d</a:t>
                </a:r>
                <a:r>
                  <a:rPr sz="2200">
                    <a:solidFill>
                      <a:srgbClr val="1E293B"/>
                    </a:solidFill>
                    <a:latin typeface="Calibri"/>
                  </a:rPr>
                  <a:t>.</a:t>
                </a:r>
              </a:p>
              <a:p>
                <a:pPr algn="l">
                  <a:spcAft>
                    <a:spcPts val="800"/>
                  </a:spcAft>
                </a:pPr>
                <a:r>
                  <a:rPr sz="2200" b="1">
                    <a:solidFill>
                      <a:srgbClr val="1E40AF"/>
                    </a:solidFill>
                    <a:latin typeface="Calibri"/>
                  </a:rPr>
                  <a:t>Gợi mở: Cộng từng cặp số hạng thẳng cột</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+(n−2)d]+…+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p>
              <a:p>
                <a:pPr algn="l" marL="365760" indent="-365760">
                  <a:spcAft>
                    <a:spcPts val="800"/>
                  </a:spcAft>
                  <a:buClr>
                    <a:srgbClr val="1E40AF"/>
                  </a:buClr>
                  <a:buFont typeface="Arial"/>
                  <a:buChar char="•"/>
                </a:pPr>
                <a:r>
                  <a:rPr sz="2400">
                    <a:solidFill>
                      <a:srgbClr val="1E293B"/>
                    </a:solidFill>
                    <a:latin typeface="Calibri"/>
                  </a:rPr>
                  <a:t>c) Mỗi cặp thẳng cột có tổng </a:t>
                </a:r>
                <a14:m>
                  <m:oMath xmlns:m="http://schemas.openxmlformats.org/officeDocument/2006/math">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r>
                  <a:rPr sz="2400">
                    <a:solidFill>
                      <a:srgbClr val="1E293B"/>
                    </a:solidFill>
                    <a:latin typeface="Calibri"/>
                  </a:rPr>
                  <a:t>; có n cặp</a:t>
                </a:r>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S_n=u_1+(u_1+d)+\ldots+[u_1+(n-1)d]</a:t>
                </a:r>
              </a:p>
              <a:p>
                <a:pPr algn="l" marL="365760" indent="-365760">
                  <a:spcAft>
                    <a:spcPts val="800"/>
                  </a:spcAft>
                  <a:buClr>
                    <a:srgbClr val="1E40AF"/>
                  </a:buClr>
                  <a:buFont typeface="Arial"/>
                  <a:buChar char="•"/>
                </a:pPr>
                <a:r>
                  <a:rPr sz="2400">
                    <a:solidFill>
                      <a:srgbClr val="1E293B"/>
                    </a:solidFill>
                    <a:latin typeface="Calibri"/>
                  </a:rPr>
                  <a:t>b) </a:t>
                </a:r>
                <a:r>
                  <a:rPr lang="vi-VN"/>
                  <a:t>S_n=[u_1+(n-1)d]+[u_1+(n-2)d]+\ldots+u_1</a:t>
                </a:r>
              </a:p>
              <a:p>
                <a:pPr algn="l" marL="365760" indent="-365760">
                  <a:spcAft>
                    <a:spcPts val="800"/>
                  </a:spcAft>
                  <a:buClr>
                    <a:srgbClr val="1E40AF"/>
                  </a:buClr>
                  <a:buFont typeface="Arial"/>
                  <a:buChar char="•"/>
                </a:pPr>
                <a:r>
                  <a:rPr sz="2400">
                    <a:solidFill>
                      <a:srgbClr val="1E293B"/>
                    </a:solidFill>
                    <a:latin typeface="Calibri"/>
                  </a:rPr>
                  <a:t>c) Mỗi cặp thẳng cột có tổng </a:t>
                </a:r>
                <a:r>
                  <a:rPr lang="vi-VN"/>
                  <a:t>2u_1+(n-1)d</a:t>
                </a:r>
                <a:r>
                  <a:rPr sz="2400">
                    <a:solidFill>
                      <a:srgbClr val="1E293B"/>
                    </a:solidFill>
                    <a:latin typeface="Calibri"/>
                  </a:rPr>
                  <a:t>; có n cặp</a:t>
                </a:r>
              </a:p>
              <a:p>
                <a:pPr algn="l" marL="365760" indent="-365760">
                  <a:spcAft>
                    <a:spcPts val="800"/>
                  </a:spcAft>
                  <a:buClr>
                    <a:srgbClr val="1E40AF"/>
                  </a:buClr>
                  <a:buFont typeface="Arial"/>
                  <a:buChar char="•"/>
                </a:pPr>
                <a:r>
                  <a:rPr lang="vi-VN"/>
                  <a:t>2S_n=n[2u_1+(n-1)d]</a:t>
                </a:r>
              </a:p>
            </p:txBody>
          </p:sp>
        </mc:Fallback>
      </mc:AlternateContent>
      <p:sp>
        <p:nvSpPr>
          <p:cNvPr id="8" name="Rounded Rectangle 7"/>
          <p:cNvSpPr/>
          <p:nvPr/>
        </p:nvSpPr>
        <p:spPr>
          <a:xfrm>
            <a:off x="731520" y="3624072"/>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num>
                      <m:den>
                        <m:r>
                          <a:rPr lang="vi-VN" sz="2400" b="1">
                            <a:solidFill>
                              <a:srgbClr val="991B1B"/>
                            </a:solidFill>
                            <a:latin typeface="Cambria Math" panose="02040503050406030204" pitchFamily="18" charset="0"/>
                          </a:rPr>
                          <m:t>2</m:t>
                        </m:r>
                      </m:den>
                    </m:f>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p>
            </p:txBody>
          </p:sp>
        </mc:Choice>
        <mc:Fallback>
          <p:sp>
            <p:nvSpPr>
              <p:cNvPr id="9" name="TextBox 8"/>
              <p:cNvSpPr txBox="1"/>
              <p:nvPr/>
            </p:nvSpPr>
            <p:spPr>
              <a:xfrm>
                <a:off x="914400" y="3624072"/>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S_n=\frac{n}{2}[2u_1+(n-1)d]</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TỔNG n SỐ HẠNG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32</a:t>
            </a:r>
          </a:p>
        </p:txBody>
      </p:sp>
      <p:sp>
        <p:nvSpPr>
          <p:cNvPr id="7" name="Rounded Rectangle 6"/>
          <p:cNvSpPr/>
          <p:nvPr/>
        </p:nvSpPr>
        <p:spPr>
          <a:xfrm>
            <a:off x="731520" y="1463040"/>
            <a:ext cx="9601200" cy="251460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51460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Đặt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num>
                      <m:den>
                        <m:r>
                          <a:rPr lang="vi-VN" sz="2400" b="1">
                            <a:solidFill>
                              <a:srgbClr val="991B1B"/>
                            </a:solidFill>
                            <a:latin typeface="Cambria Math" panose="02040503050406030204" pitchFamily="18" charset="0"/>
                          </a:rPr>
                          <m:t>2</m:t>
                        </m:r>
                      </m:den>
                    </m:f>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a:t>
                </a:r>
              </a:p>
              <a:p>
                <a:pPr algn="l">
                  <a:spcAft>
                    <a:spcPts val="400"/>
                  </a:spcAft>
                </a:pPr>
                <a:r>
                  <a:rPr sz="2400" b="1">
                    <a:solidFill>
                      <a:srgbClr val="991B1B"/>
                    </a:solidFill>
                    <a:latin typeface="Calibri"/>
                  </a:rPr>
                  <a:t>Sử dụng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 ta có thể viết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2</m:t>
                        </m:r>
                      </m:den>
                    </m:f>
                  </m:oMath>
                </a14:m>
                <a:r>
                  <a:rPr sz="2400" b="1">
                    <a:solidFill>
                      <a:srgbClr val="991B1B"/>
                    </a:solidFill>
                    <a:latin typeface="Calibri"/>
                  </a:rPr>
                  <a:t>.</a:t>
                </a:r>
              </a:p>
            </p:txBody>
          </p:sp>
        </mc:Choice>
        <mc:Fallback>
          <p:sp>
            <p:nvSpPr>
              <p:cNvPr id="8" name="TextBox 7"/>
              <p:cNvSpPr txBox="1"/>
              <p:nvPr/>
            </p:nvSpPr>
            <p:spPr>
              <a:xfrm>
                <a:off x="914400" y="1463040"/>
                <a:ext cx="9235440" cy="251460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cộng </a:t>
                </a:r>
                <a:r>
                  <a:rPr lang="vi-VN"/>
                  <a:t>(u_n)</a:t>
                </a:r>
                <a:r>
                  <a:rPr sz="2400" b="1">
                    <a:solidFill>
                      <a:srgbClr val="991B1B"/>
                    </a:solidFill>
                    <a:latin typeface="Calibri"/>
                  </a:rPr>
                  <a:t> với công sai </a:t>
                </a:r>
                <a:r>
                  <a:rPr lang="vi-VN"/>
                  <a:t>d</a:t>
                </a:r>
                <a:r>
                  <a:rPr sz="2400" b="1">
                    <a:solidFill>
                      <a:srgbClr val="991B1B"/>
                    </a:solidFill>
                    <a:latin typeface="Calibri"/>
                  </a:rPr>
                  <a:t>. Đặt </a:t>
                </a:r>
                <a:r>
                  <a:rPr lang="vi-VN"/>
                  <a:t>S_n=u_1+u_2+…+u_n</a:t>
                </a:r>
                <a:r>
                  <a:rPr sz="2400" b="1">
                    <a:solidFill>
                      <a:srgbClr val="991B1B"/>
                    </a:solidFill>
                    <a:latin typeface="Calibri"/>
                  </a:rPr>
                  <a:t>. Khi đó </a:t>
                </a:r>
                <a:r>
                  <a:rPr lang="vi-VN"/>
                  <a:t>S_n=n/2[2u_1+(n−1)d]</a:t>
                </a:r>
                <a:r>
                  <a:rPr sz="2400" b="1">
                    <a:solidFill>
                      <a:srgbClr val="991B1B"/>
                    </a:solidFill>
                    <a:latin typeface="Calibri"/>
                  </a:rPr>
                  <a:t>.</a:t>
                </a:r>
              </a:p>
              <a:p>
                <a:pPr algn="l">
                  <a:spcAft>
                    <a:spcPts val="400"/>
                  </a:spcAft>
                </a:pPr>
                <a:r>
                  <a:rPr sz="2400" b="1">
                    <a:solidFill>
                      <a:srgbClr val="991B1B"/>
                    </a:solidFill>
                    <a:latin typeface="Calibri"/>
                  </a:rPr>
                  <a:t>Sử dụng công thức </a:t>
                </a:r>
                <a:r>
                  <a:rPr lang="vi-VN"/>
                  <a:t>u_n=u_1+(n−1)d</a:t>
                </a:r>
                <a:r>
                  <a:rPr sz="2400" b="1">
                    <a:solidFill>
                      <a:srgbClr val="991B1B"/>
                    </a:solidFill>
                    <a:latin typeface="Calibri"/>
                  </a:rPr>
                  <a:t>, ta có thể viết tổng </a:t>
                </a:r>
                <a:r>
                  <a:rPr lang="vi-VN"/>
                  <a:t>S_n</a:t>
                </a:r>
                <a:r>
                  <a:rPr sz="2400" b="1">
                    <a:solidFill>
                      <a:srgbClr val="991B1B"/>
                    </a:solidFill>
                    <a:latin typeface="Calibri"/>
                  </a:rPr>
                  <a:t> dưới dạng </a:t>
                </a:r>
                <a:r>
                  <a:rPr lang="vi-VN"/>
                  <a:t>S_n=(n(u_1+u_n))/2</a:t>
                </a:r>
                <a:r>
                  <a:rPr sz="2400" b="1">
                    <a:solidFill>
                      <a:srgbClr val="991B1B"/>
                    </a:solidFill>
                    <a:latin typeface="Calibri"/>
                  </a:rPr>
                  <a:t>.</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33</a:t>
            </a:r>
          </a:p>
        </p:txBody>
      </p:sp>
      <p:sp>
        <p:nvSpPr>
          <p:cNvPr id="7" name="TextBox 6"/>
          <p:cNvSpPr txBox="1"/>
          <p:nvPr/>
        </p:nvSpPr>
        <p:spPr>
          <a:xfrm>
            <a:off x="731520" y="1463040"/>
            <a:ext cx="640080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Một nhà hát có 25 hàng ghế với 16 ghế ở hàng thứ nhất, 18 ghế ở hàng thứ hai, 20 ghế ở hàng thứ ba và cứ tiếp tục theo quy luật đó, tức là hàng sau nhiều hơn hàng liền trước nó 2 ghế. Tính tổng số ghế của nhà hát đó.</a:t>
            </a:r>
          </a:p>
          <a:p>
            <a:pPr algn="l">
              <a:spcAft>
                <a:spcPts val="800"/>
              </a:spcAft>
            </a:pPr>
            <a:r>
              <a:rPr sz="2000" b="1">
                <a:solidFill>
                  <a:srgbClr val="1E40AF"/>
                </a:solidFill>
                <a:latin typeface="Calibri"/>
              </a:rPr>
              <a:t>Gợi mở: Số ghế các hàng lập thành dãy số gì?</a:t>
            </a:r>
          </a:p>
        </p:txBody>
      </p:sp>
      <p:pic>
        <p:nvPicPr>
          <p:cNvPr id="8" name="Picture 7" descr="img02.png"/>
          <p:cNvPicPr>
            <a:picLocks noChangeAspect="1"/>
          </p:cNvPicPr>
          <p:nvPr/>
        </p:nvPicPr>
        <p:blipFill>
          <a:blip r:embed="rId2"/>
          <a:stretch>
            <a:fillRect/>
          </a:stretch>
        </p:blipFill>
        <p:spPr>
          <a:xfrm>
            <a:off x="7406640" y="2445389"/>
            <a:ext cx="4389120" cy="274446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=16</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n=25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25</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+(25−1)d]=</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[2·16+24·2]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·80=1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r>
                  <a:rPr lang="vi-VN"/>
                  <a:t>u_1=16</a:t>
                </a:r>
                <a:r>
                  <a:rPr sz="2400">
                    <a:solidFill>
                      <a:srgbClr val="1E293B"/>
                    </a:solidFill>
                    <a:latin typeface="Calibri"/>
                  </a:rPr>
                  <a:t>, </a:t>
                </a:r>
                <a:r>
                  <a:rPr lang="vi-VN"/>
                  <a:t>d=2</a:t>
                </a:r>
                <a:r>
                  <a:rPr sz="2400">
                    <a:solidFill>
                      <a:srgbClr val="1E293B"/>
                    </a:solidFill>
                    <a:latin typeface="Calibri"/>
                  </a:rPr>
                  <a:t>, </a:t>
                </a:r>
                <a:r>
                  <a:rPr lang="vi-VN"/>
                  <a:t>n=25</a:t>
                </a:r>
              </a:p>
              <a:p>
                <a:pPr algn="l" marL="365760" indent="-365760">
                  <a:spcAft>
                    <a:spcPts val="800"/>
                  </a:spcAft>
                  <a:buClr>
                    <a:srgbClr val="1E40AF"/>
                  </a:buClr>
                  <a:buFont typeface="Arial"/>
                  <a:buChar char="•"/>
                </a:pPr>
                <a:r>
                  <a:rPr lang="vi-VN"/>
                  <a:t>S_{25}=\frac{25}{2}[2u_1+(25-1)d]=\frac{25}{2}[2\cdot 16+24\cdot 2]</a:t>
                </a:r>
              </a:p>
              <a:p>
                <a:pPr algn="l" marL="365760" indent="-365760">
                  <a:spcAft>
                    <a:spcPts val="800"/>
                  </a:spcAft>
                  <a:buClr>
                    <a:srgbClr val="1E40AF"/>
                  </a:buClr>
                  <a:buFont typeface="Arial"/>
                  <a:buChar char="•"/>
                </a:pPr>
                <a:r>
                  <a:rPr lang="vi-VN"/>
                  <a:t>=\frac{25}{2}\cdot 80=1\,000</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Nhà hát có 1 000 ghế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để được kết quả bằng 345?</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=345</m:t>
                    </m:r>
                  </m:oMath>
                </a14:m>
                <a:r>
                  <a:rPr sz="2400" b="1">
                    <a:solidFill>
                      <a:srgbClr val="1E40AF"/>
                    </a:solidFill>
                    <a:latin typeface="Calibri"/>
                  </a:rPr>
                  <a:t>, giải phương trình theo n</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cộng </a:t>
                </a:r>
                <a:r>
                  <a:rPr lang="vi-VN"/>
                  <a:t>2, 5, 8, …</a:t>
                </a:r>
                <a:r>
                  <a:rPr sz="2400">
                    <a:solidFill>
                      <a:srgbClr val="1E293B"/>
                    </a:solidFill>
                    <a:latin typeface="Calibri"/>
                  </a:rPr>
                  <a:t> để được kết quả bằng 345?</a:t>
                </a:r>
              </a:p>
              <a:p>
                <a:pPr algn="l">
                  <a:spcAft>
                    <a:spcPts val="800"/>
                  </a:spcAft>
                </a:pPr>
                <a:r>
                  <a:rPr sz="2400" b="1">
                    <a:solidFill>
                      <a:srgbClr val="1E40AF"/>
                    </a:solidFill>
                    <a:latin typeface="Calibri"/>
                  </a:rPr>
                  <a:t>Gợi mở: Đặt </a:t>
                </a:r>
                <a:r>
                  <a:rPr lang="vi-VN"/>
                  <a:t>S_n=345</a:t>
                </a:r>
                <a:r>
                  <a:rPr sz="2400" b="1">
                    <a:solidFill>
                      <a:srgbClr val="1E40AF"/>
                    </a:solidFill>
                    <a:latin typeface="Calibri"/>
                  </a:rPr>
                  <a:t>, giải phương trình theo n</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d=3</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345=</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[2·2+(n−1)·3]=</m:t>
                    </m:r>
                    <m:f>
                      <m:fPr>
                        <m:type m:val="bar"/>
                      </m:fPr>
                      <m:num>
                        <m:r>
                          <a:rPr lang="vi-VN" sz="2200" b="0">
                            <a:solidFill>
                              <a:srgbClr val="1E293B"/>
                            </a:solidFill>
                            <a:latin typeface="Cambria Math" panose="02040503050406030204" pitchFamily="18" charset="0"/>
                          </a:rPr>
                          <m:t>n</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(3n+1)</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+n−690=0</m:t>
                    </m:r>
                  </m:oMath>
                </a14:m>
              </a:p>
            </p:txBody>
          </p:sp>
        </mc:Choice>
        <mc:Fallback>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r>
                  <a:rPr sz="2200">
                    <a:solidFill>
                      <a:srgbClr val="1E293B"/>
                    </a:solidFill>
                    <a:latin typeface="Calibri"/>
                  </a:rPr>
                  <a:t>, </a:t>
                </a:r>
                <a:r>
                  <a:rPr lang="vi-VN"/>
                  <a:t>d=3</a:t>
                </a:r>
              </a:p>
              <a:p>
                <a:pPr algn="l" marL="365760" indent="-365760">
                  <a:spcAft>
                    <a:spcPts val="800"/>
                  </a:spcAft>
                  <a:buClr>
                    <a:srgbClr val="1E40AF"/>
                  </a:buClr>
                  <a:buFont typeface="Arial"/>
                  <a:buChar char="•"/>
                </a:pPr>
                <a:r>
                  <a:rPr lang="vi-VN"/>
                  <a:t>345=S_n=\frac{n}{2}[2\cdot 2+(n-1)\cdot 3]=\frac{n}{2}(3n+1)</a:t>
                </a:r>
              </a:p>
              <a:p>
                <a:pPr algn="l" marL="365760" indent="-365760">
                  <a:spcAft>
                    <a:spcPts val="800"/>
                  </a:spcAft>
                  <a:buClr>
                    <a:srgbClr val="1E40AF"/>
                  </a:buClr>
                  <a:buFont typeface="Arial"/>
                  <a:buChar char="•"/>
                </a:pPr>
                <a:r>
                  <a:rPr lang="vi-VN"/>
                  <a:t>\Leftrightarrow 3n^2+n-690=0</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⇔n=15</m:t>
                    </m:r>
                  </m:oMath>
                </a14:m>
                <a:r>
                  <a:rPr sz="2200">
                    <a:solidFill>
                      <a:srgbClr val="1E293B"/>
                    </a:solidFill>
                    <a:latin typeface="Calibri"/>
                  </a:rPr>
                  <a:t> hoặc </a:t>
                </a:r>
                <a14:m>
                  <m:oMath xmlns:m="http://schemas.openxmlformats.org/officeDocument/2006/math">
                    <m:r>
                      <a:rPr lang="vi-VN" sz="2200" b="0">
                        <a:solidFill>
                          <a:srgbClr val="1E293B"/>
                        </a:solidFill>
                        <a:latin typeface="Cambria Math" panose="02040503050406030204" pitchFamily="18" charset="0"/>
                      </a:rPr>
                      <m:t>n=−</m:t>
                    </m:r>
                    <m:f>
                      <m:fPr>
                        <m:type m:val="bar"/>
                      </m:fPr>
                      <m:num>
                        <m:r>
                          <a:rPr lang="vi-VN" sz="2200" b="0">
                            <a:solidFill>
                              <a:srgbClr val="1E293B"/>
                            </a:solidFill>
                            <a:latin typeface="Cambria Math" panose="02040503050406030204" pitchFamily="18" charset="0"/>
                          </a:rPr>
                          <m:t>230</m:t>
                        </m:r>
                      </m:num>
                      <m:den>
                        <m:r>
                          <a:rPr lang="vi-VN" sz="2200" b="0">
                            <a:solidFill>
                              <a:srgbClr val="1E293B"/>
                            </a:solidFill>
                            <a:latin typeface="Cambria Math" panose="02040503050406030204" pitchFamily="18" charset="0"/>
                          </a:rPr>
                          <m:t>15</m:t>
                        </m:r>
                      </m:den>
                    </m:f>
                  </m:oMath>
                </a14:m>
                <a:r>
                  <a:rPr sz="2200">
                    <a:solidFill>
                      <a:srgbClr val="1E293B"/>
                    </a:solidFill>
                    <a:latin typeface="Calibri"/>
                  </a:rPr>
                  <a:t> (loại)</a:t>
                </a:r>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\Leftrightarrow n=15</a:t>
                </a:r>
                <a:r>
                  <a:rPr sz="2200">
                    <a:solidFill>
                      <a:srgbClr val="1E293B"/>
                    </a:solidFill>
                    <a:latin typeface="Calibri"/>
                  </a:rPr>
                  <a:t> hoặc </a:t>
                </a:r>
                <a:r>
                  <a:rPr lang="vi-VN"/>
                  <a:t>n=-\frac{230}{15}</a:t>
                </a:r>
                <a:r>
                  <a:rPr sz="2200">
                    <a:solidFill>
                      <a:srgbClr val="1E293B"/>
                    </a:solidFill>
                    <a:latin typeface="Calibri"/>
                  </a:rPr>
                  <a:t> (loại)</a:t>
                </a:r>
              </a:p>
            </p:txBody>
          </p:sp>
        </mc:Fallback>
      </mc:AlternateContent>
      <p:sp>
        <p:nvSpPr>
          <p:cNvPr id="8" name="Rounded Rectangle 7"/>
          <p:cNvSpPr/>
          <p:nvPr/>
        </p:nvSpPr>
        <p:spPr>
          <a:xfrm>
            <a:off x="731520" y="2236597"/>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36597"/>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Lấy tổng 15 số hạng đầu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MÁY TÍNH</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GÓC CÔNG NGHỆ: PHÍM Σ</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Ví dụ: tổng 35 số hạng đầu của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m:t>
                    </m:r>
                  </m:oMath>
                </a14:m>
              </a:p>
              <a:p>
                <a:pPr algn="l" marL="365760" indent="-365760">
                  <a:spcAft>
                    <a:spcPts val="800"/>
                  </a:spcAft>
                  <a:buClr>
                    <a:srgbClr val="1E40AF"/>
                  </a:buClr>
                  <a:buFont typeface="Arial"/>
                  <a:buChar char="•"/>
                </a:pPr>
                <a:r>
                  <a:rPr sz="2400">
                    <a:solidFill>
                      <a:srgbClr val="1E293B"/>
                    </a:solidFill>
                    <a:latin typeface="Calibri"/>
                  </a:rPr>
                  <a:t>Bấm SHIFT → x (phím Σ)</a:t>
                </a:r>
              </a:p>
              <a:p>
                <a:pPr algn="l" marL="365760" indent="-365760">
                  <a:spcAft>
                    <a:spcPts val="800"/>
                  </a:spcAft>
                  <a:buClr>
                    <a:srgbClr val="1E40AF"/>
                  </a:buClr>
                  <a:buFont typeface="Arial"/>
                  <a:buChar char="•"/>
                </a:pPr>
                <a:r>
                  <a:rPr sz="2400">
                    <a:solidFill>
                      <a:srgbClr val="1E293B"/>
                    </a:solidFill>
                    <a:latin typeface="Calibri"/>
                  </a:rPr>
                  <a:t>Nhập 3x + 1; cận dưới 1, cận trên 35</a:t>
                </a:r>
              </a:p>
              <a:p>
                <a:pPr algn="l" marL="365760" indent="-365760">
                  <a:spcAft>
                    <a:spcPts val="800"/>
                  </a:spcAft>
                  <a:buClr>
                    <a:srgbClr val="1E40AF"/>
                  </a:buClr>
                  <a:buFont typeface="Arial"/>
                  <a:buChar char="•"/>
                </a:pPr>
                <a:r>
                  <a:rPr sz="2400">
                    <a:solidFill>
                      <a:srgbClr val="1E293B"/>
                    </a:solidFill>
                    <a:latin typeface="Calibri"/>
                  </a:rPr>
                  <a:t>Nhấn = được kết quả</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Ví dụ: tổng 35 số hạng đầu của </a:t>
                </a:r>
                <a:r>
                  <a:rPr lang="vi-VN"/>
                  <a:t>u_n=3n+1</a:t>
                </a:r>
              </a:p>
              <a:p>
                <a:pPr algn="l" marL="365760" indent="-365760">
                  <a:spcAft>
                    <a:spcPts val="800"/>
                  </a:spcAft>
                  <a:buClr>
                    <a:srgbClr val="1E40AF"/>
                  </a:buClr>
                  <a:buFont typeface="Arial"/>
                  <a:buChar char="•"/>
                </a:pPr>
                <a:r>
                  <a:rPr sz="2400">
                    <a:solidFill>
                      <a:srgbClr val="1E293B"/>
                    </a:solidFill>
                    <a:latin typeface="Calibri"/>
                  </a:rPr>
                  <a:t>Bấm SHIFT → x (phím Σ)</a:t>
                </a:r>
              </a:p>
              <a:p>
                <a:pPr algn="l" marL="365760" indent="-365760">
                  <a:spcAft>
                    <a:spcPts val="800"/>
                  </a:spcAft>
                  <a:buClr>
                    <a:srgbClr val="1E40AF"/>
                  </a:buClr>
                  <a:buFont typeface="Arial"/>
                  <a:buChar char="•"/>
                </a:pPr>
                <a:r>
                  <a:rPr sz="2400">
                    <a:solidFill>
                      <a:srgbClr val="1E293B"/>
                    </a:solidFill>
                    <a:latin typeface="Calibri"/>
                  </a:rPr>
                  <a:t>Nhập 3x + 1; cận dưới 1, cận trên 35</a:t>
                </a:r>
              </a:p>
              <a:p>
                <a:pPr algn="l" marL="365760" indent="-365760">
                  <a:spcAft>
                    <a:spcPts val="800"/>
                  </a:spcAft>
                  <a:buClr>
                    <a:srgbClr val="1E40AF"/>
                  </a:buClr>
                  <a:buFont typeface="Arial"/>
                  <a:buChar char="•"/>
                </a:pPr>
                <a:r>
                  <a:rPr sz="2400">
                    <a:solidFill>
                      <a:srgbClr val="1E293B"/>
                    </a:solidFill>
                    <a:latin typeface="Calibri"/>
                  </a:rPr>
                  <a:t>Nhấn = được kết quả</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nary>
                      <m:naryPr>
                        <m:chr m:val="∑"/>
                        <m:limLoc m:val="subSup"/>
                        <m:grow m:val="1"/>
                        <m:subHide m:val="off"/>
                        <m:supHide m:val="off"/>
                      </m:naryPr>
                      <m:sub>
                        <m:r>
                          <a:rPr lang="vi-VN" sz="2400" b="1">
                            <a:solidFill>
                              <a:srgbClr val="991B1B"/>
                            </a:solidFill>
                            <a:latin typeface="Cambria Math" panose="02040503050406030204" pitchFamily="18" charset="0"/>
                          </a:rPr>
                          <m:t>k=1</m:t>
                        </m:r>
                      </m:sub>
                      <m:sup>
                        <m:r>
                          <a:rPr lang="vi-VN" sz="2400" b="1">
                            <a:solidFill>
                              <a:srgbClr val="991B1B"/>
                            </a:solidFill>
                            <a:latin typeface="Cambria Math" panose="02040503050406030204" pitchFamily="18" charset="0"/>
                          </a:rPr>
                          <m:t>35</m:t>
                        </m:r>
                      </m:sup>
                      <m:e>
                        <m:r>
                          <a:rPr lang="vi-VN" sz="2400" b="1">
                            <a:solidFill>
                              <a:srgbClr val="991B1B"/>
                            </a:solidFill>
                            <a:latin typeface="Cambria Math" panose="02040503050406030204" pitchFamily="18" charset="0"/>
                          </a:rPr>
                          <m:t>(3k+1)=1925</m:t>
                        </m:r>
                      </m:e>
                    </m:nary>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\sum_{k=1}^{35}(3k+1)=1925</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2.8 – 2.14 (SGK tr.51)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công sai, số hạng thứ 5, số hạng tổng quát và số hạng thứ 100 của mỗi cấp số cộng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r>
                      <a:rPr lang="vi-VN" sz="2400" b="1">
                        <a:solidFill>
                          <a:srgbClr val="1E40AF"/>
                        </a:solidFill>
                        <a:latin typeface="Cambria Math" panose="02040503050406030204" pitchFamily="18" charset="0"/>
                      </a:rPr>
                      <m:t>d=</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trước</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công sai, số hạng thứ 5, số hạng tổng quát và số hạng thứ 100 của mỗi cấp số cộng sau:</a:t>
                </a:r>
              </a:p>
              <a:p>
                <a:pPr algn="l" marL="365760" indent="-365760">
                  <a:spcAft>
                    <a:spcPts val="800"/>
                  </a:spcAft>
                  <a:buClr>
                    <a:srgbClr val="1E40AF"/>
                  </a:buClr>
                  <a:buFont typeface="Arial"/>
                  <a:buChar char="•"/>
                </a:pPr>
                <a:r>
                  <a:rPr sz="2400">
                    <a:solidFill>
                      <a:srgbClr val="1E293B"/>
                    </a:solidFill>
                    <a:latin typeface="Calibri"/>
                  </a:rPr>
                  <a:t>a) </a:t>
                </a:r>
                <a:r>
                  <a:rPr lang="vi-VN"/>
                  <a:t>4, 9, 14, 19, …</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1, −1, −3, −5, …</a:t>
                </a:r>
              </a:p>
              <a:p>
                <a:pPr algn="l">
                  <a:spcAft>
                    <a:spcPts val="800"/>
                  </a:spcAft>
                </a:pPr>
                <a:r>
                  <a:rPr sz="2400" b="1">
                    <a:solidFill>
                      <a:srgbClr val="1E40AF"/>
                    </a:solidFill>
                    <a:latin typeface="Calibri"/>
                  </a:rPr>
                  <a:t>Gợi mở: Tìm </a:t>
                </a:r>
                <a:r>
                  <a:rPr lang="vi-VN"/>
                  <a:t>d=u_2-u_1</a:t>
                </a:r>
                <a:r>
                  <a:rPr sz="2400" b="1">
                    <a:solidFill>
                      <a:srgbClr val="1E40AF"/>
                    </a:solidFill>
                    <a:latin typeface="Calibri"/>
                  </a:rPr>
                  <a:t> trước</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d=9−4=5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=4+4·5=24</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=4+(n−1)·5=5n−1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=499</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d=−1−1=−2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=1+4·(−2)=−7</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=1−2(n−1)=3−2n</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=−197</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d=9-4=5</a:t>
                </a:r>
                <a:r>
                  <a:rPr sz="2400">
                    <a:solidFill>
                      <a:srgbClr val="1E293B"/>
                    </a:solidFill>
                    <a:latin typeface="Calibri"/>
                  </a:rPr>
                  <a:t>;  </a:t>
                </a:r>
                <a:r>
                  <a:rPr lang="vi-VN"/>
                  <a:t>u_5=4+4\cdot 5=24</a:t>
                </a:r>
              </a:p>
              <a:p>
                <a:pPr algn="l" marL="365760" indent="-365760">
                  <a:spcAft>
                    <a:spcPts val="800"/>
                  </a:spcAft>
                  <a:buClr>
                    <a:srgbClr val="1E40AF"/>
                  </a:buClr>
                  <a:buFont typeface="Arial"/>
                  <a:buChar char="•"/>
                </a:pPr>
                <a:r>
                  <a:rPr lang="vi-VN"/>
                  <a:t>u_n=4+(n-1)\cdot 5=5n-1</a:t>
                </a:r>
                <a:r>
                  <a:rPr sz="2400">
                    <a:solidFill>
                      <a:srgbClr val="1E293B"/>
                    </a:solidFill>
                    <a:latin typeface="Calibri"/>
                  </a:rPr>
                  <a:t>;  </a:t>
                </a:r>
                <a:r>
                  <a:rPr lang="vi-VN"/>
                  <a:t>u_{100}=499</a:t>
                </a:r>
              </a:p>
              <a:p>
                <a:pPr algn="l" marL="365760" indent="-365760">
                  <a:spcAft>
                    <a:spcPts val="800"/>
                  </a:spcAft>
                  <a:buClr>
                    <a:srgbClr val="1E40AF"/>
                  </a:buClr>
                  <a:buFont typeface="Arial"/>
                  <a:buChar char="•"/>
                </a:pPr>
                <a:r>
                  <a:rPr sz="2400">
                    <a:solidFill>
                      <a:srgbClr val="1E293B"/>
                    </a:solidFill>
                    <a:latin typeface="Calibri"/>
                  </a:rPr>
                  <a:t>b) </a:t>
                </a:r>
                <a:r>
                  <a:rPr lang="vi-VN"/>
                  <a:t>d=-1-1=-2</a:t>
                </a:r>
                <a:r>
                  <a:rPr sz="2400">
                    <a:solidFill>
                      <a:srgbClr val="1E293B"/>
                    </a:solidFill>
                    <a:latin typeface="Calibri"/>
                  </a:rPr>
                  <a:t>;  </a:t>
                </a:r>
                <a:r>
                  <a:rPr lang="vi-VN"/>
                  <a:t>u_5=1+4\cdot(-2)=-7</a:t>
                </a:r>
              </a:p>
              <a:p>
                <a:pPr algn="l" marL="365760" indent="-365760">
                  <a:spcAft>
                    <a:spcPts val="800"/>
                  </a:spcAft>
                  <a:buClr>
                    <a:srgbClr val="1E40AF"/>
                  </a:buClr>
                  <a:buFont typeface="Arial"/>
                  <a:buChar char="•"/>
                </a:pPr>
                <a:r>
                  <a:rPr lang="vi-VN"/>
                  <a:t>u_n=1-2(n-1)=3-2n</a:t>
                </a:r>
                <a:r>
                  <a:rPr sz="2400">
                    <a:solidFill>
                      <a:srgbClr val="1E293B"/>
                    </a:solidFill>
                    <a:latin typeface="Calibri"/>
                  </a:rPr>
                  <a:t>;  </a:t>
                </a:r>
                <a:r>
                  <a:rPr lang="vi-VN"/>
                  <a:t>u_{100}=-197</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=499</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=−197</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u_{100}=499</a:t>
                </a:r>
                <a:r>
                  <a:rPr sz="2400" b="1">
                    <a:solidFill>
                      <a:srgbClr val="991B1B"/>
                    </a:solidFill>
                    <a:latin typeface="Calibri"/>
                  </a:rPr>
                  <a:t>;   b) </a:t>
                </a:r>
                <a:r>
                  <a:rPr lang="vi-VN"/>
                  <a:t>u_{100}=-197</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và xét xem nó có phải là cấp số cộng không. Nếu dãy số đó là cấp số cộng, hãy tìm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 và viết số hạng tổng quát của nó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=3+5n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=6n−4</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+n</m:t>
                    </m:r>
                  </m:oMath>
                </a14:m>
                <a:r>
                  <a:rPr sz="2200">
                    <a:solidFill>
                      <a:srgbClr val="1E293B"/>
                    </a:solidFill>
                    <a:latin typeface="Calibri"/>
                  </a:rPr>
                  <a:t>;</a:t>
                </a:r>
              </a:p>
            </p:txBody>
          </p:sp>
        </mc:Choice>
        <mc:Fallback>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r>
                  <a:rPr lang="vi-VN"/>
                  <a:t>(u_n)</a:t>
                </a:r>
                <a:r>
                  <a:rPr sz="2200">
                    <a:solidFill>
                      <a:srgbClr val="1E293B"/>
                    </a:solidFill>
                    <a:latin typeface="Calibri"/>
                  </a:rPr>
                  <a:t> sau và xét xem nó có phải là cấp số cộng không. Nếu dãy số đó là cấp số cộng, hãy tìm công sai </a:t>
                </a:r>
                <a:r>
                  <a:rPr lang="vi-VN"/>
                  <a:t>d</a:t>
                </a:r>
                <a:r>
                  <a:rPr sz="2200">
                    <a:solidFill>
                      <a:srgbClr val="1E293B"/>
                    </a:solidFill>
                    <a:latin typeface="Calibri"/>
                  </a:rPr>
                  <a:t> và viết số hạng tổng quát của nó dưới dạng </a:t>
                </a:r>
                <a:r>
                  <a:rPr lang="vi-VN"/>
                  <a:t>u_n=u_1+(n−1)d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r>
                  <a:rPr lang="vi-VN"/>
                  <a:t>u_n=3+5n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u_n=6n−4</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u_1=2</a:t>
                </a:r>
                <a:r>
                  <a:rPr sz="2200">
                    <a:solidFill>
                      <a:srgbClr val="1E293B"/>
                    </a:solidFill>
                    <a:latin typeface="Calibri"/>
                  </a:rPr>
                  <a:t>, </a:t>
                </a:r>
                <a:r>
                  <a:rPr lang="vi-VN"/>
                  <a:t>u_n=u_(n−1)+n</a:t>
                </a:r>
                <a:r>
                  <a:rPr sz="22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+3</m:t>
                    </m:r>
                  </m:oMath>
                </a14:m>
                <a:r>
                  <a:rPr sz="2200">
                    <a:solidFill>
                      <a:srgbClr val="1E293B"/>
                    </a:solidFill>
                    <a:latin typeface="Calibri"/>
                  </a:rPr>
                  <a:t>.</a:t>
                </a:r>
              </a:p>
              <a:p>
                <a:pPr algn="l">
                  <a:spcAft>
                    <a:spcPts val="800"/>
                  </a:spcAft>
                </a:pPr>
                <a:r>
                  <a:rPr sz="2200" b="1">
                    <a:solidFill>
                      <a:srgbClr val="1E40AF"/>
                    </a:solidFill>
                    <a:latin typeface="Calibri"/>
                  </a:rPr>
                  <a:t>Gợi mở: Viết năm số hạng rồi xét hiệu hai số hạng liên tiếp</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r>
                  <a:rPr lang="vi-VN"/>
                  <a:t>u_1=2</a:t>
                </a:r>
                <a:r>
                  <a:rPr sz="2200">
                    <a:solidFill>
                      <a:srgbClr val="1E293B"/>
                    </a:solidFill>
                    <a:latin typeface="Calibri"/>
                  </a:rPr>
                  <a:t>, </a:t>
                </a:r>
                <a:r>
                  <a:rPr lang="vi-VN"/>
                  <a:t>u_n=u_(n−1)+3</a:t>
                </a:r>
                <a:r>
                  <a:rPr sz="2200">
                    <a:solidFill>
                      <a:srgbClr val="1E293B"/>
                    </a:solidFill>
                    <a:latin typeface="Calibri"/>
                  </a:rPr>
                  <a:t>.</a:t>
                </a:r>
              </a:p>
              <a:p>
                <a:pPr algn="l">
                  <a:spcAft>
                    <a:spcPts val="800"/>
                  </a:spcAft>
                </a:pPr>
                <a:r>
                  <a:rPr sz="2200" b="1">
                    <a:solidFill>
                      <a:srgbClr val="1E40AF"/>
                    </a:solidFill>
                    <a:latin typeface="Calibri"/>
                  </a:rPr>
                  <a:t>Gợi mở: Viết năm số hạng rồi xét hiệu hai số hạng liên tiếp</a:t>
                </a: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8, 13, 18, 23, 28: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m:t>
                    </m:r>
                  </m:oMath>
                </a14:m>
                <a:r>
                  <a:rPr sz="2400">
                    <a:solidFill>
                      <a:srgbClr val="1E293B"/>
                    </a:solidFill>
                    <a:latin typeface="Calibri"/>
                  </a:rPr>
                  <a:t> ⇒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=8+(n−1)·5</m:t>
                    </m:r>
                  </m:oMath>
                </a14:m>
              </a:p>
              <a:p>
                <a:pPr algn="l" marL="365760" indent="-365760">
                  <a:spcAft>
                    <a:spcPts val="800"/>
                  </a:spcAft>
                  <a:buClr>
                    <a:srgbClr val="1E40AF"/>
                  </a:buClr>
                  <a:buFont typeface="Arial"/>
                  <a:buChar char="•"/>
                </a:pPr>
                <a:r>
                  <a:rPr sz="2400">
                    <a:solidFill>
                      <a:srgbClr val="1E293B"/>
                    </a:solidFill>
                    <a:latin typeface="Calibri"/>
                  </a:rPr>
                  <a:t>b) 2, 8, 14, 20, 26: </a:t>
                </a:r>
                <a14:m>
                  <m:oMath xmlns:m="http://schemas.openxmlformats.org/officeDocument/2006/math">
                    <m:r>
                      <a:rPr lang="vi-VN" sz="2400" b="0">
                        <a:solidFill>
                          <a:srgbClr val="1E293B"/>
                        </a:solidFill>
                        <a:latin typeface="Cambria Math" panose="02040503050406030204" pitchFamily="18" charset="0"/>
                      </a:rPr>
                      <m:t>d=6</m:t>
                    </m:r>
                  </m:oMath>
                </a14:m>
                <a:r>
                  <a:rPr sz="2400">
                    <a:solidFill>
                      <a:srgbClr val="1E293B"/>
                    </a:solidFill>
                    <a:latin typeface="Calibri"/>
                  </a:rPr>
                  <a:t> ⇒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=2+(n−1)·6</m:t>
                    </m:r>
                  </m:oMath>
                </a14:m>
              </a:p>
              <a:p>
                <a:pPr algn="l" marL="365760" indent="-365760">
                  <a:spcAft>
                    <a:spcPts val="800"/>
                  </a:spcAft>
                  <a:buClr>
                    <a:srgbClr val="1E40AF"/>
                  </a:buClr>
                  <a:buFont typeface="Arial"/>
                  <a:buChar char="•"/>
                </a:pPr>
                <a:r>
                  <a:rPr sz="2400">
                    <a:solidFill>
                      <a:srgbClr val="1E293B"/>
                    </a:solidFill>
                    <a:latin typeface="Calibri"/>
                  </a:rPr>
                  <a:t>c) 2, 4, 7, 11, 16: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=n</m:t>
                    </m:r>
                  </m:oMath>
                </a14:m>
                <a:r>
                  <a:rPr sz="2400">
                    <a:solidFill>
                      <a:srgbClr val="1E293B"/>
                    </a:solidFill>
                    <a:latin typeface="Calibri"/>
                  </a:rPr>
                  <a:t> thay đổi ⇒ không là cấp số cộng</a:t>
                </a:r>
              </a:p>
              <a:p>
                <a:pPr algn="l" marL="365760" indent="-365760">
                  <a:spcAft>
                    <a:spcPts val="800"/>
                  </a:spcAft>
                  <a:buClr>
                    <a:srgbClr val="1E40AF"/>
                  </a:buClr>
                  <a:buFont typeface="Arial"/>
                  <a:buChar char="•"/>
                </a:pPr>
                <a:r>
                  <a:rPr sz="2400">
                    <a:solidFill>
                      <a:srgbClr val="1E293B"/>
                    </a:solidFill>
                    <a:latin typeface="Calibri"/>
                  </a:rPr>
                  <a:t>d) 2, 5, 8, 11, 14: </a:t>
                </a:r>
                <a14:m>
                  <m:oMath xmlns:m="http://schemas.openxmlformats.org/officeDocument/2006/math">
                    <m:r>
                      <a:rPr lang="vi-VN" sz="2400" b="0">
                        <a:solidFill>
                          <a:srgbClr val="1E293B"/>
                        </a:solidFill>
                        <a:latin typeface="Cambria Math" panose="02040503050406030204" pitchFamily="18" charset="0"/>
                      </a:rPr>
                      <m:t>d=3</m:t>
                    </m:r>
                  </m:oMath>
                </a14:m>
                <a:r>
                  <a:rPr sz="2400">
                    <a:solidFill>
                      <a:srgbClr val="1E293B"/>
                    </a:solidFill>
                    <a:latin typeface="Calibri"/>
                  </a:rPr>
                  <a:t> ⇒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=2+(n−1)·3</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8, 13, 18, 23, 28: </a:t>
                </a:r>
                <a:r>
                  <a:rPr lang="vi-VN"/>
                  <a:t>u_n-u_{n-1}=5</a:t>
                </a:r>
                <a:r>
                  <a:rPr sz="2400">
                    <a:solidFill>
                      <a:srgbClr val="1E293B"/>
                    </a:solidFill>
                    <a:latin typeface="Calibri"/>
                  </a:rPr>
                  <a:t> ⇒ cấp số cộng, </a:t>
                </a:r>
                <a:r>
                  <a:rPr lang="vi-VN"/>
                  <a:t>u_n=8+(n-1)\cdot 5</a:t>
                </a:r>
              </a:p>
              <a:p>
                <a:pPr algn="l" marL="365760" indent="-365760">
                  <a:spcAft>
                    <a:spcPts val="800"/>
                  </a:spcAft>
                  <a:buClr>
                    <a:srgbClr val="1E40AF"/>
                  </a:buClr>
                  <a:buFont typeface="Arial"/>
                  <a:buChar char="•"/>
                </a:pPr>
                <a:r>
                  <a:rPr sz="2400">
                    <a:solidFill>
                      <a:srgbClr val="1E293B"/>
                    </a:solidFill>
                    <a:latin typeface="Calibri"/>
                  </a:rPr>
                  <a:t>b) 2, 8, 14, 20, 26: </a:t>
                </a:r>
                <a:r>
                  <a:rPr lang="vi-VN"/>
                  <a:t>d=6</a:t>
                </a:r>
                <a:r>
                  <a:rPr sz="2400">
                    <a:solidFill>
                      <a:srgbClr val="1E293B"/>
                    </a:solidFill>
                    <a:latin typeface="Calibri"/>
                  </a:rPr>
                  <a:t> ⇒ </a:t>
                </a:r>
                <a:r>
                  <a:rPr lang="vi-VN"/>
                  <a:t>u_n=2+(n-1)\cdot 6</a:t>
                </a:r>
              </a:p>
              <a:p>
                <a:pPr algn="l" marL="365760" indent="-365760">
                  <a:spcAft>
                    <a:spcPts val="800"/>
                  </a:spcAft>
                  <a:buClr>
                    <a:srgbClr val="1E40AF"/>
                  </a:buClr>
                  <a:buFont typeface="Arial"/>
                  <a:buChar char="•"/>
                </a:pPr>
                <a:r>
                  <a:rPr sz="2400">
                    <a:solidFill>
                      <a:srgbClr val="1E293B"/>
                    </a:solidFill>
                    <a:latin typeface="Calibri"/>
                  </a:rPr>
                  <a:t>c) 2, 4, 7, 11, 16: </a:t>
                </a:r>
                <a:r>
                  <a:rPr lang="vi-VN"/>
                  <a:t>u_n-u_{n-1}=n</a:t>
                </a:r>
                <a:r>
                  <a:rPr sz="2400">
                    <a:solidFill>
                      <a:srgbClr val="1E293B"/>
                    </a:solidFill>
                    <a:latin typeface="Calibri"/>
                  </a:rPr>
                  <a:t> thay đổi ⇒ không là cấp số cộng</a:t>
                </a:r>
              </a:p>
              <a:p>
                <a:pPr algn="l" marL="365760" indent="-365760">
                  <a:spcAft>
                    <a:spcPts val="800"/>
                  </a:spcAft>
                  <a:buClr>
                    <a:srgbClr val="1E40AF"/>
                  </a:buClr>
                  <a:buFont typeface="Arial"/>
                  <a:buChar char="•"/>
                </a:pPr>
                <a:r>
                  <a:rPr sz="2400">
                    <a:solidFill>
                      <a:srgbClr val="1E293B"/>
                    </a:solidFill>
                    <a:latin typeface="Calibri"/>
                  </a:rPr>
                  <a:t>d) 2, 5, 8, 11, 14: </a:t>
                </a:r>
                <a:r>
                  <a:rPr lang="vi-VN"/>
                  <a:t>d=3</a:t>
                </a:r>
                <a:r>
                  <a:rPr sz="2400">
                    <a:solidFill>
                      <a:srgbClr val="1E293B"/>
                    </a:solidFill>
                    <a:latin typeface="Calibri"/>
                  </a:rPr>
                  <a:t> ⇒ </a:t>
                </a:r>
                <a:r>
                  <a:rPr lang="vi-VN"/>
                  <a:t>u_n=2+(n-1)\cdot 3</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b), d) là cấp số cộng; c) không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thứ 5 bằng 18 và số hạng thứ 12 bằng 32. Tìm số hạng thứ 50 của cấp số cộng này.</a:t>
                </a:r>
              </a:p>
              <a:p>
                <a:pPr algn="l">
                  <a:spcAft>
                    <a:spcPts val="800"/>
                  </a:spcAft>
                </a:pPr>
                <a:r>
                  <a:rPr sz="2400" b="1">
                    <a:solidFill>
                      <a:srgbClr val="1E40AF"/>
                    </a:solidFill>
                    <a:latin typeface="Calibri"/>
                  </a:rPr>
                  <a:t>Gợi mở: Lập hệ theo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thứ 5 bằng 18 và số hạng thứ 12 bằng 32. Tìm số hạng thứ 50 của cấp số cộng này.</a:t>
                </a:r>
              </a:p>
              <a:p>
                <a:pPr algn="l">
                  <a:spcAft>
                    <a:spcPts val="800"/>
                  </a:spcAft>
                </a:pPr>
                <a:r>
                  <a:rPr sz="2400" b="1">
                    <a:solidFill>
                      <a:srgbClr val="1E40AF"/>
                    </a:solidFill>
                    <a:latin typeface="Calibri"/>
                  </a:rPr>
                  <a:t>Gợi mở: Lập hệ theo </a:t>
                </a:r>
                <a:r>
                  <a:rPr lang="vi-VN"/>
                  <a:t>u_1</a:t>
                </a:r>
                <a:r>
                  <a:rPr sz="2400" b="1">
                    <a:solidFill>
                      <a:srgbClr val="1E40AF"/>
                    </a:solidFill>
                    <a:latin typeface="Calibri"/>
                  </a:rPr>
                  <a:t> và </a:t>
                </a:r>
                <a:r>
                  <a:rPr lang="vi-VN"/>
                  <a:t>d</a:t>
                </a: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+4d=18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+11d=32</m:t>
                    </m:r>
                  </m:oMath>
                </a14:m>
              </a:p>
              <a:p>
                <a:pPr algn="l" marL="365760" indent="-365760">
                  <a:spcAft>
                    <a:spcPts val="800"/>
                  </a:spcAft>
                  <a:buClr>
                    <a:srgbClr val="1E40AF"/>
                  </a:buClr>
                  <a:buFont typeface="Arial"/>
                  <a:buChar char="•"/>
                </a:pPr>
                <a:r>
                  <a:rPr sz="2400">
                    <a:solidFill>
                      <a:srgbClr val="1E293B"/>
                    </a:solidFill>
                    <a:latin typeface="Calibri"/>
                  </a:rPr>
                  <a:t>Trừ vế: </a:t>
                </a:r>
                <a14:m>
                  <m:oMath xmlns:m="http://schemas.openxmlformats.org/officeDocument/2006/math">
                    <m:r>
                      <a:rPr lang="vi-VN" sz="2400" b="0">
                        <a:solidFill>
                          <a:srgbClr val="1E293B"/>
                        </a:solidFill>
                        <a:latin typeface="Cambria Math" panose="02040503050406030204" pitchFamily="18" charset="0"/>
                      </a:rPr>
                      <m:t>7d=14⇒d=2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=18−8=10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+49d=10+49·2</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u_5=u_1+4d=18</a:t>
                </a:r>
                <a:r>
                  <a:rPr sz="2400">
                    <a:solidFill>
                      <a:srgbClr val="1E293B"/>
                    </a:solidFill>
                    <a:latin typeface="Calibri"/>
                  </a:rPr>
                  <a:t>;  </a:t>
                </a:r>
                <a:r>
                  <a:rPr lang="vi-VN"/>
                  <a:t>u_{12}=u_1+11d=32</a:t>
                </a:r>
              </a:p>
              <a:p>
                <a:pPr algn="l" marL="365760" indent="-365760">
                  <a:spcAft>
                    <a:spcPts val="800"/>
                  </a:spcAft>
                  <a:buClr>
                    <a:srgbClr val="1E40AF"/>
                  </a:buClr>
                  <a:buFont typeface="Arial"/>
                  <a:buChar char="•"/>
                </a:pPr>
                <a:r>
                  <a:rPr sz="2400">
                    <a:solidFill>
                      <a:srgbClr val="1E293B"/>
                    </a:solidFill>
                    <a:latin typeface="Calibri"/>
                  </a:rPr>
                  <a:t>Trừ vế: </a:t>
                </a:r>
                <a:r>
                  <a:rPr lang="vi-VN"/>
                  <a:t>7d=14\Rightarrow d=2</a:t>
                </a:r>
                <a:r>
                  <a:rPr sz="2400">
                    <a:solidFill>
                      <a:srgbClr val="1E293B"/>
                    </a:solidFill>
                    <a:latin typeface="Calibri"/>
                  </a:rPr>
                  <a:t>;  </a:t>
                </a:r>
                <a:r>
                  <a:rPr lang="vi-VN"/>
                  <a:t>u_1=18-8=10</a:t>
                </a:r>
              </a:p>
              <a:p>
                <a:pPr algn="l" marL="365760" indent="-365760">
                  <a:spcAft>
                    <a:spcPts val="800"/>
                  </a:spcAft>
                  <a:buClr>
                    <a:srgbClr val="1E40AF"/>
                  </a:buClr>
                  <a:buFont typeface="Arial"/>
                  <a:buChar char="•"/>
                </a:pPr>
                <a:r>
                  <a:rPr lang="vi-VN"/>
                  <a:t>u_{50}=u_1+49d=10+49\cdot 2</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50</m:t>
                        </m:r>
                      </m:sub>
                    </m:sSub>
                    <m:r>
                      <a:rPr lang="vi-VN" sz="2400" b="1">
                        <a:solidFill>
                          <a:srgbClr val="991B1B"/>
                        </a:solidFill>
                        <a:latin typeface="Cambria Math" panose="02040503050406030204" pitchFamily="18" charset="0"/>
                      </a:rPr>
                      <m:t>=108</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u_{50}=108</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đầu bằng 5 và công sai bằng 2. Hỏi phải lấy tổng của bao nhiêu số hạng đầu của cấp số cộng này để có tổng bằng 2 700?</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=2</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700</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đầu bằng 5 và công sai bằng 2. Hỏi phải lấy tổng của bao nhiêu số hạng đầu của cấp số cộng này để có tổng bằng 2 700?</a:t>
                </a:r>
              </a:p>
              <a:p>
                <a:pPr algn="l">
                  <a:spcAft>
                    <a:spcPts val="800"/>
                  </a:spcAft>
                </a:pPr>
                <a:r>
                  <a:rPr sz="2400" b="1">
                    <a:solidFill>
                      <a:srgbClr val="1E40AF"/>
                    </a:solidFill>
                    <a:latin typeface="Calibri"/>
                  </a:rPr>
                  <a:t>Gợi mở: Đặt </a:t>
                </a:r>
                <a:r>
                  <a:rPr lang="vi-VN"/>
                  <a:t>S_n=2\,700</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[2·5+2(n−1)]=n(n+4)</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n(n+4)=2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700⇔</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+4n−2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700=0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⇔n=50</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n=−54</m:t>
                    </m:r>
                  </m:oMath>
                </a14:m>
                <a:r>
                  <a:rPr sz="2400">
                    <a:solidFill>
                      <a:srgbClr val="1E293B"/>
                    </a:solidFill>
                    <a:latin typeface="Calibri"/>
                  </a:rPr>
                  <a:t> (loại)</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a:t>
                </a:r>
                <a:r>
                  <a:rPr sz="2400">
                    <a:solidFill>
                      <a:srgbClr val="1E293B"/>
                    </a:solidFill>
                    <a:latin typeface="Calibri"/>
                  </a:rPr>
                  <a:t>, </a:t>
                </a:r>
                <a:r>
                  <a:rPr lang="vi-VN"/>
                  <a:t>d=2</a:t>
                </a:r>
                <a:r>
                  <a:rPr sz="2400">
                    <a:solidFill>
                      <a:srgbClr val="1E293B"/>
                    </a:solidFill>
                    <a:latin typeface="Calibri"/>
                  </a:rPr>
                  <a:t>: </a:t>
                </a:r>
                <a:r>
                  <a:rPr lang="vi-VN"/>
                  <a:t>S_n=\frac{n}{2}[2\cdot 5+2(n-1)]=n(n+4)</a:t>
                </a:r>
              </a:p>
              <a:p>
                <a:pPr algn="l" marL="365760" indent="-365760">
                  <a:spcAft>
                    <a:spcPts val="800"/>
                  </a:spcAft>
                  <a:buClr>
                    <a:srgbClr val="1E40AF"/>
                  </a:buClr>
                  <a:buFont typeface="Arial"/>
                  <a:buChar char="•"/>
                </a:pPr>
                <a:r>
                  <a:rPr lang="vi-VN"/>
                  <a:t>n(n+4)=2\,700\Leftrightarrow n^2+4n-2\,700=0</a:t>
                </a:r>
              </a:p>
              <a:p>
                <a:pPr algn="l" marL="365760" indent="-365760">
                  <a:spcAft>
                    <a:spcPts val="800"/>
                  </a:spcAft>
                  <a:buClr>
                    <a:srgbClr val="1E40AF"/>
                  </a:buClr>
                  <a:buFont typeface="Arial"/>
                  <a:buChar char="•"/>
                </a:pPr>
                <a:r>
                  <a:rPr lang="vi-VN"/>
                  <a:t>\Leftrightarrow n=50</a:t>
                </a:r>
                <a:r>
                  <a:rPr sz="2400">
                    <a:solidFill>
                      <a:srgbClr val="1E293B"/>
                    </a:solidFill>
                    <a:latin typeface="Calibri"/>
                  </a:rPr>
                  <a:t> hoặc </a:t>
                </a:r>
                <a:r>
                  <a:rPr lang="vi-VN"/>
                  <a:t>n=-54</a:t>
                </a:r>
                <a:r>
                  <a:rPr sz="2400">
                    <a:solidFill>
                      <a:srgbClr val="1E293B"/>
                    </a:solidFill>
                    <a:latin typeface="Calibri"/>
                  </a:rPr>
                  <a:t> (loại)</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50 số hạng đầu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49</a:t>
            </a:r>
          </a:p>
        </p:txBody>
      </p:sp>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Giá của một chiếc xe ô tô lúc mới mua là 680 triệu đồng. Cứ sau mỗi năm sử dụng, giá trị của chiếc xe ô tô giảm 55 triệu đồng. Tính giá trị còn lại của chiếc xe ô tô sau 5 năm sử dụng.</a:t>
            </a:r>
          </a:p>
          <a:p>
            <a:pPr algn="l">
              <a:spcAft>
                <a:spcPts val="800"/>
              </a:spcAft>
            </a:pPr>
            <a:r>
              <a:rPr sz="2400" b="1">
                <a:solidFill>
                  <a:srgbClr val="1E40AF"/>
                </a:solidFill>
                <a:latin typeface="Calibri"/>
              </a:rPr>
              <a:t>Gợi mở: Giá trị các năm giảm đều 55 triệu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=680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d=−55</m:t>
                    </m:r>
                  </m:oMath>
                </a14:m>
              </a:p>
              <a:p>
                <a:pPr algn="l" marL="365760" indent="-365760">
                  <a:spcAft>
                    <a:spcPts val="800"/>
                  </a:spcAft>
                  <a:buClr>
                    <a:srgbClr val="1E40AF"/>
                  </a:buClr>
                  <a:buFont typeface="Arial"/>
                  <a:buChar char="•"/>
                </a:pPr>
                <a:r>
                  <a:rPr sz="2400">
                    <a:solidFill>
                      <a:srgbClr val="1E293B"/>
                    </a:solidFill>
                    <a:latin typeface="Calibri"/>
                  </a:rPr>
                  <a:t>Sau 1, 2, 3, 4, 5 năm: 625; 570; 515; 460; 405</a:t>
                </a:r>
              </a:p>
              <a:p>
                <a:pPr algn="l" marL="365760" indent="-365760">
                  <a:spcAft>
                    <a:spcPts val="800"/>
                  </a:spcAft>
                  <a:buClr>
                    <a:srgbClr val="1E40AF"/>
                  </a:buClr>
                  <a:buFont typeface="Arial"/>
                  <a:buChar char="•"/>
                </a:pPr>
                <a:r>
                  <a:rPr sz="2400">
                    <a:solidFill>
                      <a:srgbClr val="1E293B"/>
                    </a:solidFill>
                    <a:latin typeface="Calibri"/>
                  </a:rPr>
                  <a:t>Sau 5 năm: </a:t>
                </a:r>
                <a14:m>
                  <m:oMath xmlns:m="http://schemas.openxmlformats.org/officeDocument/2006/math">
                    <m:r>
                      <a:rPr lang="vi-VN" sz="2400" b="0">
                        <a:solidFill>
                          <a:srgbClr val="1E293B"/>
                        </a:solidFill>
                        <a:latin typeface="Cambria Math" panose="02040503050406030204" pitchFamily="18" charset="0"/>
                      </a:rPr>
                      <m:t>680−5·55=405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cộng </a:t>
                </a:r>
                <a:r>
                  <a:rPr lang="vi-VN"/>
                  <a:t>u_1=680</a:t>
                </a:r>
                <a:r>
                  <a:rPr sz="2400">
                    <a:solidFill>
                      <a:srgbClr val="1E293B"/>
                    </a:solidFill>
                    <a:latin typeface="Calibri"/>
                  </a:rPr>
                  <a:t>, </a:t>
                </a:r>
                <a:r>
                  <a:rPr lang="vi-VN"/>
                  <a:t>d=-55</a:t>
                </a:r>
              </a:p>
              <a:p>
                <a:pPr algn="l" marL="365760" indent="-365760">
                  <a:spcAft>
                    <a:spcPts val="800"/>
                  </a:spcAft>
                  <a:buClr>
                    <a:srgbClr val="1E40AF"/>
                  </a:buClr>
                  <a:buFont typeface="Arial"/>
                  <a:buChar char="•"/>
                </a:pPr>
                <a:r>
                  <a:rPr sz="2400">
                    <a:solidFill>
                      <a:srgbClr val="1E293B"/>
                    </a:solidFill>
                    <a:latin typeface="Calibri"/>
                  </a:rPr>
                  <a:t>Sau 1, 2, 3, 4, 5 năm: 625; 570; 515; 460; 405</a:t>
                </a:r>
              </a:p>
              <a:p>
                <a:pPr algn="l" marL="365760" indent="-365760">
                  <a:spcAft>
                    <a:spcPts val="800"/>
                  </a:spcAft>
                  <a:buClr>
                    <a:srgbClr val="1E40AF"/>
                  </a:buClr>
                  <a:buFont typeface="Arial"/>
                  <a:buChar char="•"/>
                </a:pPr>
                <a:r>
                  <a:rPr sz="2400">
                    <a:solidFill>
                      <a:srgbClr val="1E293B"/>
                    </a:solidFill>
                    <a:latin typeface="Calibri"/>
                  </a:rPr>
                  <a:t>Sau 5 năm: </a:t>
                </a:r>
                <a:r>
                  <a:rPr lang="vi-VN"/>
                  <a:t>680-5\cdot 55=405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Còn 405 triệu đồng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kiến trúc sư thiết kế một hội trường với 15 ghế ngồi ở hàng thứ nhất, 18 ghế ngồi ở hàng thứ hai, 21 ghế ngồi ở hàng thứ ba, và cứ như vậy (số ghế ở hàng sau nhiều hơn 3 ghế so với số ghế ở hàng liền trước nó). Nếu muốn hội trường đó có sức chứa ít nhất 870 ghế ngồi thì kiến trúc sư đó phải thiết kế tối thiểu bao nhiêu hàng ghế?</a:t>
                </a:r>
              </a:p>
              <a:p>
                <a:pPr algn="l">
                  <a:spcAft>
                    <a:spcPts val="800"/>
                  </a:spcAft>
                </a:pPr>
                <a:r>
                  <a:rPr sz="2400" b="1">
                    <a:solidFill>
                      <a:srgbClr val="1E40AF"/>
                    </a:solidFill>
                    <a:latin typeface="Calibri"/>
                  </a:rPr>
                  <a:t>Gợi mở: Tìm n nhỏ nhất để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≥870</m:t>
                    </m:r>
                  </m:oMath>
                </a14:m>
              </a:p>
            </p:txBody>
          </p:sp>
        </mc:Choice>
        <mc:Fallback>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kiến trúc sư thiết kế một hội trường với 15 ghế ngồi ở hàng thứ nhất, 18 ghế ngồi ở hàng thứ hai, 21 ghế ngồi ở hàng thứ ba, và cứ như vậy (số ghế ở hàng sau nhiều hơn 3 ghế so với số ghế ở hàng liền trước nó). Nếu muốn hội trường đó có sức chứa ít nhất 870 ghế ngồi thì kiến trúc sư đó phải thiết kế tối thiểu bao nhiêu hàng ghế?</a:t>
                </a:r>
              </a:p>
              <a:p>
                <a:pPr algn="l">
                  <a:spcAft>
                    <a:spcPts val="800"/>
                  </a:spcAft>
                </a:pPr>
                <a:r>
                  <a:rPr sz="2400" b="1">
                    <a:solidFill>
                      <a:srgbClr val="1E40AF"/>
                    </a:solidFill>
                    <a:latin typeface="Calibri"/>
                  </a:rPr>
                  <a:t>Gợi mở: Tìm n nhỏ nhất để </a:t>
                </a:r>
                <a:r>
                  <a:rPr lang="vi-VN"/>
                  <a:t>S_n\ge 870</a:t>
                </a: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[30+3(n−1)]=</m:t>
                    </m:r>
                    <m:f>
                      <m:fPr>
                        <m:type m:val="bar"/>
                      </m:fPr>
                      <m:num>
                        <m:r>
                          <a:rPr lang="vi-VN" sz="2400" b="0">
                            <a:solidFill>
                              <a:srgbClr val="1E293B"/>
                            </a:solidFill>
                            <a:latin typeface="Cambria Math" panose="02040503050406030204" pitchFamily="18" charset="0"/>
                          </a:rPr>
                          <m:t>n(3n+27)</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≥870⇔</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+9n−580≥0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⇔n≥20</m:t>
                    </m:r>
                  </m:oMath>
                </a14:m>
                <a:r>
                  <a:rPr sz="2400">
                    <a:solidFill>
                      <a:srgbClr val="1E293B"/>
                    </a:solidFill>
                    <a:latin typeface="Calibri"/>
                  </a:rPr>
                  <a:t> (vì </a:t>
                </a:r>
                <a14:m>
                  <m:oMath xmlns:m="http://schemas.openxmlformats.org/officeDocument/2006/math">
                    <m:r>
                      <a:rPr lang="vi-VN" sz="2400" b="0">
                        <a:solidFill>
                          <a:srgbClr val="1E293B"/>
                        </a:solidFill>
                        <a:latin typeface="Cambria Math" panose="02040503050406030204" pitchFamily="18" charset="0"/>
                      </a:rPr>
                      <m:t>n&gt;0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19</m:t>
                        </m:r>
                      </m:sub>
                    </m:sSub>
                    <m:r>
                      <a:rPr lang="vi-VN" sz="2400" b="0">
                        <a:solidFill>
                          <a:srgbClr val="1E293B"/>
                        </a:solidFill>
                        <a:latin typeface="Cambria Math" panose="02040503050406030204" pitchFamily="18" charset="0"/>
                      </a:rPr>
                      <m:t>=798&lt;870</m:t>
                    </m:r>
                  </m:oMath>
                </a14:m>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r>
                  <a:rPr lang="vi-VN"/>
                  <a:t>u_1=15</a:t>
                </a:r>
                <a:r>
                  <a:rPr sz="2400">
                    <a:solidFill>
                      <a:srgbClr val="1E293B"/>
                    </a:solidFill>
                    <a:latin typeface="Calibri"/>
                  </a:rPr>
                  <a:t>, </a:t>
                </a:r>
                <a:r>
                  <a:rPr lang="vi-VN"/>
                  <a:t>d=3</a:t>
                </a:r>
              </a:p>
              <a:p>
                <a:pPr algn="l" marL="365760" indent="-365760">
                  <a:spcAft>
                    <a:spcPts val="800"/>
                  </a:spcAft>
                  <a:buClr>
                    <a:srgbClr val="1E40AF"/>
                  </a:buClr>
                  <a:buFont typeface="Arial"/>
                  <a:buChar char="•"/>
                </a:pPr>
                <a:r>
                  <a:rPr lang="vi-VN"/>
                  <a:t>S_n=\frac{n}{2}[30+3(n-1)]=\frac{n(3n+27)}{2}</a:t>
                </a:r>
              </a:p>
              <a:p>
                <a:pPr algn="l" marL="365760" indent="-365760">
                  <a:spcAft>
                    <a:spcPts val="800"/>
                  </a:spcAft>
                  <a:buClr>
                    <a:srgbClr val="1E40AF"/>
                  </a:buClr>
                  <a:buFont typeface="Arial"/>
                  <a:buChar char="•"/>
                </a:pPr>
                <a:r>
                  <a:rPr lang="vi-VN"/>
                  <a:t>S_n\ge 870\Leftrightarrow n^2+9n-580\ge 0</a:t>
                </a:r>
              </a:p>
              <a:p>
                <a:pPr algn="l" marL="365760" indent="-365760">
                  <a:spcAft>
                    <a:spcPts val="800"/>
                  </a:spcAft>
                  <a:buClr>
                    <a:srgbClr val="1E40AF"/>
                  </a:buClr>
                  <a:buFont typeface="Arial"/>
                  <a:buChar char="•"/>
                </a:pPr>
                <a:r>
                  <a:rPr lang="vi-VN"/>
                  <a:t>\Leftrightarrow n\ge 20</a:t>
                </a:r>
                <a:r>
                  <a:rPr sz="2400">
                    <a:solidFill>
                      <a:srgbClr val="1E293B"/>
                    </a:solidFill>
                    <a:latin typeface="Calibri"/>
                  </a:rPr>
                  <a:t> (vì </a:t>
                </a:r>
                <a:r>
                  <a:rPr lang="vi-VN"/>
                  <a:t>n&gt;0</a:t>
                </a:r>
                <a:r>
                  <a:rPr sz="2400">
                    <a:solidFill>
                      <a:srgbClr val="1E293B"/>
                    </a:solidFill>
                    <a:latin typeface="Calibri"/>
                  </a:rPr>
                  <a:t>); </a:t>
                </a:r>
                <a:r>
                  <a:rPr lang="vi-VN"/>
                  <a:t>S_{19}=798&lt;870</a:t>
                </a:r>
              </a:p>
            </p:txBody>
          </p:sp>
        </mc:Fallback>
      </mc:AlternateContent>
      <p:sp>
        <p:nvSpPr>
          <p:cNvPr id="8" name="Rounded Rectangle 7"/>
          <p:cNvSpPr/>
          <p:nvPr/>
        </p:nvSpPr>
        <p:spPr>
          <a:xfrm>
            <a:off x="731520" y="398068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98068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Tối thiểu 20 hàng ghế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=870</m:t>
                    </m:r>
                  </m:oMath>
                </a14:m>
                <a:r>
                  <a:rPr sz="2400" b="1">
                    <a:solidFill>
                      <a:srgbClr val="991B1B"/>
                    </a:solidFill>
                    <a:latin typeface="Calibri"/>
                  </a:rPr>
                  <a:t>)</a:t>
                </a:r>
              </a:p>
            </p:txBody>
          </p:sp>
        </mc:Choice>
        <mc:Fallback>
          <p:sp>
            <p:nvSpPr>
              <p:cNvPr id="9" name="TextBox 8"/>
              <p:cNvSpPr txBox="1"/>
              <p:nvPr/>
            </p:nvSpPr>
            <p:spPr>
              <a:xfrm>
                <a:off x="914400" y="398068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Tối thiểu 20 hàng ghế (</a:t>
                </a:r>
                <a:r>
                  <a:rPr lang="vi-VN"/>
                  <a:t>S_{20}=870</a:t>
                </a:r>
                <a:r>
                  <a:rPr sz="2400" b="1">
                    <a:solidFill>
                      <a:srgbClr val="991B1B"/>
                    </a:solidFill>
                    <a:latin typeface="Calibri"/>
                  </a:rPr>
                  <a:t>)</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53</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thành phố là khoảng 1,2 triệu người.</a:t>
            </a:r>
          </a:p>
          <a:p>
            <a:pPr algn="l">
              <a:spcAft>
                <a:spcPts val="800"/>
              </a:spcAft>
            </a:pPr>
            <a:r>
              <a:rPr sz="2400">
                <a:solidFill>
                  <a:srgbClr val="1E293B"/>
                </a:solidFill>
                <a:latin typeface="Calibri"/>
              </a:rPr>
              <a:t>Giả sử mỗi năm, dân số của thành phố này tăng thêm khoảng 30 nghìn người.</a:t>
            </a:r>
          </a:p>
          <a:p>
            <a:pPr algn="l">
              <a:spcAft>
                <a:spcPts val="800"/>
              </a:spcAft>
            </a:pPr>
            <a:r>
              <a:rPr sz="2400">
                <a:solidFill>
                  <a:srgbClr val="1E293B"/>
                </a:solidFill>
                <a:latin typeface="Calibri"/>
              </a:rPr>
              <a:t>Hãy ước tính dân số của thành phố này vào năm 2030.</a:t>
            </a:r>
          </a:p>
          <a:p>
            <a:pPr algn="l">
              <a:spcAft>
                <a:spcPts val="800"/>
              </a:spcAft>
            </a:pPr>
            <a:r>
              <a:rPr sz="2400" b="1">
                <a:solidFill>
                  <a:srgbClr val="1E40AF"/>
                </a:solidFill>
                <a:latin typeface="Calibri"/>
              </a:rPr>
              <a:t>Gợi mở: Năm 2030 là số hạng thứ mấy?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(năm 2020), </a:t>
                </a:r>
                <a14:m>
                  <m:oMath xmlns:m="http://schemas.openxmlformats.org/officeDocument/2006/math">
                    <m:r>
                      <a:rPr lang="vi-VN" sz="2400" b="0">
                        <a:solidFill>
                          <a:srgbClr val="1E293B"/>
                        </a:solidFill>
                        <a:latin typeface="Cambria Math" panose="02040503050406030204" pitchFamily="18" charset="0"/>
                      </a:rPr>
                      <m:t>d=0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03</m:t>
                    </m:r>
                  </m:oMath>
                </a14:m>
              </a:p>
              <a:p>
                <a:pPr algn="l" marL="365760" indent="-365760">
                  <a:spcAft>
                    <a:spcPts val="800"/>
                  </a:spcAft>
                  <a:buClr>
                    <a:srgbClr val="1E40AF"/>
                  </a:buClr>
                  <a:buFont typeface="Arial"/>
                  <a:buChar char="•"/>
                </a:pPr>
                <a:r>
                  <a:rPr sz="2400">
                    <a:solidFill>
                      <a:srgbClr val="1E293B"/>
                    </a:solidFill>
                    <a:latin typeface="Calibri"/>
                  </a:rPr>
                  <a:t>Năm 2030 ứng với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2+10·0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03</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cộng </a:t>
                </a:r>
                <a:r>
                  <a:rPr lang="vi-VN"/>
                  <a:t>u_1=1{,}2</a:t>
                </a:r>
                <a:r>
                  <a:rPr sz="2400">
                    <a:solidFill>
                      <a:srgbClr val="1E293B"/>
                    </a:solidFill>
                    <a:latin typeface="Calibri"/>
                  </a:rPr>
                  <a:t> (năm 2020), </a:t>
                </a:r>
                <a:r>
                  <a:rPr lang="vi-VN"/>
                  <a:t>d=0{,}03</a:t>
                </a:r>
              </a:p>
              <a:p>
                <a:pPr algn="l" marL="365760" indent="-365760">
                  <a:spcAft>
                    <a:spcPts val="800"/>
                  </a:spcAft>
                  <a:buClr>
                    <a:srgbClr val="1E40AF"/>
                  </a:buClr>
                  <a:buFont typeface="Arial"/>
                  <a:buChar char="•"/>
                </a:pPr>
                <a:r>
                  <a:rPr sz="2400">
                    <a:solidFill>
                      <a:srgbClr val="1E293B"/>
                    </a:solidFill>
                    <a:latin typeface="Calibri"/>
                  </a:rPr>
                  <a:t>Năm 2030 ứng với </a:t>
                </a:r>
                <a:r>
                  <a:rPr lang="vi-VN"/>
                  <a:t>u_{11}</a:t>
                </a:r>
              </a:p>
              <a:p>
                <a:pPr algn="l" marL="365760" indent="-365760">
                  <a:spcAft>
                    <a:spcPts val="800"/>
                  </a:spcAft>
                  <a:buClr>
                    <a:srgbClr val="1E40AF"/>
                  </a:buClr>
                  <a:buFont typeface="Arial"/>
                  <a:buChar char="•"/>
                </a:pPr>
                <a:r>
                  <a:rPr lang="vi-VN"/>
                  <a:t>u_{11}=1{,}2+10\cdot 0{,}03</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1,5 triệu người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Tìm số hạng thứ 20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2,</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5,</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8,</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m:t>
                    </m:r>
                  </m:oMath>
                </a14:m>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d=3</m:t>
                    </m:r>
                  </m:oMath>
                </a14:m>
                <a:r>
                  <a:rPr sz="2400">
                    <a:solidFill>
                      <a:srgbClr val="1E293B"/>
                    </a:solidFill>
                    <a:latin typeface="Calibri"/>
                  </a:rPr>
                  <a:t>. Vậy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+20d=2+20·3=62</m:t>
                    </m:r>
                  </m:oMath>
                </a14:m>
                <a:r>
                  <a:rPr sz="2400">
                    <a:solidFill>
                      <a:srgbClr val="1E293B"/>
                    </a:solidFill>
                    <a:latin typeface="Calibri"/>
                  </a:rPr>
                  <a:t>."</a:t>
                </a:r>
              </a:p>
              <a:p>
                <a:pPr algn="l">
                  <a:spcAft>
                    <a:spcPts val="800"/>
                  </a:spcAft>
                </a:pPr>
                <a:r>
                  <a:rPr sz="2400" b="1">
                    <a:solidFill>
                      <a:srgbClr val="1E40AF"/>
                    </a:solidFill>
                    <a:latin typeface="Calibri"/>
                  </a:rPr>
                  <a:t>Gợi mở: Kiểm tra lại công thức số hạng tổng quát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Tìm số hạng thứ 20 của cấp số cộng </a:t>
                </a:r>
                <a:r>
                  <a:rPr lang="vi-VN"/>
                  <a:t>2, 5, 8, …</a:t>
                </a:r>
              </a:p>
              <a:p>
                <a:pPr algn="l">
                  <a:spcAft>
                    <a:spcPts val="800"/>
                  </a:spcAft>
                </a:pPr>
                <a:r>
                  <a:rPr sz="2400">
                    <a:solidFill>
                      <a:srgbClr val="1E293B"/>
                    </a:solidFill>
                    <a:latin typeface="Calibri"/>
                  </a:rPr>
                  <a:t>"Ta có </a:t>
                </a:r>
                <a:r>
                  <a:rPr lang="vi-VN"/>
                  <a:t>u_1=2</a:t>
                </a:r>
                <a:r>
                  <a:rPr sz="2400">
                    <a:solidFill>
                      <a:srgbClr val="1E293B"/>
                    </a:solidFill>
                    <a:latin typeface="Calibri"/>
                  </a:rPr>
                  <a:t>, </a:t>
                </a:r>
                <a:r>
                  <a:rPr lang="vi-VN"/>
                  <a:t>d=3</a:t>
                </a:r>
                <a:r>
                  <a:rPr sz="2400">
                    <a:solidFill>
                      <a:srgbClr val="1E293B"/>
                    </a:solidFill>
                    <a:latin typeface="Calibri"/>
                  </a:rPr>
                  <a:t>. Vậy </a:t>
                </a:r>
                <a:r>
                  <a:rPr lang="vi-VN"/>
                  <a:t>u_20=u_1+20d=2+20·3=62</a:t>
                </a:r>
                <a:r>
                  <a:rPr sz="2400">
                    <a:solidFill>
                      <a:srgbClr val="1E293B"/>
                    </a:solidFill>
                    <a:latin typeface="Calibri"/>
                  </a:rPr>
                  <a:t>."</a:t>
                </a:r>
              </a:p>
              <a:p>
                <a:pPr algn="l">
                  <a:spcAft>
                    <a:spcPts val="800"/>
                  </a:spcAft>
                </a:pPr>
                <a:r>
                  <a:rPr sz="2400" b="1">
                    <a:solidFill>
                      <a:srgbClr val="1E40AF"/>
                    </a:solidFill>
                    <a:latin typeface="Calibri"/>
                  </a:rPr>
                  <a:t>Gợi mở: Kiểm tra lại công thức số hạng tổng quát</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dùng sai công thức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+nd</m:t>
                    </m:r>
                  </m:oMath>
                </a14:m>
              </a:p>
              <a:p>
                <a:pPr algn="l" marL="365760" indent="-365760">
                  <a:spcAft>
                    <a:spcPts val="800"/>
                  </a:spcAft>
                  <a:buClr>
                    <a:srgbClr val="1E40AF"/>
                  </a:buClr>
                  <a:buFont typeface="Arial"/>
                  <a:buChar char="•"/>
                </a:pPr>
                <a:r>
                  <a:rPr sz="2400">
                    <a:solidFill>
                      <a:srgbClr val="1E293B"/>
                    </a:solidFill>
                    <a:latin typeface="Calibri"/>
                  </a:rPr>
                  <a:t>Đúng: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+19d=2+19·3=59</m:t>
                    </m:r>
                  </m:oMath>
                </a14:m>
              </a:p>
              <a:p>
                <a:pPr algn="l" marL="365760" indent="-365760">
                  <a:spcAft>
                    <a:spcPts val="800"/>
                  </a:spcAft>
                  <a:buClr>
                    <a:srgbClr val="1E40AF"/>
                  </a:buClr>
                  <a:buFont typeface="Arial"/>
                  <a:buChar char="•"/>
                </a:pPr>
                <a:r>
                  <a:rPr sz="2400">
                    <a:solidFill>
                      <a:srgbClr val="1E293B"/>
                    </a:solidFill>
                    <a:latin typeface="Calibri"/>
                  </a:rPr>
                  <a:t>Kiểm chứng: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r>
                  <a:rPr sz="2400">
                    <a:solidFill>
                      <a:srgbClr val="1E293B"/>
                    </a:solidFill>
                    <a:latin typeface="Calibri"/>
                  </a:rPr>
                  <a:t> (không phải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+2d</m:t>
                    </m:r>
                  </m:oMath>
                </a14:m>
                <a:r>
                  <a:rPr sz="2400">
                    <a:solidFill>
                      <a:srgbClr val="1E293B"/>
                    </a:solidFill>
                    <a:latin typeface="Calibri"/>
                  </a:rPr>
                  <a: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dùng sai công thức </a:t>
                </a:r>
                <a:r>
                  <a:rPr lang="vi-VN"/>
                  <a:t>u_1+nd</a:t>
                </a:r>
              </a:p>
              <a:p>
                <a:pPr algn="l" marL="365760" indent="-365760">
                  <a:spcAft>
                    <a:spcPts val="800"/>
                  </a:spcAft>
                  <a:buClr>
                    <a:srgbClr val="1E40AF"/>
                  </a:buClr>
                  <a:buFont typeface="Arial"/>
                  <a:buChar char="•"/>
                </a:pPr>
                <a:r>
                  <a:rPr sz="2400">
                    <a:solidFill>
                      <a:srgbClr val="1E293B"/>
                    </a:solidFill>
                    <a:latin typeface="Calibri"/>
                  </a:rPr>
                  <a:t>Đúng: </a:t>
                </a:r>
                <a:r>
                  <a:rPr lang="vi-VN"/>
                  <a:t>u_{20}=u_1+19d=2+19\cdot 3=59</a:t>
                </a:r>
              </a:p>
              <a:p>
                <a:pPr algn="l" marL="365760" indent="-365760">
                  <a:spcAft>
                    <a:spcPts val="800"/>
                  </a:spcAft>
                  <a:buClr>
                    <a:srgbClr val="1E40AF"/>
                  </a:buClr>
                  <a:buFont typeface="Arial"/>
                  <a:buChar char="•"/>
                </a:pPr>
                <a:r>
                  <a:rPr sz="2400">
                    <a:solidFill>
                      <a:srgbClr val="1E293B"/>
                    </a:solidFill>
                    <a:latin typeface="Calibri"/>
                  </a:rPr>
                  <a:t>Kiểm chứng: </a:t>
                </a:r>
                <a:r>
                  <a:rPr lang="vi-VN"/>
                  <a:t>u_2=u_1+d</a:t>
                </a:r>
                <a:r>
                  <a:rPr sz="2400">
                    <a:solidFill>
                      <a:srgbClr val="1E293B"/>
                    </a:solidFill>
                    <a:latin typeface="Calibri"/>
                  </a:rPr>
                  <a:t> (không phải </a:t>
                </a:r>
                <a:r>
                  <a:rPr lang="vi-VN"/>
                  <a:t>u_1+2d</a:t>
                </a:r>
                <a:r>
                  <a:rPr sz="2400">
                    <a:solidFill>
                      <a:srgbClr val="1E293B"/>
                    </a:solidFill>
                    <a:latin typeface="Calibri"/>
                  </a:rPr>
                  <a:t>)</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=59</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u_{20}=59</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10 số hạng đầu của cấp số cộng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r>
                      <a:rPr lang="vi-VN" sz="2400" b="1">
                        <a:solidFill>
                          <a:srgbClr val="1E40AF"/>
                        </a:solidFill>
                        <a:latin typeface="Cambria Math" panose="02040503050406030204" pitchFamily="18" charset="0"/>
                      </a:rPr>
                      <m:t>=3</m:t>
                    </m:r>
                  </m:oMath>
                </a14:m>
                <a:r>
                  <a:rPr sz="2400" b="1">
                    <a:solidFill>
                      <a:srgbClr val="1E40AF"/>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d=4</m:t>
                    </m:r>
                  </m:oMath>
                </a14:m>
                <a:r>
                  <a:rPr sz="2400" b="1">
                    <a:solidFill>
                      <a:srgbClr val="1E40AF"/>
                    </a:solidFill>
                    <a:latin typeface="Calibri"/>
                  </a:rPr>
                  <a:t>.</a:t>
                </a:r>
              </a:p>
              <a:p>
                <a:pPr algn="l">
                  <a:spcAft>
                    <a:spcPts val="800"/>
                  </a:spcAft>
                </a:pPr>
                <a:r>
                  <a:rPr sz="2400">
                    <a:solidFill>
                      <a:srgbClr val="1E293B"/>
                    </a:solidFill>
                    <a:latin typeface="Calibri"/>
                  </a:rPr>
                  <a:t>"Áp dụng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=10[2·3+(10−1)·4]=10·42=420</m:t>
                    </m:r>
                  </m:oMath>
                </a14:m>
                <a:r>
                  <a:rPr sz="2400">
                    <a:solidFill>
                      <a:srgbClr val="1E293B"/>
                    </a:solidFill>
                    <a:latin typeface="Calibri"/>
                  </a:rPr>
                  <a:t>."</a:t>
                </a:r>
              </a:p>
              <a:p>
                <a:pPr algn="l">
                  <a:spcAft>
                    <a:spcPts val="800"/>
                  </a:spcAft>
                </a:pPr>
                <a:r>
                  <a:rPr sz="2400" b="1">
                    <a:solidFill>
                      <a:srgbClr val="1E40AF"/>
                    </a:solidFill>
                    <a:latin typeface="Calibri"/>
                  </a:rPr>
                  <a:t>Gợi mở: Công thức tổng còn thiếu gì?</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10 số hạng đầu của cấp số cộng có </a:t>
                </a:r>
                <a:r>
                  <a:rPr lang="vi-VN"/>
                  <a:t>u_1=3</a:t>
                </a:r>
                <a:r>
                  <a:rPr sz="2400" b="1">
                    <a:solidFill>
                      <a:srgbClr val="1E40AF"/>
                    </a:solidFill>
                    <a:latin typeface="Calibri"/>
                  </a:rPr>
                  <a:t>, </a:t>
                </a:r>
                <a:r>
                  <a:rPr lang="vi-VN"/>
                  <a:t>d=4</a:t>
                </a:r>
                <a:r>
                  <a:rPr sz="2400" b="1">
                    <a:solidFill>
                      <a:srgbClr val="1E40AF"/>
                    </a:solidFill>
                    <a:latin typeface="Calibri"/>
                  </a:rPr>
                  <a:t>.</a:t>
                </a:r>
              </a:p>
              <a:p>
                <a:pPr algn="l">
                  <a:spcAft>
                    <a:spcPts val="800"/>
                  </a:spcAft>
                </a:pPr>
                <a:r>
                  <a:rPr sz="2400">
                    <a:solidFill>
                      <a:srgbClr val="1E293B"/>
                    </a:solidFill>
                    <a:latin typeface="Calibri"/>
                  </a:rPr>
                  <a:t>"Áp dụng công thức: </a:t>
                </a:r>
                <a:r>
                  <a:rPr lang="vi-VN"/>
                  <a:t>S_10=10[2·3+(10−1)·4]=10·42=420</a:t>
                </a:r>
                <a:r>
                  <a:rPr sz="2400">
                    <a:solidFill>
                      <a:srgbClr val="1E293B"/>
                    </a:solidFill>
                    <a:latin typeface="Calibri"/>
                  </a:rPr>
                  <a:t>."</a:t>
                </a:r>
              </a:p>
              <a:p>
                <a:pPr algn="l">
                  <a:spcAft>
                    <a:spcPts val="800"/>
                  </a:spcAft>
                </a:pPr>
                <a:r>
                  <a:rPr sz="2400" b="1">
                    <a:solidFill>
                      <a:srgbClr val="1E40AF"/>
                    </a:solidFill>
                    <a:latin typeface="Calibri"/>
                  </a:rPr>
                  <a:t>Gợi mở: Công thức tổng còn thiếu gì?</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quên hệ số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trong công thức tổng</a:t>
                </a:r>
              </a:p>
              <a:p>
                <a:pPr algn="l" marL="365760" indent="-365760">
                  <a:spcAft>
                    <a:spcPts val="800"/>
                  </a:spcAft>
                  <a:buClr>
                    <a:srgbClr val="1E40AF"/>
                  </a:buClr>
                  <a:buFont typeface="Arial"/>
                  <a:buChar char="•"/>
                </a:pPr>
                <a:r>
                  <a:rPr sz="2400">
                    <a:solidFill>
                      <a:srgbClr val="1E293B"/>
                    </a:solidFill>
                    <a:latin typeface="Calibri"/>
                  </a:rPr>
                  <a:t>Đúng: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[2·3+9·4]=5·42=210</m:t>
                    </m:r>
                  </m:oMath>
                </a14:m>
              </a:p>
              <a:p>
                <a:pPr algn="l" marL="365760" indent="-365760">
                  <a:spcAft>
                    <a:spcPts val="800"/>
                  </a:spcAft>
                  <a:buClr>
                    <a:srgbClr val="1E40AF"/>
                  </a:buClr>
                  <a:buFont typeface="Arial"/>
                  <a:buChar char="•"/>
                </a:pPr>
                <a:r>
                  <a:rPr sz="2400">
                    <a:solidFill>
                      <a:srgbClr val="1E293B"/>
                    </a:solidFill>
                    <a:latin typeface="Calibri"/>
                  </a:rPr>
                  <a:t>Kiểm chứng: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=39</m:t>
                    </m:r>
                  </m:oMath>
                </a14:m>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10(3+39)</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=210</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quên hệ số </a:t>
                </a:r>
                <a:r>
                  <a:rPr lang="vi-VN"/>
                  <a:t>\frac{1}{2}</a:t>
                </a:r>
                <a:r>
                  <a:rPr sz="2400">
                    <a:solidFill>
                      <a:srgbClr val="1E293B"/>
                    </a:solidFill>
                    <a:latin typeface="Calibri"/>
                  </a:rPr>
                  <a:t> trong công thức tổng</a:t>
                </a:r>
              </a:p>
              <a:p>
                <a:pPr algn="l" marL="365760" indent="-365760">
                  <a:spcAft>
                    <a:spcPts val="800"/>
                  </a:spcAft>
                  <a:buClr>
                    <a:srgbClr val="1E40AF"/>
                  </a:buClr>
                  <a:buFont typeface="Arial"/>
                  <a:buChar char="•"/>
                </a:pPr>
                <a:r>
                  <a:rPr sz="2400">
                    <a:solidFill>
                      <a:srgbClr val="1E293B"/>
                    </a:solidFill>
                    <a:latin typeface="Calibri"/>
                  </a:rPr>
                  <a:t>Đúng: </a:t>
                </a:r>
                <a:r>
                  <a:rPr lang="vi-VN"/>
                  <a:t>S_{10}=\frac{10}{2}[2\cdot 3+9\cdot 4]=5\cdot 42=210</a:t>
                </a:r>
              </a:p>
              <a:p>
                <a:pPr algn="l" marL="365760" indent="-365760">
                  <a:spcAft>
                    <a:spcPts val="800"/>
                  </a:spcAft>
                  <a:buClr>
                    <a:srgbClr val="1E40AF"/>
                  </a:buClr>
                  <a:buFont typeface="Arial"/>
                  <a:buChar char="•"/>
                </a:pPr>
                <a:r>
                  <a:rPr sz="2400">
                    <a:solidFill>
                      <a:srgbClr val="1E293B"/>
                    </a:solidFill>
                    <a:latin typeface="Calibri"/>
                  </a:rPr>
                  <a:t>Kiểm chứng: </a:t>
                </a:r>
                <a:r>
                  <a:rPr lang="vi-VN"/>
                  <a:t>u_{10}=39</a:t>
                </a:r>
                <a:r>
                  <a:rPr sz="2400">
                    <a:solidFill>
                      <a:srgbClr val="1E293B"/>
                    </a:solidFill>
                    <a:latin typeface="Calibri"/>
                  </a:rPr>
                  <a:t>, </a:t>
                </a:r>
                <a:r>
                  <a:rPr lang="vi-VN"/>
                  <a:t>\frac{10(3+39)}{2}=210</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10</m:t>
                        </m:r>
                      </m:sub>
                    </m:sSub>
                    <m:r>
                      <a:rPr lang="vi-VN" sz="2400" b="1">
                        <a:solidFill>
                          <a:srgbClr val="991B1B"/>
                        </a:solidFill>
                        <a:latin typeface="Cambria Math" panose="02040503050406030204" pitchFamily="18" charset="0"/>
                      </a:rPr>
                      <m:t>=210</m:t>
                    </m:r>
                  </m:oMath>
                </a14:m>
              </a:p>
            </p:txBody>
          </p:sp>
        </mc:Choice>
        <mc:Fallback>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S_{10}=210</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LƯƠNG ANH NAM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60</a:t>
            </a:r>
          </a:p>
        </p:txBody>
      </p:sp>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Anh Nam được nhận vào làm việc ở một công ty về công nghệ với mức lương khởi điểm là 100 triệu đồng một năm.</a:t>
            </a:r>
          </a:p>
          <a:p>
            <a:pPr algn="l">
              <a:spcAft>
                <a:spcPts val="800"/>
              </a:spcAft>
            </a:pPr>
            <a:r>
              <a:rPr sz="2400">
                <a:solidFill>
                  <a:srgbClr val="1E293B"/>
                </a:solidFill>
                <a:latin typeface="Calibri"/>
              </a:rPr>
              <a:t>Công ty sẽ tăng thêm lương cho anh Nam mỗi năm là 20 triệu đồng.</a:t>
            </a:r>
          </a:p>
          <a:p>
            <a:pPr algn="l">
              <a:spcAft>
                <a:spcPts val="800"/>
              </a:spcAft>
            </a:pPr>
            <a:r>
              <a:rPr sz="2400">
                <a:solidFill>
                  <a:srgbClr val="1E293B"/>
                </a:solidFill>
                <a:latin typeface="Calibri"/>
              </a:rPr>
              <a:t>Tính tổng số tiền lương mà anh Nam nhận được sau 10 năm làm việc cho công ty đó.</a:t>
            </a:r>
          </a:p>
          <a:p>
            <a:pPr algn="l">
              <a:spcAft>
                <a:spcPts val="800"/>
              </a:spcAft>
            </a:pPr>
            <a:r>
              <a:rPr sz="2400" b="1">
                <a:solidFill>
                  <a:srgbClr val="1E40AF"/>
                </a:solidFill>
                <a:latin typeface="Calibri"/>
              </a:rPr>
              <a:t>Gợi mở: Lương các năm lập thành dãy số gì?</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LƯƠNG ANH NAM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các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[2·100+9·20]=5·380</m:t>
                    </m:r>
                  </m:oMath>
                </a14:m>
              </a:p>
              <a:p>
                <a:pPr algn="l" marL="365760" indent="-365760">
                  <a:spcAft>
                    <a:spcPts val="800"/>
                  </a:spcAft>
                  <a:buClr>
                    <a:srgbClr val="1E40AF"/>
                  </a:buClr>
                  <a:buFont typeface="Arial"/>
                  <a:buChar char="•"/>
                </a:pPr>
                <a:r>
                  <a:rPr sz="2400">
                    <a:solidFill>
                      <a:srgbClr val="1E293B"/>
                    </a:solidFill>
                    <a:latin typeface="Calibri"/>
                  </a:rPr>
                  <a:t>(Năm thứ 10: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=280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10(100+280)</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các năm: cấp số cộng </a:t>
                </a:r>
                <a:r>
                  <a:rPr lang="vi-VN"/>
                  <a:t>u_1=100</a:t>
                </a:r>
                <a:r>
                  <a:rPr sz="2400">
                    <a:solidFill>
                      <a:srgbClr val="1E293B"/>
                    </a:solidFill>
                    <a:latin typeface="Calibri"/>
                  </a:rPr>
                  <a:t>, </a:t>
                </a:r>
                <a:r>
                  <a:rPr lang="vi-VN"/>
                  <a:t>d=20</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S_{10}=\frac{10}{2}[2\cdot 100+9\cdot 20]=5\cdot 380</a:t>
                </a:r>
              </a:p>
              <a:p>
                <a:pPr algn="l" marL="365760" indent="-365760">
                  <a:spcAft>
                    <a:spcPts val="800"/>
                  </a:spcAft>
                  <a:buClr>
                    <a:srgbClr val="1E40AF"/>
                  </a:buClr>
                  <a:buFont typeface="Arial"/>
                  <a:buChar char="•"/>
                </a:pPr>
                <a:r>
                  <a:rPr sz="2400">
                    <a:solidFill>
                      <a:srgbClr val="1E293B"/>
                    </a:solidFill>
                    <a:latin typeface="Calibri"/>
                  </a:rPr>
                  <a:t>(Năm thứ 10: </a:t>
                </a:r>
                <a:r>
                  <a:rPr lang="vi-VN"/>
                  <a:t>u_{10}=280</a:t>
                </a:r>
                <a:r>
                  <a:rPr sz="2400">
                    <a:solidFill>
                      <a:srgbClr val="1E293B"/>
                    </a:solidFill>
                    <a:latin typeface="Calibri"/>
                  </a:rPr>
                  <a:t>; </a:t>
                </a:r>
                <a:r>
                  <a:rPr lang="vi-VN"/>
                  <a:t>S_{10}=\frac{10(100+280)}{2}</a:t>
                </a:r>
                <a:r>
                  <a:rPr sz="2400">
                    <a:solidFill>
                      <a:srgbClr val="1E293B"/>
                    </a:solidFill>
                    <a:latin typeface="Calibri"/>
                  </a:rPr>
                  <a:t>)</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lương 10 năm: 1 900 triệu đồng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HEO ĐẤT NĂM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Tuần đầu bỏ heo a nghìn đồng</a:t>
                </a:r>
              </a:p>
              <a:p>
                <a:pPr algn="l" marL="365760" indent="-365760">
                  <a:spcAft>
                    <a:spcPts val="800"/>
                  </a:spcAft>
                  <a:buClr>
                    <a:srgbClr val="1E40AF"/>
                  </a:buClr>
                  <a:buFont typeface="Arial"/>
                  <a:buChar char="•"/>
                </a:pPr>
                <a:r>
                  <a:rPr sz="2400">
                    <a:solidFill>
                      <a:srgbClr val="1E293B"/>
                    </a:solidFill>
                    <a:latin typeface="Calibri"/>
                  </a:rPr>
                  <a:t>Mỗi tuần sau bỏ thêm d nghìn đồng</a:t>
                </a:r>
              </a:p>
              <a:p>
                <a:pPr algn="l" marL="365760" indent="-365760">
                  <a:spcAft>
                    <a:spcPts val="800"/>
                  </a:spcAft>
                  <a:buClr>
                    <a:srgbClr val="1E40AF"/>
                  </a:buClr>
                  <a:buFont typeface="Arial"/>
                  <a:buChar char="•"/>
                </a:pPr>
                <a:r>
                  <a:rPr sz="2400">
                    <a:solidFill>
                      <a:srgbClr val="1E293B"/>
                    </a:solidFill>
                    <a:latin typeface="Calibri"/>
                  </a:rPr>
                  <a:t>Tính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35</m:t>
                        </m:r>
                      </m:sub>
                    </m:sSub>
                  </m:oMath>
                </a14:m>
                <a:r>
                  <a:rPr sz="2400">
                    <a:solidFill>
                      <a:srgbClr val="1E293B"/>
                    </a:solidFill>
                    <a:latin typeface="Calibri"/>
                  </a:rPr>
                  <a:t> và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35</m:t>
                        </m:r>
                      </m:sub>
                    </m:sSub>
                  </m:oMath>
                </a14:m>
                <a:r>
                  <a:rPr sz="2400">
                    <a:solidFill>
                      <a:srgbClr val="1E293B"/>
                    </a:solidFill>
                    <a:latin typeface="Calibri"/>
                  </a:rPr>
                  <a:t> bằng công thức</a:t>
                </a:r>
              </a:p>
              <a:p>
                <a:pPr algn="l" marL="365760" indent="-365760">
                  <a:spcAft>
                    <a:spcPts val="800"/>
                  </a:spcAft>
                  <a:buClr>
                    <a:srgbClr val="1E40AF"/>
                  </a:buClr>
                  <a:buFont typeface="Arial"/>
                  <a:buChar char="•"/>
                </a:pPr>
                <a:r>
                  <a:rPr sz="2400">
                    <a:solidFill>
                      <a:srgbClr val="1E293B"/>
                    </a:solidFill>
                    <a:latin typeface="Calibri"/>
                  </a:rPr>
                  <a:t>Kiểm chứng bằng bảng tính, so sánh kế hoạch</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Choice>
        <mc:Fallback>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Tuần đầu bỏ heo a nghìn đồng</a:t>
                </a:r>
              </a:p>
              <a:p>
                <a:pPr algn="l" marL="365760" indent="-365760">
                  <a:spcAft>
                    <a:spcPts val="800"/>
                  </a:spcAft>
                  <a:buClr>
                    <a:srgbClr val="1E40AF"/>
                  </a:buClr>
                  <a:buFont typeface="Arial"/>
                  <a:buChar char="•"/>
                </a:pPr>
                <a:r>
                  <a:rPr sz="2400">
                    <a:solidFill>
                      <a:srgbClr val="1E293B"/>
                    </a:solidFill>
                    <a:latin typeface="Calibri"/>
                  </a:rPr>
                  <a:t>Mỗi tuần sau bỏ thêm d nghìn đồng</a:t>
                </a:r>
              </a:p>
              <a:p>
                <a:pPr algn="l" marL="365760" indent="-365760">
                  <a:spcAft>
                    <a:spcPts val="800"/>
                  </a:spcAft>
                  <a:buClr>
                    <a:srgbClr val="1E40AF"/>
                  </a:buClr>
                  <a:buFont typeface="Arial"/>
                  <a:buChar char="•"/>
                </a:pPr>
                <a:r>
                  <a:rPr sz="2400">
                    <a:solidFill>
                      <a:srgbClr val="1E293B"/>
                    </a:solidFill>
                    <a:latin typeface="Calibri"/>
                  </a:rPr>
                  <a:t>Tính </a:t>
                </a:r>
                <a:r>
                  <a:rPr lang="vi-VN"/>
                  <a:t>u_{35}</a:t>
                </a:r>
                <a:r>
                  <a:rPr sz="2400">
                    <a:solidFill>
                      <a:srgbClr val="1E293B"/>
                    </a:solidFill>
                    <a:latin typeface="Calibri"/>
                  </a:rPr>
                  <a:t> và </a:t>
                </a:r>
                <a:r>
                  <a:rPr lang="vi-VN"/>
                  <a:t>S_{35}</a:t>
                </a:r>
                <a:r>
                  <a:rPr sz="2400">
                    <a:solidFill>
                      <a:srgbClr val="1E293B"/>
                    </a:solidFill>
                    <a:latin typeface="Calibri"/>
                  </a:rPr>
                  <a:t> bằng công thức</a:t>
                </a:r>
              </a:p>
              <a:p>
                <a:pPr algn="l" marL="365760" indent="-365760">
                  <a:spcAft>
                    <a:spcPts val="800"/>
                  </a:spcAft>
                  <a:buClr>
                    <a:srgbClr val="1E40AF"/>
                  </a:buClr>
                  <a:buFont typeface="Arial"/>
                  <a:buChar char="•"/>
                </a:pPr>
                <a:r>
                  <a:rPr sz="2400">
                    <a:solidFill>
                      <a:srgbClr val="1E293B"/>
                    </a:solidFill>
                    <a:latin typeface="Calibri"/>
                  </a:rPr>
                  <a:t>Kiểm chứng bằng bảng tính, so sánh kế hoạch</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Fallback>
      </mc:AlternateContent>
      <p:sp>
        <p:nvSpPr>
          <p:cNvPr id="8" name="Rounded Rectangle 7"/>
          <p:cNvSpPr/>
          <p:nvPr/>
        </p:nvSpPr>
        <p:spPr>
          <a:xfrm>
            <a:off x="731520" y="4130040"/>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413004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Ví dụ </a:t>
                </a:r>
                <a14:m>
                  <m:oMath xmlns:m="http://schemas.openxmlformats.org/officeDocument/2006/math">
                    <m:r>
                      <a:rPr lang="vi-VN" sz="2400" b="1">
                        <a:solidFill>
                          <a:srgbClr val="991B1B"/>
                        </a:solidFill>
                        <a:latin typeface="Cambria Math" panose="02040503050406030204" pitchFamily="18" charset="0"/>
                      </a:rPr>
                      <m:t>a=10</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d=2</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35</m:t>
                        </m:r>
                      </m:sub>
                    </m:sSub>
                    <m:r>
                      <a:rPr lang="vi-VN" sz="2400" b="1">
                        <a:solidFill>
                          <a:srgbClr val="991B1B"/>
                        </a:solidFill>
                        <a:latin typeface="Cambria Math" panose="02040503050406030204" pitchFamily="18" charset="0"/>
                      </a:rPr>
                      <m:t>=78</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35</m:t>
                        </m:r>
                      </m:sub>
                    </m:sSub>
                    <m:r>
                      <a:rPr lang="vi-VN" sz="2400" b="1">
                        <a:solidFill>
                          <a:srgbClr val="991B1B"/>
                        </a:solidFill>
                        <a:latin typeface="Cambria Math" panose="02040503050406030204" pitchFamily="18" charset="0"/>
                      </a:rPr>
                      <m:t>=1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540</m:t>
                    </m:r>
                  </m:oMath>
                </a14:m>
                <a:r>
                  <a:rPr sz="2400" b="1">
                    <a:solidFill>
                      <a:srgbClr val="991B1B"/>
                    </a:solidFill>
                    <a:latin typeface="Calibri"/>
                  </a:rPr>
                  <a:t> nghìn đồng</a:t>
                </a:r>
              </a:p>
            </p:txBody>
          </p:sp>
        </mc:Choice>
        <mc:Fallback>
          <p:sp>
            <p:nvSpPr>
              <p:cNvPr id="9" name="TextBox 8"/>
              <p:cNvSpPr txBox="1"/>
              <p:nvPr/>
            </p:nvSpPr>
            <p:spPr>
              <a:xfrm>
                <a:off x="914400" y="413004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Ví dụ </a:t>
                </a:r>
                <a:r>
                  <a:rPr lang="vi-VN"/>
                  <a:t>a=10</a:t>
                </a:r>
                <a:r>
                  <a:rPr sz="2400" b="1">
                    <a:solidFill>
                      <a:srgbClr val="991B1B"/>
                    </a:solidFill>
                    <a:latin typeface="Calibri"/>
                  </a:rPr>
                  <a:t>, </a:t>
                </a:r>
                <a:r>
                  <a:rPr lang="vi-VN"/>
                  <a:t>d=2</a:t>
                </a:r>
                <a:r>
                  <a:rPr sz="2400" b="1">
                    <a:solidFill>
                      <a:srgbClr val="991B1B"/>
                    </a:solidFill>
                    <a:latin typeface="Calibri"/>
                  </a:rPr>
                  <a:t>: </a:t>
                </a:r>
                <a:r>
                  <a:rPr lang="vi-VN"/>
                  <a:t>u_{35}=78</a:t>
                </a:r>
                <a:r>
                  <a:rPr sz="2400" b="1">
                    <a:solidFill>
                      <a:srgbClr val="991B1B"/>
                    </a:solidFill>
                    <a:latin typeface="Calibri"/>
                  </a:rPr>
                  <a:t>, </a:t>
                </a:r>
                <a:r>
                  <a:rPr lang="vi-VN"/>
                  <a:t>S_{35}=1\,540</a:t>
                </a:r>
                <a:r>
                  <a:rPr sz="2400" b="1">
                    <a:solidFill>
                      <a:srgbClr val="991B1B"/>
                    </a:solidFill>
                    <a:latin typeface="Calibri"/>
                  </a:rPr>
                  <a:t> nghìn đồng</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6</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63</a:t>
            </a:r>
          </a:p>
        </p:txBody>
      </p:sp>
      <p:pic>
        <p:nvPicPr>
          <p:cNvPr id="6" name="Picture 5" descr="img04.png"/>
          <p:cNvPicPr>
            <a:picLocks noChangeAspect="1"/>
          </p:cNvPicPr>
          <p:nvPr/>
        </p:nvPicPr>
        <p:blipFill>
          <a:blip r:embed="rId2"/>
          <a:stretch>
            <a:fillRect/>
          </a:stretch>
        </p:blipFill>
        <p:spPr>
          <a:xfrm>
            <a:off x="1784056" y="1417320"/>
            <a:ext cx="8593408" cy="48006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64</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6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trangtu66.github.io/Taode_thi_online/cc_bai6_t11.html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