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dự đoán, GV ghi lên góc bảng, chưa công bố đáp án – giải ở Ví dụ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với dự đoán của HS ở phần Khởi động.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trangtu66.github.io/Taode_thi_online/cc_bai5_t11.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5. DÃY SỐ</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 Dãy số. Cấp số cộng và cấp số nhân</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11, 12 theo PPCT · Năm học 2026 – 2027</a:t>
            </a:r>
          </a:p>
          <a:p>
            <a:pPr algn="l">
              <a:spcAft>
                <a:spcPts val="800"/>
              </a:spcAft>
            </a:pPr>
            <a:r>
              <a:rPr sz="2200">
                <a:solidFill>
                  <a:srgbClr val="1E293B"/>
                </a:solidFill>
                <a:latin typeface="Calibri"/>
              </a:rPr>
              <a:t>GV soạn: TTT – Trường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Nhận biết dãy số hữu hạn, dãy số vô hạn</a:t>
            </a:r>
          </a:p>
          <a:p>
            <a:pPr algn="l" marL="365760" indent="-365760">
              <a:spcAft>
                <a:spcPts val="800"/>
              </a:spcAft>
              <a:buClr>
                <a:srgbClr val="1E40AF"/>
              </a:buClr>
              <a:buFont typeface="Arial"/>
              <a:buChar char="•"/>
            </a:pPr>
            <a:r>
              <a:rPr sz="2400">
                <a:solidFill>
                  <a:srgbClr val="1E293B"/>
                </a:solidFill>
                <a:latin typeface="Calibri"/>
              </a:rPr>
              <a:t>Cho dãy số bằng liệt kê, công thức, mô tả, truy hồi</a:t>
            </a:r>
          </a:p>
          <a:p>
            <a:pPr algn="l" marL="365760" indent="-365760">
              <a:spcAft>
                <a:spcPts val="800"/>
              </a:spcAft>
              <a:buClr>
                <a:srgbClr val="1E40AF"/>
              </a:buClr>
              <a:buFont typeface="Arial"/>
              <a:buChar char="•"/>
            </a:pPr>
            <a:r>
              <a:rPr sz="2400">
                <a:solidFill>
                  <a:srgbClr val="1E293B"/>
                </a:solidFill>
                <a:latin typeface="Calibri"/>
              </a:rPr>
              <a:t>Nhận biết dãy số tăng, dãy số giảm</a:t>
            </a:r>
          </a:p>
          <a:p>
            <a:pPr algn="l" marL="365760" indent="-365760">
              <a:spcAft>
                <a:spcPts val="800"/>
              </a:spcAft>
              <a:buClr>
                <a:srgbClr val="1E40AF"/>
              </a:buClr>
              <a:buFont typeface="Arial"/>
              <a:buChar char="•"/>
            </a:pPr>
            <a:r>
              <a:rPr sz="2400">
                <a:solidFill>
                  <a:srgbClr val="1E293B"/>
                </a:solidFill>
                <a:latin typeface="Calibri"/>
              </a:rPr>
              <a:t>Nhận biết dãy số bị chặn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DÂN SỐ NĂM 2030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oMath>
                </a14:m>
                <a:r>
                  <a:rPr sz="2000">
                    <a:solidFill>
                      <a:srgbClr val="1E293B"/>
                    </a:solidFill>
                    <a:latin typeface="Calibri"/>
                  </a:rPr>
                  <a:t> (nghìn người) của thành phố đó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n</m:t>
                    </m:r>
                  </m:oMath>
                </a14:m>
                <a:r>
                  <a:rPr sz="2000">
                    <a:solidFill>
                      <a:srgbClr val="1E293B"/>
                    </a:solidFill>
                    <a:latin typeface="Calibri"/>
                  </a:rPr>
                  <a:t> năm, kể từ năm 2020, được tính bằng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r>
                      <a:rPr lang="vi-VN" sz="2000" b="0">
                        <a:solidFill>
                          <a:srgbClr val="1E293B"/>
                        </a:solidFill>
                        <a:latin typeface="Cambria Math" panose="02040503050406030204" pitchFamily="18" charset="0"/>
                      </a:rPr>
                      <m:t>=500(1+0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02</m:t>
                    </m:r>
                    <m:sSup>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n</m:t>
                        </m:r>
                      </m:sup>
                    </m:sSup>
                  </m:oMath>
                </a14:m>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ứng với n bằng bao nhiêu?</a:t>
                </a:r>
              </a:p>
            </p:txBody>
          </p:sp>
        </mc:Choice>
        <mc:Fallback>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r>
                  <a:rPr lang="vi-VN"/>
                  <a:t>P_n</a:t>
                </a:r>
                <a:r>
                  <a:rPr sz="2000">
                    <a:solidFill>
                      <a:srgbClr val="1E293B"/>
                    </a:solidFill>
                    <a:latin typeface="Calibri"/>
                  </a:rPr>
                  <a:t> (nghìn người) của thành phố đó sau </a:t>
                </a:r>
                <a:r>
                  <a:rPr lang="vi-VN"/>
                  <a:t>n</a:t>
                </a:r>
                <a:r>
                  <a:rPr sz="2000">
                    <a:solidFill>
                      <a:srgbClr val="1E293B"/>
                    </a:solidFill>
                    <a:latin typeface="Calibri"/>
                  </a:rPr>
                  <a:t> năm, kể từ năm 2020, được tính bằng công thức </a:t>
                </a:r>
                <a:r>
                  <a:rPr lang="vi-VN"/>
                  <a:t>P_n=500(1+0,02)^n</a:t>
                </a:r>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ứng với n bằng bao nhiêu?</a:t>
                </a:r>
              </a:p>
            </p:txBody>
          </p:sp>
        </mc:Fallback>
      </mc:AlternateContent>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ĐỊNH NGHĨA DÃY SỐ</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DÃY SỐ VÔ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Viết năm số chính phương đầu theo thứ tự tăng dần. Từ đó, dự đoán công thức tính số chính phương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a:t>
                </a:r>
              </a:p>
              <a:p>
                <a:pPr algn="l">
                  <a:spcAft>
                    <a:spcPts val="800"/>
                  </a:spcAft>
                </a:pPr>
                <a:r>
                  <a:rPr sz="2400" b="1">
                    <a:solidFill>
                      <a:srgbClr val="1E40AF"/>
                    </a:solidFill>
                    <a:latin typeface="Calibri"/>
                  </a:rPr>
                  <a:t>Gợi mở: Số chính phương là bình phương của một số tự nhiên</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Viết năm số chính phương đầu theo thứ tự tăng dần. Từ đó, dự đoán công thức tính số chính phương thứ </a:t>
                </a:r>
                <a:r>
                  <a:rPr lang="vi-VN"/>
                  <a:t>n</a:t>
                </a:r>
                <a:r>
                  <a:rPr sz="2400">
                    <a:solidFill>
                      <a:srgbClr val="1E293B"/>
                    </a:solidFill>
                    <a:latin typeface="Calibri"/>
                  </a:rPr>
                  <a:t>.</a:t>
                </a:r>
              </a:p>
              <a:p>
                <a:pPr algn="l">
                  <a:spcAft>
                    <a:spcPts val="800"/>
                  </a:spcAft>
                </a:pPr>
                <a:r>
                  <a:rPr sz="2400" b="1">
                    <a:solidFill>
                      <a:srgbClr val="1E40AF"/>
                    </a:solidFill>
                    <a:latin typeface="Calibri"/>
                  </a:rPr>
                  <a:t>Gợi mở: Số chính phương là bình phương của một số tự nhiên</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DÃY SỐ VÔ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Năm số chính phương đầu: </a:t>
                </a:r>
                <a14:m>
                  <m:oMath xmlns:m="http://schemas.openxmlformats.org/officeDocument/2006/math">
                    <m:sSup>
                      <m:e>
                        <m:r>
                          <a:rPr lang="vi-VN" sz="2400" b="0">
                            <a:solidFill>
                              <a:srgbClr val="1E293B"/>
                            </a:solidFill>
                            <a:latin typeface="Cambria Math" panose="02040503050406030204" pitchFamily="18" charset="0"/>
                          </a:rPr>
                          <m:t>1</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4</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tức là 1, 4, 9, 16, 25</a:t>
                </a:r>
              </a:p>
              <a:p>
                <a:pPr algn="l" marL="365760" indent="-365760">
                  <a:spcAft>
                    <a:spcPts val="800"/>
                  </a:spcAft>
                  <a:buClr>
                    <a:srgbClr val="1E40AF"/>
                  </a:buClr>
                  <a:buFont typeface="Arial"/>
                  <a:buChar char="•"/>
                </a:pPr>
                <a:r>
                  <a:rPr sz="2400">
                    <a:solidFill>
                      <a:srgbClr val="1E293B"/>
                    </a:solidFill>
                    <a:latin typeface="Calibri"/>
                  </a:rPr>
                  <a:t>Số chính phương thứ n là </a:t>
                </a:r>
                <a14:m>
                  <m:oMath xmlns:m="http://schemas.openxmlformats.org/officeDocument/2006/math">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Năm số chính phương đầu: </a:t>
                </a:r>
                <a:r>
                  <a:rPr lang="vi-VN"/>
                  <a:t>1^2, 2^2, 3^2, 4^2, 5^2</a:t>
                </a:r>
                <a:r>
                  <a:rPr sz="2400">
                    <a:solidFill>
                      <a:srgbClr val="1E293B"/>
                    </a:solidFill>
                    <a:latin typeface="Calibri"/>
                  </a:rPr>
                  <a:t> tức là 1, 4, 9, 16, 25</a:t>
                </a:r>
              </a:p>
              <a:p>
                <a:pPr algn="l" marL="365760" indent="-365760">
                  <a:spcAft>
                    <a:spcPts val="800"/>
                  </a:spcAft>
                  <a:buClr>
                    <a:srgbClr val="1E40AF"/>
                  </a:buClr>
                  <a:buFont typeface="Arial"/>
                  <a:buChar char="•"/>
                </a:pPr>
                <a:r>
                  <a:rPr sz="2400">
                    <a:solidFill>
                      <a:srgbClr val="1E293B"/>
                    </a:solidFill>
                    <a:latin typeface="Calibri"/>
                  </a:rPr>
                  <a:t>Số chính phương thứ n là </a:t>
                </a:r>
                <a:r>
                  <a:rPr lang="vi-VN"/>
                  <a:t>n^2</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n</m:t>
                        </m:r>
                      </m:e>
                      <m:sup>
                        <m:r>
                          <a:rPr lang="vi-VN" sz="2400" b="1">
                            <a:solidFill>
                              <a:srgbClr val="991B1B"/>
                            </a:solidFill>
                            <a:latin typeface="Cambria Math" panose="02040503050406030204" pitchFamily="18" charset="0"/>
                          </a:rPr>
                          <m:t>2</m:t>
                        </m:r>
                      </m:sup>
                    </m:sSup>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u_n=n^2</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VÔ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a:t>
            </a:r>
          </a:p>
        </p:txBody>
      </p:sp>
      <p:sp>
        <p:nvSpPr>
          <p:cNvPr id="7" name="Rounded Rectangle 6"/>
          <p:cNvSpPr/>
          <p:nvPr/>
        </p:nvSpPr>
        <p:spPr>
          <a:xfrm>
            <a:off x="731520" y="1463040"/>
            <a:ext cx="9601200" cy="2788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Mỗi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m:t>
                    </m:r>
                  </m:oMath>
                </a14:m>
                <a:r>
                  <a:rPr sz="2200" b="1">
                    <a:solidFill>
                      <a:srgbClr val="991B1B"/>
                    </a:solidFill>
                    <a:latin typeface="Calibri"/>
                  </a:rPr>
                  <a:t> xác định trên tập các số nguyên dương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 được gọi là một </a:t>
                </a:r>
                <a:r>
                  <a:rPr sz="2200" b="1">
                    <a:solidFill>
                      <a:srgbClr val="991B1B"/>
                    </a:solidFill>
                    <a:latin typeface="Calibri"/>
                  </a:rPr>
                  <a:t>dãy số vô hạn</a:t>
                </a:r>
                <a:r>
                  <a:rPr sz="2200" b="1">
                    <a:solidFill>
                      <a:srgbClr val="991B1B"/>
                    </a:solidFill>
                    <a:latin typeface="Calibri"/>
                  </a:rPr>
                  <a:t> (gọi tắt là dãy số), kí hiệu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u=u(n)</m:t>
                    </m:r>
                  </m:oMath>
                </a14:m>
                <a:r>
                  <a:rPr sz="2200" b="1">
                    <a:solidFill>
                      <a:srgbClr val="991B1B"/>
                    </a:solidFill>
                    <a:latin typeface="Calibri"/>
                  </a:rPr>
                  <a:t>.</a:t>
                </a:r>
              </a:p>
              <a:p>
                <a:pPr algn="l">
                  <a:spcAft>
                    <a:spcPts val="400"/>
                  </a:spcAft>
                </a:pPr>
                <a:r>
                  <a:rPr sz="2200" b="1">
                    <a:solidFill>
                      <a:srgbClr val="991B1B"/>
                    </a:solidFill>
                    <a:latin typeface="Calibri"/>
                  </a:rPr>
                  <a:t>Ta thường viết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oMath>
                </a14:m>
                <a:r>
                  <a:rPr sz="2200" b="1">
                    <a:solidFill>
                      <a:srgbClr val="991B1B"/>
                    </a:solidFill>
                    <a:latin typeface="Calibri"/>
                  </a:rPr>
                  <a:t> thay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u(n)</m:t>
                    </m:r>
                  </m:oMath>
                </a14:m>
                <a:r>
                  <a:rPr sz="2200" b="1">
                    <a:solidFill>
                      <a:srgbClr val="991B1B"/>
                    </a:solidFill>
                    <a:latin typeface="Calibri"/>
                  </a:rPr>
                  <a:t> và kí hiệu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u=u(n)</m:t>
                    </m:r>
                  </m:oMath>
                </a14:m>
                <a:r>
                  <a:rPr sz="2200" b="1">
                    <a:solidFill>
                      <a:srgbClr val="991B1B"/>
                    </a:solidFill>
                    <a:latin typeface="Calibri"/>
                  </a:rPr>
                  <a:t> bởi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do đó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viết dưới dạng khai triển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2</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3</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r>
                      <a:rPr lang="vi-VN" sz="2200" b="1">
                        <a:solidFill>
                          <a:srgbClr val="991B1B"/>
                        </a:solidFill>
                        <a:latin typeface="Cambria Math" panose="02040503050406030204" pitchFamily="18" charset="0"/>
                      </a:rPr>
                      <m:t>…</m:t>
                    </m:r>
                  </m:oMath>
                </a14:m>
                <a:r>
                  <a:rPr sz="22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m:t>
                        </m:r>
                      </m:sub>
                    </m:sSub>
                  </m:oMath>
                </a14:m>
                <a:r>
                  <a:rPr sz="2200" b="1">
                    <a:solidFill>
                      <a:srgbClr val="991B1B"/>
                    </a:solidFill>
                    <a:latin typeface="Calibri"/>
                  </a:rPr>
                  <a:t> gọi là </a:t>
                </a:r>
                <a:r>
                  <a:rPr sz="2200" b="1">
                    <a:solidFill>
                      <a:srgbClr val="991B1B"/>
                    </a:solidFill>
                    <a:latin typeface="Calibri"/>
                  </a:rPr>
                  <a:t>số hạng đầu</a:t>
                </a:r>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oMath>
                </a14:m>
                <a:r>
                  <a:rPr sz="2200" b="1">
                    <a:solidFill>
                      <a:srgbClr val="991B1B"/>
                    </a:solidFill>
                    <a:latin typeface="Calibri"/>
                  </a:rPr>
                  <a:t> là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oMath>
                </a14:m>
                <a:r>
                  <a:rPr sz="2200" b="1">
                    <a:solidFill>
                      <a:srgbClr val="991B1B"/>
                    </a:solidFill>
                    <a:latin typeface="Calibri"/>
                  </a:rPr>
                  <a:t> và gọi là </a:t>
                </a:r>
                <a:r>
                  <a:rPr sz="2200" b="1">
                    <a:solidFill>
                      <a:srgbClr val="991B1B"/>
                    </a:solidFill>
                    <a:latin typeface="Calibri"/>
                  </a:rPr>
                  <a:t>số hạng tổng quát</a:t>
                </a:r>
                <a:r>
                  <a:rPr sz="2200" b="1">
                    <a:solidFill>
                      <a:srgbClr val="991B1B"/>
                    </a:solidFill>
                    <a:latin typeface="Calibri"/>
                  </a:rPr>
                  <a:t> của dãy số.</a:t>
                </a:r>
              </a:p>
            </p:txBody>
          </p:sp>
        </mc:Choice>
        <mc:Fallback>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Mỗi hàm số </a:t>
                </a:r>
                <a:r>
                  <a:rPr lang="vi-VN"/>
                  <a:t>u</a:t>
                </a:r>
                <a:r>
                  <a:rPr sz="2200" b="1">
                    <a:solidFill>
                      <a:srgbClr val="991B1B"/>
                    </a:solidFill>
                    <a:latin typeface="Calibri"/>
                  </a:rPr>
                  <a:t> xác định trên tập các số nguyên dương </a:t>
                </a:r>
                <a:r>
                  <a:rPr lang="vi-VN"/>
                  <a:t>ℕ^*</a:t>
                </a:r>
                <a:r>
                  <a:rPr sz="2200" b="1">
                    <a:solidFill>
                      <a:srgbClr val="991B1B"/>
                    </a:solidFill>
                    <a:latin typeface="Calibri"/>
                  </a:rPr>
                  <a:t> được gọi là một </a:t>
                </a:r>
                <a:r>
                  <a:rPr sz="2200" b="1">
                    <a:solidFill>
                      <a:srgbClr val="991B1B"/>
                    </a:solidFill>
                    <a:latin typeface="Calibri"/>
                  </a:rPr>
                  <a:t>dãy số vô hạn</a:t>
                </a:r>
                <a:r>
                  <a:rPr sz="2200" b="1">
                    <a:solidFill>
                      <a:srgbClr val="991B1B"/>
                    </a:solidFill>
                    <a:latin typeface="Calibri"/>
                  </a:rPr>
                  <a:t> (gọi tắt là dãy số), kí hiệu là </a:t>
                </a:r>
                <a:r>
                  <a:rPr lang="vi-VN"/>
                  <a:t>u=u(n)</a:t>
                </a:r>
                <a:r>
                  <a:rPr sz="2200" b="1">
                    <a:solidFill>
                      <a:srgbClr val="991B1B"/>
                    </a:solidFill>
                    <a:latin typeface="Calibri"/>
                  </a:rPr>
                  <a:t>.</a:t>
                </a:r>
              </a:p>
              <a:p>
                <a:pPr algn="l">
                  <a:spcAft>
                    <a:spcPts val="400"/>
                  </a:spcAft>
                </a:pPr>
                <a:r>
                  <a:rPr sz="2200" b="1">
                    <a:solidFill>
                      <a:srgbClr val="991B1B"/>
                    </a:solidFill>
                    <a:latin typeface="Calibri"/>
                  </a:rPr>
                  <a:t>Ta thường viết </a:t>
                </a:r>
                <a:r>
                  <a:rPr lang="vi-VN"/>
                  <a:t>u_n</a:t>
                </a:r>
                <a:r>
                  <a:rPr sz="2200" b="1">
                    <a:solidFill>
                      <a:srgbClr val="991B1B"/>
                    </a:solidFill>
                    <a:latin typeface="Calibri"/>
                  </a:rPr>
                  <a:t> thay cho </a:t>
                </a:r>
                <a:r>
                  <a:rPr lang="vi-VN"/>
                  <a:t>u(n)</a:t>
                </a:r>
                <a:r>
                  <a:rPr sz="2200" b="1">
                    <a:solidFill>
                      <a:srgbClr val="991B1B"/>
                    </a:solidFill>
                    <a:latin typeface="Calibri"/>
                  </a:rPr>
                  <a:t> và kí hiệu dãy số </a:t>
                </a:r>
                <a:r>
                  <a:rPr lang="vi-VN"/>
                  <a:t>u=u(n)</a:t>
                </a:r>
                <a:r>
                  <a:rPr sz="2200" b="1">
                    <a:solidFill>
                      <a:srgbClr val="991B1B"/>
                    </a:solidFill>
                    <a:latin typeface="Calibri"/>
                  </a:rPr>
                  <a:t> bởi </a:t>
                </a:r>
                <a:r>
                  <a:rPr lang="vi-VN"/>
                  <a:t>(u_n)</a:t>
                </a:r>
                <a:r>
                  <a:rPr sz="2200" b="1">
                    <a:solidFill>
                      <a:srgbClr val="991B1B"/>
                    </a:solidFill>
                    <a:latin typeface="Calibri"/>
                  </a:rPr>
                  <a:t>, do đó dãy số </a:t>
                </a:r>
                <a:r>
                  <a:rPr lang="vi-VN"/>
                  <a:t>(u_n)</a:t>
                </a:r>
                <a:r>
                  <a:rPr sz="2200" b="1">
                    <a:solidFill>
                      <a:srgbClr val="991B1B"/>
                    </a:solidFill>
                    <a:latin typeface="Calibri"/>
                  </a:rPr>
                  <a:t> được viết dưới dạng khai triển </a:t>
                </a:r>
                <a:r>
                  <a:rPr lang="vi-VN"/>
                  <a:t>u_1, u_2, u_3, …, u_n, …</a:t>
                </a:r>
                <a:r>
                  <a:rPr sz="2200" b="1">
                    <a:solidFill>
                      <a:srgbClr val="991B1B"/>
                    </a:solidFill>
                    <a:latin typeface="Calibri"/>
                  </a:rPr>
                  <a:t> Số </a:t>
                </a:r>
                <a:r>
                  <a:rPr lang="vi-VN"/>
                  <a:t>u_1</a:t>
                </a:r>
                <a:r>
                  <a:rPr sz="2200" b="1">
                    <a:solidFill>
                      <a:srgbClr val="991B1B"/>
                    </a:solidFill>
                    <a:latin typeface="Calibri"/>
                  </a:rPr>
                  <a:t> gọi là </a:t>
                </a:r>
                <a:r>
                  <a:rPr sz="2200" b="1">
                    <a:solidFill>
                      <a:srgbClr val="991B1B"/>
                    </a:solidFill>
                    <a:latin typeface="Calibri"/>
                  </a:rPr>
                  <a:t>số hạng đầu</a:t>
                </a:r>
                <a:r>
                  <a:rPr sz="2200" b="1">
                    <a:solidFill>
                      <a:srgbClr val="991B1B"/>
                    </a:solidFill>
                    <a:latin typeface="Calibri"/>
                  </a:rPr>
                  <a:t>, </a:t>
                </a:r>
                <a:r>
                  <a:rPr lang="vi-VN"/>
                  <a:t>u_n</a:t>
                </a:r>
                <a:r>
                  <a:rPr sz="2200" b="1">
                    <a:solidFill>
                      <a:srgbClr val="991B1B"/>
                    </a:solidFill>
                    <a:latin typeface="Calibri"/>
                  </a:rPr>
                  <a:t> là số hạng thứ </a:t>
                </a:r>
                <a:r>
                  <a:rPr lang="vi-VN"/>
                  <a:t>n</a:t>
                </a:r>
                <a:r>
                  <a:rPr sz="2200" b="1">
                    <a:solidFill>
                      <a:srgbClr val="991B1B"/>
                    </a:solidFill>
                    <a:latin typeface="Calibri"/>
                  </a:rPr>
                  <a:t> và gọi là </a:t>
                </a:r>
                <a:r>
                  <a:rPr sz="2200" b="1">
                    <a:solidFill>
                      <a:srgbClr val="991B1B"/>
                    </a:solidFill>
                    <a:latin typeface="Calibri"/>
                  </a:rPr>
                  <a:t>số hạng tổng quát</a:t>
                </a:r>
                <a:r>
                  <a:rPr sz="2200" b="1">
                    <a:solidFill>
                      <a:srgbClr val="991B1B"/>
                    </a:solidFill>
                    <a:latin typeface="Calibri"/>
                  </a:rPr>
                  <a:t> của dãy số.</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VÔ HẠN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8</a:t>
            </a:r>
          </a:p>
        </p:txBody>
      </p:sp>
      <p:sp>
        <p:nvSpPr>
          <p:cNvPr id="7" name="Rounded Rectangle 6"/>
          <p:cNvSpPr/>
          <p:nvPr/>
        </p:nvSpPr>
        <p:spPr>
          <a:xfrm>
            <a:off x="731520" y="1463040"/>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=c</m:t>
                    </m:r>
                  </m:oMath>
                </a14:m>
                <a:r>
                  <a:rPr sz="2200" b="1">
                    <a:solidFill>
                      <a:srgbClr val="991B1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dãy số không đổi.</a:t>
                </a:r>
              </a:p>
            </p:txBody>
          </p:sp>
        </mc:Choice>
        <mc:Fallback>
          <p:sp>
            <p:nvSpPr>
              <p:cNvPr id="8" name="TextBox 7"/>
              <p:cNvSpPr txBox="1"/>
              <p:nvPr/>
            </p:nvSpPr>
            <p:spPr>
              <a:xfrm>
                <a:off x="914400" y="1463040"/>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r>
                  <a:rPr lang="vi-VN"/>
                  <a:t>∀n∈ℕ^*</a:t>
                </a:r>
                <a:r>
                  <a:rPr sz="2200" b="1">
                    <a:solidFill>
                      <a:srgbClr val="991B1B"/>
                    </a:solidFill>
                    <a:latin typeface="Calibri"/>
                  </a:rPr>
                  <a:t>, </a:t>
                </a:r>
                <a:r>
                  <a:rPr lang="vi-VN"/>
                  <a:t>u_n=c</a:t>
                </a:r>
                <a:r>
                  <a:rPr sz="2200" b="1">
                    <a:solidFill>
                      <a:srgbClr val="991B1B"/>
                    </a:solidFill>
                    <a:latin typeface="Calibri"/>
                  </a:rPr>
                  <a:t> thì </a:t>
                </a:r>
                <a:r>
                  <a:rPr lang="vi-VN"/>
                  <a:t>(u_n)</a:t>
                </a:r>
                <a:r>
                  <a:rPr sz="2200" b="1">
                    <a:solidFill>
                      <a:srgbClr val="991B1B"/>
                    </a:solidFill>
                    <a:latin typeface="Calibri"/>
                  </a:rPr>
                  <a:t> được gọi là dãy số không đổi.</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số hạng đầu và số hạng tổng quát của mỗi dãy số sau:</a:t>
                </a:r>
              </a:p>
              <a:p>
                <a:pPr algn="l" marL="365760" indent="-365760">
                  <a:spcAft>
                    <a:spcPts val="800"/>
                  </a:spcAft>
                  <a:buClr>
                    <a:srgbClr val="1E40AF"/>
                  </a:buClr>
                  <a:buFont typeface="Arial"/>
                  <a:buChar char="•"/>
                </a:pPr>
                <a:r>
                  <a:rPr sz="2400">
                    <a:solidFill>
                      <a:srgbClr val="1E293B"/>
                    </a:solidFill>
                    <a:latin typeface="Calibri"/>
                  </a:rPr>
                  <a:t>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các số tự nhiên lẻ theo thứ tự tăng dần: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các số nguyên dương chia hết cho 5, sắp xếp từ bé đến lớn: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quy luật giữa số hạng và số thứ tự n</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số hạng đầu và số hạng tổng quát của mỗi dãy số sau:</a:t>
                </a:r>
              </a:p>
              <a:p>
                <a:pPr algn="l" marL="365760" indent="-365760">
                  <a:spcAft>
                    <a:spcPts val="800"/>
                  </a:spcAft>
                  <a:buClr>
                    <a:srgbClr val="1E40AF"/>
                  </a:buClr>
                  <a:buFont typeface="Arial"/>
                  <a:buChar char="•"/>
                </a:pPr>
                <a:r>
                  <a:rPr sz="2400">
                    <a:solidFill>
                      <a:srgbClr val="1E293B"/>
                    </a:solidFill>
                    <a:latin typeface="Calibri"/>
                  </a:rPr>
                  <a:t>a) Dãy số </a:t>
                </a:r>
                <a:r>
                  <a:rPr lang="vi-VN"/>
                  <a:t>(u_n)</a:t>
                </a:r>
                <a:r>
                  <a:rPr sz="2400">
                    <a:solidFill>
                      <a:srgbClr val="1E293B"/>
                    </a:solidFill>
                    <a:latin typeface="Calibri"/>
                  </a:rPr>
                  <a:t> các số tự nhiên lẻ theo thứ tự tăng dần: </a:t>
                </a:r>
                <a:r>
                  <a:rPr lang="vi-VN"/>
                  <a:t>1, 3, 5, 7, …</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Dãy số </a:t>
                </a:r>
                <a:r>
                  <a:rPr lang="vi-VN"/>
                  <a:t>(v_n)</a:t>
                </a:r>
                <a:r>
                  <a:rPr sz="2400">
                    <a:solidFill>
                      <a:srgbClr val="1E293B"/>
                    </a:solidFill>
                    <a:latin typeface="Calibri"/>
                  </a:rPr>
                  <a:t> các số nguyên dương chia hết cho 5, sắp xếp từ bé đến lớn: </a:t>
                </a:r>
                <a:r>
                  <a:rPr lang="vi-VN"/>
                  <a:t>5, 10, 15, 20, …</a:t>
                </a:r>
              </a:p>
              <a:p>
                <a:pPr algn="l">
                  <a:spcAft>
                    <a:spcPts val="800"/>
                  </a:spcAft>
                </a:pPr>
                <a:r>
                  <a:rPr sz="2400" b="1">
                    <a:solidFill>
                      <a:srgbClr val="1E40AF"/>
                    </a:solidFill>
                    <a:latin typeface="Calibri"/>
                  </a:rPr>
                  <a:t>Gợi mở: Tìm quy luật giữa số hạng và số thứ tự n</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Dãy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và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m:t>
                    </m:r>
                  </m:oMath>
                </a14:m>
                <a:r>
                  <a:rPr sz="2400">
                    <a:solidFill>
                      <a:srgbClr val="1E293B"/>
                    </a:solidFill>
                    <a:latin typeface="Calibri"/>
                  </a:rPr>
                  <a:t>. b) Dãy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và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=5n</m:t>
                    </m:r>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Dãy </a:t>
                </a:r>
                <a:r>
                  <a:rPr lang="vi-VN"/>
                  <a:t>(u_n)</a:t>
                </a:r>
                <a:r>
                  <a:rPr sz="2400">
                    <a:solidFill>
                      <a:srgbClr val="1E293B"/>
                    </a:solidFill>
                    <a:latin typeface="Calibri"/>
                  </a:rPr>
                  <a:t> có số hạng đầu </a:t>
                </a:r>
                <a:r>
                  <a:rPr lang="vi-VN"/>
                  <a:t>u_1=1</a:t>
                </a:r>
                <a:r>
                  <a:rPr sz="2400">
                    <a:solidFill>
                      <a:srgbClr val="1E293B"/>
                    </a:solidFill>
                    <a:latin typeface="Calibri"/>
                  </a:rPr>
                  <a:t> và số hạng tổng quát </a:t>
                </a:r>
                <a:r>
                  <a:rPr lang="vi-VN"/>
                  <a:t>u_n=2n−1</a:t>
                </a:r>
                <a:r>
                  <a:rPr sz="2400">
                    <a:solidFill>
                      <a:srgbClr val="1E293B"/>
                    </a:solidFill>
                    <a:latin typeface="Calibri"/>
                  </a:rPr>
                  <a:t>. b) Dãy </a:t>
                </a:r>
                <a:r>
                  <a:rPr lang="vi-VN"/>
                  <a:t>(v_n)</a:t>
                </a:r>
                <a:r>
                  <a:rPr sz="2400">
                    <a:solidFill>
                      <a:srgbClr val="1E293B"/>
                    </a:solidFill>
                    <a:latin typeface="Calibri"/>
                  </a:rPr>
                  <a:t> có số hạng đầu </a:t>
                </a:r>
                <a:r>
                  <a:rPr lang="vi-VN"/>
                  <a:t>v_1=5</a:t>
                </a:r>
                <a:r>
                  <a:rPr sz="2400">
                    <a:solidFill>
                      <a:srgbClr val="1E293B"/>
                    </a:solidFill>
                    <a:latin typeface="Calibri"/>
                  </a:rPr>
                  <a:t> và số hạng tổng quát </a:t>
                </a:r>
                <a:r>
                  <a:rPr lang="vi-VN"/>
                  <a:t>v_n=5n</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=2n−1</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v</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=5n</m:t>
                    </m:r>
                  </m:oMath>
                </a14:m>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u_n=2n-1</a:t>
                </a:r>
                <a:r>
                  <a:rPr sz="2400" b="1">
                    <a:solidFill>
                      <a:srgbClr val="991B1B"/>
                    </a:solidFill>
                    <a:latin typeface="Calibri"/>
                  </a:rPr>
                  <a:t>;   </a:t>
                </a:r>
                <a:r>
                  <a:rPr lang="vi-VN"/>
                  <a:t>v_n=5n</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DÃY SỐ HỮU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Liệt kê tất cả các số chính phương nhỏ hơn 50 và sắp xếp chúng theo thứ tự từ bé đến lớn. b) Viết công thức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của các số tìm được ở câu a) và nêu rõ điều kiện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a:t>
                </a:r>
              </a:p>
            </p:txBody>
          </p:sp>
        </mc:Choice>
        <mc:Fallback>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Liệt kê tất cả các số chính phương nhỏ hơn 50 và sắp xếp chúng theo thứ tự từ bé đến lớn. b) Viết công thức số hạng </a:t>
                </a:r>
                <a:r>
                  <a:rPr lang="vi-VN"/>
                  <a:t>u_n</a:t>
                </a:r>
                <a:r>
                  <a:rPr sz="2400">
                    <a:solidFill>
                      <a:srgbClr val="1E293B"/>
                    </a:solidFill>
                    <a:latin typeface="Calibri"/>
                  </a:rPr>
                  <a:t> của các số tìm được ở câu a) và nêu rõ điều kiện của </a:t>
                </a:r>
                <a:r>
                  <a:rPr lang="vi-VN"/>
                  <a:t>n</a:t>
                </a:r>
                <a:r>
                  <a:rPr sz="2400">
                    <a:solidFill>
                      <a:srgbClr val="1E293B"/>
                    </a:solidFill>
                    <a:latin typeface="Calibri"/>
                  </a:rPr>
                  <a:t>.</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DÃY SỐ HỮU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chính phương nhỏ hơn 50: 1, 4, 9, 16, 25, 36, 49</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vì </a:t>
                </a:r>
                <a14:m>
                  <m:oMath xmlns:m="http://schemas.openxmlformats.org/officeDocument/2006/math">
                    <m:sSup>
                      <m:e>
                        <m:r>
                          <a:rPr lang="vi-VN" sz="2400" b="0">
                            <a:solidFill>
                              <a:srgbClr val="1E293B"/>
                            </a:solidFill>
                            <a:latin typeface="Cambria Math" panose="02040503050406030204" pitchFamily="18" charset="0"/>
                          </a:rPr>
                          <m:t>7</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=49&lt;50&lt;64=</m:t>
                    </m:r>
                    <m:sSup>
                      <m:e>
                        <m:r>
                          <a:rPr lang="vi-VN" sz="2400" b="0">
                            <a:solidFill>
                              <a:srgbClr val="1E293B"/>
                            </a:solidFill>
                            <a:latin typeface="Cambria Math" panose="02040503050406030204" pitchFamily="18" charset="0"/>
                          </a:rPr>
                          <m:t>8</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nên </a:t>
                </a:r>
                <a14:m>
                  <m:oMath xmlns:m="http://schemas.openxmlformats.org/officeDocument/2006/math">
                    <m:r>
                      <a:rPr lang="vi-VN" sz="2400" b="0">
                        <a:solidFill>
                          <a:srgbClr val="1E293B"/>
                        </a:solidFill>
                        <a:latin typeface="Cambria Math" panose="02040503050406030204" pitchFamily="18" charset="0"/>
                      </a:rPr>
                      <m:t>n∈{1;2;…;7}</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chính phương nhỏ hơn 50: 1, 4, 9, 16, 25, 36, 49</a:t>
                </a:r>
              </a:p>
              <a:p>
                <a:pPr algn="l" marL="365760" indent="-365760">
                  <a:spcAft>
                    <a:spcPts val="800"/>
                  </a:spcAft>
                  <a:buClr>
                    <a:srgbClr val="1E40AF"/>
                  </a:buClr>
                  <a:buFont typeface="Arial"/>
                  <a:buChar char="•"/>
                </a:pPr>
                <a:r>
                  <a:rPr sz="2400">
                    <a:solidFill>
                      <a:srgbClr val="1E293B"/>
                    </a:solidFill>
                    <a:latin typeface="Calibri"/>
                  </a:rPr>
                  <a:t>b) </a:t>
                </a:r>
                <a:r>
                  <a:rPr lang="vi-VN"/>
                  <a:t>u_n=n^2</a:t>
                </a:r>
                <a:r>
                  <a:rPr sz="2400">
                    <a:solidFill>
                      <a:srgbClr val="1E293B"/>
                    </a:solidFill>
                    <a:latin typeface="Calibri"/>
                  </a:rPr>
                  <a:t>; vì </a:t>
                </a:r>
                <a:r>
                  <a:rPr lang="vi-VN"/>
                  <a:t>7^2=49&lt;50&lt;64=8^2</a:t>
                </a:r>
                <a:r>
                  <a:rPr sz="2400">
                    <a:solidFill>
                      <a:srgbClr val="1E293B"/>
                    </a:solidFill>
                    <a:latin typeface="Calibri"/>
                  </a:rPr>
                  <a:t> nên </a:t>
                </a:r>
                <a:r>
                  <a:rPr lang="vi-VN"/>
                  <a:t>n\in\{1;2;\ldots;7\}</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có 7 số hạng: dãy số hữu hạn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HỮU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13</a:t>
            </a:r>
          </a:p>
        </p:txBody>
      </p:sp>
      <p:sp>
        <p:nvSpPr>
          <p:cNvPr id="7" name="Rounded Rectangle 6"/>
          <p:cNvSpPr/>
          <p:nvPr/>
        </p:nvSpPr>
        <p:spPr>
          <a:xfrm>
            <a:off x="731520" y="1463040"/>
            <a:ext cx="9601200" cy="21031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Mỗi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u</m:t>
                    </m:r>
                  </m:oMath>
                </a14:m>
                <a:r>
                  <a:rPr sz="2400" b="1">
                    <a:solidFill>
                      <a:srgbClr val="991B1B"/>
                    </a:solidFill>
                    <a:latin typeface="Calibri"/>
                  </a:rPr>
                  <a:t> xác định trên tập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M={1;2;3;…;m}</m:t>
                    </m:r>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m∈</m:t>
                    </m:r>
                    <m:sSup>
                      <m:e>
                        <m:r>
                          <a:rPr lang="vi-VN" sz="2400" b="1">
                            <a:solidFill>
                              <a:srgbClr val="991B1B"/>
                            </a:solidFill>
                            <a:latin typeface="Cambria Math" panose="02040503050406030204" pitchFamily="18" charset="0"/>
                          </a:rPr>
                          <m:t>ℕ</m:t>
                        </m:r>
                      </m:e>
                      <m:sup>
                        <m:r>
                          <a:rPr lang="vi-VN" sz="2400" b="1">
                            <a:solidFill>
                              <a:srgbClr val="991B1B"/>
                            </a:solidFill>
                            <a:latin typeface="Cambria Math" panose="02040503050406030204" pitchFamily="18" charset="0"/>
                          </a:rPr>
                          <m:t>*</m:t>
                        </m:r>
                      </m:sup>
                    </m:sSup>
                  </m:oMath>
                </a14:m>
                <a:r>
                  <a:rPr sz="2400" b="1">
                    <a:solidFill>
                      <a:srgbClr val="991B1B"/>
                    </a:solidFill>
                    <a:latin typeface="Calibri"/>
                  </a:rPr>
                  <a:t> được gọi là một </a:t>
                </a:r>
                <a:r>
                  <a:rPr sz="2400" b="1">
                    <a:solidFill>
                      <a:srgbClr val="991B1B"/>
                    </a:solidFill>
                    <a:latin typeface="Calibri"/>
                  </a:rPr>
                  <a:t>dãy số hữu hạn</a:t>
                </a:r>
                <a:r>
                  <a:rPr sz="2400" b="1">
                    <a:solidFill>
                      <a:srgbClr val="991B1B"/>
                    </a:solidFill>
                    <a:latin typeface="Calibri"/>
                  </a:rPr>
                  <a:t>.</a:t>
                </a:r>
              </a:p>
              <a:p>
                <a:pPr algn="l">
                  <a:spcAft>
                    <a:spcPts val="400"/>
                  </a:spcAft>
                </a:pPr>
                <a:r>
                  <a:rPr sz="2400" b="1">
                    <a:solidFill>
                      <a:srgbClr val="991B1B"/>
                    </a:solidFill>
                    <a:latin typeface="Calibri"/>
                  </a:rPr>
                  <a:t>Dạng khai triển của dãy số hữu hạn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r>
                      <m:rPr>
                        <m:sty m:val="p"/>
                      </m:rPr>
                      <a:rPr lang="vi-VN" sz="2400" b="1">
                        <a:solidFill>
                          <a:srgbClr val="991B1B"/>
                        </a:solidFill>
                        <a:latin typeface="Cambria Math" panose="02040503050406030204" pitchFamily="18" charset="0"/>
                      </a:rPr>
                      <m:t> </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m:t>
                        </m:r>
                      </m:sub>
                    </m:sSub>
                    <m:r>
                      <a:rPr lang="vi-VN" sz="2400" b="1">
                        <a:solidFill>
                          <a:srgbClr val="991B1B"/>
                        </a:solidFill>
                        <a:latin typeface="Cambria Math" panose="02040503050406030204" pitchFamily="18" charset="0"/>
                      </a:rPr>
                      <m:t>,</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m:t>
                    </m:r>
                    <m:r>
                      <m:rPr>
                        <m:sty m:val="p"/>
                      </m:rPr>
                      <a:rPr lang="vi-VN" sz="2400" b="1">
                        <a:solidFill>
                          <a:srgbClr val="991B1B"/>
                        </a:solidFill>
                        <a:latin typeface="Cambria Math" panose="02040503050406030204" pitchFamily="18" charset="0"/>
                      </a:rPr>
                      <m:t> </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m</m:t>
                        </m:r>
                      </m:sub>
                    </m:sSub>
                  </m:oMath>
                </a14:m>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r>
                  <a:rPr sz="2400" b="1">
                    <a:solidFill>
                      <a:srgbClr val="991B1B"/>
                    </a:solidFill>
                    <a:latin typeface="Calibri"/>
                  </a:rPr>
                  <a:t> gọi là </a:t>
                </a:r>
                <a:r>
                  <a:rPr sz="2400" b="1">
                    <a:solidFill>
                      <a:srgbClr val="991B1B"/>
                    </a:solidFill>
                    <a:latin typeface="Calibri"/>
                  </a:rPr>
                  <a:t>số hạng đầu</a:t>
                </a:r>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m</m:t>
                        </m:r>
                      </m:sub>
                    </m:sSub>
                  </m:oMath>
                </a14:m>
                <a:r>
                  <a:rPr sz="2400" b="1">
                    <a:solidFill>
                      <a:srgbClr val="991B1B"/>
                    </a:solidFill>
                    <a:latin typeface="Calibri"/>
                  </a:rPr>
                  <a:t> gọi là </a:t>
                </a:r>
                <a:r>
                  <a:rPr sz="2400" b="1">
                    <a:solidFill>
                      <a:srgbClr val="991B1B"/>
                    </a:solidFill>
                    <a:latin typeface="Calibri"/>
                  </a:rPr>
                  <a:t>số hạng cuối</a:t>
                </a:r>
                <a:r>
                  <a:rPr sz="2400" b="1">
                    <a:solidFill>
                      <a:srgbClr val="991B1B"/>
                    </a:solidFill>
                    <a:latin typeface="Calibri"/>
                  </a:rPr>
                  <a:t>.</a:t>
                </a:r>
              </a:p>
            </p:txBody>
          </p:sp>
        </mc:Choice>
        <mc:Fallback>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Mỗi hàm số </a:t>
                </a:r>
                <a:r>
                  <a:rPr lang="vi-VN"/>
                  <a:t>u</a:t>
                </a:r>
                <a:r>
                  <a:rPr sz="2400" b="1">
                    <a:solidFill>
                      <a:srgbClr val="991B1B"/>
                    </a:solidFill>
                    <a:latin typeface="Calibri"/>
                  </a:rPr>
                  <a:t> xác định trên tập </a:t>
                </a:r>
                <a:r>
                  <a:rPr lang="vi-VN"/>
                  <a:t>M={1;2;3;…;m}</a:t>
                </a:r>
                <a:r>
                  <a:rPr sz="2400" b="1">
                    <a:solidFill>
                      <a:srgbClr val="991B1B"/>
                    </a:solidFill>
                    <a:latin typeface="Calibri"/>
                  </a:rPr>
                  <a:t> với </a:t>
                </a:r>
                <a:r>
                  <a:rPr lang="vi-VN"/>
                  <a:t>m∈ℕ^*</a:t>
                </a:r>
                <a:r>
                  <a:rPr sz="2400" b="1">
                    <a:solidFill>
                      <a:srgbClr val="991B1B"/>
                    </a:solidFill>
                    <a:latin typeface="Calibri"/>
                  </a:rPr>
                  <a:t> được gọi là một </a:t>
                </a:r>
                <a:r>
                  <a:rPr sz="2400" b="1">
                    <a:solidFill>
                      <a:srgbClr val="991B1B"/>
                    </a:solidFill>
                    <a:latin typeface="Calibri"/>
                  </a:rPr>
                  <a:t>dãy số hữu hạn</a:t>
                </a:r>
                <a:r>
                  <a:rPr sz="2400" b="1">
                    <a:solidFill>
                      <a:srgbClr val="991B1B"/>
                    </a:solidFill>
                    <a:latin typeface="Calibri"/>
                  </a:rPr>
                  <a:t>.</a:t>
                </a:r>
              </a:p>
              <a:p>
                <a:pPr algn="l">
                  <a:spcAft>
                    <a:spcPts val="400"/>
                  </a:spcAft>
                </a:pPr>
                <a:r>
                  <a:rPr sz="2400" b="1">
                    <a:solidFill>
                      <a:srgbClr val="991B1B"/>
                    </a:solidFill>
                    <a:latin typeface="Calibri"/>
                  </a:rPr>
                  <a:t>Dạng khai triển của dãy số hữu hạn là </a:t>
                </a:r>
                <a:r>
                  <a:rPr lang="vi-VN"/>
                  <a:t>u_1, u_2, …, u_m</a:t>
                </a:r>
                <a:r>
                  <a:rPr sz="2400" b="1">
                    <a:solidFill>
                      <a:srgbClr val="991B1B"/>
                    </a:solidFill>
                    <a:latin typeface="Calibri"/>
                  </a:rPr>
                  <a:t>. Số </a:t>
                </a:r>
                <a:r>
                  <a:rPr lang="vi-VN"/>
                  <a:t>u_1</a:t>
                </a:r>
                <a:r>
                  <a:rPr sz="2400" b="1">
                    <a:solidFill>
                      <a:srgbClr val="991B1B"/>
                    </a:solidFill>
                    <a:latin typeface="Calibri"/>
                  </a:rPr>
                  <a:t> gọi là </a:t>
                </a:r>
                <a:r>
                  <a:rPr sz="2400" b="1">
                    <a:solidFill>
                      <a:srgbClr val="991B1B"/>
                    </a:solidFill>
                    <a:latin typeface="Calibri"/>
                  </a:rPr>
                  <a:t>số hạng đầu</a:t>
                </a:r>
                <a:r>
                  <a:rPr sz="2400" b="1">
                    <a:solidFill>
                      <a:srgbClr val="991B1B"/>
                    </a:solidFill>
                    <a:latin typeface="Calibri"/>
                  </a:rPr>
                  <a:t>, số </a:t>
                </a:r>
                <a:r>
                  <a:rPr lang="vi-VN"/>
                  <a:t>u_m</a:t>
                </a:r>
                <a:r>
                  <a:rPr sz="2400" b="1">
                    <a:solidFill>
                      <a:srgbClr val="991B1B"/>
                    </a:solidFill>
                    <a:latin typeface="Calibri"/>
                  </a:rPr>
                  <a:t> gọi là </a:t>
                </a:r>
                <a:r>
                  <a:rPr sz="2400" b="1">
                    <a:solidFill>
                      <a:srgbClr val="991B1B"/>
                    </a:solidFill>
                    <a:latin typeface="Calibri"/>
                  </a:rPr>
                  <a:t>số hạng cuối</a:t>
                </a:r>
                <a:r>
                  <a:rPr sz="2400" b="1">
                    <a:solidFill>
                      <a:srgbClr val="991B1B"/>
                    </a:solidFill>
                    <a:latin typeface="Calibri"/>
                  </a:rPr>
                  <a:t>.</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14</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dãy số hữu hạn gồm các số tự nhiên lẻ nhỏ hơn 20, sắp xếp theo thứ tự từ bé đến lớn.</a:t>
            </a:r>
          </a:p>
          <a:p>
            <a:pPr algn="l" marL="365760" indent="-365760">
              <a:spcAft>
                <a:spcPts val="800"/>
              </a:spcAft>
              <a:buClr>
                <a:srgbClr val="1E40AF"/>
              </a:buClr>
              <a:buFont typeface="Arial"/>
              <a:buChar char="•"/>
            </a:pPr>
            <a:r>
              <a:rPr sz="2400">
                <a:solidFill>
                  <a:srgbClr val="1E293B"/>
                </a:solidFill>
                <a:latin typeface="Calibri"/>
              </a:rPr>
              <a:t>a) Liệt kê tất cả các số hạng của dãy số hữu hạn này.</a:t>
            </a:r>
          </a:p>
          <a:p>
            <a:pPr algn="l" marL="365760" indent="-365760">
              <a:spcAft>
                <a:spcPts val="800"/>
              </a:spcAft>
              <a:buClr>
                <a:srgbClr val="1E40AF"/>
              </a:buClr>
              <a:buFont typeface="Arial"/>
              <a:buChar char="•"/>
            </a:pPr>
            <a:r>
              <a:rPr sz="2400">
                <a:solidFill>
                  <a:srgbClr val="1E293B"/>
                </a:solidFill>
                <a:latin typeface="Calibri"/>
              </a:rPr>
              <a:t>b) Tìm số hạng đầu và số hạng cuối của dãy số đó.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19</m:t>
                    </m:r>
                  </m:oMath>
                </a14:m>
                <a:r>
                  <a:rPr sz="2400">
                    <a:solidFill>
                      <a:srgbClr val="1E293B"/>
                    </a:solidFill>
                    <a:latin typeface="Calibri"/>
                  </a:rPr>
                  <a:t>. b) Số hạng đầu của dãy số này là 1 và số hạng cuối của dãy số là 19.</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của dãy số là: </a:t>
                </a:r>
                <a:r>
                  <a:rPr lang="vi-VN"/>
                  <a:t>1, 3, 5, 7, 9, 11, 13, 15, 17, 19</a:t>
                </a:r>
                <a:r>
                  <a:rPr sz="2400">
                    <a:solidFill>
                      <a:srgbClr val="1E293B"/>
                    </a:solidFill>
                    <a:latin typeface="Calibri"/>
                  </a:rPr>
                  <a:t>. b) Số hạng đầu của dãy số này là 1 và số hạng cuối của dãy số là 19.</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Số hạng đầu 1; số hạng cuối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16</a:t>
            </a:r>
          </a:p>
        </p:txBody>
      </p:sp>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Xét dãy số gồm tất cả các số tự nhiên chia cho 5 dư 1 theo thứ tự tăng dần. Xác định số hạng tổng quát của dãy số. b) Viết dãy số hữu hạn gồm năm số hạng đầu của dãy số trong câu a. Xác định số hạng đầu và số hạng cuối của dãy số hữu hạn này.</a:t>
            </a:r>
          </a:p>
          <a:p>
            <a:pPr algn="l">
              <a:spcAft>
                <a:spcPts val="800"/>
              </a:spcAft>
            </a:pPr>
            <a:r>
              <a:rPr sz="2400" b="1">
                <a:solidFill>
                  <a:srgbClr val="1E40AF"/>
                </a:solidFill>
                <a:latin typeface="Calibri"/>
              </a:rPr>
              <a:t>Gợi mở: Số chia 5 dư 1 có dạng 5k + 1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1, 6, 11, 16, … (số hạng sau hơn số hạng trước 5)</a:t>
                </a:r>
              </a:p>
              <a:p>
                <a:pPr algn="l" marL="365760" indent="-365760">
                  <a:spcAft>
                    <a:spcPts val="800"/>
                  </a:spcAft>
                  <a:buClr>
                    <a:srgbClr val="1E40AF"/>
                  </a:buClr>
                  <a:buFont typeface="Arial"/>
                  <a:buChar char="•"/>
                </a:pPr>
                <a:r>
                  <a:rPr sz="2400">
                    <a:solidFill>
                      <a:srgbClr val="1E293B"/>
                    </a:solidFill>
                    <a:latin typeface="Calibri"/>
                  </a:rPr>
                  <a:t>Số hạng thứ 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=1+5(n−1)=5n−4</m:t>
                    </m:r>
                  </m:oMath>
                </a14:m>
              </a:p>
              <a:p>
                <a:pPr algn="l" marL="365760" indent="-365760">
                  <a:spcAft>
                    <a:spcPts val="800"/>
                  </a:spcAft>
                  <a:buClr>
                    <a:srgbClr val="1E40AF"/>
                  </a:buClr>
                  <a:buFont typeface="Arial"/>
                  <a:buChar char="•"/>
                </a:pPr>
                <a:r>
                  <a:rPr sz="2400">
                    <a:solidFill>
                      <a:srgbClr val="1E293B"/>
                    </a:solidFill>
                    <a:latin typeface="Calibri"/>
                  </a:rPr>
                  <a:t>b) Năm số hạng đầu: 1, 6, 11, 16, 21</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1, 6, 11, 16, … (số hạng sau hơn số hạng trước 5)</a:t>
                </a:r>
              </a:p>
              <a:p>
                <a:pPr algn="l" marL="365760" indent="-365760">
                  <a:spcAft>
                    <a:spcPts val="800"/>
                  </a:spcAft>
                  <a:buClr>
                    <a:srgbClr val="1E40AF"/>
                  </a:buClr>
                  <a:buFont typeface="Arial"/>
                  <a:buChar char="•"/>
                </a:pPr>
                <a:r>
                  <a:rPr sz="2400">
                    <a:solidFill>
                      <a:srgbClr val="1E293B"/>
                    </a:solidFill>
                    <a:latin typeface="Calibri"/>
                  </a:rPr>
                  <a:t>Số hạng thứ n: </a:t>
                </a:r>
                <a:r>
                  <a:rPr lang="vi-VN"/>
                  <a:t>u_n=1+5(n-1)=5n-4</a:t>
                </a:r>
              </a:p>
              <a:p>
                <a:pPr algn="l" marL="365760" indent="-365760">
                  <a:spcAft>
                    <a:spcPts val="800"/>
                  </a:spcAft>
                  <a:buClr>
                    <a:srgbClr val="1E40AF"/>
                  </a:buClr>
                  <a:buFont typeface="Arial"/>
                  <a:buChar char="•"/>
                </a:pPr>
                <a:r>
                  <a:rPr sz="2400">
                    <a:solidFill>
                      <a:srgbClr val="1E293B"/>
                    </a:solidFill>
                    <a:latin typeface="Calibri"/>
                  </a:rPr>
                  <a:t>b) Năm số hạng đầu: 1, 6, 11, 16, 21</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=5n−4</m:t>
                    </m:r>
                  </m:oMath>
                </a14:m>
                <a:r>
                  <a:rPr sz="2400" b="1">
                    <a:solidFill>
                      <a:srgbClr val="991B1B"/>
                    </a:solidFill>
                    <a:latin typeface="Calibri"/>
                  </a:rPr>
                  <a:t>; số hạng đầu 1, số hạng cuối 21</a:t>
                </a:r>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u_n=5n-4</a:t>
                </a:r>
                <a:r>
                  <a:rPr sz="2400" b="1">
                    <a:solidFill>
                      <a:srgbClr val="991B1B"/>
                    </a:solidFill>
                    <a:latin typeface="Calibri"/>
                  </a:rPr>
                  <a:t>; số hạng đầu 1, số hạng cuối 21</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CÁC CÁCH CHO MỘT DÃY SỐ</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CÁCH CHO DÃY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gồm tất cả các số nguyên dương chia hết cho 5, sắp xếp từ bé đến lớn: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marL="365760" indent="-365760">
                  <a:spcAft>
                    <a:spcPts val="800"/>
                  </a:spcAft>
                  <a:buClr>
                    <a:srgbClr val="1E40AF"/>
                  </a:buClr>
                  <a:buFont typeface="Arial"/>
                  <a:buChar char="•"/>
                </a:pPr>
                <a:r>
                  <a:rPr sz="2400">
                    <a:solidFill>
                      <a:srgbClr val="1E293B"/>
                    </a:solidFill>
                    <a:latin typeface="Calibri"/>
                  </a:rPr>
                  <a:t>a) Viết công thức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của dãy số.</a:t>
                </a:r>
              </a:p>
              <a:p>
                <a:pPr algn="l" marL="365760" indent="-365760">
                  <a:spcAft>
                    <a:spcPts val="800"/>
                  </a:spcAft>
                  <a:buClr>
                    <a:srgbClr val="1E40AF"/>
                  </a:buClr>
                  <a:buFont typeface="Arial"/>
                  <a:buChar char="•"/>
                </a:pPr>
                <a:r>
                  <a:rPr sz="2400">
                    <a:solidFill>
                      <a:srgbClr val="1E293B"/>
                    </a:solidFill>
                    <a:latin typeface="Calibri"/>
                  </a:rPr>
                  <a:t>b) Xác định số hạng đầu và viết công thức tính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theo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n−1</m:t>
                    </m:r>
                  </m:oMath>
                </a14:m>
                <a:r>
                  <a:rPr sz="2400">
                    <a:solidFill>
                      <a:srgbClr val="1E293B"/>
                    </a:solidFill>
                    <a:latin typeface="Calibri"/>
                  </a:rPr>
                  <a:t> của dãy số. Công thức thu được gọi là </a:t>
                </a:r>
                <a:r>
                  <a:rPr sz="2400" i="1">
                    <a:solidFill>
                      <a:srgbClr val="1E293B"/>
                    </a:solidFill>
                    <a:latin typeface="Calibri"/>
                  </a:rPr>
                  <a:t>hệ thức truy hồi</a:t>
                </a:r>
                <a:r>
                  <a:rPr sz="2400">
                    <a:solidFill>
                      <a:srgbClr val="1E293B"/>
                    </a:solidFill>
                    <a:latin typeface="Calibri"/>
                  </a:rPr>
                  <a:t>.</a:t>
                </a:r>
              </a:p>
              <a:p>
                <a:pPr algn="l">
                  <a:spcAft>
                    <a:spcPts val="800"/>
                  </a:spcAft>
                </a:pPr>
                <a:r>
                  <a:rPr sz="2400" b="1">
                    <a:solidFill>
                      <a:srgbClr val="1E40AF"/>
                    </a:solidFill>
                    <a:latin typeface="Calibri"/>
                  </a:rPr>
                  <a:t>Gợi mở: Để ý hiệu hai số hạng liên tiếp</a:t>
                </a:r>
              </a:p>
            </p:txBody>
          </p:sp>
        </mc:Choice>
        <mc:Fallback>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dãy số </a:t>
                </a:r>
                <a:r>
                  <a:rPr lang="vi-VN"/>
                  <a:t>(u_n)</a:t>
                </a:r>
                <a:r>
                  <a:rPr sz="2400">
                    <a:solidFill>
                      <a:srgbClr val="1E293B"/>
                    </a:solidFill>
                    <a:latin typeface="Calibri"/>
                  </a:rPr>
                  <a:t> gồm tất cả các số nguyên dương chia hết cho 5, sắp xếp từ bé đến lớn: </a:t>
                </a:r>
                <a:r>
                  <a:rPr lang="vi-VN"/>
                  <a:t>5, 10, 15, 20, 25, 30, …</a:t>
                </a:r>
              </a:p>
              <a:p>
                <a:pPr algn="l" marL="365760" indent="-365760">
                  <a:spcAft>
                    <a:spcPts val="800"/>
                  </a:spcAft>
                  <a:buClr>
                    <a:srgbClr val="1E40AF"/>
                  </a:buClr>
                  <a:buFont typeface="Arial"/>
                  <a:buChar char="•"/>
                </a:pPr>
                <a:r>
                  <a:rPr sz="2400">
                    <a:solidFill>
                      <a:srgbClr val="1E293B"/>
                    </a:solidFill>
                    <a:latin typeface="Calibri"/>
                  </a:rPr>
                  <a:t>a) Viết công thức số hạng tổng quát </a:t>
                </a:r>
                <a:r>
                  <a:rPr lang="vi-VN"/>
                  <a:t>u_n</a:t>
                </a:r>
                <a:r>
                  <a:rPr sz="2400">
                    <a:solidFill>
                      <a:srgbClr val="1E293B"/>
                    </a:solidFill>
                    <a:latin typeface="Calibri"/>
                  </a:rPr>
                  <a:t> của dãy số.</a:t>
                </a:r>
              </a:p>
              <a:p>
                <a:pPr algn="l" marL="365760" indent="-365760">
                  <a:spcAft>
                    <a:spcPts val="800"/>
                  </a:spcAft>
                  <a:buClr>
                    <a:srgbClr val="1E40AF"/>
                  </a:buClr>
                  <a:buFont typeface="Arial"/>
                  <a:buChar char="•"/>
                </a:pPr>
                <a:r>
                  <a:rPr sz="2400">
                    <a:solidFill>
                      <a:srgbClr val="1E293B"/>
                    </a:solidFill>
                    <a:latin typeface="Calibri"/>
                  </a:rPr>
                  <a:t>b) Xác định số hạng đầu và viết công thức tính số hạng thứ </a:t>
                </a:r>
                <a:r>
                  <a:rPr lang="vi-VN"/>
                  <a:t>n</a:t>
                </a:r>
                <a:r>
                  <a:rPr sz="2400">
                    <a:solidFill>
                      <a:srgbClr val="1E293B"/>
                    </a:solidFill>
                    <a:latin typeface="Calibri"/>
                  </a:rPr>
                  <a:t> theo số hạng thứ </a:t>
                </a:r>
                <a:r>
                  <a:rPr lang="vi-VN"/>
                  <a:t>n−1</a:t>
                </a:r>
                <a:r>
                  <a:rPr sz="2400">
                    <a:solidFill>
                      <a:srgbClr val="1E293B"/>
                    </a:solidFill>
                    <a:latin typeface="Calibri"/>
                  </a:rPr>
                  <a:t> của dãy số. Công thức thu được gọi là </a:t>
                </a:r>
                <a:r>
                  <a:rPr sz="2400" i="1">
                    <a:solidFill>
                      <a:srgbClr val="1E293B"/>
                    </a:solidFill>
                    <a:latin typeface="Calibri"/>
                  </a:rPr>
                  <a:t>hệ thức truy hồi</a:t>
                </a:r>
                <a:r>
                  <a:rPr sz="2400">
                    <a:solidFill>
                      <a:srgbClr val="1E293B"/>
                    </a:solidFill>
                    <a:latin typeface="Calibri"/>
                  </a:rPr>
                  <a:t>.</a:t>
                </a:r>
              </a:p>
              <a:p>
                <a:pPr algn="l">
                  <a:spcAft>
                    <a:spcPts val="800"/>
                  </a:spcAft>
                </a:pPr>
                <a:r>
                  <a:rPr sz="2400" b="1">
                    <a:solidFill>
                      <a:srgbClr val="1E40AF"/>
                    </a:solidFill>
                    <a:latin typeface="Calibri"/>
                  </a:rPr>
                  <a:t>Gợi mở: Để ý hiệu hai số hạng liên tiếp</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HĐ3: CÁCH CHO DÃY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là bội dương của 5: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=5n</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mỗi số hạng hơn số hạng liền trước 5</a:t>
                </a:r>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+5</m:t>
                    </m:r>
                  </m:oMath>
                </a14:m>
                <a:r>
                  <a:rPr sz="2400">
                    <a:solidFill>
                      <a:srgbClr val="1E293B"/>
                    </a:solidFill>
                    <a:latin typeface="Calibri"/>
                  </a:rPr>
                  <a:t> với </a:t>
                </a:r>
                <a14:m>
                  <m:oMath xmlns:m="http://schemas.openxmlformats.org/officeDocument/2006/math">
                    <m:r>
                      <a:rPr lang="vi-VN" sz="2400" b="0">
                        <a:solidFill>
                          <a:srgbClr val="1E293B"/>
                        </a:solidFill>
                        <a:latin typeface="Cambria Math" panose="02040503050406030204" pitchFamily="18" charset="0"/>
                      </a:rPr>
                      <m:t>n≥2</m:t>
                    </m:r>
                  </m:oMath>
                </a14:m>
                <a:r>
                  <a:rPr sz="2400">
                    <a:solidFill>
                      <a:srgbClr val="1E293B"/>
                    </a:solidFill>
                    <a:latin typeface="Calibri"/>
                  </a:rPr>
                  <a:t> (hệ thức truy hồi)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là bội dương của 5: </a:t>
                </a:r>
                <a:r>
                  <a:rPr lang="vi-VN"/>
                  <a:t>u_n=5n</a:t>
                </a:r>
              </a:p>
              <a:p>
                <a:pPr algn="l" marL="365760" indent="-365760">
                  <a:spcAft>
                    <a:spcPts val="800"/>
                  </a:spcAft>
                  <a:buClr>
                    <a:srgbClr val="1E40AF"/>
                  </a:buClr>
                  <a:buFont typeface="Arial"/>
                  <a:buChar char="•"/>
                </a:pPr>
                <a:r>
                  <a:rPr sz="2400">
                    <a:solidFill>
                      <a:srgbClr val="1E293B"/>
                    </a:solidFill>
                    <a:latin typeface="Calibri"/>
                  </a:rPr>
                  <a:t>b) </a:t>
                </a:r>
                <a:r>
                  <a:rPr lang="vi-VN"/>
                  <a:t>u_1=5</a:t>
                </a:r>
                <a:r>
                  <a:rPr sz="2400">
                    <a:solidFill>
                      <a:srgbClr val="1E293B"/>
                    </a:solidFill>
                    <a:latin typeface="Calibri"/>
                  </a:rPr>
                  <a:t>; mỗi số hạng hơn số hạng liền trước 5</a:t>
                </a:r>
              </a:p>
              <a:p>
                <a:pPr algn="l" marL="365760" indent="-365760">
                  <a:spcAft>
                    <a:spcPts val="800"/>
                  </a:spcAft>
                  <a:buClr>
                    <a:srgbClr val="1E40AF"/>
                  </a:buClr>
                  <a:buFont typeface="Arial"/>
                  <a:buChar char="•"/>
                </a:pPr>
                <a:r>
                  <a:rPr lang="vi-VN"/>
                  <a:t>u_n=u_{n-1}+5</a:t>
                </a:r>
                <a:r>
                  <a:rPr sz="2400">
                    <a:solidFill>
                      <a:srgbClr val="1E293B"/>
                    </a:solidFill>
                    <a:latin typeface="Calibri"/>
                  </a:rPr>
                  <a:t> với </a:t>
                </a:r>
                <a:r>
                  <a:rPr lang="vi-VN"/>
                  <a:t>n\ge 2</a:t>
                </a:r>
                <a:r>
                  <a:rPr sz="2400">
                    <a:solidFill>
                      <a:srgbClr val="1E293B"/>
                    </a:solidFill>
                    <a:latin typeface="Calibri"/>
                  </a:rPr>
                  <a:t> (hệ thức truy hồi)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=5</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+5</m:t>
                    </m:r>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2</m:t>
                        </m:r>
                      </m:e>
                    </m:d>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u_1=5</a:t>
                </a:r>
                <a:r>
                  <a:rPr sz="2400" b="1">
                    <a:solidFill>
                      <a:srgbClr val="991B1B"/>
                    </a:solidFill>
                    <a:latin typeface="Calibri"/>
                  </a:rPr>
                  <a:t>, </a:t>
                </a:r>
                <a:r>
                  <a:rPr lang="vi-VN"/>
                  <a:t>u_n=u_{n-1}+5</a:t>
                </a:r>
                <a:r>
                  <a:rPr sz="2400" b="1">
                    <a:solidFill>
                      <a:srgbClr val="991B1B"/>
                    </a:solidFill>
                    <a:latin typeface="Calibri"/>
                  </a:rPr>
                  <a:t> </a:t>
                </a:r>
                <a:r>
                  <a:rPr lang="vi-VN"/>
                  <a:t>(n\ge 2)</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CÁC CÁCH CHO MỘT DÃY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21</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Một dãy số có thể cho bằng:</a:t>
            </a:r>
          </a:p>
          <a:p>
            <a:pPr algn="l">
              <a:spcAft>
                <a:spcPts val="400"/>
              </a:spcAft>
            </a:pPr>
            <a:r>
              <a:rPr sz="2400" b="1">
                <a:solidFill>
                  <a:srgbClr val="991B1B"/>
                </a:solidFill>
                <a:latin typeface="Calibri"/>
              </a:rPr>
              <a:t>Liệt kê các số hạng (chỉ dùng cho các dãy số hữu hạn và có ít số hạng);</a:t>
            </a:r>
          </a:p>
          <a:p>
            <a:pPr algn="l">
              <a:spcAft>
                <a:spcPts val="400"/>
              </a:spcAft>
            </a:pPr>
            <a:r>
              <a:rPr sz="2400" b="1">
                <a:solidFill>
                  <a:srgbClr val="991B1B"/>
                </a:solidFill>
                <a:latin typeface="Calibri"/>
              </a:rPr>
              <a:t>Công thức của số hạng tổng quát;</a:t>
            </a:r>
          </a:p>
          <a:p>
            <a:pPr algn="l">
              <a:spcAft>
                <a:spcPts val="400"/>
              </a:spcAft>
            </a:pPr>
            <a:r>
              <a:rPr sz="2400" b="1">
                <a:solidFill>
                  <a:srgbClr val="991B1B"/>
                </a:solidFill>
                <a:latin typeface="Calibri"/>
              </a:rPr>
              <a:t>Phương pháp mô tả;</a:t>
            </a:r>
          </a:p>
          <a:p>
            <a:pPr algn="l">
              <a:spcAft>
                <a:spcPts val="400"/>
              </a:spcAft>
            </a:pPr>
            <a:r>
              <a:rPr sz="2400" b="1">
                <a:solidFill>
                  <a:srgbClr val="991B1B"/>
                </a:solidFill>
                <a:latin typeface="Calibri"/>
              </a:rPr>
              <a:t>Phương pháp truy hồi.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984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Tìm năm số hạng đầu và số hạng thứ 100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cho bởi công thức số hạng tổng quát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n</m:t>
                            </m:r>
                          </m:sup>
                        </m:sSup>
                      </m:num>
                      <m:den>
                        <m:r>
                          <a:rPr lang="vi-VN" sz="2400" b="0">
                            <a:solidFill>
                              <a:srgbClr val="1E293B"/>
                            </a:solidFill>
                            <a:latin typeface="Cambria Math" panose="02040503050406030204" pitchFamily="18" charset="0"/>
                          </a:rPr>
                          <m:t>n</m:t>
                        </m:r>
                      </m:den>
                    </m:f>
                  </m:oMath>
                </a14:m>
                <a:r>
                  <a:rPr sz="2400">
                    <a:solidFill>
                      <a:srgbClr val="1E293B"/>
                    </a:solidFill>
                    <a:latin typeface="Calibri"/>
                  </a:rPr>
                  <a:t>.</a:t>
                </a:r>
              </a:p>
              <a:p>
                <a:pPr algn="l">
                  <a:spcAft>
                    <a:spcPts val="800"/>
                  </a:spcAft>
                </a:pPr>
                <a:r>
                  <a:rPr sz="2400" b="1">
                    <a:solidFill>
                      <a:srgbClr val="1E40AF"/>
                    </a:solidFill>
                    <a:latin typeface="Calibri"/>
                  </a:rPr>
                  <a:t>Gợi mở: Thay n = 1, 2, …, 5 và n = 100</a:t>
                </a:r>
              </a:p>
            </p:txBody>
          </p:sp>
        </mc:Choice>
        <mc:Fallback>
          <p:sp>
            <p:nvSpPr>
              <p:cNvPr id="7" name="TextBox 6"/>
              <p:cNvSpPr txBox="1"/>
              <p:nvPr/>
            </p:nvSpPr>
            <p:spPr>
              <a:xfrm>
                <a:off x="731520" y="1463040"/>
                <a:ext cx="10789920" cy="25984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Tìm năm số hạng đầu và số hạng thứ 100 của dãy số </a:t>
                </a:r>
                <a:r>
                  <a:rPr lang="vi-VN"/>
                  <a:t>(u_n)</a:t>
                </a:r>
                <a:r>
                  <a:rPr sz="2400">
                    <a:solidFill>
                      <a:srgbClr val="1E293B"/>
                    </a:solidFill>
                    <a:latin typeface="Calibri"/>
                  </a:rPr>
                  <a:t> cho bởi công thức số hạng tổng quát sau:</a:t>
                </a:r>
              </a:p>
              <a:p>
                <a:pPr algn="l" marL="365760" indent="-365760">
                  <a:spcAft>
                    <a:spcPts val="800"/>
                  </a:spcAft>
                  <a:buClr>
                    <a:srgbClr val="1E40AF"/>
                  </a:buClr>
                  <a:buFont typeface="Arial"/>
                  <a:buChar char="•"/>
                </a:pPr>
                <a:r>
                  <a:rPr sz="2400">
                    <a:solidFill>
                      <a:srgbClr val="1E293B"/>
                    </a:solidFill>
                    <a:latin typeface="Calibri"/>
                  </a:rPr>
                  <a:t>a) </a:t>
                </a:r>
                <a:r>
                  <a:rPr lang="vi-VN"/>
                  <a:t>u_n=2n</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u_n=((−1)^n)/n</a:t>
                </a:r>
                <a:r>
                  <a:rPr sz="2400">
                    <a:solidFill>
                      <a:srgbClr val="1E293B"/>
                    </a:solidFill>
                    <a:latin typeface="Calibri"/>
                  </a:rPr>
                  <a:t>.</a:t>
                </a:r>
              </a:p>
              <a:p>
                <a:pPr algn="l">
                  <a:spcAft>
                    <a:spcPts val="800"/>
                  </a:spcAft>
                </a:pPr>
                <a:r>
                  <a:rPr sz="2400" b="1">
                    <a:solidFill>
                      <a:srgbClr val="1E40AF"/>
                    </a:solidFill>
                    <a:latin typeface="Calibri"/>
                  </a:rPr>
                  <a:t>Gợi mở: Thay n = 1, 2, …, 5 và n = 100</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333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số hạng đầu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oMath>
                </a14:m>
                <a:r>
                  <a:rPr sz="2400">
                    <a:solidFill>
                      <a:srgbClr val="1E293B"/>
                    </a:solidFill>
                    <a:latin typeface="Calibri"/>
                  </a:rPr>
                  <a:t>. Số hạng thứ 100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=2·100=200</m:t>
                    </m:r>
                  </m:oMath>
                </a14:m>
                <a:r>
                  <a:rPr sz="2400">
                    <a:solidFill>
                      <a:srgbClr val="1E293B"/>
                    </a:solidFill>
                    <a:latin typeface="Calibri"/>
                  </a:rPr>
                  <a:t>. b) Năm số hạng đầu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5</m:t>
                        </m:r>
                      </m:den>
                    </m:f>
                  </m:oMath>
                </a14:m>
                <a:r>
                  <a:rPr sz="2400">
                    <a:solidFill>
                      <a:srgbClr val="1E293B"/>
                    </a:solidFill>
                    <a:latin typeface="Calibri"/>
                  </a:rPr>
                  <a:t>. Số hạng thứ 100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100</m:t>
                            </m:r>
                          </m:sup>
                        </m:sSup>
                      </m:num>
                      <m:den>
                        <m:r>
                          <a:rPr lang="vi-VN" sz="2400" b="0">
                            <a:solidFill>
                              <a:srgbClr val="1E293B"/>
                            </a:solidFill>
                            <a:latin typeface="Cambria Math" panose="02040503050406030204" pitchFamily="18" charset="0"/>
                          </a:rPr>
                          <m:t>100</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100</m:t>
                        </m:r>
                      </m:den>
                    </m:f>
                  </m:oMath>
                </a14:m>
                <a:r>
                  <a:rPr sz="2400">
                    <a:solidFill>
                      <a:srgbClr val="1E293B"/>
                    </a:solidFill>
                    <a:latin typeface="Calibri"/>
                  </a:rPr>
                  <a:t>.</a:t>
                </a:r>
              </a:p>
            </p:txBody>
          </p:sp>
        </mc:Choice>
        <mc:Fallback>
          <p:sp>
            <p:nvSpPr>
              <p:cNvPr id="7" name="TextBox 6"/>
              <p:cNvSpPr txBox="1"/>
              <p:nvPr/>
            </p:nvSpPr>
            <p:spPr>
              <a:xfrm>
                <a:off x="731520" y="1463040"/>
                <a:ext cx="10789920" cy="18333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số hạng đầu của dãy số là: </a:t>
                </a:r>
                <a:r>
                  <a:rPr lang="vi-VN"/>
                  <a:t>2, 4, 6, 8, 10</a:t>
                </a:r>
                <a:r>
                  <a:rPr sz="2400">
                    <a:solidFill>
                      <a:srgbClr val="1E293B"/>
                    </a:solidFill>
                    <a:latin typeface="Calibri"/>
                  </a:rPr>
                  <a:t>. Số hạng thứ 100 của dãy số là </a:t>
                </a:r>
                <a:r>
                  <a:rPr lang="vi-VN"/>
                  <a:t>u_100=2·100=200</a:t>
                </a:r>
                <a:r>
                  <a:rPr sz="2400">
                    <a:solidFill>
                      <a:srgbClr val="1E293B"/>
                    </a:solidFill>
                    <a:latin typeface="Calibri"/>
                  </a:rPr>
                  <a:t>. b) Năm số hạng đầu của dãy số là: </a:t>
                </a:r>
                <a:r>
                  <a:rPr lang="vi-VN"/>
                  <a:t>−1, 1/2, −1/3, 1/4, −1/5</a:t>
                </a:r>
                <a:r>
                  <a:rPr sz="2400">
                    <a:solidFill>
                      <a:srgbClr val="1E293B"/>
                    </a:solidFill>
                    <a:latin typeface="Calibri"/>
                  </a:rPr>
                  <a:t>. Số hạng thứ 100 của dãy số là </a:t>
                </a:r>
                <a:r>
                  <a:rPr lang="vi-VN"/>
                  <a:t>u_100=((−1)^100)/100=1/100</a:t>
                </a:r>
                <a:r>
                  <a:rPr sz="2400">
                    <a:solidFill>
                      <a:srgbClr val="1E293B"/>
                    </a:solidFill>
                    <a:latin typeface="Calibri"/>
                  </a:rPr>
                  <a:t>.</a:t>
                </a:r>
              </a:p>
            </p:txBody>
          </p:sp>
        </mc:Fallback>
      </mc:AlternateContent>
      <p:sp>
        <p:nvSpPr>
          <p:cNvPr id="8" name="Rounded Rectangle 7"/>
          <p:cNvSpPr/>
          <p:nvPr/>
        </p:nvSpPr>
        <p:spPr>
          <a:xfrm>
            <a:off x="731520" y="3433571"/>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433571"/>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=200</m:t>
                    </m:r>
                  </m:oMath>
                </a14:m>
                <a:r>
                  <a:rPr sz="2400" b="1">
                    <a:solidFill>
                      <a:srgbClr val="991B1B"/>
                    </a:solidFill>
                    <a:latin typeface="Calibri"/>
                  </a:rPr>
                  <a:t>;   b)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1</m:t>
                        </m:r>
                      </m:num>
                      <m:den>
                        <m:r>
                          <a:rPr lang="vi-VN" sz="2400" b="1">
                            <a:solidFill>
                              <a:srgbClr val="991B1B"/>
                            </a:solidFill>
                            <a:latin typeface="Cambria Math" panose="02040503050406030204" pitchFamily="18" charset="0"/>
                          </a:rPr>
                          <m:t>100</m:t>
                        </m:r>
                      </m:den>
                    </m:f>
                  </m:oMath>
                </a14:m>
              </a:p>
            </p:txBody>
          </p:sp>
        </mc:Choice>
        <mc:Fallback>
          <p:sp>
            <p:nvSpPr>
              <p:cNvPr id="9" name="TextBox 8"/>
              <p:cNvSpPr txBox="1"/>
              <p:nvPr/>
            </p:nvSpPr>
            <p:spPr>
              <a:xfrm>
                <a:off x="914400" y="3433571"/>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r>
                  <a:rPr lang="vi-VN"/>
                  <a:t>u_{100}=200</a:t>
                </a:r>
                <a:r>
                  <a:rPr sz="2400" b="1">
                    <a:solidFill>
                      <a:srgbClr val="991B1B"/>
                    </a:solidFill>
                    <a:latin typeface="Calibri"/>
                  </a:rPr>
                  <a:t>;   b) </a:t>
                </a:r>
                <a:r>
                  <a:rPr lang="vi-VN"/>
                  <a:t>u_{100}=\frac{1}{100}</a:t>
                </a: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24</a:t>
            </a:r>
          </a:p>
        </p:txBody>
      </p:sp>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dãy số gồm tất cả các số nguyên tố theo thứ tự tăng dần. Viết năm số hạng đầu của dãy số đó.</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04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Năm số hạng đầu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7,</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11</m:t>
                    </m:r>
                  </m:oMath>
                </a14:m>
                <a:r>
                  <a:rPr sz="2000">
                    <a:solidFill>
                      <a:srgbClr val="1E293B"/>
                    </a:solidFill>
                    <a:latin typeface="Calibri"/>
                  </a:rPr>
                  <a:t>.</a:t>
                </a:r>
              </a:p>
              <a:p>
                <a:pPr algn="l">
                  <a:spcAft>
                    <a:spcPts val="800"/>
                  </a:spcAft>
                </a:pPr>
                <a:r>
                  <a:rPr sz="2000">
                    <a:solidFill>
                      <a:srgbClr val="64748B"/>
                    </a:solidFill>
                    <a:latin typeface="Calibri"/>
                  </a:rPr>
                  <a:t>Dãy số gồm tất cả các số nguyên tố ở Ví dụ 4 được cho bởi phương pháp mô tả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là số nguyên tố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Cho đến nay người ta vẫn chưa biết có hay không một công thức tính số nguyên tố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bất kì), hoặc là một hệ thức tính số nguyên tố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theo một vài số nguyên tố đứng trước nó.</a:t>
                </a:r>
              </a:p>
            </p:txBody>
          </p:sp>
        </mc:Choice>
        <mc:Fallback>
          <p:sp>
            <p:nvSpPr>
              <p:cNvPr id="7" name="TextBox 6"/>
              <p:cNvSpPr txBox="1"/>
              <p:nvPr/>
            </p:nvSpPr>
            <p:spPr>
              <a:xfrm>
                <a:off x="731520" y="1463040"/>
                <a:ext cx="10789920" cy="18704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Năm số hạng đầu của dãy số là: </a:t>
                </a:r>
                <a:r>
                  <a:rPr lang="vi-VN"/>
                  <a:t>2, 3, 5, 7, 11</a:t>
                </a:r>
                <a:r>
                  <a:rPr sz="2000">
                    <a:solidFill>
                      <a:srgbClr val="1E293B"/>
                    </a:solidFill>
                    <a:latin typeface="Calibri"/>
                  </a:rPr>
                  <a:t>.</a:t>
                </a:r>
              </a:p>
              <a:p>
                <a:pPr algn="l">
                  <a:spcAft>
                    <a:spcPts val="800"/>
                  </a:spcAft>
                </a:pPr>
                <a:r>
                  <a:rPr sz="2000">
                    <a:solidFill>
                      <a:srgbClr val="64748B"/>
                    </a:solidFill>
                    <a:latin typeface="Calibri"/>
                  </a:rPr>
                  <a:t>Dãy số gồm tất cả các số nguyên tố ở Ví dụ 4 được cho bởi phương pháp mô tả (số hạng thứ </a:t>
                </a:r>
                <a:r>
                  <a:rPr lang="vi-VN"/>
                  <a:t>n</a:t>
                </a:r>
                <a:r>
                  <a:rPr sz="2000">
                    <a:solidFill>
                      <a:srgbClr val="64748B"/>
                    </a:solidFill>
                    <a:latin typeface="Calibri"/>
                  </a:rPr>
                  <a:t> là số nguyên tố thứ </a:t>
                </a:r>
                <a:r>
                  <a:rPr lang="vi-VN"/>
                  <a:t>n</a:t>
                </a:r>
                <a:r>
                  <a:rPr sz="2000">
                    <a:solidFill>
                      <a:srgbClr val="64748B"/>
                    </a:solidFill>
                    <a:latin typeface="Calibri"/>
                  </a:rPr>
                  <a:t>). Cho đến nay người ta vẫn chưa biết có hay không một công thức tính số nguyên tố thứ </a:t>
                </a:r>
                <a:r>
                  <a:rPr lang="vi-VN"/>
                  <a:t>n</a:t>
                </a:r>
                <a:r>
                  <a:rPr sz="2000">
                    <a:solidFill>
                      <a:srgbClr val="64748B"/>
                    </a:solidFill>
                    <a:latin typeface="Calibri"/>
                  </a:rPr>
                  <a:t> theo </a:t>
                </a:r>
                <a:r>
                  <a:rPr lang="vi-VN"/>
                  <a:t>n</a:t>
                </a:r>
                <a:r>
                  <a:rPr sz="2000">
                    <a:solidFill>
                      <a:srgbClr val="64748B"/>
                    </a:solidFill>
                    <a:latin typeface="Calibri"/>
                  </a:rPr>
                  <a:t> (với </a:t>
                </a:r>
                <a:r>
                  <a:rPr lang="vi-VN"/>
                  <a:t>n</a:t>
                </a:r>
                <a:r>
                  <a:rPr sz="2000">
                    <a:solidFill>
                      <a:srgbClr val="64748B"/>
                    </a:solidFill>
                    <a:latin typeface="Calibri"/>
                  </a:rPr>
                  <a:t> bất kì), hoặc là một hệ thức tính số nguyên tố thứ </a:t>
                </a:r>
                <a:r>
                  <a:rPr lang="vi-VN"/>
                  <a:t>n</a:t>
                </a:r>
                <a:r>
                  <a:rPr sz="2000">
                    <a:solidFill>
                      <a:srgbClr val="64748B"/>
                    </a:solidFill>
                    <a:latin typeface="Calibri"/>
                  </a:rPr>
                  <a:t> theo một vài số nguyên tố đứng trước nó.</a:t>
                </a:r>
              </a:p>
            </p:txBody>
          </p:sp>
        </mc:Fallback>
      </mc:AlternateContent>
      <p:sp>
        <p:nvSpPr>
          <p:cNvPr id="8" name="Rounded Rectangle 7"/>
          <p:cNvSpPr/>
          <p:nvPr/>
        </p:nvSpPr>
        <p:spPr>
          <a:xfrm>
            <a:off x="731520" y="3470656"/>
            <a:ext cx="9601200" cy="6553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0656"/>
            <a:ext cx="9235440" cy="655320"/>
          </a:xfrm>
          <a:prstGeom prst="rect">
            <a:avLst/>
          </a:prstGeom>
          <a:noFill/>
        </p:spPr>
        <p:txBody>
          <a:bodyPr wrap="square" anchor="ctr" lIns="45720" rIns="45720">
            <a:spAutoFit/>
          </a:bodyPr>
          <a:lstStyle/>
          <a:p>
            <a:pPr algn="l">
              <a:spcAft>
                <a:spcPts val="400"/>
              </a:spcAft>
            </a:pPr>
            <a:r>
              <a:rPr sz="2000" b="1">
                <a:solidFill>
                  <a:srgbClr val="991B1B"/>
                </a:solidFill>
                <a:latin typeface="Calibri"/>
              </a:rPr>
              <a:t>2, 3, 5, 7, 11 – dãy cho bằng phương pháp mô tả</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xác định bằng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+2</m:t>
                    </m:r>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n≥2</m:t>
                    </m:r>
                  </m:oMath>
                </a14:m>
                <a:r>
                  <a:rPr sz="2400">
                    <a:solidFill>
                      <a:srgbClr val="1E293B"/>
                    </a:solidFill>
                    <a:latin typeface="Calibri"/>
                  </a:rPr>
                  <a:t>.</a:t>
                </a:r>
              </a:p>
              <a:p>
                <a:pPr algn="l">
                  <a:spcAft>
                    <a:spcPts val="800"/>
                  </a:spcAft>
                </a:pPr>
                <a:r>
                  <a:rPr sz="2400">
                    <a:solidFill>
                      <a:srgbClr val="1E293B"/>
                    </a:solidFill>
                    <a:latin typeface="Calibri"/>
                  </a:rPr>
                  <a:t>Viết ba số hạng đầu của dãy số này.</a:t>
                </a:r>
              </a:p>
              <a:p>
                <a:pPr algn="l">
                  <a:spcAft>
                    <a:spcPts val="800"/>
                  </a:spcAft>
                </a:pPr>
                <a:r>
                  <a:rPr sz="2400" b="1">
                    <a:solidFill>
                      <a:srgbClr val="1E40AF"/>
                    </a:solidFill>
                    <a:latin typeface="Calibri"/>
                  </a:rPr>
                  <a:t>Gợi mở: Tính lần lượt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2</m:t>
                        </m:r>
                      </m:sub>
                    </m:sSub>
                  </m:oMath>
                </a14:m>
                <a:r>
                  <a:rPr sz="2400" b="1">
                    <a:solidFill>
                      <a:srgbClr val="1E40AF"/>
                    </a:solidFill>
                    <a:latin typeface="Calibri"/>
                  </a:rPr>
                  <a:t> rồi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3</m:t>
                        </m:r>
                      </m:sub>
                    </m:sSub>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xác định bằng hệ thức truy hồi: </a:t>
                </a:r>
                <a:r>
                  <a:rPr lang="vi-VN"/>
                  <a:t>u_1=1</a:t>
                </a:r>
                <a:r>
                  <a:rPr sz="2400">
                    <a:solidFill>
                      <a:srgbClr val="1E293B"/>
                    </a:solidFill>
                    <a:latin typeface="Calibri"/>
                  </a:rPr>
                  <a:t>, </a:t>
                </a:r>
                <a:r>
                  <a:rPr lang="vi-VN"/>
                  <a:t>u_n=3u_(n−1)+2</a:t>
                </a:r>
                <a:r>
                  <a:rPr sz="2400">
                    <a:solidFill>
                      <a:srgbClr val="1E293B"/>
                    </a:solidFill>
                    <a:latin typeface="Calibri"/>
                  </a:rPr>
                  <a:t> với </a:t>
                </a:r>
                <a:r>
                  <a:rPr lang="vi-VN"/>
                  <a:t>n≥2</a:t>
                </a:r>
                <a:r>
                  <a:rPr sz="2400">
                    <a:solidFill>
                      <a:srgbClr val="1E293B"/>
                    </a:solidFill>
                    <a:latin typeface="Calibri"/>
                  </a:rPr>
                  <a:t>.</a:t>
                </a:r>
              </a:p>
              <a:p>
                <a:pPr algn="l">
                  <a:spcAft>
                    <a:spcPts val="800"/>
                  </a:spcAft>
                </a:pPr>
                <a:r>
                  <a:rPr sz="2400">
                    <a:solidFill>
                      <a:srgbClr val="1E293B"/>
                    </a:solidFill>
                    <a:latin typeface="Calibri"/>
                  </a:rPr>
                  <a:t>Viết ba số hạng đầu của dãy số này.</a:t>
                </a:r>
              </a:p>
              <a:p>
                <a:pPr algn="l">
                  <a:spcAft>
                    <a:spcPts val="800"/>
                  </a:spcAft>
                </a:pPr>
                <a:r>
                  <a:rPr sz="2400" b="1">
                    <a:solidFill>
                      <a:srgbClr val="1E40AF"/>
                    </a:solidFill>
                    <a:latin typeface="Calibri"/>
                  </a:rPr>
                  <a:t>Gợi mở: Tính lần lượt </a:t>
                </a:r>
                <a:r>
                  <a:rPr lang="vi-VN"/>
                  <a:t>u_2</a:t>
                </a:r>
                <a:r>
                  <a:rPr sz="2400" b="1">
                    <a:solidFill>
                      <a:srgbClr val="1E40AF"/>
                    </a:solidFill>
                    <a:latin typeface="Calibri"/>
                  </a:rPr>
                  <a:t> rồi </a:t>
                </a:r>
                <a:r>
                  <a:rPr lang="vi-VN"/>
                  <a:t>u_3</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+2=3·1+2=5</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+2=3·5+2=17</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u_1=1</a:t>
                </a:r>
              </a:p>
              <a:p>
                <a:pPr algn="l" marL="365760" indent="-365760">
                  <a:spcAft>
                    <a:spcPts val="800"/>
                  </a:spcAft>
                  <a:buClr>
                    <a:srgbClr val="1E40AF"/>
                  </a:buClr>
                  <a:buFont typeface="Arial"/>
                  <a:buChar char="•"/>
                </a:pPr>
                <a:r>
                  <a:rPr lang="vi-VN"/>
                  <a:t>u_2=3u_1+2=3\cdot 1+2=5</a:t>
                </a:r>
              </a:p>
              <a:p>
                <a:pPr algn="l" marL="365760" indent="-365760">
                  <a:spcAft>
                    <a:spcPts val="800"/>
                  </a:spcAft>
                  <a:buClr>
                    <a:srgbClr val="1E40AF"/>
                  </a:buClr>
                  <a:buFont typeface="Arial"/>
                  <a:buChar char="•"/>
                </a:pPr>
                <a:r>
                  <a:rPr lang="vi-VN"/>
                  <a:t>u_3=3u_2+2=3\cdot 5+2=17</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Ba số hạng đầu: 1, 5, 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oMath>
                </a14:m>
                <a:r>
                  <a:rPr sz="2000">
                    <a:solidFill>
                      <a:srgbClr val="1E293B"/>
                    </a:solidFill>
                    <a:latin typeface="Calibri"/>
                  </a:rPr>
                  <a:t> (nghìn người) của thành phố đó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n</m:t>
                    </m:r>
                  </m:oMath>
                </a14:m>
                <a:r>
                  <a:rPr sz="2000">
                    <a:solidFill>
                      <a:srgbClr val="1E293B"/>
                    </a:solidFill>
                    <a:latin typeface="Calibri"/>
                  </a:rPr>
                  <a:t> năm, kể từ năm 2020, được tính bằng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r>
                      <a:rPr lang="vi-VN" sz="2000" b="0">
                        <a:solidFill>
                          <a:srgbClr val="1E293B"/>
                        </a:solidFill>
                        <a:latin typeface="Cambria Math" panose="02040503050406030204" pitchFamily="18" charset="0"/>
                      </a:rPr>
                      <m:t>=500(1+0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02</m:t>
                    </m:r>
                    <m:sSup>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n</m:t>
                        </m:r>
                      </m:sup>
                    </m:sSup>
                  </m:oMath>
                </a14:m>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cách năm 2020 bao nhiêu năm?</a:t>
                </a:r>
              </a:p>
            </p:txBody>
          </p:sp>
        </mc:Choice>
        <mc:Fallback>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r>
                  <a:rPr lang="vi-VN"/>
                  <a:t>P_n</a:t>
                </a:r>
                <a:r>
                  <a:rPr sz="2000">
                    <a:solidFill>
                      <a:srgbClr val="1E293B"/>
                    </a:solidFill>
                    <a:latin typeface="Calibri"/>
                  </a:rPr>
                  <a:t> (nghìn người) của thành phố đó sau </a:t>
                </a:r>
                <a:r>
                  <a:rPr lang="vi-VN"/>
                  <a:t>n</a:t>
                </a:r>
                <a:r>
                  <a:rPr sz="2000">
                    <a:solidFill>
                      <a:srgbClr val="1E293B"/>
                    </a:solidFill>
                    <a:latin typeface="Calibri"/>
                  </a:rPr>
                  <a:t> năm, kể từ năm 2020, được tính bằng công thức </a:t>
                </a:r>
                <a:r>
                  <a:rPr lang="vi-VN"/>
                  <a:t>P_n=500(1+0,02)^n</a:t>
                </a:r>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cách năm 2020 bao nhiêu năm?</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n=2030−2020=10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P</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=500·(1+0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02</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=500·1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02</m:t>
                        </m:r>
                      </m:e>
                      <m:sup>
                        <m:r>
                          <a:rPr lang="vi-VN" sz="2400" b="0">
                            <a:solidFill>
                              <a:srgbClr val="1E293B"/>
                            </a:solidFill>
                            <a:latin typeface="Cambria Math" panose="02040503050406030204" pitchFamily="18" charset="0"/>
                          </a:rPr>
                          <m:t>10</m:t>
                        </m:r>
                      </m:sup>
                    </m:sSup>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≈500·1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219≈609</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n=2030-2020=10</a:t>
                </a:r>
              </a:p>
              <a:p>
                <a:pPr algn="l" marL="365760" indent="-365760">
                  <a:spcAft>
                    <a:spcPts val="800"/>
                  </a:spcAft>
                  <a:buClr>
                    <a:srgbClr val="1E40AF"/>
                  </a:buClr>
                  <a:buFont typeface="Arial"/>
                  <a:buChar char="•"/>
                </a:pPr>
                <a:r>
                  <a:rPr lang="vi-VN"/>
                  <a:t>P_{10}=500\cdot(1+0{,}02)^{10}=500\cdot 1{,}02^{10}</a:t>
                </a:r>
              </a:p>
              <a:p>
                <a:pPr algn="l" marL="365760" indent="-365760">
                  <a:spcAft>
                    <a:spcPts val="800"/>
                  </a:spcAft>
                  <a:buClr>
                    <a:srgbClr val="1E40AF"/>
                  </a:buClr>
                  <a:buFont typeface="Arial"/>
                  <a:buChar char="•"/>
                </a:pPr>
                <a:r>
                  <a:rPr lang="vi-VN"/>
                  <a:t>\approx 500\cdot 1{,}219\approx 609</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Năm 2030 thành phố có khoảng 609 nghìn người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Viết năm số hạng đầu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=n!</m:t>
                    </m:r>
                  </m:oMath>
                </a14:m>
                <a:r>
                  <a:rPr sz="2400">
                    <a:solidFill>
                      <a:srgbClr val="1E293B"/>
                    </a:solidFill>
                    <a:latin typeface="Calibri"/>
                  </a:rPr>
                  <a:t>. b) Viết năm số hạng đầu của dãy số Fibonacci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n−2</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400" b="0">
                            <a:solidFill>
                              <a:srgbClr val="1E293B"/>
                            </a:solidFill>
                            <a:latin typeface="Cambria Math" panose="02040503050406030204" pitchFamily="18" charset="0"/>
                          </a:rPr>
                          <m:t>n</m:t>
                        </m:r>
                      </m:e>
                      <m:e>
                        <m:r>
                          <a:rPr lang="vi-VN" sz="2400" b="0">
                            <a:solidFill>
                              <a:srgbClr val="1E293B"/>
                            </a:solidFill>
                            <a:latin typeface="Cambria Math" panose="02040503050406030204" pitchFamily="18" charset="0"/>
                          </a:rPr>
                          <m:t>3</m:t>
                        </m:r>
                      </m:e>
                    </m:d>
                  </m:oMath>
                </a14:m>
                <a:r>
                  <a:rPr sz="2400">
                    <a:solidFill>
                      <a:srgbClr val="1E293B"/>
                    </a:solidFill>
                    <a:latin typeface="Calibri"/>
                  </a:rPr>
                  <a:t>.</a:t>
                </a:r>
              </a:p>
            </p:txBody>
          </p:sp>
        </mc:Choice>
        <mc:Fallback>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Viết năm số hạng đầu của dãy số </a:t>
                </a:r>
                <a:r>
                  <a:rPr lang="vi-VN"/>
                  <a:t>(u_n)</a:t>
                </a:r>
                <a:r>
                  <a:rPr sz="2400">
                    <a:solidFill>
                      <a:srgbClr val="1E293B"/>
                    </a:solidFill>
                    <a:latin typeface="Calibri"/>
                  </a:rPr>
                  <a:t> với số hạng tổng quát </a:t>
                </a:r>
                <a:r>
                  <a:rPr lang="vi-VN"/>
                  <a:t>u_n=n!</a:t>
                </a:r>
                <a:r>
                  <a:rPr sz="2400">
                    <a:solidFill>
                      <a:srgbClr val="1E293B"/>
                    </a:solidFill>
                    <a:latin typeface="Calibri"/>
                  </a:rPr>
                  <a:t>. b) Viết năm số hạng đầu của dãy số Fibonacci </a:t>
                </a:r>
                <a:r>
                  <a:rPr lang="vi-VN"/>
                  <a:t>(F_n)</a:t>
                </a:r>
                <a:r>
                  <a:rPr sz="2400">
                    <a:solidFill>
                      <a:srgbClr val="1E293B"/>
                    </a:solidFill>
                    <a:latin typeface="Calibri"/>
                  </a:rPr>
                  <a:t> cho bởi hệ thức truy hồi </a:t>
                </a:r>
                <a:r>
                  <a:rPr lang="vi-VN"/>
                  <a:t>F_1=1</a:t>
                </a:r>
                <a:r>
                  <a:rPr sz="2400">
                    <a:solidFill>
                      <a:srgbClr val="1E293B"/>
                    </a:solidFill>
                    <a:latin typeface="Calibri"/>
                  </a:rPr>
                  <a:t>, </a:t>
                </a:r>
                <a:r>
                  <a:rPr lang="vi-VN"/>
                  <a:t>F_2=1</a:t>
                </a:r>
                <a:r>
                  <a:rPr sz="2400">
                    <a:solidFill>
                      <a:srgbClr val="1E293B"/>
                    </a:solidFill>
                    <a:latin typeface="Calibri"/>
                  </a:rPr>
                  <a:t>, </a:t>
                </a:r>
                <a:r>
                  <a:rPr lang="vi-VN"/>
                  <a:t>F_n=F_(n−1)+F_(n−2)</a:t>
                </a:r>
                <a:r>
                  <a:rPr sz="2400">
                    <a:solidFill>
                      <a:srgbClr val="1E293B"/>
                    </a:solidFill>
                    <a:latin typeface="Calibri"/>
                  </a:rPr>
                  <a:t> </a:t>
                </a:r>
                <a:r>
                  <a:rPr lang="vi-VN"/>
                  <a:t>(n 3)</a:t>
                </a:r>
                <a:r>
                  <a:rPr sz="2400">
                    <a:solidFill>
                      <a:srgbClr val="1E293B"/>
                    </a:solidFill>
                    <a:latin typeface="Calibri"/>
                  </a:rPr>
                  <a:t>.</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=3!=6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=4!=24</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=5!=120</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=3</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=5</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u_1=1!=1</a:t>
                </a:r>
                <a:r>
                  <a:rPr sz="2400">
                    <a:solidFill>
                      <a:srgbClr val="1E293B"/>
                    </a:solidFill>
                    <a:latin typeface="Calibri"/>
                  </a:rPr>
                  <a:t>, </a:t>
                </a:r>
                <a:r>
                  <a:rPr lang="vi-VN"/>
                  <a:t>u_2=2!=2</a:t>
                </a:r>
                <a:r>
                  <a:rPr sz="2400">
                    <a:solidFill>
                      <a:srgbClr val="1E293B"/>
                    </a:solidFill>
                    <a:latin typeface="Calibri"/>
                  </a:rPr>
                  <a:t>, </a:t>
                </a:r>
                <a:r>
                  <a:rPr lang="vi-VN"/>
                  <a:t>u_3=3!=6</a:t>
                </a:r>
                <a:r>
                  <a:rPr sz="2400">
                    <a:solidFill>
                      <a:srgbClr val="1E293B"/>
                    </a:solidFill>
                    <a:latin typeface="Calibri"/>
                  </a:rPr>
                  <a:t>, </a:t>
                </a:r>
                <a:r>
                  <a:rPr lang="vi-VN"/>
                  <a:t>u_4=4!=24</a:t>
                </a:r>
                <a:r>
                  <a:rPr sz="2400">
                    <a:solidFill>
                      <a:srgbClr val="1E293B"/>
                    </a:solidFill>
                    <a:latin typeface="Calibri"/>
                  </a:rPr>
                  <a:t>, </a:t>
                </a:r>
                <a:r>
                  <a:rPr lang="vi-VN"/>
                  <a:t>u_5=5!=120</a:t>
                </a:r>
              </a:p>
              <a:p>
                <a:pPr algn="l" marL="365760" indent="-365760">
                  <a:spcAft>
                    <a:spcPts val="800"/>
                  </a:spcAft>
                  <a:buClr>
                    <a:srgbClr val="1E40AF"/>
                  </a:buClr>
                  <a:buFont typeface="Arial"/>
                  <a:buChar char="•"/>
                </a:pPr>
                <a:r>
                  <a:rPr sz="2400">
                    <a:solidFill>
                      <a:srgbClr val="1E293B"/>
                    </a:solidFill>
                    <a:latin typeface="Calibri"/>
                  </a:rPr>
                  <a:t>b) </a:t>
                </a:r>
                <a:r>
                  <a:rPr lang="vi-VN"/>
                  <a:t>F_3=F_2+F_1=2</a:t>
                </a:r>
                <a:r>
                  <a:rPr sz="2400">
                    <a:solidFill>
                      <a:srgbClr val="1E293B"/>
                    </a:solidFill>
                    <a:latin typeface="Calibri"/>
                  </a:rPr>
                  <a:t>, </a:t>
                </a:r>
                <a:r>
                  <a:rPr lang="vi-VN"/>
                  <a:t>F_4=F_3+F_2=3</a:t>
                </a:r>
                <a:r>
                  <a:rPr sz="2400">
                    <a:solidFill>
                      <a:srgbClr val="1E293B"/>
                    </a:solidFill>
                    <a:latin typeface="Calibri"/>
                  </a:rPr>
                  <a:t>, </a:t>
                </a:r>
                <a:r>
                  <a:rPr lang="vi-VN"/>
                  <a:t>F_5=F_4+F_3=5</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1, 2, 6, 24, 120;   b) 1, 1, 2, 3, 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BIỂU DIỄN DÃY SỐ TRÊN TRỤC SỐ</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32</a:t>
            </a:r>
          </a:p>
        </p:txBody>
      </p:sp>
      <p:pic>
        <p:nvPicPr>
          <p:cNvPr id="6" name="Picture 5" descr="img02.png"/>
          <p:cNvPicPr>
            <a:picLocks noChangeAspect="1"/>
          </p:cNvPicPr>
          <p:nvPr/>
        </p:nvPicPr>
        <p:blipFill>
          <a:blip r:embed="rId2"/>
          <a:stretch>
            <a:fillRect/>
          </a:stretch>
        </p:blipFill>
        <p:spPr>
          <a:xfrm>
            <a:off x="731520" y="2161313"/>
            <a:ext cx="10698480" cy="2855413"/>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 </a:t>
                </a:r>
                <a14:m>
                  <m:oMath xmlns:m="http://schemas.openxmlformats.org/officeDocument/2006/math">
                    <m:sSub>
                      <m:e>
                        <m:r>
                          <a:rPr lang="vi-VN" sz="2000" b="1">
                            <a:solidFill>
                              <a:srgbClr val="1E40AF"/>
                            </a:solidFill>
                            <a:latin typeface="Cambria Math" panose="02040503050406030204" pitchFamily="18" charset="0"/>
                          </a:rPr>
                          <m:t>u</m:t>
                        </m:r>
                      </m:e>
                      <m:sub>
                        <m:r>
                          <a:rPr lang="vi-VN" sz="2000" b="1">
                            <a:solidFill>
                              <a:srgbClr val="1E40AF"/>
                            </a:solidFill>
                            <a:latin typeface="Cambria Math" panose="02040503050406030204" pitchFamily="18" charset="0"/>
                          </a:rPr>
                          <m:t>n</m:t>
                        </m:r>
                      </m:sub>
                    </m:sSub>
                    <m:r>
                      <a:rPr lang="vi-VN" sz="2000" b="1">
                        <a:solidFill>
                          <a:srgbClr val="1E40AF"/>
                        </a:solidFill>
                        <a:latin typeface="Cambria Math" panose="02040503050406030204" pitchFamily="18" charset="0"/>
                      </a:rPr>
                      <m:t>=</m:t>
                    </m:r>
                    <m:f>
                      <m:fPr>
                        <m:type m:val="bar"/>
                      </m:fPr>
                      <m:num>
                        <m:sSup>
                          <m:e>
                            <m:d>
                              <m:dPr>
                                <m:sepChr m:val=""/>
                              </m:dPr>
                              <m:e>
                                <m:r>
                                  <a:rPr lang="vi-VN" sz="2000" b="1">
                                    <a:solidFill>
                                      <a:srgbClr val="1E40AF"/>
                                    </a:solidFill>
                                    <a:latin typeface="Cambria Math" panose="02040503050406030204" pitchFamily="18" charset="0"/>
                                  </a:rPr>
                                  <m:t>−</m:t>
                                </m:r>
                                <m:r>
                                  <a:rPr lang="vi-VN" sz="2000" b="1">
                                    <a:solidFill>
                                      <a:srgbClr val="1E40AF"/>
                                    </a:solidFill>
                                    <a:latin typeface="Cambria Math" panose="02040503050406030204" pitchFamily="18" charset="0"/>
                                  </a:rPr>
                                  <m:t>1</m:t>
                                </m:r>
                              </m:e>
                            </m:d>
                          </m:e>
                          <m:sup>
                            <m:r>
                              <a:rPr lang="vi-VN" sz="2000" b="1">
                                <a:solidFill>
                                  <a:srgbClr val="1E40AF"/>
                                </a:solidFill>
                                <a:latin typeface="Cambria Math" panose="02040503050406030204" pitchFamily="18" charset="0"/>
                              </a:rPr>
                              <m:t>n</m:t>
                            </m:r>
                          </m:sup>
                        </m:sSup>
                      </m:num>
                      <m:den>
                        <m:sSup>
                          <m:e>
                            <m:r>
                              <a:rPr lang="vi-VN" sz="2000" b="1">
                                <a:solidFill>
                                  <a:srgbClr val="1E40AF"/>
                                </a:solidFill>
                                <a:latin typeface="Cambria Math" panose="02040503050406030204" pitchFamily="18" charset="0"/>
                              </a:rPr>
                              <m:t>2</m:t>
                            </m:r>
                          </m:e>
                          <m:sup>
                            <m:r>
                              <a:rPr lang="vi-VN" sz="2000" b="1">
                                <a:solidFill>
                                  <a:srgbClr val="1E40AF"/>
                                </a:solidFill>
                                <a:latin typeface="Cambria Math" panose="02040503050406030204" pitchFamily="18" charset="0"/>
                              </a:rPr>
                              <m:t>n</m:t>
                            </m:r>
                          </m:sup>
                        </m:sSup>
                      </m:den>
                    </m:f>
                  </m:oMath>
                </a14:m>
                <a:r>
                  <a:rPr sz="2000" b="1">
                    <a:solidFill>
                      <a:srgbClr val="1E40AF"/>
                    </a:solidFill>
                    <a:latin typeface="Calibri"/>
                  </a:rPr>
                  <a:t>: các số hạng đan dấu, dần về 0</a:t>
                </a:r>
              </a:p>
            </p:txBody>
          </p:sp>
        </mc:Choice>
        <mc:Fallback>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 </a:t>
                </a:r>
                <a:r>
                  <a:rPr lang="vi-VN"/>
                  <a:t>u_n=\frac{(-1)^n}{2^n}</a:t>
                </a:r>
                <a:r>
                  <a:rPr sz="2000" b="1">
                    <a:solidFill>
                      <a:srgbClr val="1E40AF"/>
                    </a:solidFill>
                    <a:latin typeface="Calibri"/>
                  </a:rPr>
                  <a:t>: các số hạng đan dấu, dần về 0</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3. DÃY SỐ TĂNG, GIẢM, BỊ CHẶN</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HĐ4: TĂNG HAY GIẢM?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Xét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=3n−1</m:t>
                    </m:r>
                  </m:oMath>
                </a14:m>
                <a:r>
                  <a:rPr sz="2400">
                    <a:solidFill>
                      <a:srgbClr val="1E293B"/>
                    </a:solidFill>
                    <a:latin typeface="Calibri"/>
                  </a:rPr>
                  <a:t>.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 và so sánh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b) Xét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den>
                    </m:f>
                  </m:oMath>
                </a14:m>
                <a:r>
                  <a:rPr sz="2400">
                    <a:solidFill>
                      <a:srgbClr val="1E293B"/>
                    </a:solidFill>
                    <a:latin typeface="Calibri"/>
                  </a:rPr>
                  <a:t>.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 và so sánh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a:t>
                </a:r>
              </a:p>
              <a:p>
                <a:pPr algn="l">
                  <a:spcAft>
                    <a:spcPts val="800"/>
                  </a:spcAft>
                </a:pPr>
                <a:r>
                  <a:rPr sz="2400" b="1">
                    <a:solidFill>
                      <a:srgbClr val="1E40AF"/>
                    </a:solidFill>
                    <a:latin typeface="Calibri"/>
                  </a:rPr>
                  <a:t>Gợi mở: Thay n bởi n + 1 trong công thức</a:t>
                </a:r>
              </a:p>
            </p:txBody>
          </p:sp>
        </mc:Choice>
        <mc:Fallback>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Xét dãy số </a:t>
                </a:r>
                <a:r>
                  <a:rPr lang="vi-VN"/>
                  <a:t>(u_n)</a:t>
                </a:r>
                <a:r>
                  <a:rPr sz="2400">
                    <a:solidFill>
                      <a:srgbClr val="1E293B"/>
                    </a:solidFill>
                    <a:latin typeface="Calibri"/>
                  </a:rPr>
                  <a:t> với </a:t>
                </a:r>
                <a:r>
                  <a:rPr lang="vi-VN"/>
                  <a:t>u_n=3n−1</a:t>
                </a:r>
                <a:r>
                  <a:rPr sz="2400">
                    <a:solidFill>
                      <a:srgbClr val="1E293B"/>
                    </a:solidFill>
                    <a:latin typeface="Calibri"/>
                  </a:rPr>
                  <a:t>. Tính </a:t>
                </a:r>
                <a:r>
                  <a:rPr lang="vi-VN"/>
                  <a:t>u_(n+1)</a:t>
                </a:r>
                <a:r>
                  <a:rPr sz="2400">
                    <a:solidFill>
                      <a:srgbClr val="1E293B"/>
                    </a:solidFill>
                    <a:latin typeface="Calibri"/>
                  </a:rPr>
                  <a:t> và so sánh với </a:t>
                </a:r>
                <a:r>
                  <a:rPr lang="vi-VN"/>
                  <a:t>u_n</a:t>
                </a:r>
                <a:r>
                  <a:rPr sz="2400">
                    <a:solidFill>
                      <a:srgbClr val="1E293B"/>
                    </a:solidFill>
                    <a:latin typeface="Calibri"/>
                  </a:rPr>
                  <a:t>. b) Xét dãy số </a:t>
                </a:r>
                <a:r>
                  <a:rPr lang="vi-VN"/>
                  <a:t>(v_n)</a:t>
                </a:r>
                <a:r>
                  <a:rPr sz="2400">
                    <a:solidFill>
                      <a:srgbClr val="1E293B"/>
                    </a:solidFill>
                    <a:latin typeface="Calibri"/>
                  </a:rPr>
                  <a:t> với </a:t>
                </a:r>
                <a:r>
                  <a:rPr lang="vi-VN"/>
                  <a:t>v_n=1/(n^2)</a:t>
                </a:r>
                <a:r>
                  <a:rPr sz="2400">
                    <a:solidFill>
                      <a:srgbClr val="1E293B"/>
                    </a:solidFill>
                    <a:latin typeface="Calibri"/>
                  </a:rPr>
                  <a:t>. Tính </a:t>
                </a:r>
                <a:r>
                  <a:rPr lang="vi-VN"/>
                  <a:t>v_(n+1)</a:t>
                </a:r>
                <a:r>
                  <a:rPr sz="2400">
                    <a:solidFill>
                      <a:srgbClr val="1E293B"/>
                    </a:solidFill>
                    <a:latin typeface="Calibri"/>
                  </a:rPr>
                  <a:t> và so sánh với </a:t>
                </a:r>
                <a:r>
                  <a:rPr lang="vi-VN"/>
                  <a:t>v_n</a:t>
                </a:r>
                <a:r>
                  <a:rPr sz="2400">
                    <a:solidFill>
                      <a:srgbClr val="1E293B"/>
                    </a:solidFill>
                    <a:latin typeface="Calibri"/>
                  </a:rPr>
                  <a:t>.</a:t>
                </a:r>
              </a:p>
              <a:p>
                <a:pPr algn="l">
                  <a:spcAft>
                    <a:spcPts val="800"/>
                  </a:spcAft>
                </a:pPr>
                <a:r>
                  <a:rPr sz="2400" b="1">
                    <a:solidFill>
                      <a:srgbClr val="1E40AF"/>
                    </a:solidFill>
                    <a:latin typeface="Calibri"/>
                  </a:rPr>
                  <a:t>Gợi mở: Thay n bởi n + 1 trong công thức</a:t>
                </a: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HĐ4: TĂNG HAY GIẢM?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=3(n+1)−1=3n+2&gt;3n−1=</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2</m:t>
                            </m:r>
                          </m:sup>
                        </m:sSup>
                      </m:den>
                    </m:f>
                    <m:r>
                      <a:rPr lang="vi-VN" sz="2400" b="0">
                        <a:solidFill>
                          <a:srgbClr val="1E293B"/>
                        </a:solidFill>
                        <a:latin typeface="Cambria Math" panose="02040503050406030204" pitchFamily="18" charset="0"/>
                      </a:rPr>
                      <m:t>&lt;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den>
                    </m:f>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vì </a:t>
                </a:r>
                <a14:m>
                  <m:oMath xmlns:m="http://schemas.openxmlformats.org/officeDocument/2006/math">
                    <m:d>
                      <m:dPr>
                        <m:sepChr m:val=""/>
                        <m:end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&gt;</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e>
                    </m:d>
                  </m:oMath>
                </a14:m>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u_{n+1}=3(n+1)-1=3n+2&gt;3n-1=u_n</a:t>
                </a:r>
              </a:p>
              <a:p>
                <a:pPr algn="l" marL="365760" indent="-365760">
                  <a:spcAft>
                    <a:spcPts val="800"/>
                  </a:spcAft>
                  <a:buClr>
                    <a:srgbClr val="1E40AF"/>
                  </a:buClr>
                  <a:buFont typeface="Arial"/>
                  <a:buChar char="•"/>
                </a:pPr>
                <a:r>
                  <a:rPr sz="2400">
                    <a:solidFill>
                      <a:srgbClr val="1E293B"/>
                    </a:solidFill>
                    <a:latin typeface="Calibri"/>
                  </a:rPr>
                  <a:t>b) </a:t>
                </a:r>
                <a:r>
                  <a:rPr lang="vi-VN"/>
                  <a:t>v_{n+1}=\frac{1}{(n+1)^2}&lt;\frac{1}{n^2}=v_n</a:t>
                </a:r>
                <a:r>
                  <a:rPr sz="2400">
                    <a:solidFill>
                      <a:srgbClr val="1E293B"/>
                    </a:solidFill>
                    <a:latin typeface="Calibri"/>
                  </a:rPr>
                  <a:t> vì </a:t>
                </a:r>
                <a:r>
                  <a:rPr lang="vi-VN"/>
                  <a:t>(n+1)^2&gt;n^2</a:t>
                </a:r>
              </a:p>
            </p:txBody>
          </p:sp>
        </mc:Fallback>
      </mc:AlternateContent>
      <p:pic>
        <p:nvPicPr>
          <p:cNvPr id="8" name="Picture 7" descr="img03.png"/>
          <p:cNvPicPr>
            <a:picLocks noChangeAspect="1"/>
          </p:cNvPicPr>
          <p:nvPr/>
        </p:nvPicPr>
        <p:blipFill>
          <a:blip r:embed="rId2"/>
          <a:stretch>
            <a:fillRect/>
          </a:stretch>
        </p:blipFill>
        <p:spPr>
          <a:xfrm>
            <a:off x="2286645" y="2968751"/>
            <a:ext cx="7588229" cy="329488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TĂNG, DÃY SỐ GIẢM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36</a:t>
            </a:r>
          </a:p>
        </p:txBody>
      </p:sp>
      <p:sp>
        <p:nvSpPr>
          <p:cNvPr id="7" name="Rounded Rectangle 6"/>
          <p:cNvSpPr/>
          <p:nvPr/>
        </p:nvSpPr>
        <p:spPr>
          <a:xfrm>
            <a:off x="731520" y="1463040"/>
            <a:ext cx="9601200" cy="21031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được gọi là </a:t>
                </a:r>
                <a:r>
                  <a:rPr sz="2400" b="1">
                    <a:solidFill>
                      <a:srgbClr val="991B1B"/>
                    </a:solidFill>
                    <a:latin typeface="Calibri"/>
                  </a:rPr>
                  <a:t>dãy số tăng</a:t>
                </a:r>
                <a:r>
                  <a:rPr sz="2400" b="1">
                    <a:solidFill>
                      <a:srgbClr val="991B1B"/>
                    </a:solidFill>
                    <a:latin typeface="Calibri"/>
                  </a:rPr>
                  <a:t> nếu 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&gt;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m:t>
                    </m:r>
                    <m:sSup>
                      <m:e>
                        <m:r>
                          <a:rPr lang="vi-VN" sz="2400" b="1">
                            <a:solidFill>
                              <a:srgbClr val="991B1B"/>
                            </a:solidFill>
                            <a:latin typeface="Cambria Math" panose="02040503050406030204" pitchFamily="18" charset="0"/>
                          </a:rPr>
                          <m:t>ℕ</m:t>
                        </m:r>
                      </m:e>
                      <m:sup>
                        <m:r>
                          <a:rPr lang="vi-VN" sz="2400" b="1">
                            <a:solidFill>
                              <a:srgbClr val="991B1B"/>
                            </a:solidFill>
                            <a:latin typeface="Cambria Math" panose="02040503050406030204" pitchFamily="18" charset="0"/>
                          </a:rPr>
                          <m:t>*</m:t>
                        </m:r>
                      </m:sup>
                    </m:sSup>
                  </m:oMath>
                </a14:m>
                <a:r>
                  <a:rPr sz="2400" b="1">
                    <a:solidFill>
                      <a:srgbClr val="991B1B"/>
                    </a:solidFill>
                    <a:latin typeface="Calibri"/>
                  </a:rPr>
                  <a:t>.</a:t>
                </a:r>
              </a:p>
              <a:p>
                <a:pPr algn="l">
                  <a:spcAft>
                    <a:spcPts val="400"/>
                  </a:spcAft>
                </a:pPr>
                <a:r>
                  <a:rPr sz="24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được gọi là </a:t>
                </a:r>
                <a:r>
                  <a:rPr sz="2400" b="1">
                    <a:solidFill>
                      <a:srgbClr val="991B1B"/>
                    </a:solidFill>
                    <a:latin typeface="Calibri"/>
                  </a:rPr>
                  <a:t>dãy số giảm</a:t>
                </a:r>
                <a:r>
                  <a:rPr sz="2400" b="1">
                    <a:solidFill>
                      <a:srgbClr val="991B1B"/>
                    </a:solidFill>
                    <a:latin typeface="Calibri"/>
                  </a:rPr>
                  <a:t> nếu 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&lt;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m:t>
                    </m:r>
                    <m:sSup>
                      <m:e>
                        <m:r>
                          <a:rPr lang="vi-VN" sz="2400" b="1">
                            <a:solidFill>
                              <a:srgbClr val="991B1B"/>
                            </a:solidFill>
                            <a:latin typeface="Cambria Math" panose="02040503050406030204" pitchFamily="18" charset="0"/>
                          </a:rPr>
                          <m:t>ℕ</m:t>
                        </m:r>
                      </m:e>
                      <m:sup>
                        <m:r>
                          <a:rPr lang="vi-VN" sz="2400" b="1">
                            <a:solidFill>
                              <a:srgbClr val="991B1B"/>
                            </a:solidFill>
                            <a:latin typeface="Cambria Math" panose="02040503050406030204" pitchFamily="18" charset="0"/>
                          </a:rPr>
                          <m:t>*</m:t>
                        </m:r>
                      </m:sup>
                    </m:sSup>
                  </m:oMath>
                </a14:m>
                <a:r>
                  <a:rPr sz="2400" b="1">
                    <a:solidFill>
                      <a:srgbClr val="991B1B"/>
                    </a:solidFill>
                    <a:latin typeface="Calibri"/>
                  </a:rPr>
                  <a:t>.</a:t>
                </a:r>
              </a:p>
            </p:txBody>
          </p:sp>
        </mc:Choice>
        <mc:Fallback>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số </a:t>
                </a:r>
                <a:r>
                  <a:rPr lang="vi-VN"/>
                  <a:t>(u_n)</a:t>
                </a:r>
                <a:r>
                  <a:rPr sz="2400" b="1">
                    <a:solidFill>
                      <a:srgbClr val="991B1B"/>
                    </a:solidFill>
                    <a:latin typeface="Calibri"/>
                  </a:rPr>
                  <a:t> được gọi là </a:t>
                </a:r>
                <a:r>
                  <a:rPr sz="2400" b="1">
                    <a:solidFill>
                      <a:srgbClr val="991B1B"/>
                    </a:solidFill>
                    <a:latin typeface="Calibri"/>
                  </a:rPr>
                  <a:t>dãy số tăng</a:t>
                </a:r>
                <a:r>
                  <a:rPr sz="2400" b="1">
                    <a:solidFill>
                      <a:srgbClr val="991B1B"/>
                    </a:solidFill>
                    <a:latin typeface="Calibri"/>
                  </a:rPr>
                  <a:t> nếu ta có </a:t>
                </a:r>
                <a:r>
                  <a:rPr lang="vi-VN"/>
                  <a:t>u_(n+1)&gt;u_n</a:t>
                </a:r>
                <a:r>
                  <a:rPr sz="2400" b="1">
                    <a:solidFill>
                      <a:srgbClr val="991B1B"/>
                    </a:solidFill>
                    <a:latin typeface="Calibri"/>
                  </a:rPr>
                  <a:t> với mọi </a:t>
                </a:r>
                <a:r>
                  <a:rPr lang="vi-VN"/>
                  <a:t>n∈ℕ^*</a:t>
                </a:r>
                <a:r>
                  <a:rPr sz="2400" b="1">
                    <a:solidFill>
                      <a:srgbClr val="991B1B"/>
                    </a:solidFill>
                    <a:latin typeface="Calibri"/>
                  </a:rPr>
                  <a:t>.</a:t>
                </a:r>
              </a:p>
              <a:p>
                <a:pPr algn="l">
                  <a:spcAft>
                    <a:spcPts val="400"/>
                  </a:spcAft>
                </a:pPr>
                <a:r>
                  <a:rPr sz="2400" b="1">
                    <a:solidFill>
                      <a:srgbClr val="991B1B"/>
                    </a:solidFill>
                    <a:latin typeface="Calibri"/>
                  </a:rPr>
                  <a:t>Dãy số </a:t>
                </a:r>
                <a:r>
                  <a:rPr lang="vi-VN"/>
                  <a:t>(u_n)</a:t>
                </a:r>
                <a:r>
                  <a:rPr sz="2400" b="1">
                    <a:solidFill>
                      <a:srgbClr val="991B1B"/>
                    </a:solidFill>
                    <a:latin typeface="Calibri"/>
                  </a:rPr>
                  <a:t> được gọi là </a:t>
                </a:r>
                <a:r>
                  <a:rPr sz="2400" b="1">
                    <a:solidFill>
                      <a:srgbClr val="991B1B"/>
                    </a:solidFill>
                    <a:latin typeface="Calibri"/>
                  </a:rPr>
                  <a:t>dãy số giảm</a:t>
                </a:r>
                <a:r>
                  <a:rPr sz="2400" b="1">
                    <a:solidFill>
                      <a:srgbClr val="991B1B"/>
                    </a:solidFill>
                    <a:latin typeface="Calibri"/>
                  </a:rPr>
                  <a:t> nếu ta có </a:t>
                </a:r>
                <a:r>
                  <a:rPr lang="vi-VN"/>
                  <a:t>u_(n+1)&lt;u_n</a:t>
                </a:r>
                <a:r>
                  <a:rPr sz="2400" b="1">
                    <a:solidFill>
                      <a:srgbClr val="991B1B"/>
                    </a:solidFill>
                    <a:latin typeface="Calibri"/>
                  </a:rPr>
                  <a:t> với mọi </a:t>
                </a:r>
                <a:r>
                  <a:rPr lang="vi-VN"/>
                  <a:t>n∈ℕ^*</a:t>
                </a:r>
                <a:r>
                  <a:rPr sz="2400" b="1">
                    <a:solidFill>
                      <a:srgbClr val="991B1B"/>
                    </a:solidFill>
                    <a:latin typeface="Calibri"/>
                  </a:rPr>
                  <a:t>.</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=−2n+5</m:t>
                    </m:r>
                  </m:oMath>
                </a14:m>
                <a:r>
                  <a:rPr sz="2400">
                    <a:solidFill>
                      <a:srgbClr val="1E293B"/>
                    </a:solidFill>
                    <a:latin typeface="Calibri"/>
                  </a:rPr>
                  <a:t>.</a:t>
                </a:r>
              </a:p>
              <a:p>
                <a:pPr algn="l">
                  <a:spcAft>
                    <a:spcPts val="800"/>
                  </a:spcAft>
                </a:pPr>
                <a:r>
                  <a:rPr sz="2400" b="1">
                    <a:solidFill>
                      <a:srgbClr val="1E40AF"/>
                    </a:solidFill>
                    <a:latin typeface="Calibri"/>
                  </a:rPr>
                  <a:t>Gợi mở: Xét dấu của hiệu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r>
                  <a:rPr lang="vi-VN"/>
                  <a:t>(u_n)</a:t>
                </a:r>
                <a:r>
                  <a:rPr sz="2400">
                    <a:solidFill>
                      <a:srgbClr val="1E293B"/>
                    </a:solidFill>
                    <a:latin typeface="Calibri"/>
                  </a:rPr>
                  <a:t>, với </a:t>
                </a:r>
                <a:r>
                  <a:rPr lang="vi-VN"/>
                  <a:t>u_n=−2n+5</a:t>
                </a:r>
                <a:r>
                  <a:rPr sz="2400">
                    <a:solidFill>
                      <a:srgbClr val="1E293B"/>
                    </a:solidFill>
                    <a:latin typeface="Calibri"/>
                  </a:rPr>
                  <a:t>.</a:t>
                </a:r>
              </a:p>
              <a:p>
                <a:pPr algn="l">
                  <a:spcAft>
                    <a:spcPts val="800"/>
                  </a:spcAft>
                </a:pPr>
                <a:r>
                  <a:rPr sz="2400" b="1">
                    <a:solidFill>
                      <a:srgbClr val="1E40AF"/>
                    </a:solidFill>
                    <a:latin typeface="Calibri"/>
                  </a:rPr>
                  <a:t>Gợi mở: Xét dấu của hiệu </a:t>
                </a:r>
                <a:r>
                  <a:rPr lang="vi-VN"/>
                  <a:t>u_{n+1}-u_n</a:t>
                </a: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=[−2(n+1)+5]−(−2n+5)</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=(−2n+3)+2n−5=−2&lt;0</m:t>
                    </m:r>
                  </m:oMath>
                </a14:m>
              </a:p>
              <a:p>
                <a:pPr algn="l" marL="365760" indent="-365760">
                  <a:spcAft>
                    <a:spcPts val="800"/>
                  </a:spcAft>
                  <a:buClr>
                    <a:srgbClr val="1E40AF"/>
                  </a:buClr>
                  <a:buFont typeface="Arial"/>
                  <a:buChar char="•"/>
                </a:pPr>
                <a:r>
                  <a:rPr sz="2400">
                    <a:solidFill>
                      <a:srgbClr val="1E293B"/>
                    </a:solidFill>
                    <a:latin typeface="Calibri"/>
                  </a:rPr>
                  <a:t>Tức là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u_{n+1}-u_n=[-2(n+1)+5]-(-2n+5)</a:t>
                </a:r>
              </a:p>
              <a:p>
                <a:pPr algn="l" marL="365760" indent="-365760">
                  <a:spcAft>
                    <a:spcPts val="800"/>
                  </a:spcAft>
                  <a:buClr>
                    <a:srgbClr val="1E40AF"/>
                  </a:buClr>
                  <a:buFont typeface="Arial"/>
                  <a:buChar char="•"/>
                </a:pPr>
                <a:r>
                  <a:rPr lang="vi-VN"/>
                  <a:t>=(-2n+3)+2n-5=-2&lt;0</a:t>
                </a:r>
              </a:p>
              <a:p>
                <a:pPr algn="l" marL="365760" indent="-365760">
                  <a:spcAft>
                    <a:spcPts val="800"/>
                  </a:spcAft>
                  <a:buClr>
                    <a:srgbClr val="1E40AF"/>
                  </a:buClr>
                  <a:buFont typeface="Arial"/>
                  <a:buChar char="•"/>
                </a:pPr>
                <a:r>
                  <a:rPr sz="2400">
                    <a:solidFill>
                      <a:srgbClr val="1E293B"/>
                    </a:solidFill>
                    <a:latin typeface="Calibri"/>
                  </a:rPr>
                  <a:t>Tức là </a:t>
                </a:r>
                <a:r>
                  <a:rPr lang="vi-VN"/>
                  <a:t>u_{n+1}&lt;u_n</a:t>
                </a:r>
                <a:r>
                  <a:rPr sz="2400">
                    <a:solidFill>
                      <a:srgbClr val="1E293B"/>
                    </a:solidFill>
                    <a:latin typeface="Calibri"/>
                  </a:rPr>
                  <a:t> với mọi </a:t>
                </a:r>
                <a:r>
                  <a:rPr lang="vi-VN"/>
                  <a:t>n\in\mathbb{N}^*</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là dãy số giảm</a:t>
                </a:r>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a:t>
                </a:r>
                <a:r>
                  <a:rPr sz="2400" b="1">
                    <a:solidFill>
                      <a:srgbClr val="991B1B"/>
                    </a:solidFill>
                    <a:latin typeface="Calibri"/>
                  </a:rPr>
                  <a:t> là dãy số giảm</a:t>
                </a: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8427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n+1</m:t>
                        </m:r>
                      </m:den>
                    </m:f>
                  </m:oMath>
                </a14:m>
                <a:r>
                  <a:rPr sz="2400">
                    <a:solidFill>
                      <a:srgbClr val="1E293B"/>
                    </a:solidFill>
                    <a:latin typeface="Calibri"/>
                  </a:rPr>
                  <a:t>.</a:t>
                </a:r>
              </a:p>
            </p:txBody>
          </p:sp>
        </mc:Choice>
        <mc:Fallback>
          <p:sp>
            <p:nvSpPr>
              <p:cNvPr id="7" name="TextBox 6"/>
              <p:cNvSpPr txBox="1"/>
              <p:nvPr/>
            </p:nvSpPr>
            <p:spPr>
              <a:xfrm>
                <a:off x="731520" y="1463040"/>
                <a:ext cx="10789920" cy="68427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r>
                  <a:rPr lang="vi-VN"/>
                  <a:t>(u_n)</a:t>
                </a:r>
                <a:r>
                  <a:rPr sz="2400">
                    <a:solidFill>
                      <a:srgbClr val="1E293B"/>
                    </a:solidFill>
                    <a:latin typeface="Calibri"/>
                  </a:rPr>
                  <a:t>, với </a:t>
                </a:r>
                <a:r>
                  <a:rPr lang="vi-VN"/>
                  <a:t>u_n=1/(n+1)</a:t>
                </a:r>
                <a:r>
                  <a:rPr sz="2400">
                    <a:solidFill>
                      <a:srgbClr val="1E293B"/>
                    </a:solidFill>
                    <a:latin typeface="Calibri"/>
                  </a:rPr>
                  <a:t>.</a:t>
                </a: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n+2</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n+1</m:t>
                        </m:r>
                      </m:den>
                    </m:f>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t>
                    </m:r>
                    <m:f>
                      <m:fPr>
                        <m:type m:val="bar"/>
                      </m:fPr>
                      <m:num>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num>
                      <m:den>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den>
                    </m:f>
                    <m:r>
                      <a:rPr lang="vi-VN" sz="2400" b="0">
                        <a:solidFill>
                          <a:srgbClr val="1E293B"/>
                        </a:solidFill>
                        <a:latin typeface="Cambria Math" panose="02040503050406030204" pitchFamily="18" charset="0"/>
                      </a:rPr>
                      <m:t>&lt;0</m:t>
                    </m:r>
                  </m:oMath>
                </a14:m>
              </a:p>
            </p:txBody>
          </p:sp>
        </mc:Choice>
        <mc:Fallback>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u_{n+1}-u_n=\frac{1}{n+2}-\frac{1}{n+1}</a:t>
                </a:r>
              </a:p>
              <a:p>
                <a:pPr algn="l" marL="365760" indent="-365760">
                  <a:spcAft>
                    <a:spcPts val="800"/>
                  </a:spcAft>
                  <a:buClr>
                    <a:srgbClr val="1E40AF"/>
                  </a:buClr>
                  <a:buFont typeface="Arial"/>
                  <a:buChar char="•"/>
                </a:pPr>
                <a:r>
                  <a:rPr lang="vi-VN"/>
                  <a:t>=\frac{(n+1)-(n+2)}{(n+1)(n+2)}=-\frac{1}{(n+1)(n+2)}&lt;0</a:t>
                </a:r>
              </a:p>
            </p:txBody>
          </p:sp>
        </mc:Fallback>
      </mc:AlternateContent>
      <p:sp>
        <p:nvSpPr>
          <p:cNvPr id="8" name="Rounded Rectangle 7"/>
          <p:cNvSpPr/>
          <p:nvPr/>
        </p:nvSpPr>
        <p:spPr>
          <a:xfrm>
            <a:off x="731520" y="33253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3253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là dãy số giảm</a:t>
                </a:r>
              </a:p>
            </p:txBody>
          </p:sp>
        </mc:Choice>
        <mc:Fallback>
          <p:sp>
            <p:nvSpPr>
              <p:cNvPr id="9" name="TextBox 8"/>
              <p:cNvSpPr txBox="1"/>
              <p:nvPr/>
            </p:nvSpPr>
            <p:spPr>
              <a:xfrm>
                <a:off x="914400" y="33253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a:t>
                </a:r>
                <a:r>
                  <a:rPr sz="2400" b="1">
                    <a:solidFill>
                      <a:srgbClr val="991B1B"/>
                    </a:solidFill>
                    <a:latin typeface="Calibri"/>
                  </a:rPr>
                  <a:t> là dãy số giảm</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HĐ5: DÃY SỐ BỊ CHẶN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So sánh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và 1.</a:t>
                </a:r>
              </a:p>
              <a:p>
                <a:pPr algn="l" marL="365760" indent="-365760">
                  <a:spcAft>
                    <a:spcPts val="800"/>
                  </a:spcAft>
                  <a:buClr>
                    <a:srgbClr val="1E40AF"/>
                  </a:buClr>
                  <a:buFont typeface="Arial"/>
                  <a:buChar char="•"/>
                </a:pPr>
                <a:r>
                  <a:rPr sz="2400">
                    <a:solidFill>
                      <a:srgbClr val="1E293B"/>
                    </a:solidFill>
                    <a:latin typeface="Calibri"/>
                  </a:rPr>
                  <a:t>b) So sánh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và 2.</a:t>
                </a:r>
              </a:p>
              <a:p>
                <a:pPr algn="l">
                  <a:spcAft>
                    <a:spcPts val="800"/>
                  </a:spcAft>
                </a:pPr>
                <a:r>
                  <a:rPr sz="2400" b="1">
                    <a:solidFill>
                      <a:srgbClr val="1E40AF"/>
                    </a:solidFill>
                    <a:latin typeface="Calibri"/>
                  </a:rPr>
                  <a:t>Gợi mở: Viết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=1+</m:t>
                    </m:r>
                    <m:f>
                      <m:fPr>
                        <m:type m:val="bar"/>
                      </m:fPr>
                      <m:num>
                        <m:r>
                          <a:rPr lang="vi-VN" sz="2400" b="1">
                            <a:solidFill>
                              <a:srgbClr val="1E40AF"/>
                            </a:solidFill>
                            <a:latin typeface="Cambria Math" panose="02040503050406030204" pitchFamily="18" charset="0"/>
                          </a:rPr>
                          <m:t>1</m:t>
                        </m:r>
                      </m:num>
                      <m:den>
                        <m:r>
                          <a:rPr lang="vi-VN" sz="2400" b="1">
                            <a:solidFill>
                              <a:srgbClr val="1E40AF"/>
                            </a:solidFill>
                            <a:latin typeface="Cambria Math" panose="02040503050406030204" pitchFamily="18" charset="0"/>
                          </a:rPr>
                          <m:t>n</m:t>
                        </m:r>
                      </m:den>
                    </m:f>
                  </m:oMath>
                </a14:m>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r>
                  <a:rPr lang="vi-VN"/>
                  <a:t>(u_n)</a:t>
                </a:r>
                <a:r>
                  <a:rPr sz="2400">
                    <a:solidFill>
                      <a:srgbClr val="1E293B"/>
                    </a:solidFill>
                    <a:latin typeface="Calibri"/>
                  </a:rPr>
                  <a:t> với </a:t>
                </a:r>
                <a:r>
                  <a:rPr lang="vi-VN"/>
                  <a:t>u_n=(n+1)/n</a:t>
                </a:r>
                <a:r>
                  <a:rPr sz="2400">
                    <a:solidFill>
                      <a:srgbClr val="1E293B"/>
                    </a:solidFill>
                    <a:latin typeface="Calibri"/>
                  </a:rPr>
                  <a:t>, </a:t>
                </a:r>
                <a:r>
                  <a:rPr lang="vi-VN"/>
                  <a:t>∀n∈ℕ^*</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So sánh </a:t>
                </a:r>
                <a:r>
                  <a:rPr lang="vi-VN"/>
                  <a:t>u_n</a:t>
                </a:r>
                <a:r>
                  <a:rPr sz="2400">
                    <a:solidFill>
                      <a:srgbClr val="1E293B"/>
                    </a:solidFill>
                    <a:latin typeface="Calibri"/>
                  </a:rPr>
                  <a:t> và 1.</a:t>
                </a:r>
              </a:p>
              <a:p>
                <a:pPr algn="l" marL="365760" indent="-365760">
                  <a:spcAft>
                    <a:spcPts val="800"/>
                  </a:spcAft>
                  <a:buClr>
                    <a:srgbClr val="1E40AF"/>
                  </a:buClr>
                  <a:buFont typeface="Arial"/>
                  <a:buChar char="•"/>
                </a:pPr>
                <a:r>
                  <a:rPr sz="2400">
                    <a:solidFill>
                      <a:srgbClr val="1E293B"/>
                    </a:solidFill>
                    <a:latin typeface="Calibri"/>
                  </a:rPr>
                  <a:t>b) So sánh </a:t>
                </a:r>
                <a:r>
                  <a:rPr lang="vi-VN"/>
                  <a:t>u_n</a:t>
                </a:r>
                <a:r>
                  <a:rPr sz="2400">
                    <a:solidFill>
                      <a:srgbClr val="1E293B"/>
                    </a:solidFill>
                    <a:latin typeface="Calibri"/>
                  </a:rPr>
                  <a:t> và 2.</a:t>
                </a:r>
              </a:p>
              <a:p>
                <a:pPr algn="l">
                  <a:spcAft>
                    <a:spcPts val="800"/>
                  </a:spcAft>
                </a:pPr>
                <a:r>
                  <a:rPr sz="2400" b="1">
                    <a:solidFill>
                      <a:srgbClr val="1E40AF"/>
                    </a:solidFill>
                    <a:latin typeface="Calibri"/>
                  </a:rPr>
                  <a:t>Gợi mở: Viết </a:t>
                </a:r>
                <a:r>
                  <a:rPr lang="vi-VN"/>
                  <a:t>u_n=1+\frac{1}{n}</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HĐ5: DÃY SỐ BỊ CHẶN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362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n+1</m:t>
                        </m:r>
                      </m:num>
                      <m:den>
                        <m:r>
                          <a:rPr lang="vi-VN" sz="2200" b="0">
                            <a:solidFill>
                              <a:srgbClr val="1E293B"/>
                            </a:solidFill>
                            <a:latin typeface="Cambria Math" panose="02040503050406030204" pitchFamily="18" charset="0"/>
                          </a:rPr>
                          <m:t>n</m:t>
                        </m:r>
                      </m:den>
                    </m:f>
                    <m:r>
                      <a:rPr lang="vi-VN" sz="2200" b="0">
                        <a:solidFill>
                          <a:srgbClr val="1E293B"/>
                        </a:solidFill>
                        <a:latin typeface="Cambria Math" panose="02040503050406030204" pitchFamily="18" charset="0"/>
                      </a:rPr>
                      <m:t>=1+</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oMath>
                </a14:m>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r>
                      <a:rPr lang="vi-VN" sz="2200" b="0">
                        <a:solidFill>
                          <a:srgbClr val="1E293B"/>
                        </a:solidFill>
                        <a:latin typeface="Cambria Math" panose="02040503050406030204" pitchFamily="18" charset="0"/>
                      </a:rPr>
                      <m:t>&gt;0</m:t>
                    </m:r>
                  </m:oMath>
                </a14:m>
                <a:r>
                  <a:rPr sz="2200">
                    <a:solidFill>
                      <a:srgbClr val="1E293B"/>
                    </a:solidFill>
                    <a:latin typeface="Calibri"/>
                  </a:rPr>
                  <a:t> nên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&gt;1</m:t>
                    </m:r>
                  </m:oMath>
                </a14:m>
              </a:p>
            </p:txBody>
          </p:sp>
        </mc:Choice>
        <mc:Fallback>
          <p:sp>
            <p:nvSpPr>
              <p:cNvPr id="7" name="TextBox 6"/>
              <p:cNvSpPr txBox="1"/>
              <p:nvPr/>
            </p:nvSpPr>
            <p:spPr>
              <a:xfrm>
                <a:off x="731520" y="1463040"/>
                <a:ext cx="10789920" cy="14362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u_n=\frac{n+1}{n}=1+\frac{1}{n}</a:t>
                </a:r>
              </a:p>
              <a:p>
                <a:pPr algn="l" marL="365760" indent="-365760">
                  <a:spcAft>
                    <a:spcPts val="800"/>
                  </a:spcAft>
                  <a:buClr>
                    <a:srgbClr val="1E40AF"/>
                  </a:buClr>
                  <a:buFont typeface="Arial"/>
                  <a:buChar char="•"/>
                </a:pPr>
                <a:r>
                  <a:rPr sz="2200">
                    <a:solidFill>
                      <a:srgbClr val="1E293B"/>
                    </a:solidFill>
                    <a:latin typeface="Calibri"/>
                  </a:rPr>
                  <a:t>a) </a:t>
                </a:r>
                <a:r>
                  <a:rPr lang="vi-VN"/>
                  <a:t>\frac{1}{n}&gt;0</a:t>
                </a:r>
                <a:r>
                  <a:rPr sz="2200">
                    <a:solidFill>
                      <a:srgbClr val="1E293B"/>
                    </a:solidFill>
                    <a:latin typeface="Calibri"/>
                  </a:rPr>
                  <a:t> nên </a:t>
                </a:r>
                <a:r>
                  <a:rPr lang="vi-VN"/>
                  <a:t>u_n&gt;1</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HĐ5: DÃY SỐ BỊ CHẶN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r>
                      <a:rPr lang="vi-VN" sz="2200" b="0">
                        <a:solidFill>
                          <a:srgbClr val="1E293B"/>
                        </a:solidFill>
                        <a:latin typeface="Cambria Math" panose="02040503050406030204" pitchFamily="18" charset="0"/>
                      </a:rPr>
                      <m:t>≤1</m:t>
                    </m:r>
                  </m:oMath>
                </a14:m>
                <a:r>
                  <a:rPr sz="2200">
                    <a:solidFill>
                      <a:srgbClr val="1E293B"/>
                    </a:solidFill>
                    <a:latin typeface="Calibri"/>
                  </a:rPr>
                  <a:t> nên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≤2</m:t>
                    </m:r>
                  </m:oMath>
                </a14:m>
                <a:r>
                  <a:rPr sz="2200">
                    <a:solidFill>
                      <a:srgbClr val="1E293B"/>
                    </a:solidFill>
                    <a:latin typeface="Calibri"/>
                  </a:rPr>
                  <a:t> (dấu bằng khi </a:t>
                </a:r>
                <a14:m>
                  <m:oMath xmlns:m="http://schemas.openxmlformats.org/officeDocument/2006/math">
                    <m:r>
                      <a:rPr lang="vi-VN" sz="2200" b="0">
                        <a:solidFill>
                          <a:srgbClr val="1E293B"/>
                        </a:solidFill>
                        <a:latin typeface="Cambria Math" panose="02040503050406030204" pitchFamily="18" charset="0"/>
                      </a:rPr>
                      <m:t>n=1</m:t>
                    </m:r>
                  </m:oMath>
                </a14:m>
                <a:r>
                  <a:rPr sz="2200">
                    <a:solidFill>
                      <a:srgbClr val="1E293B"/>
                    </a:solidFill>
                    <a:latin typeface="Calibri"/>
                  </a:rPr>
                  <a:t>)</a:t>
                </a:r>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a:t>
                </a:r>
                <a:r>
                  <a:rPr lang="vi-VN"/>
                  <a:t>\frac{1}{n}\le 1</a:t>
                </a:r>
                <a:r>
                  <a:rPr sz="2200">
                    <a:solidFill>
                      <a:srgbClr val="1E293B"/>
                    </a:solidFill>
                    <a:latin typeface="Calibri"/>
                  </a:rPr>
                  <a:t> nên </a:t>
                </a:r>
                <a:r>
                  <a:rPr lang="vi-VN"/>
                  <a:t>u_n\le 2</a:t>
                </a:r>
                <a:r>
                  <a:rPr sz="2200">
                    <a:solidFill>
                      <a:srgbClr val="1E293B"/>
                    </a:solidFill>
                    <a:latin typeface="Calibri"/>
                  </a:rPr>
                  <a:t> (dấu bằng khi </a:t>
                </a:r>
                <a:r>
                  <a:rPr lang="vi-VN"/>
                  <a:t>n=1</a:t>
                </a:r>
                <a:r>
                  <a:rPr sz="2200">
                    <a:solidFill>
                      <a:srgbClr val="1E293B"/>
                    </a:solidFill>
                    <a:latin typeface="Calibri"/>
                  </a:rPr>
                  <a:t>)</a:t>
                </a:r>
              </a:p>
            </p:txBody>
          </p:sp>
        </mc:Fallback>
      </mc:AlternateContent>
      <p:pic>
        <p:nvPicPr>
          <p:cNvPr id="8" name="Picture 7" descr="img04.png"/>
          <p:cNvPicPr>
            <a:picLocks noChangeAspect="1"/>
          </p:cNvPicPr>
          <p:nvPr/>
        </p:nvPicPr>
        <p:blipFill>
          <a:blip r:embed="rId2"/>
          <a:stretch>
            <a:fillRect/>
          </a:stretch>
        </p:blipFill>
        <p:spPr>
          <a:xfrm>
            <a:off x="2186986" y="2236597"/>
            <a:ext cx="7787547" cy="402704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BỊ CHẶN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44</a:t>
            </a:r>
          </a:p>
        </p:txBody>
      </p:sp>
      <p:sp>
        <p:nvSpPr>
          <p:cNvPr id="7" name="Rounded Rectangle 6"/>
          <p:cNvSpPr/>
          <p:nvPr/>
        </p:nvSpPr>
        <p:spPr>
          <a:xfrm>
            <a:off x="731520" y="1463040"/>
            <a:ext cx="9601200" cy="2788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a:t>
                </a:r>
                <a:r>
                  <a:rPr sz="2200" b="1">
                    <a:solidFill>
                      <a:srgbClr val="991B1B"/>
                    </a:solidFill>
                    <a:latin typeface="Calibri"/>
                  </a:rPr>
                  <a:t>bị chặn trên</a:t>
                </a:r>
                <a:r>
                  <a:rPr sz="2200" b="1">
                    <a:solidFill>
                      <a:srgbClr val="991B1B"/>
                    </a:solidFill>
                    <a:latin typeface="Calibri"/>
                  </a:rPr>
                  <a:t> nếu tồn tại một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sao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m:t>
                    </m:r>
                  </m:oMath>
                </a14:m>
                <a:r>
                  <a:rPr sz="22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a:t>
                </a:r>
              </a:p>
              <a:p>
                <a:pPr algn="l">
                  <a:spcAft>
                    <a:spcPts val="400"/>
                  </a:spcAft>
                </a:pPr>
                <a:r>
                  <a:rPr sz="22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a:t>
                </a:r>
                <a:r>
                  <a:rPr sz="2200" b="1">
                    <a:solidFill>
                      <a:srgbClr val="991B1B"/>
                    </a:solidFill>
                    <a:latin typeface="Calibri"/>
                  </a:rPr>
                  <a:t>bị chặn dưới</a:t>
                </a:r>
                <a:r>
                  <a:rPr sz="2200" b="1">
                    <a:solidFill>
                      <a:srgbClr val="991B1B"/>
                    </a:solidFill>
                    <a:latin typeface="Calibri"/>
                  </a:rPr>
                  <a:t> nếu tồn tại một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sao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m:t>
                    </m:r>
                  </m:oMath>
                </a14:m>
                <a:r>
                  <a:rPr sz="22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a:t>
                </a:r>
              </a:p>
              <a:p>
                <a:pPr algn="l">
                  <a:spcAft>
                    <a:spcPts val="400"/>
                  </a:spcAft>
                </a:pPr>
                <a:r>
                  <a:rPr sz="22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a:t>
                </a:r>
                <a:r>
                  <a:rPr sz="2200" b="1">
                    <a:solidFill>
                      <a:srgbClr val="991B1B"/>
                    </a:solidFill>
                    <a:latin typeface="Calibri"/>
                  </a:rPr>
                  <a:t>bị chặn</a:t>
                </a:r>
                <a:r>
                  <a:rPr sz="2200" b="1">
                    <a:solidFill>
                      <a:srgbClr val="991B1B"/>
                    </a:solidFill>
                    <a:latin typeface="Calibri"/>
                  </a:rPr>
                  <a:t> nếu nó vừa bị chặn trên vừa bị chặn dưới, tức là tồn tại các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sao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m:t>
                    </m:r>
                  </m:oMath>
                </a14:m>
                <a:r>
                  <a:rPr sz="22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a:t>
                </a:r>
              </a:p>
            </p:txBody>
          </p:sp>
        </mc:Choice>
        <mc:Fallback>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Dãy số </a:t>
                </a:r>
                <a:r>
                  <a:rPr lang="vi-VN"/>
                  <a:t>(u_n)</a:t>
                </a:r>
                <a:r>
                  <a:rPr sz="2200" b="1">
                    <a:solidFill>
                      <a:srgbClr val="991B1B"/>
                    </a:solidFill>
                    <a:latin typeface="Calibri"/>
                  </a:rPr>
                  <a:t> được gọi là </a:t>
                </a:r>
                <a:r>
                  <a:rPr sz="2200" b="1">
                    <a:solidFill>
                      <a:srgbClr val="991B1B"/>
                    </a:solidFill>
                    <a:latin typeface="Calibri"/>
                  </a:rPr>
                  <a:t>bị chặn trên</a:t>
                </a:r>
                <a:r>
                  <a:rPr sz="2200" b="1">
                    <a:solidFill>
                      <a:srgbClr val="991B1B"/>
                    </a:solidFill>
                    <a:latin typeface="Calibri"/>
                  </a:rPr>
                  <a:t> nếu tồn tại một số </a:t>
                </a:r>
                <a:r>
                  <a:rPr lang="vi-VN"/>
                  <a:t>M</a:t>
                </a:r>
                <a:r>
                  <a:rPr sz="2200" b="1">
                    <a:solidFill>
                      <a:srgbClr val="991B1B"/>
                    </a:solidFill>
                    <a:latin typeface="Calibri"/>
                  </a:rPr>
                  <a:t> sao cho </a:t>
                </a:r>
                <a:r>
                  <a:rPr lang="vi-VN"/>
                  <a:t>u_n≤M</a:t>
                </a:r>
                <a:r>
                  <a:rPr sz="2200" b="1">
                    <a:solidFill>
                      <a:srgbClr val="991B1B"/>
                    </a:solidFill>
                    <a:latin typeface="Calibri"/>
                  </a:rPr>
                  <a:t> với mọi </a:t>
                </a:r>
                <a:r>
                  <a:rPr lang="vi-VN"/>
                  <a:t>n∈ℕ^*</a:t>
                </a:r>
                <a:r>
                  <a:rPr sz="2200" b="1">
                    <a:solidFill>
                      <a:srgbClr val="991B1B"/>
                    </a:solidFill>
                    <a:latin typeface="Calibri"/>
                  </a:rPr>
                  <a:t>.</a:t>
                </a:r>
              </a:p>
              <a:p>
                <a:pPr algn="l">
                  <a:spcAft>
                    <a:spcPts val="400"/>
                  </a:spcAft>
                </a:pPr>
                <a:r>
                  <a:rPr sz="2200" b="1">
                    <a:solidFill>
                      <a:srgbClr val="991B1B"/>
                    </a:solidFill>
                    <a:latin typeface="Calibri"/>
                  </a:rPr>
                  <a:t>Dãy số </a:t>
                </a:r>
                <a:r>
                  <a:rPr lang="vi-VN"/>
                  <a:t>(u_n)</a:t>
                </a:r>
                <a:r>
                  <a:rPr sz="2200" b="1">
                    <a:solidFill>
                      <a:srgbClr val="991B1B"/>
                    </a:solidFill>
                    <a:latin typeface="Calibri"/>
                  </a:rPr>
                  <a:t> được gọi là </a:t>
                </a:r>
                <a:r>
                  <a:rPr sz="2200" b="1">
                    <a:solidFill>
                      <a:srgbClr val="991B1B"/>
                    </a:solidFill>
                    <a:latin typeface="Calibri"/>
                  </a:rPr>
                  <a:t>bị chặn dưới</a:t>
                </a:r>
                <a:r>
                  <a:rPr sz="2200" b="1">
                    <a:solidFill>
                      <a:srgbClr val="991B1B"/>
                    </a:solidFill>
                    <a:latin typeface="Calibri"/>
                  </a:rPr>
                  <a:t> nếu tồn tại một số </a:t>
                </a:r>
                <a:r>
                  <a:rPr lang="vi-VN"/>
                  <a:t>m</a:t>
                </a:r>
                <a:r>
                  <a:rPr sz="2200" b="1">
                    <a:solidFill>
                      <a:srgbClr val="991B1B"/>
                    </a:solidFill>
                    <a:latin typeface="Calibri"/>
                  </a:rPr>
                  <a:t> sao cho </a:t>
                </a:r>
                <a:r>
                  <a:rPr lang="vi-VN"/>
                  <a:t>u_n≥m</a:t>
                </a:r>
                <a:r>
                  <a:rPr sz="2200" b="1">
                    <a:solidFill>
                      <a:srgbClr val="991B1B"/>
                    </a:solidFill>
                    <a:latin typeface="Calibri"/>
                  </a:rPr>
                  <a:t> với mọi </a:t>
                </a:r>
                <a:r>
                  <a:rPr lang="vi-VN"/>
                  <a:t>n∈ℕ^*</a:t>
                </a:r>
                <a:r>
                  <a:rPr sz="2200" b="1">
                    <a:solidFill>
                      <a:srgbClr val="991B1B"/>
                    </a:solidFill>
                    <a:latin typeface="Calibri"/>
                  </a:rPr>
                  <a:t>.</a:t>
                </a:r>
              </a:p>
              <a:p>
                <a:pPr algn="l">
                  <a:spcAft>
                    <a:spcPts val="400"/>
                  </a:spcAft>
                </a:pPr>
                <a:r>
                  <a:rPr sz="2200" b="1">
                    <a:solidFill>
                      <a:srgbClr val="991B1B"/>
                    </a:solidFill>
                    <a:latin typeface="Calibri"/>
                  </a:rPr>
                  <a:t>Dãy số </a:t>
                </a:r>
                <a:r>
                  <a:rPr lang="vi-VN"/>
                  <a:t>(u_n)</a:t>
                </a:r>
                <a:r>
                  <a:rPr sz="2200" b="1">
                    <a:solidFill>
                      <a:srgbClr val="991B1B"/>
                    </a:solidFill>
                    <a:latin typeface="Calibri"/>
                  </a:rPr>
                  <a:t> được gọi là </a:t>
                </a:r>
                <a:r>
                  <a:rPr sz="2200" b="1">
                    <a:solidFill>
                      <a:srgbClr val="991B1B"/>
                    </a:solidFill>
                    <a:latin typeface="Calibri"/>
                  </a:rPr>
                  <a:t>bị chặn</a:t>
                </a:r>
                <a:r>
                  <a:rPr sz="2200" b="1">
                    <a:solidFill>
                      <a:srgbClr val="991B1B"/>
                    </a:solidFill>
                    <a:latin typeface="Calibri"/>
                  </a:rPr>
                  <a:t> nếu nó vừa bị chặn trên vừa bị chặn dưới, tức là tồn tại các số </a:t>
                </a:r>
                <a:r>
                  <a:rPr lang="vi-VN"/>
                  <a:t>m</a:t>
                </a:r>
                <a:r>
                  <a:rPr sz="2200" b="1">
                    <a:solidFill>
                      <a:srgbClr val="991B1B"/>
                    </a:solidFill>
                    <a:latin typeface="Calibri"/>
                  </a:rPr>
                  <a:t>, </a:t>
                </a:r>
                <a:r>
                  <a:rPr lang="vi-VN"/>
                  <a:t>M</a:t>
                </a:r>
                <a:r>
                  <a:rPr sz="2200" b="1">
                    <a:solidFill>
                      <a:srgbClr val="991B1B"/>
                    </a:solidFill>
                    <a:latin typeface="Calibri"/>
                  </a:rPr>
                  <a:t> sao cho </a:t>
                </a:r>
                <a:r>
                  <a:rPr lang="vi-VN"/>
                  <a:t>m≤u_n≤M</a:t>
                </a:r>
                <a:r>
                  <a:rPr sz="2200" b="1">
                    <a:solidFill>
                      <a:srgbClr val="991B1B"/>
                    </a:solidFill>
                    <a:latin typeface="Calibri"/>
                  </a:rPr>
                  <a:t> với mọi </a:t>
                </a:r>
                <a:r>
                  <a:rPr lang="vi-VN"/>
                  <a:t>n∈ℕ^*</a:t>
                </a:r>
                <a:r>
                  <a:rPr sz="2200" b="1">
                    <a:solidFill>
                      <a:srgbClr val="991B1B"/>
                    </a:solidFill>
                    <a:latin typeface="Calibri"/>
                  </a:rPr>
                  <a:t>.</a:t>
                </a: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oMath>
                </a14:m>
                <a:r>
                  <a:rPr sz="2400">
                    <a:solidFill>
                      <a:srgbClr val="1E293B"/>
                    </a:solidFill>
                    <a:latin typeface="Calibri"/>
                  </a:rPr>
                  <a:t>.</a:t>
                </a:r>
              </a:p>
              <a:p>
                <a:pPr algn="l">
                  <a:spcAft>
                    <a:spcPts val="800"/>
                  </a:spcAft>
                </a:pPr>
                <a:r>
                  <a:rPr sz="2400" b="1">
                    <a:solidFill>
                      <a:srgbClr val="1E40AF"/>
                    </a:solidFill>
                    <a:latin typeface="Calibri"/>
                  </a:rPr>
                  <a:t>Gợi mở: Tìm hai số m, M không phụ thuộc n</a:t>
                </a:r>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r>
                  <a:rPr lang="vi-VN"/>
                  <a:t>(u_n)</a:t>
                </a:r>
                <a:r>
                  <a:rPr sz="2400">
                    <a:solidFill>
                      <a:srgbClr val="1E293B"/>
                    </a:solidFill>
                    <a:latin typeface="Calibri"/>
                  </a:rPr>
                  <a:t>, với </a:t>
                </a:r>
                <a:r>
                  <a:rPr lang="vi-VN"/>
                  <a:t>u_n=(n−1)/n</a:t>
                </a:r>
                <a:r>
                  <a:rPr sz="2400">
                    <a:solidFill>
                      <a:srgbClr val="1E293B"/>
                    </a:solidFill>
                    <a:latin typeface="Calibri"/>
                  </a:rPr>
                  <a:t>.</a:t>
                </a:r>
              </a:p>
              <a:p>
                <a:pPr algn="l">
                  <a:spcAft>
                    <a:spcPts val="800"/>
                  </a:spcAft>
                </a:pPr>
                <a:r>
                  <a:rPr sz="2400" b="1">
                    <a:solidFill>
                      <a:srgbClr val="1E40AF"/>
                    </a:solidFill>
                    <a:latin typeface="Calibri"/>
                  </a:rPr>
                  <a:t>Gợi mở: Tìm hai số m, M không phụ thuộc n</a:t>
                </a: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bị chặn trên, vì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r>
                      <a:rPr lang="vi-VN" sz="2400" b="0">
                        <a:solidFill>
                          <a:srgbClr val="1E293B"/>
                        </a:solidFill>
                        <a:latin typeface="Cambria Math" panose="02040503050406030204" pitchFamily="18" charset="0"/>
                      </a:rPr>
                      <m:t>=1−</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m:t>
                        </m:r>
                      </m:den>
                    </m:f>
                    <m:r>
                      <a:rPr lang="vi-VN" sz="2400" b="0">
                        <a:solidFill>
                          <a:srgbClr val="1E293B"/>
                        </a:solidFill>
                        <a:latin typeface="Cambria Math" panose="02040503050406030204" pitchFamily="18" charset="0"/>
                      </a:rPr>
                      <m:t>&lt;1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cũng bị chặn dưới, vì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r>
                      <a:rPr lang="vi-VN" sz="2400" b="0">
                        <a:solidFill>
                          <a:srgbClr val="1E293B"/>
                        </a:solidFill>
                        <a:latin typeface="Cambria Math" panose="02040503050406030204" pitchFamily="18" charset="0"/>
                      </a:rPr>
                      <m:t>≥0</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Vậy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bị chặn.</a:t>
                </a:r>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r>
                  <a:rPr lang="vi-VN"/>
                  <a:t>(u_n)</a:t>
                </a:r>
                <a:r>
                  <a:rPr sz="2400">
                    <a:solidFill>
                      <a:srgbClr val="1E293B"/>
                    </a:solidFill>
                    <a:latin typeface="Calibri"/>
                  </a:rPr>
                  <a:t> bị chặn trên, vì </a:t>
                </a:r>
                <a:r>
                  <a:rPr lang="vi-VN"/>
                  <a:t>u_n=(n−1)/n=1−1/n&lt;1</a:t>
                </a:r>
                <a:r>
                  <a:rPr sz="2400">
                    <a:solidFill>
                      <a:srgbClr val="1E293B"/>
                    </a:solidFill>
                    <a:latin typeface="Calibri"/>
                  </a:rPr>
                  <a:t>, </a:t>
                </a:r>
                <a:r>
                  <a:rPr lang="vi-VN"/>
                  <a:t>∀n∈ℕ^*</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Dãy số </a:t>
                </a:r>
                <a:r>
                  <a:rPr lang="vi-VN"/>
                  <a:t>(u_n)</a:t>
                </a:r>
                <a:r>
                  <a:rPr sz="2400">
                    <a:solidFill>
                      <a:srgbClr val="1E293B"/>
                    </a:solidFill>
                    <a:latin typeface="Calibri"/>
                  </a:rPr>
                  <a:t> cũng bị chặn dưới, vì </a:t>
                </a:r>
                <a:r>
                  <a:rPr lang="vi-VN"/>
                  <a:t>u_n=(n−1)/n≥0</a:t>
                </a:r>
                <a:r>
                  <a:rPr sz="2400">
                    <a:solidFill>
                      <a:srgbClr val="1E293B"/>
                    </a:solidFill>
                    <a:latin typeface="Calibri"/>
                  </a:rPr>
                  <a:t>, </a:t>
                </a:r>
                <a:r>
                  <a:rPr lang="vi-VN"/>
                  <a:t>∀n∈ℕ^*</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Vậy dãy số </a:t>
                </a:r>
                <a:r>
                  <a:rPr lang="vi-VN"/>
                  <a:t>(u_n)</a:t>
                </a:r>
                <a:r>
                  <a:rPr sz="2400">
                    <a:solidFill>
                      <a:srgbClr val="1E293B"/>
                    </a:solidFill>
                    <a:latin typeface="Calibri"/>
                  </a:rPr>
                  <a:t> bị chặn.</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0≤</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&lt;1</m:t>
                    </m:r>
                  </m:oMath>
                </a14:m>
                <a:r>
                  <a:rPr sz="2400" b="1">
                    <a:solidFill>
                      <a:srgbClr val="991B1B"/>
                    </a:solidFill>
                    <a:latin typeface="Calibri"/>
                  </a:rPr>
                  <a:t>: dãy số bị chặn</a:t>
                </a:r>
              </a:p>
            </p:txBody>
          </p:sp>
        </mc:Choice>
        <mc:Fallback>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0\le u_n&lt;1</a:t>
                </a:r>
                <a:r>
                  <a:rPr sz="2400" b="1">
                    <a:solidFill>
                      <a:srgbClr val="991B1B"/>
                    </a:solidFill>
                    <a:latin typeface="Calibri"/>
                  </a:rPr>
                  <a:t>: dãy số bị chặn</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m:t>
                    </m:r>
                  </m:oMath>
                </a14:m>
                <a:r>
                  <a:rPr sz="2400">
                    <a:solidFill>
                      <a:srgbClr val="1E293B"/>
                    </a:solidFill>
                    <a:latin typeface="Calibri"/>
                  </a:rPr>
                  <a:t>.</a:t>
                </a:r>
              </a:p>
            </p:txBody>
          </p:sp>
        </mc:Choice>
        <mc:Fallback>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r>
                  <a:rPr lang="vi-VN"/>
                  <a:t>(u_n)</a:t>
                </a:r>
                <a:r>
                  <a:rPr sz="2400">
                    <a:solidFill>
                      <a:srgbClr val="1E293B"/>
                    </a:solidFill>
                    <a:latin typeface="Calibri"/>
                  </a:rPr>
                  <a:t>, với </a:t>
                </a:r>
                <a:r>
                  <a:rPr lang="vi-VN"/>
                  <a:t>u_n=2n−1</a:t>
                </a:r>
                <a:r>
                  <a:rPr sz="2400">
                    <a:solidFill>
                      <a:srgbClr val="1E293B"/>
                    </a:solidFill>
                    <a:latin typeface="Calibri"/>
                  </a:rPr>
                  <a:t>.</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=2n−1≥2·1−1=1</m:t>
                    </m:r>
                  </m:oMath>
                </a14:m>
                <a:r>
                  <a:rPr sz="2400">
                    <a:solidFill>
                      <a:srgbClr val="1E293B"/>
                    </a:solidFill>
                    <a:latin typeface="Calibri"/>
                  </a:rPr>
                  <a:t> với mọi n: bị chặn dưới bởi 1</a:t>
                </a:r>
              </a:p>
              <a:p>
                <a:pPr algn="l" marL="365760" indent="-365760">
                  <a:spcAft>
                    <a:spcPts val="800"/>
                  </a:spcAft>
                  <a:buClr>
                    <a:srgbClr val="1E40AF"/>
                  </a:buClr>
                  <a:buFont typeface="Arial"/>
                  <a:buChar char="•"/>
                </a:pPr>
                <a:r>
                  <a:rPr sz="2400">
                    <a:solidFill>
                      <a:srgbClr val="1E293B"/>
                    </a:solidFill>
                    <a:latin typeface="Calibri"/>
                  </a:rPr>
                  <a:t>Với mọi số M, chọn </a:t>
                </a:r>
                <a14:m>
                  <m:oMath xmlns:m="http://schemas.openxmlformats.org/officeDocument/2006/math">
                    <m:r>
                      <a:rPr lang="vi-VN" sz="2400" b="0">
                        <a:solidFill>
                          <a:srgbClr val="1E293B"/>
                        </a:solidFill>
                        <a:latin typeface="Cambria Math" panose="02040503050406030204" pitchFamily="18" charset="0"/>
                      </a:rPr>
                      <m:t>n&gt;</m:t>
                    </m:r>
                    <m:f>
                      <m:fPr>
                        <m:type m:val="bar"/>
                      </m:fPr>
                      <m:num>
                        <m:r>
                          <a:rPr lang="vi-VN" sz="2400" b="0">
                            <a:solidFill>
                              <a:srgbClr val="1E293B"/>
                            </a:solidFill>
                            <a:latin typeface="Cambria Math" panose="02040503050406030204" pitchFamily="18" charset="0"/>
                          </a:rPr>
                          <m:t>M+1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thì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=2n−1&gt;M</m:t>
                    </m:r>
                  </m:oMath>
                </a14:m>
              </a:p>
              <a:p>
                <a:pPr algn="l" marL="365760" indent="-365760">
                  <a:spcAft>
                    <a:spcPts val="800"/>
                  </a:spcAft>
                  <a:buClr>
                    <a:srgbClr val="1E40AF"/>
                  </a:buClr>
                  <a:buFont typeface="Arial"/>
                  <a:buChar char="•"/>
                </a:pPr>
                <a:r>
                  <a:rPr sz="2400">
                    <a:solidFill>
                      <a:srgbClr val="1E293B"/>
                    </a:solidFill>
                    <a:latin typeface="Calibri"/>
                  </a:rPr>
                  <a:t>Nên dãy không bị chặn trên</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u_n=2n-1\ge 2\cdot 1-1=1</a:t>
                </a:r>
                <a:r>
                  <a:rPr sz="2400">
                    <a:solidFill>
                      <a:srgbClr val="1E293B"/>
                    </a:solidFill>
                    <a:latin typeface="Calibri"/>
                  </a:rPr>
                  <a:t> với mọi n: bị chặn dưới bởi 1</a:t>
                </a:r>
              </a:p>
              <a:p>
                <a:pPr algn="l" marL="365760" indent="-365760">
                  <a:spcAft>
                    <a:spcPts val="800"/>
                  </a:spcAft>
                  <a:buClr>
                    <a:srgbClr val="1E40AF"/>
                  </a:buClr>
                  <a:buFont typeface="Arial"/>
                  <a:buChar char="•"/>
                </a:pPr>
                <a:r>
                  <a:rPr sz="2400">
                    <a:solidFill>
                      <a:srgbClr val="1E293B"/>
                    </a:solidFill>
                    <a:latin typeface="Calibri"/>
                  </a:rPr>
                  <a:t>Với mọi số M, chọn </a:t>
                </a:r>
                <a:r>
                  <a:rPr lang="vi-VN"/>
                  <a:t>n&gt;\frac{M+1}{2}</a:t>
                </a:r>
                <a:r>
                  <a:rPr sz="2400">
                    <a:solidFill>
                      <a:srgbClr val="1E293B"/>
                    </a:solidFill>
                    <a:latin typeface="Calibri"/>
                  </a:rPr>
                  <a:t> thì </a:t>
                </a:r>
                <a:r>
                  <a:rPr lang="vi-VN"/>
                  <a:t>u_n=2n-1&gt;M</a:t>
                </a:r>
              </a:p>
              <a:p>
                <a:pPr algn="l" marL="365760" indent="-365760">
                  <a:spcAft>
                    <a:spcPts val="800"/>
                  </a:spcAft>
                  <a:buClr>
                    <a:srgbClr val="1E40AF"/>
                  </a:buClr>
                  <a:buFont typeface="Arial"/>
                  <a:buChar char="•"/>
                </a:pPr>
                <a:r>
                  <a:rPr sz="2400">
                    <a:solidFill>
                      <a:srgbClr val="1E293B"/>
                    </a:solidFill>
                    <a:latin typeface="Calibri"/>
                  </a:rPr>
                  <a:t>Nên dãy không bị chặn trên</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bị chặn dưới, không bị chặn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80516"/>
              </a:xfrm>
              <a:prstGeom prst="rect">
                <a:avLst/>
              </a:prstGeom>
              <a:noFill/>
            </p:spPr>
            <p:txBody>
              <a:bodyPr wrap="square" anchor="t" lIns="45720" rIns="45720">
                <a:spAutoFit/>
              </a:bodyPr>
              <a:lstStyle/>
              <a:p>
                <a:pPr algn="l">
                  <a:spcAft>
                    <a:spcPts val="800"/>
                  </a:spcAft>
                </a:pPr>
                <a:r>
                  <a:rPr sz="2400">
                    <a:solidFill>
                      <a:srgbClr val="1E293B"/>
                    </a:solidFill>
                    <a:latin typeface="Calibri"/>
                  </a:rPr>
                  <a:t>Có bạn kết luận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nên dãy số tăng". Em có đồng ý không? Kiểm chứng với dãy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n</m:t>
                            </m:r>
                          </m:sup>
                        </m:sSup>
                      </m:num>
                      <m:den>
                        <m:r>
                          <a:rPr lang="vi-VN" sz="2400" b="0">
                            <a:solidFill>
                              <a:srgbClr val="1E293B"/>
                            </a:solidFill>
                            <a:latin typeface="Cambria Math" panose="02040503050406030204" pitchFamily="18" charset="0"/>
                          </a:rPr>
                          <m:t>n</m:t>
                        </m:r>
                      </m:den>
                    </m:f>
                  </m:oMath>
                </a14:m>
                <a:r>
                  <a:rPr sz="2400">
                    <a:solidFill>
                      <a:srgbClr val="1E293B"/>
                    </a:solidFill>
                    <a:latin typeface="Calibri"/>
                  </a:rPr>
                  <a:t> bằng bảng tính/Desmos.</a:t>
                </a:r>
              </a:p>
            </p:txBody>
          </p:sp>
        </mc:Choice>
        <mc:Fallback>
          <p:sp>
            <p:nvSpPr>
              <p:cNvPr id="7" name="TextBox 6"/>
              <p:cNvSpPr txBox="1"/>
              <p:nvPr/>
            </p:nvSpPr>
            <p:spPr>
              <a:xfrm>
                <a:off x="731520" y="1463040"/>
                <a:ext cx="10789920" cy="1080516"/>
              </a:xfrm>
              <a:prstGeom prst="rect">
                <a:avLst/>
              </a:prstGeom>
              <a:noFill/>
            </p:spPr>
            <p:txBody>
              <a:bodyPr wrap="square" anchor="t" lIns="45720" rIns="45720">
                <a:spAutoFit/>
              </a:bodyPr>
              <a:lstStyle/>
              <a:p>
                <a:pPr algn="l">
                  <a:spcAft>
                    <a:spcPts val="800"/>
                  </a:spcAft>
                </a:pPr>
                <a:r>
                  <a:rPr sz="2400">
                    <a:solidFill>
                      <a:srgbClr val="1E293B"/>
                    </a:solidFill>
                    <a:latin typeface="Calibri"/>
                  </a:rPr>
                  <a:t>Có bạn kết luận "</a:t>
                </a:r>
                <a:r>
                  <a:rPr lang="vi-VN"/>
                  <a:t>u_1&lt;u_2</a:t>
                </a:r>
                <a:r>
                  <a:rPr sz="2400">
                    <a:solidFill>
                      <a:srgbClr val="1E293B"/>
                    </a:solidFill>
                    <a:latin typeface="Calibri"/>
                  </a:rPr>
                  <a:t> nên dãy số tăng". Em có đồng ý không? Kiểm chứng với dãy </a:t>
                </a:r>
                <a:r>
                  <a:rPr lang="vi-VN"/>
                  <a:t>u_n=((−1)^n)/n</a:t>
                </a:r>
                <a:r>
                  <a:rPr sz="2400">
                    <a:solidFill>
                      <a:srgbClr val="1E293B"/>
                    </a:solidFill>
                    <a:latin typeface="Calibri"/>
                  </a:rPr>
                  <a:t> bằng bảng tính/Desmos.</a:t>
                </a: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nhưng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p>
              <a:p>
                <a:pPr algn="l" marL="365760" indent="-365760">
                  <a:spcAft>
                    <a:spcPts val="800"/>
                  </a:spcAft>
                  <a:buClr>
                    <a:srgbClr val="1E40AF"/>
                  </a:buClr>
                  <a:buFont typeface="Arial"/>
                  <a:buChar char="•"/>
                </a:pPr>
                <a:r>
                  <a:rPr sz="2400">
                    <a:solidFill>
                      <a:srgbClr val="1E293B"/>
                    </a:solidFill>
                    <a:latin typeface="Calibri"/>
                  </a:rPr>
                  <a:t>Các số hạng đổi dấu liên tục: dãy không tăng, không giảm</a:t>
                </a:r>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u_1=-1&lt;u_2=\frac{1}{2}</a:t>
                </a:r>
                <a:r>
                  <a:rPr sz="2400">
                    <a:solidFill>
                      <a:srgbClr val="1E293B"/>
                    </a:solidFill>
                    <a:latin typeface="Calibri"/>
                  </a:rPr>
                  <a:t> nhưng </a:t>
                </a:r>
                <a:r>
                  <a:rPr lang="vi-VN"/>
                  <a:t>u_3=-\frac{1}{3}&lt;u_2</a:t>
                </a:r>
              </a:p>
              <a:p>
                <a:pPr algn="l" marL="365760" indent="-365760">
                  <a:spcAft>
                    <a:spcPts val="800"/>
                  </a:spcAft>
                  <a:buClr>
                    <a:srgbClr val="1E40AF"/>
                  </a:buClr>
                  <a:buFont typeface="Arial"/>
                  <a:buChar char="•"/>
                </a:pPr>
                <a:r>
                  <a:rPr sz="2400">
                    <a:solidFill>
                      <a:srgbClr val="1E293B"/>
                    </a:solidFill>
                    <a:latin typeface="Calibri"/>
                  </a:rPr>
                  <a:t>Các số hạng đổi dấu liên tục: dãy không tăng, không giảm</a:t>
                </a:r>
              </a:p>
            </p:txBody>
          </p:sp>
        </mc:Fallback>
      </mc:AlternateContent>
      <p:sp>
        <p:nvSpPr>
          <p:cNvPr id="8" name="Rounded Rectangle 7"/>
          <p:cNvSpPr/>
          <p:nvPr/>
        </p:nvSpPr>
        <p:spPr>
          <a:xfrm>
            <a:off x="731520" y="2968751"/>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Không kết luận từ vài số hạng – phải xét với mọi 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1 – Bài tập 2.1 – 2.7 (SGK tr.46, 47)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89140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và số hạng thứ 100 của các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có số hạng tổng quát cho bởi:</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=3n−2</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d>
                          <m:dPr>
                            <m:sepChr m:val="+"/>
                          </m:dPr>
                          <m:e>
                            <m:r>
                              <a:rPr lang="vi-VN" sz="2200" b="0">
                                <a:solidFill>
                                  <a:srgbClr val="1E293B"/>
                                </a:solidFill>
                                <a:latin typeface="Cambria Math" panose="02040503050406030204" pitchFamily="18" charset="0"/>
                              </a:rPr>
                              <m:t>1</m:t>
                            </m:r>
                          </m:e>
                          <m:e>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e>
                        </m:d>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a:spcAft>
                    <a:spcPts val="800"/>
                  </a:spcAft>
                </a:pPr>
                <a:r>
                  <a:rPr sz="2200" b="1">
                    <a:solidFill>
                      <a:srgbClr val="1E40AF"/>
                    </a:solidFill>
                    <a:latin typeface="Calibri"/>
                  </a:rPr>
                  <a:t>Gợi mở: Thay n = 1, 2, 3, 4, 5 và n = 100</a:t>
                </a:r>
              </a:p>
            </p:txBody>
          </p:sp>
        </mc:Choice>
        <mc:Fallback>
          <p:sp>
            <p:nvSpPr>
              <p:cNvPr id="7" name="TextBox 6"/>
              <p:cNvSpPr txBox="1"/>
              <p:nvPr/>
            </p:nvSpPr>
            <p:spPr>
              <a:xfrm>
                <a:off x="731520" y="1463040"/>
                <a:ext cx="10789920" cy="289140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và số hạng thứ 100 của các dãy số </a:t>
                </a:r>
                <a:r>
                  <a:rPr lang="vi-VN"/>
                  <a:t>(u_n)</a:t>
                </a:r>
                <a:r>
                  <a:rPr sz="2200">
                    <a:solidFill>
                      <a:srgbClr val="1E293B"/>
                    </a:solidFill>
                    <a:latin typeface="Calibri"/>
                  </a:rPr>
                  <a:t> có số hạng tổng quát cho bởi:</a:t>
                </a:r>
              </a:p>
              <a:p>
                <a:pPr algn="l" marL="365760" indent="-365760">
                  <a:spcAft>
                    <a:spcPts val="800"/>
                  </a:spcAft>
                  <a:buClr>
                    <a:srgbClr val="1E40AF"/>
                  </a:buClr>
                  <a:buFont typeface="Arial"/>
                  <a:buChar char="•"/>
                </a:pPr>
                <a:r>
                  <a:rPr sz="2200">
                    <a:solidFill>
                      <a:srgbClr val="1E293B"/>
                    </a:solidFill>
                    <a:latin typeface="Calibri"/>
                  </a:rPr>
                  <a:t>a) </a:t>
                </a:r>
                <a:r>
                  <a:rPr lang="vi-VN"/>
                  <a:t>u_n=3n−2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u_n=3·2^n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u_n=(1 1/n)^n</a:t>
                </a:r>
                <a:r>
                  <a:rPr sz="2200">
                    <a:solidFill>
                      <a:srgbClr val="1E293B"/>
                    </a:solidFill>
                    <a:latin typeface="Calibri"/>
                  </a:rPr>
                  <a:t>.</a:t>
                </a:r>
              </a:p>
              <a:p>
                <a:pPr algn="l">
                  <a:spcAft>
                    <a:spcPts val="800"/>
                  </a:spcAft>
                </a:pPr>
                <a:r>
                  <a:rPr sz="2200" b="1">
                    <a:solidFill>
                      <a:srgbClr val="1E40AF"/>
                    </a:solidFill>
                    <a:latin typeface="Calibri"/>
                  </a:rPr>
                  <a:t>Gợi mở: Thay n = 1, 2, 3, 4, 5 và n = 100</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=3n−2</m:t>
                    </m:r>
                  </m:oMath>
                </a14:m>
                <a:r>
                  <a:rPr sz="2200">
                    <a:solidFill>
                      <a:srgbClr val="1E293B"/>
                    </a:solidFill>
                    <a:latin typeface="Calibri"/>
                  </a:rPr>
                  <a:t>: 1, 4, 7, 10, 13;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=3·100−2=298</m:t>
                    </m:r>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 6, 12, 24, 48, 96;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100</m:t>
                        </m:r>
                      </m:sup>
                    </m:sSup>
                  </m:oMath>
                </a14:m>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2</m:t>
                                </m:r>
                              </m:den>
                            </m:f>
                          </m:e>
                        </m:d>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9</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3</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4</m:t>
                                </m:r>
                              </m:num>
                              <m:den>
                                <m:r>
                                  <a:rPr lang="vi-VN" sz="2200" b="0">
                                    <a:solidFill>
                                      <a:srgbClr val="1E293B"/>
                                    </a:solidFill>
                                    <a:latin typeface="Cambria Math" panose="02040503050406030204" pitchFamily="18" charset="0"/>
                                  </a:rPr>
                                  <m:t>3</m:t>
                                </m:r>
                              </m:den>
                            </m:f>
                          </m:e>
                        </m:d>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64</m:t>
                        </m:r>
                      </m:num>
                      <m:den>
                        <m:r>
                          <a:rPr lang="vi-VN" sz="2200" b="0">
                            <a:solidFill>
                              <a:srgbClr val="1E293B"/>
                            </a:solidFill>
                            <a:latin typeface="Cambria Math" panose="02040503050406030204" pitchFamily="18" charset="0"/>
                          </a:rPr>
                          <m:t>27</m:t>
                        </m:r>
                      </m:den>
                    </m:f>
                  </m:oMath>
                </a14:m>
              </a:p>
            </p:txBody>
          </p:sp>
        </mc:Choice>
        <mc:Fallback>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u_n=3n-2</a:t>
                </a:r>
                <a:r>
                  <a:rPr sz="2200">
                    <a:solidFill>
                      <a:srgbClr val="1E293B"/>
                    </a:solidFill>
                    <a:latin typeface="Calibri"/>
                  </a:rPr>
                  <a:t>: 1, 4, 7, 10, 13;  </a:t>
                </a:r>
                <a:r>
                  <a:rPr lang="vi-VN"/>
                  <a:t>u_{100}=3\cdot 100-2=298</a:t>
                </a:r>
              </a:p>
              <a:p>
                <a:pPr algn="l" marL="365760" indent="-365760">
                  <a:spcAft>
                    <a:spcPts val="800"/>
                  </a:spcAft>
                  <a:buClr>
                    <a:srgbClr val="1E40AF"/>
                  </a:buClr>
                  <a:buFont typeface="Arial"/>
                  <a:buChar char="•"/>
                </a:pPr>
                <a:r>
                  <a:rPr sz="2200">
                    <a:solidFill>
                      <a:srgbClr val="1E293B"/>
                    </a:solidFill>
                    <a:latin typeface="Calibri"/>
                  </a:rPr>
                  <a:t>b) </a:t>
                </a:r>
                <a:r>
                  <a:rPr lang="vi-VN"/>
                  <a:t>u_n=3\cdot 2^n</a:t>
                </a:r>
                <a:r>
                  <a:rPr sz="2200">
                    <a:solidFill>
                      <a:srgbClr val="1E293B"/>
                    </a:solidFill>
                    <a:latin typeface="Calibri"/>
                  </a:rPr>
                  <a:t>: 6, 12, 24, 48, 96;  </a:t>
                </a:r>
                <a:r>
                  <a:rPr lang="vi-VN"/>
                  <a:t>u_{100}=3\cdot 2^{100}</a:t>
                </a:r>
              </a:p>
              <a:p>
                <a:pPr algn="l" marL="365760" indent="-365760">
                  <a:spcAft>
                    <a:spcPts val="800"/>
                  </a:spcAft>
                  <a:buClr>
                    <a:srgbClr val="1E40AF"/>
                  </a:buClr>
                  <a:buFont typeface="Arial"/>
                  <a:buChar char="•"/>
                </a:pPr>
                <a:r>
                  <a:rPr sz="2200">
                    <a:solidFill>
                      <a:srgbClr val="1E293B"/>
                    </a:solidFill>
                    <a:latin typeface="Calibri"/>
                  </a:rPr>
                  <a:t>c) </a:t>
                </a:r>
                <a:r>
                  <a:rPr lang="vi-VN"/>
                  <a:t>u_1=2</a:t>
                </a:r>
                <a:r>
                  <a:rPr sz="2200">
                    <a:solidFill>
                      <a:srgbClr val="1E293B"/>
                    </a:solidFill>
                    <a:latin typeface="Calibri"/>
                  </a:rPr>
                  <a:t>, </a:t>
                </a:r>
                <a:r>
                  <a:rPr lang="vi-VN"/>
                  <a:t>u_2=\paren{\frac{3}{2}}^2=\frac{9}{4}</a:t>
                </a:r>
                <a:r>
                  <a:rPr sz="2200">
                    <a:solidFill>
                      <a:srgbClr val="1E293B"/>
                    </a:solidFill>
                    <a:latin typeface="Calibri"/>
                  </a:rPr>
                  <a:t>, </a:t>
                </a:r>
                <a:r>
                  <a:rPr lang="vi-VN"/>
                  <a:t>u_3=\paren{\frac{4}{3}}^3=\frac{64}{27}</a:t>
                </a: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4</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625</m:t>
                        </m:r>
                      </m:num>
                      <m:den>
                        <m:r>
                          <a:rPr lang="vi-VN" sz="2200" b="0">
                            <a:solidFill>
                              <a:srgbClr val="1E293B"/>
                            </a:solidFill>
                            <a:latin typeface="Cambria Math" panose="02040503050406030204" pitchFamily="18" charset="0"/>
                          </a:rPr>
                          <m:t>256</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6</m:t>
                                </m:r>
                              </m:num>
                              <m:den>
                                <m:r>
                                  <a:rPr lang="vi-VN" sz="2200" b="0">
                                    <a:solidFill>
                                      <a:srgbClr val="1E293B"/>
                                    </a:solidFill>
                                    <a:latin typeface="Cambria Math" panose="02040503050406030204" pitchFamily="18" charset="0"/>
                                  </a:rPr>
                                  <m:t>5</m:t>
                                </m:r>
                              </m:den>
                            </m:f>
                          </m:e>
                        </m:d>
                      </m:e>
                      <m:sup>
                        <m:r>
                          <a:rPr lang="vi-VN" sz="2200" b="0">
                            <a:solidFill>
                              <a:srgbClr val="1E293B"/>
                            </a:solidFill>
                            <a:latin typeface="Cambria Math" panose="02040503050406030204" pitchFamily="18" charset="0"/>
                          </a:rPr>
                          <m:t>5</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7776</m:t>
                        </m:r>
                      </m:num>
                      <m:den>
                        <m:r>
                          <a:rPr lang="vi-VN" sz="2200" b="0">
                            <a:solidFill>
                              <a:srgbClr val="1E293B"/>
                            </a:solidFill>
                            <a:latin typeface="Cambria Math" panose="02040503050406030204" pitchFamily="18" charset="0"/>
                          </a:rPr>
                          <m:t>3125</m:t>
                        </m:r>
                      </m:den>
                    </m:f>
                  </m:oMath>
                </a14:m>
              </a:p>
            </p:txBody>
          </p:sp>
        </mc:Choice>
        <mc:Fallback>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u_4=\paren{\frac{5}{4}}^4=\frac{625}{256}</a:t>
                </a:r>
                <a:r>
                  <a:rPr sz="2200">
                    <a:solidFill>
                      <a:srgbClr val="1E293B"/>
                    </a:solidFill>
                    <a:latin typeface="Calibri"/>
                  </a:rPr>
                  <a:t>, </a:t>
                </a:r>
                <a:r>
                  <a:rPr lang="vi-VN"/>
                  <a:t>u_5=\paren{\frac{6}{5}}^5=\frac{7776}{3125}</a:t>
                </a:r>
              </a:p>
            </p:txBody>
          </p:sp>
        </mc:Fallback>
      </mc:AlternateContent>
      <p:sp>
        <p:nvSpPr>
          <p:cNvPr id="8" name="Rounded Rectangle 7"/>
          <p:cNvSpPr/>
          <p:nvPr/>
        </p:nvSpPr>
        <p:spPr>
          <a:xfrm>
            <a:off x="731520" y="2563495"/>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sSup>
                      <m:e>
                        <m:d>
                          <m:dPr>
                            <m:sepChr m:val=""/>
                          </m:dPr>
                          <m:e>
                            <m:f>
                              <m:fPr>
                                <m:type m:val="bar"/>
                              </m:fPr>
                              <m:num>
                                <m:r>
                                  <a:rPr lang="vi-VN" sz="2200" b="1">
                                    <a:solidFill>
                                      <a:srgbClr val="991B1B"/>
                                    </a:solidFill>
                                    <a:latin typeface="Cambria Math" panose="02040503050406030204" pitchFamily="18" charset="0"/>
                                  </a:rPr>
                                  <m:t>101</m:t>
                                </m:r>
                              </m:num>
                              <m:den>
                                <m:r>
                                  <a:rPr lang="vi-VN" sz="2200" b="1">
                                    <a:solidFill>
                                      <a:srgbClr val="991B1B"/>
                                    </a:solidFill>
                                    <a:latin typeface="Cambria Math" panose="02040503050406030204" pitchFamily="18" charset="0"/>
                                  </a:rPr>
                                  <m:t>100</m:t>
                                </m:r>
                              </m:den>
                            </m:f>
                          </m:e>
                        </m:d>
                      </m:e>
                      <m:sup>
                        <m:r>
                          <a:rPr lang="vi-VN" sz="2200" b="1">
                            <a:solidFill>
                              <a:srgbClr val="991B1B"/>
                            </a:solidFill>
                            <a:latin typeface="Cambria Math" panose="02040503050406030204" pitchFamily="18" charset="0"/>
                          </a:rPr>
                          <m:t>100</m:t>
                        </m:r>
                      </m:sup>
                    </m:sSup>
                    <m:r>
                      <a:rPr lang="vi-VN" sz="2200" b="1">
                        <a:solidFill>
                          <a:srgbClr val="991B1B"/>
                        </a:solidFill>
                        <a:latin typeface="Cambria Math" panose="02040503050406030204" pitchFamily="18" charset="0"/>
                      </a:rPr>
                      <m:t>≈2</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7048</m:t>
                    </m:r>
                  </m:oMath>
                </a14:m>
              </a:p>
            </p:txBody>
          </p:sp>
        </mc:Choice>
        <mc:Fallback>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 </a:t>
                </a:r>
                <a:r>
                  <a:rPr lang="vi-VN"/>
                  <a:t>u_{100}=\paren{\frac{101}{100}}^{100}\approx 2{,}7048</a:t>
                </a: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=n·</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n≥2</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r>
                  <a:rPr lang="vi-VN"/>
                  <a:t>(u_n)</a:t>
                </a:r>
                <a:r>
                  <a:rPr sz="2400">
                    <a:solidFill>
                      <a:srgbClr val="1E293B"/>
                    </a:solidFill>
                    <a:latin typeface="Calibri"/>
                  </a:rPr>
                  <a:t> cho bởi hệ thức truy hồi: </a:t>
                </a:r>
                <a:r>
                  <a:rPr lang="vi-VN"/>
                  <a:t>u_1=1</a:t>
                </a:r>
                <a:r>
                  <a:rPr sz="2400">
                    <a:solidFill>
                      <a:srgbClr val="1E293B"/>
                    </a:solidFill>
                    <a:latin typeface="Calibri"/>
                  </a:rPr>
                  <a:t>, </a:t>
                </a:r>
                <a:r>
                  <a:rPr lang="vi-VN"/>
                  <a:t>u_n=n·u_(n−1)</a:t>
                </a:r>
                <a:r>
                  <a:rPr sz="2400">
                    <a:solidFill>
                      <a:srgbClr val="1E293B"/>
                    </a:solidFill>
                    <a:latin typeface="Calibri"/>
                  </a:rPr>
                  <a:t> với </a:t>
                </a:r>
                <a:r>
                  <a:rPr lang="vi-VN"/>
                  <a:t>n≥2</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số hạng tổng quát </a:t>
                </a:r>
                <a:r>
                  <a:rPr lang="vi-VN"/>
                  <a:t>u_n</a:t>
                </a:r>
                <a:r>
                  <a:rPr sz="2400">
                    <a:solidFill>
                      <a:srgbClr val="1E293B"/>
                    </a:solidFill>
                    <a:latin typeface="Calibri"/>
                  </a:rPr>
                  <a:t>.</a:t>
                </a: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=6</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=4·</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=24</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=5·</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=120</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=1·2·3⋯n</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u_1=1</a:t>
                </a:r>
                <a:r>
                  <a:rPr sz="2400">
                    <a:solidFill>
                      <a:srgbClr val="1E293B"/>
                    </a:solidFill>
                    <a:latin typeface="Calibri"/>
                  </a:rPr>
                  <a:t>, </a:t>
                </a:r>
                <a:r>
                  <a:rPr lang="vi-VN"/>
                  <a:t>u_2=2\cdot u_1=2</a:t>
                </a:r>
                <a:r>
                  <a:rPr sz="2400">
                    <a:solidFill>
                      <a:srgbClr val="1E293B"/>
                    </a:solidFill>
                    <a:latin typeface="Calibri"/>
                  </a:rPr>
                  <a:t>, </a:t>
                </a:r>
                <a:r>
                  <a:rPr lang="vi-VN"/>
                  <a:t>u_3=3\cdot u_2=6</a:t>
                </a:r>
              </a:p>
              <a:p>
                <a:pPr algn="l" marL="365760" indent="-365760">
                  <a:spcAft>
                    <a:spcPts val="800"/>
                  </a:spcAft>
                  <a:buClr>
                    <a:srgbClr val="1E40AF"/>
                  </a:buClr>
                  <a:buFont typeface="Arial"/>
                  <a:buChar char="•"/>
                </a:pPr>
                <a:r>
                  <a:rPr lang="vi-VN"/>
                  <a:t>u_4=4\cdot u_3=24</a:t>
                </a:r>
                <a:r>
                  <a:rPr sz="2400">
                    <a:solidFill>
                      <a:srgbClr val="1E293B"/>
                    </a:solidFill>
                    <a:latin typeface="Calibri"/>
                  </a:rPr>
                  <a:t>, </a:t>
                </a:r>
                <a:r>
                  <a:rPr lang="vi-VN"/>
                  <a:t>u_5=5\cdot u_4=120</a:t>
                </a:r>
              </a:p>
              <a:p>
                <a:pPr algn="l" marL="365760" indent="-365760">
                  <a:spcAft>
                    <a:spcPts val="800"/>
                  </a:spcAft>
                  <a:buClr>
                    <a:srgbClr val="1E40AF"/>
                  </a:buClr>
                  <a:buFont typeface="Arial"/>
                  <a:buChar char="•"/>
                </a:pPr>
                <a:r>
                  <a:rPr sz="2400">
                    <a:solidFill>
                      <a:srgbClr val="1E293B"/>
                    </a:solidFill>
                    <a:latin typeface="Calibri"/>
                  </a:rPr>
                  <a:t>b) </a:t>
                </a:r>
                <a:r>
                  <a:rPr lang="vi-VN"/>
                  <a:t>u_n=1\cdot 2\cdot 3\cdots n</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=n!</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u_n=n!</a:t>
                </a: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081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biết:</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=−3n+2</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n−1</m:t>
                            </m:r>
                          </m:sup>
                        </m:sSup>
                      </m:num>
                      <m:den>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den>
                    </m:f>
                  </m:oMath>
                </a14:m>
                <a:r>
                  <a:rPr sz="2400">
                    <a:solidFill>
                      <a:srgbClr val="1E293B"/>
                    </a:solidFill>
                    <a:latin typeface="Calibri"/>
                  </a:rPr>
                  <a:t>.</a:t>
                </a:r>
              </a:p>
              <a:p>
                <a:pPr algn="l">
                  <a:spcAft>
                    <a:spcPts val="800"/>
                  </a:spcAft>
                </a:pPr>
                <a:r>
                  <a:rPr sz="2400" b="1">
                    <a:solidFill>
                      <a:srgbClr val="1E40AF"/>
                    </a:solidFill>
                    <a:latin typeface="Calibri"/>
                  </a:rPr>
                  <a:t>Gợi mở: Xét dấu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oMath>
                </a14:m>
                <a:r>
                  <a:rPr sz="2400" b="1">
                    <a:solidFill>
                      <a:srgbClr val="1E40AF"/>
                    </a:solidFill>
                    <a:latin typeface="Calibri"/>
                  </a:rPr>
                  <a:t>; với câu c, tính vài số hạng</a:t>
                </a:r>
              </a:p>
            </p:txBody>
          </p:sp>
        </mc:Choice>
        <mc:Fallback>
          <p:sp>
            <p:nvSpPr>
              <p:cNvPr id="7" name="TextBox 6"/>
              <p:cNvSpPr txBox="1"/>
              <p:nvPr/>
            </p:nvSpPr>
            <p:spPr>
              <a:xfrm>
                <a:off x="731520" y="1463040"/>
                <a:ext cx="10789920" cy="27081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tính tăng, giảm của dãy số </a:t>
                </a:r>
                <a:r>
                  <a:rPr lang="vi-VN"/>
                  <a:t>(u_n)</a:t>
                </a:r>
                <a:r>
                  <a:rPr sz="2400">
                    <a:solidFill>
                      <a:srgbClr val="1E293B"/>
                    </a:solidFill>
                    <a:latin typeface="Calibri"/>
                  </a:rPr>
                  <a:t>, biết:</a:t>
                </a:r>
              </a:p>
              <a:p>
                <a:pPr algn="l" marL="365760" indent="-365760">
                  <a:spcAft>
                    <a:spcPts val="800"/>
                  </a:spcAft>
                  <a:buClr>
                    <a:srgbClr val="1E40AF"/>
                  </a:buClr>
                  <a:buFont typeface="Arial"/>
                  <a:buChar char="•"/>
                </a:pPr>
                <a:r>
                  <a:rPr sz="2400">
                    <a:solidFill>
                      <a:srgbClr val="1E293B"/>
                    </a:solidFill>
                    <a:latin typeface="Calibri"/>
                  </a:rPr>
                  <a:t>a) </a:t>
                </a:r>
                <a:r>
                  <a:rPr lang="vi-VN"/>
                  <a:t>u_n=2n−1</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u_n=−3n+2</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 </a:t>
                </a:r>
                <a:r>
                  <a:rPr lang="vi-VN"/>
                  <a:t>u_n=((−1)^(n−1))/(2^n)</a:t>
                </a:r>
                <a:r>
                  <a:rPr sz="2400">
                    <a:solidFill>
                      <a:srgbClr val="1E293B"/>
                    </a:solidFill>
                    <a:latin typeface="Calibri"/>
                  </a:rPr>
                  <a:t>.</a:t>
                </a:r>
              </a:p>
              <a:p>
                <a:pPr algn="l">
                  <a:spcAft>
                    <a:spcPts val="800"/>
                  </a:spcAft>
                </a:pPr>
                <a:r>
                  <a:rPr sz="2400" b="1">
                    <a:solidFill>
                      <a:srgbClr val="1E40AF"/>
                    </a:solidFill>
                    <a:latin typeface="Calibri"/>
                  </a:rPr>
                  <a:t>Gợi mở: Xét dấu </a:t>
                </a:r>
                <a:r>
                  <a:rPr lang="vi-VN"/>
                  <a:t>u_{n+1}-u_n</a:t>
                </a:r>
                <a:r>
                  <a:rPr sz="2400" b="1">
                    <a:solidFill>
                      <a:srgbClr val="1E40AF"/>
                    </a:solidFill>
                    <a:latin typeface="Calibri"/>
                  </a:rPr>
                  <a:t>; với câu c, tính vài số hạng</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=[2(n+1)−1]−(2n−1)=2&gt;0</m:t>
                    </m:r>
                  </m:oMath>
                </a14:m>
                <a:r>
                  <a:rPr sz="2400">
                    <a:solidFill>
                      <a:srgbClr val="1E293B"/>
                    </a:solidFill>
                    <a:latin typeface="Calibri"/>
                  </a:rPr>
                  <a:t>: dãy tăng</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=[−3(n+1)+2]−(−3n+2)=−3&lt;0</m:t>
                    </m:r>
                  </m:oMath>
                </a14:m>
                <a:r>
                  <a:rPr sz="2400">
                    <a:solidFill>
                      <a:srgbClr val="1E293B"/>
                    </a:solidFill>
                    <a:latin typeface="Calibri"/>
                  </a:rPr>
                  <a:t>: dãy giảm</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4</m:t>
                        </m:r>
                      </m:den>
                    </m:f>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8</m:t>
                        </m:r>
                      </m:den>
                    </m:f>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&gt;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nhưng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u_{n+1}-u_n=[2(n+1)-1]-(2n-1)=2&gt;0</a:t>
                </a:r>
                <a:r>
                  <a:rPr sz="2400">
                    <a:solidFill>
                      <a:srgbClr val="1E293B"/>
                    </a:solidFill>
                    <a:latin typeface="Calibri"/>
                  </a:rPr>
                  <a:t>: dãy tăng</a:t>
                </a:r>
              </a:p>
              <a:p>
                <a:pPr algn="l" marL="365760" indent="-365760">
                  <a:spcAft>
                    <a:spcPts val="800"/>
                  </a:spcAft>
                  <a:buClr>
                    <a:srgbClr val="1E40AF"/>
                  </a:buClr>
                  <a:buFont typeface="Arial"/>
                  <a:buChar char="•"/>
                </a:pPr>
                <a:r>
                  <a:rPr sz="2400">
                    <a:solidFill>
                      <a:srgbClr val="1E293B"/>
                    </a:solidFill>
                    <a:latin typeface="Calibri"/>
                  </a:rPr>
                  <a:t>b) </a:t>
                </a:r>
                <a:r>
                  <a:rPr lang="vi-VN"/>
                  <a:t>u_{n+1}-u_n=[-3(n+1)+2]-(-3n+2)=-3&lt;0</a:t>
                </a:r>
                <a:r>
                  <a:rPr sz="2400">
                    <a:solidFill>
                      <a:srgbClr val="1E293B"/>
                    </a:solidFill>
                    <a:latin typeface="Calibri"/>
                  </a:rPr>
                  <a:t>: dãy giảm</a:t>
                </a:r>
              </a:p>
              <a:p>
                <a:pPr algn="l" marL="365760" indent="-365760">
                  <a:spcAft>
                    <a:spcPts val="800"/>
                  </a:spcAft>
                  <a:buClr>
                    <a:srgbClr val="1E40AF"/>
                  </a:buClr>
                  <a:buFont typeface="Arial"/>
                  <a:buChar char="•"/>
                </a:pPr>
                <a:r>
                  <a:rPr sz="2400">
                    <a:solidFill>
                      <a:srgbClr val="1E293B"/>
                    </a:solidFill>
                    <a:latin typeface="Calibri"/>
                  </a:rPr>
                  <a:t>c) </a:t>
                </a:r>
                <a:r>
                  <a:rPr lang="vi-VN"/>
                  <a:t>u_1=\frac{1}{2}</a:t>
                </a:r>
                <a:r>
                  <a:rPr sz="2400">
                    <a:solidFill>
                      <a:srgbClr val="1E293B"/>
                    </a:solidFill>
                    <a:latin typeface="Calibri"/>
                  </a:rPr>
                  <a:t>, </a:t>
                </a:r>
                <a:r>
                  <a:rPr lang="vi-VN"/>
                  <a:t>u_2=-\frac{1}{4}</a:t>
                </a:r>
                <a:r>
                  <a:rPr sz="2400">
                    <a:solidFill>
                      <a:srgbClr val="1E293B"/>
                    </a:solidFill>
                    <a:latin typeface="Calibri"/>
                  </a:rPr>
                  <a:t>, </a:t>
                </a:r>
                <a:r>
                  <a:rPr lang="vi-VN"/>
                  <a:t>u_3=\frac{1}{8}</a:t>
                </a:r>
                <a:r>
                  <a:rPr sz="2400">
                    <a:solidFill>
                      <a:srgbClr val="1E293B"/>
                    </a:solidFill>
                    <a:latin typeface="Calibri"/>
                  </a:rPr>
                  <a:t>: </a:t>
                </a:r>
                <a:r>
                  <a:rPr lang="vi-VN"/>
                  <a:t>u_1&gt;u_2</a:t>
                </a:r>
                <a:r>
                  <a:rPr sz="2400">
                    <a:solidFill>
                      <a:srgbClr val="1E293B"/>
                    </a:solidFill>
                    <a:latin typeface="Calibri"/>
                  </a:rPr>
                  <a:t> nhưng </a:t>
                </a:r>
                <a:r>
                  <a:rPr lang="vi-VN"/>
                  <a:t>u_2&lt;u_3</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tăng;  b) giảm;  c) không tăng, không giảm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2818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Trong các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sau, dãy số nào bị chặn dưới, bị chặn trên, bị chặn?</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=n−1</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n+1</m:t>
                        </m:r>
                      </m:num>
                      <m:den>
                        <m:r>
                          <a:rPr lang="vi-VN" sz="2200" b="0">
                            <a:solidFill>
                              <a:srgbClr val="1E293B"/>
                            </a:solidFill>
                            <a:latin typeface="Cambria Math" panose="02040503050406030204" pitchFamily="18" charset="0"/>
                          </a:rPr>
                          <m:t>n+2</m:t>
                        </m:r>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sin</m:t>
                    </m:r>
                    <m:r>
                      <a:rPr lang="vi-VN" sz="2200" b="0">
                        <a:solidFill>
                          <a:srgbClr val="1E293B"/>
                        </a:solidFill>
                        <a:latin typeface="Cambria Math" panose="02040503050406030204" pitchFamily="18" charset="0"/>
                      </a:rPr>
                      <m:t>n</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d)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=(−1</m:t>
                    </m:r>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n−1</m:t>
                        </m:r>
                      </m:sup>
                    </m:sSup>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7" name="TextBox 6"/>
              <p:cNvSpPr txBox="1"/>
              <p:nvPr/>
            </p:nvSpPr>
            <p:spPr>
              <a:xfrm>
                <a:off x="731520" y="1463040"/>
                <a:ext cx="10789920" cy="252818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Trong các dãy số </a:t>
                </a:r>
                <a:r>
                  <a:rPr lang="vi-VN"/>
                  <a:t>(u_n)</a:t>
                </a:r>
                <a:r>
                  <a:rPr sz="2200">
                    <a:solidFill>
                      <a:srgbClr val="1E293B"/>
                    </a:solidFill>
                    <a:latin typeface="Calibri"/>
                  </a:rPr>
                  <a:t> sau, dãy số nào bị chặn dưới, bị chặn trên, bị chặn?</a:t>
                </a:r>
              </a:p>
              <a:p>
                <a:pPr algn="l" marL="365760" indent="-365760">
                  <a:spcAft>
                    <a:spcPts val="800"/>
                  </a:spcAft>
                  <a:buClr>
                    <a:srgbClr val="1E40AF"/>
                  </a:buClr>
                  <a:buFont typeface="Arial"/>
                  <a:buChar char="•"/>
                </a:pPr>
                <a:r>
                  <a:rPr sz="2200">
                    <a:solidFill>
                      <a:srgbClr val="1E293B"/>
                    </a:solidFill>
                    <a:latin typeface="Calibri"/>
                  </a:rPr>
                  <a:t>a) </a:t>
                </a:r>
                <a:r>
                  <a:rPr lang="vi-VN"/>
                  <a:t>u_n=n−1</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u_n=(n+1)/(n+2)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u_n=sinn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d) </a:t>
                </a:r>
                <a:r>
                  <a:rPr lang="vi-VN"/>
                  <a:t>u_n=(−1)^(n−1)n^2</a:t>
                </a:r>
                <a:r>
                  <a:rPr sz="2200">
                    <a:solidFill>
                      <a:srgbClr val="1E293B"/>
                    </a:solidFill>
                    <a:latin typeface="Calibri"/>
                  </a:rPr>
                  <a:t>.</a:t>
                </a: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524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=n−1≥0</m:t>
                    </m:r>
                  </m:oMath>
                </a14:m>
                <a:r>
                  <a:rPr sz="2200">
                    <a:solidFill>
                      <a:srgbClr val="1E293B"/>
                    </a:solidFill>
                    <a:latin typeface="Calibri"/>
                  </a:rPr>
                  <a:t>: bị chặn dưới; n lớn thì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lớn tùy ý: không bị chặn trên</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=1−</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n+2</m:t>
                        </m:r>
                      </m:den>
                    </m:f>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0&lt;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&lt;1</m:t>
                    </m:r>
                  </m:oMath>
                </a14:m>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sin</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n≤1</m:t>
                    </m:r>
                  </m:oMath>
                </a14:m>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d) n lẻ: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lớn tùy ý; n chẵn: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nhỏ tùy ý</a:t>
                </a:r>
              </a:p>
            </p:txBody>
          </p:sp>
        </mc:Choice>
        <mc:Fallback>
          <p:sp>
            <p:nvSpPr>
              <p:cNvPr id="7" name="TextBox 6"/>
              <p:cNvSpPr txBox="1"/>
              <p:nvPr/>
            </p:nvSpPr>
            <p:spPr>
              <a:xfrm>
                <a:off x="731520" y="1463040"/>
                <a:ext cx="10789920" cy="205524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u_n=n-1\ge 0</a:t>
                </a:r>
                <a:r>
                  <a:rPr sz="2200">
                    <a:solidFill>
                      <a:srgbClr val="1E293B"/>
                    </a:solidFill>
                    <a:latin typeface="Calibri"/>
                  </a:rPr>
                  <a:t>: bị chặn dưới; n lớn thì </a:t>
                </a:r>
                <a:r>
                  <a:rPr lang="vi-VN"/>
                  <a:t>u_n</a:t>
                </a:r>
                <a:r>
                  <a:rPr sz="2200">
                    <a:solidFill>
                      <a:srgbClr val="1E293B"/>
                    </a:solidFill>
                    <a:latin typeface="Calibri"/>
                  </a:rPr>
                  <a:t> lớn tùy ý: không bị chặn trên</a:t>
                </a:r>
              </a:p>
              <a:p>
                <a:pPr algn="l" marL="365760" indent="-365760">
                  <a:spcAft>
                    <a:spcPts val="800"/>
                  </a:spcAft>
                  <a:buClr>
                    <a:srgbClr val="1E40AF"/>
                  </a:buClr>
                  <a:buFont typeface="Arial"/>
                  <a:buChar char="•"/>
                </a:pPr>
                <a:r>
                  <a:rPr sz="2200">
                    <a:solidFill>
                      <a:srgbClr val="1E293B"/>
                    </a:solidFill>
                    <a:latin typeface="Calibri"/>
                  </a:rPr>
                  <a:t>b) </a:t>
                </a:r>
                <a:r>
                  <a:rPr lang="vi-VN"/>
                  <a:t>u_n=1-\frac{1}{n+2}</a:t>
                </a:r>
                <a:r>
                  <a:rPr sz="2200">
                    <a:solidFill>
                      <a:srgbClr val="1E293B"/>
                    </a:solidFill>
                    <a:latin typeface="Calibri"/>
                  </a:rPr>
                  <a:t> nên </a:t>
                </a:r>
                <a:r>
                  <a:rPr lang="vi-VN"/>
                  <a:t>0&lt;u_n&lt;1</a:t>
                </a:r>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c) </a:t>
                </a:r>
                <a:r>
                  <a:rPr lang="vi-VN"/>
                  <a:t>-1\le\sin n\le 1</a:t>
                </a:r>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d) n lẻ: </a:t>
                </a:r>
                <a:r>
                  <a:rPr lang="vi-VN"/>
                  <a:t>u_n=n^2</a:t>
                </a:r>
                <a:r>
                  <a:rPr sz="2200">
                    <a:solidFill>
                      <a:srgbClr val="1E293B"/>
                    </a:solidFill>
                    <a:latin typeface="Calibri"/>
                  </a:rPr>
                  <a:t> lớn tùy ý; n chẵn: </a:t>
                </a:r>
                <a:r>
                  <a:rPr lang="vi-VN"/>
                  <a:t>u_n=-n^2</a:t>
                </a:r>
                <a:r>
                  <a:rPr sz="2200">
                    <a:solidFill>
                      <a:srgbClr val="1E293B"/>
                    </a:solidFill>
                    <a:latin typeface="Calibri"/>
                  </a:rPr>
                  <a:t> nhỏ tùy ý</a:t>
                </a:r>
              </a:p>
            </p:txBody>
          </p:sp>
        </mc:Fallback>
      </mc:AlternateContent>
      <p:sp>
        <p:nvSpPr>
          <p:cNvPr id="8" name="Rounded Rectangle 7"/>
          <p:cNvSpPr/>
          <p:nvPr/>
        </p:nvSpPr>
        <p:spPr>
          <a:xfrm>
            <a:off x="731520" y="3655441"/>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5441"/>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 không bị chặn trên, không bị chặn dưới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61</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Viết số hạng tổng quát của dãy số tăng gồm tất cả các số nguyên dương mà mỗi số hạng của nó:</a:t>
            </a:r>
          </a:p>
          <a:p>
            <a:pPr algn="l" marL="365760" indent="-365760">
              <a:spcAft>
                <a:spcPts val="800"/>
              </a:spcAft>
              <a:buClr>
                <a:srgbClr val="1E40AF"/>
              </a:buClr>
              <a:buFont typeface="Arial"/>
              <a:buChar char="•"/>
            </a:pPr>
            <a:r>
              <a:rPr sz="2400">
                <a:solidFill>
                  <a:srgbClr val="1E293B"/>
                </a:solidFill>
                <a:latin typeface="Calibri"/>
              </a:rPr>
              <a:t>a) Đều chia hết cho 3;</a:t>
            </a:r>
          </a:p>
          <a:p>
            <a:pPr algn="l" marL="365760" indent="-365760">
              <a:spcAft>
                <a:spcPts val="800"/>
              </a:spcAft>
              <a:buClr>
                <a:srgbClr val="1E40AF"/>
              </a:buClr>
              <a:buFont typeface="Arial"/>
              <a:buChar char="•"/>
            </a:pPr>
            <a:r>
              <a:rPr sz="2400">
                <a:solidFill>
                  <a:srgbClr val="1E293B"/>
                </a:solidFill>
                <a:latin typeface="Calibri"/>
              </a:rPr>
              <a:t>b) Khi chia cho 4 dư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3, 6, 9, 12, … nên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m:t>
                    </m:r>
                  </m:oMath>
                </a14:m>
              </a:p>
              <a:p>
                <a:pPr algn="l" marL="365760" indent="-365760">
                  <a:spcAft>
                    <a:spcPts val="800"/>
                  </a:spcAft>
                  <a:buClr>
                    <a:srgbClr val="1E40AF"/>
                  </a:buClr>
                  <a:buFont typeface="Arial"/>
                  <a:buChar char="•"/>
                </a:pPr>
                <a:r>
                  <a:rPr sz="2400">
                    <a:solidFill>
                      <a:srgbClr val="1E293B"/>
                    </a:solidFill>
                    <a:latin typeface="Calibri"/>
                  </a:rPr>
                  <a:t>b) Các số: 1, 5, 9, 13, … nên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=1+4(n−1)=4n−3</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3, 6, 9, 12, … nên </a:t>
                </a:r>
                <a:r>
                  <a:rPr lang="vi-VN"/>
                  <a:t>u_n=3n</a:t>
                </a:r>
              </a:p>
              <a:p>
                <a:pPr algn="l" marL="365760" indent="-365760">
                  <a:spcAft>
                    <a:spcPts val="800"/>
                  </a:spcAft>
                  <a:buClr>
                    <a:srgbClr val="1E40AF"/>
                  </a:buClr>
                  <a:buFont typeface="Arial"/>
                  <a:buChar char="•"/>
                </a:pPr>
                <a:r>
                  <a:rPr sz="2400">
                    <a:solidFill>
                      <a:srgbClr val="1E293B"/>
                    </a:solidFill>
                    <a:latin typeface="Calibri"/>
                  </a:rPr>
                  <a:t>b) Các số: 1, 5, 9, 13, … nên </a:t>
                </a:r>
                <a:r>
                  <a:rPr lang="vi-VN"/>
                  <a:t>u_n=1+4(n-1)=4n-3</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=3n</m:t>
                    </m:r>
                  </m:oMath>
                </a14:m>
                <a:r>
                  <a:rPr sz="2400" b="1">
                    <a:solidFill>
                      <a:srgbClr val="991B1B"/>
                    </a:solidFill>
                    <a:latin typeface="Calibri"/>
                  </a:rPr>
                  <a:t>;   b)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=4n−3</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r>
                  <a:rPr lang="vi-VN"/>
                  <a:t>u_n=3n</a:t>
                </a:r>
                <a:r>
                  <a:rPr sz="2400" b="1">
                    <a:solidFill>
                      <a:srgbClr val="991B1B"/>
                    </a:solidFill>
                    <a:latin typeface="Calibri"/>
                  </a:rPr>
                  <a:t>;   b) </a:t>
                </a:r>
                <a:r>
                  <a:rPr lang="vi-VN"/>
                  <a:t>u_n=4n-3</a:t>
                </a: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8168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Ông An gửi tiết kiệm 100 triệu đồng kì hạn 1 tháng với lãi suất 6% một năm theo hình thức tính lãi kép. Số tiền (triệu đồng) của ông An thu được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tháng được cho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=100</m:t>
                    </m:r>
                    <m:sSup>
                      <m:e>
                        <m:d>
                          <m:dPr>
                            <m:sepChr m:val="+"/>
                          </m:dPr>
                          <m:e>
                            <m:r>
                              <a:rPr lang="vi-VN" sz="2200" b="0">
                                <a:solidFill>
                                  <a:srgbClr val="1E293B"/>
                                </a:solidFill>
                                <a:latin typeface="Cambria Math" panose="02040503050406030204" pitchFamily="18" charset="0"/>
                              </a:rPr>
                              <m:t>1</m:t>
                            </m:r>
                          </m:e>
                          <m:e>
                            <m:f>
                              <m:fPr>
                                <m:type m:val="bar"/>
                              </m:fPr>
                              <m:num>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06</m:t>
                                </m:r>
                              </m:num>
                              <m:den>
                                <m:r>
                                  <a:rPr lang="vi-VN" sz="2200" b="0">
                                    <a:solidFill>
                                      <a:srgbClr val="1E293B"/>
                                    </a:solidFill>
                                    <a:latin typeface="Cambria Math" panose="02040503050406030204" pitchFamily="18" charset="0"/>
                                  </a:rPr>
                                  <m:t>12</m:t>
                                </m:r>
                              </m:den>
                            </m:f>
                          </m:e>
                        </m:d>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Tìm số tiền ông An nhận được sau tháng thứ nhất, sau tháng thứ hai.</a:t>
                </a:r>
              </a:p>
              <a:p>
                <a:pPr algn="l" marL="365760" indent="-365760">
                  <a:spcAft>
                    <a:spcPts val="800"/>
                  </a:spcAft>
                  <a:buClr>
                    <a:srgbClr val="1E40AF"/>
                  </a:buClr>
                  <a:buFont typeface="Arial"/>
                  <a:buChar char="•"/>
                </a:pPr>
                <a:r>
                  <a:rPr sz="2200">
                    <a:solidFill>
                      <a:srgbClr val="1E293B"/>
                    </a:solidFill>
                    <a:latin typeface="Calibri"/>
                  </a:rPr>
                  <a:t>b) Tìm số tiền ông An nhận được sau 1 năm.</a:t>
                </a:r>
              </a:p>
              <a:p>
                <a:pPr algn="l">
                  <a:spcAft>
                    <a:spcPts val="800"/>
                  </a:spcAft>
                </a:pPr>
                <a:r>
                  <a:rPr sz="2200" b="1">
                    <a:solidFill>
                      <a:srgbClr val="1E40AF"/>
                    </a:solidFill>
                    <a:latin typeface="Calibri"/>
                  </a:rPr>
                  <a:t>Gợi mở: Sau 1 năm là sau 12 tháng</a:t>
                </a:r>
              </a:p>
            </p:txBody>
          </p:sp>
        </mc:Choice>
        <mc:Fallback>
          <p:sp>
            <p:nvSpPr>
              <p:cNvPr id="7" name="TextBox 6"/>
              <p:cNvSpPr txBox="1"/>
              <p:nvPr/>
            </p:nvSpPr>
            <p:spPr>
              <a:xfrm>
                <a:off x="731520" y="1463040"/>
                <a:ext cx="10789920" cy="278168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Ông An gửi tiết kiệm 100 triệu đồng kì hạn 1 tháng với lãi suất 6% một năm theo hình thức tính lãi kép. Số tiền (triệu đồng) của ông An thu được sau </a:t>
                </a:r>
                <a:r>
                  <a:rPr lang="vi-VN"/>
                  <a:t>n</a:t>
                </a:r>
                <a:r>
                  <a:rPr sz="2200">
                    <a:solidFill>
                      <a:srgbClr val="1E293B"/>
                    </a:solidFill>
                    <a:latin typeface="Calibri"/>
                  </a:rPr>
                  <a:t> tháng được cho bởi công thức </a:t>
                </a:r>
                <a:r>
                  <a:rPr lang="vi-VN"/>
                  <a:t>A_n=100(1 0,06/12)^n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Tìm số tiền ông An nhận được sau tháng thứ nhất, sau tháng thứ hai.</a:t>
                </a:r>
              </a:p>
              <a:p>
                <a:pPr algn="l" marL="365760" indent="-365760">
                  <a:spcAft>
                    <a:spcPts val="800"/>
                  </a:spcAft>
                  <a:buClr>
                    <a:srgbClr val="1E40AF"/>
                  </a:buClr>
                  <a:buFont typeface="Arial"/>
                  <a:buChar char="•"/>
                </a:pPr>
                <a:r>
                  <a:rPr sz="2200">
                    <a:solidFill>
                      <a:srgbClr val="1E293B"/>
                    </a:solidFill>
                    <a:latin typeface="Calibri"/>
                  </a:rPr>
                  <a:t>b) Tìm số tiền ông An nhận được sau 1 năm.</a:t>
                </a:r>
              </a:p>
              <a:p>
                <a:pPr algn="l">
                  <a:spcAft>
                    <a:spcPts val="800"/>
                  </a:spcAft>
                </a:pPr>
                <a:r>
                  <a:rPr sz="2200" b="1">
                    <a:solidFill>
                      <a:srgbClr val="1E40AF"/>
                    </a:solidFill>
                    <a:latin typeface="Calibri"/>
                  </a:rPr>
                  <a:t>Gợi mở: Sau 1 năm là sau 12 tháng</a:t>
                </a: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Lãi suất mỗi tháng: </a:t>
                </a:r>
                <a14:m>
                  <m:oMath xmlns:m="http://schemas.openxmlformats.org/officeDocument/2006/math">
                    <m:f>
                      <m:fPr>
                        <m:type m:val="bar"/>
                      </m:fPr>
                      <m:num>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06</m:t>
                        </m:r>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005</m:t>
                    </m:r>
                  </m:oMath>
                </a14:m>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005=100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(triệu đồng)</a:t>
                </a:r>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005</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0025</m:t>
                    </m:r>
                  </m:oMath>
                </a14:m>
                <a:r>
                  <a:rPr sz="2400">
                    <a:solidFill>
                      <a:srgbClr val="1E293B"/>
                    </a:solidFill>
                    <a:latin typeface="Calibri"/>
                  </a:rPr>
                  <a:t> (triệu đồng)</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12</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005</m:t>
                        </m:r>
                      </m:e>
                      <m:sup>
                        <m:r>
                          <a:rPr lang="vi-VN" sz="2400" b="0">
                            <a:solidFill>
                              <a:srgbClr val="1E293B"/>
                            </a:solidFill>
                            <a:latin typeface="Cambria Math" panose="02040503050406030204" pitchFamily="18" charset="0"/>
                          </a:rPr>
                          <m:t>12</m:t>
                        </m:r>
                      </m:sup>
                    </m:sSup>
                    <m:r>
                      <a:rPr lang="vi-VN" sz="2400" b="0">
                        <a:solidFill>
                          <a:srgbClr val="1E293B"/>
                        </a:solidFill>
                        <a:latin typeface="Cambria Math" panose="02040503050406030204" pitchFamily="18" charset="0"/>
                      </a:rPr>
                      <m:t>≈106</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17</m:t>
                    </m:r>
                  </m:oMath>
                </a14:m>
                <a:r>
                  <a:rPr sz="2400">
                    <a:solidFill>
                      <a:srgbClr val="1E293B"/>
                    </a:solidFill>
                    <a:latin typeface="Calibri"/>
                  </a:rPr>
                  <a:t> (triệu đồng)</a:t>
                </a:r>
              </a:p>
            </p:txBody>
          </p:sp>
        </mc:Choice>
        <mc:Fallback>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Lãi suất mỗi tháng: </a:t>
                </a:r>
                <a:r>
                  <a:rPr lang="vi-VN"/>
                  <a:t>\frac{0{,}06}{12}=0{,}005</a:t>
                </a:r>
              </a:p>
              <a:p>
                <a:pPr algn="l" marL="365760" indent="-365760">
                  <a:spcAft>
                    <a:spcPts val="800"/>
                  </a:spcAft>
                  <a:buClr>
                    <a:srgbClr val="1E40AF"/>
                  </a:buClr>
                  <a:buFont typeface="Arial"/>
                  <a:buChar char="•"/>
                </a:pPr>
                <a:r>
                  <a:rPr sz="2400">
                    <a:solidFill>
                      <a:srgbClr val="1E293B"/>
                    </a:solidFill>
                    <a:latin typeface="Calibri"/>
                  </a:rPr>
                  <a:t>a) </a:t>
                </a:r>
                <a:r>
                  <a:rPr lang="vi-VN"/>
                  <a:t>A_1=100\cdot 1{,}005=100{,}5</a:t>
                </a:r>
                <a:r>
                  <a:rPr sz="2400">
                    <a:solidFill>
                      <a:srgbClr val="1E293B"/>
                    </a:solidFill>
                    <a:latin typeface="Calibri"/>
                  </a:rPr>
                  <a:t> (triệu đồng)</a:t>
                </a:r>
              </a:p>
              <a:p>
                <a:pPr algn="l" marL="365760" indent="-365760">
                  <a:spcAft>
                    <a:spcPts val="800"/>
                  </a:spcAft>
                  <a:buClr>
                    <a:srgbClr val="1E40AF"/>
                  </a:buClr>
                  <a:buFont typeface="Arial"/>
                  <a:buChar char="•"/>
                </a:pPr>
                <a:r>
                  <a:rPr lang="vi-VN"/>
                  <a:t>A_2=100\cdot 1{,}005^2=101{,}0025</a:t>
                </a:r>
                <a:r>
                  <a:rPr sz="2400">
                    <a:solidFill>
                      <a:srgbClr val="1E293B"/>
                    </a:solidFill>
                    <a:latin typeface="Calibri"/>
                  </a:rPr>
                  <a:t> (triệu đồng)</a:t>
                </a:r>
              </a:p>
              <a:p>
                <a:pPr algn="l" marL="365760" indent="-365760">
                  <a:spcAft>
                    <a:spcPts val="800"/>
                  </a:spcAft>
                  <a:buClr>
                    <a:srgbClr val="1E40AF"/>
                  </a:buClr>
                  <a:buFont typeface="Arial"/>
                  <a:buChar char="•"/>
                </a:pPr>
                <a:r>
                  <a:rPr sz="2400">
                    <a:solidFill>
                      <a:srgbClr val="1E293B"/>
                    </a:solidFill>
                    <a:latin typeface="Calibri"/>
                  </a:rPr>
                  <a:t>b) </a:t>
                </a:r>
                <a:r>
                  <a:rPr lang="vi-VN"/>
                  <a:t>A_{12}=100\cdot 1{,}005^{12}\approx 106{,}17</a:t>
                </a:r>
                <a:r>
                  <a:rPr sz="2400">
                    <a:solidFill>
                      <a:srgbClr val="1E293B"/>
                    </a:solidFill>
                    <a:latin typeface="Calibri"/>
                  </a:rPr>
                  <a:t> (triệu đồng)</a:t>
                </a:r>
              </a:p>
            </p:txBody>
          </p:sp>
        </mc:Fallback>
      </mc:AlternateContent>
      <p:sp>
        <p:nvSpPr>
          <p:cNvPr id="8" name="Rounded Rectangle 7"/>
          <p:cNvSpPr/>
          <p:nvPr/>
        </p:nvSpPr>
        <p:spPr>
          <a:xfrm>
            <a:off x="731520" y="3802380"/>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0238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1 năm: khoảng 106,17 triệu đồng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Chị Hương vay trả góp một khoản tiền 100 triệu đồng và đồng ý trả dần 2 triệu đồng mỗi tháng với lãi suất 0,8% số tiền còn lại của mỗi tháng. Gọi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200" b="0">
                            <a:solidFill>
                              <a:srgbClr val="1E293B"/>
                            </a:solidFill>
                            <a:latin typeface="Cambria Math" panose="02040503050406030204" pitchFamily="18" charset="0"/>
                          </a:rPr>
                          <m:t>n</m:t>
                        </m:r>
                      </m:e>
                      <m:e>
                        <m:r>
                          <a:rPr lang="vi-VN" sz="2200" b="0">
                            <a:solidFill>
                              <a:srgbClr val="1E293B"/>
                            </a:solidFill>
                            <a:latin typeface="Cambria Math" panose="02040503050406030204" pitchFamily="18" charset="0"/>
                          </a:rPr>
                          <m:t>ℕ</m:t>
                        </m:r>
                      </m:e>
                    </m:d>
                  </m:oMath>
                </a14:m>
                <a:r>
                  <a:rPr sz="2200">
                    <a:solidFill>
                      <a:srgbClr val="1E293B"/>
                    </a:solidFill>
                    <a:latin typeface="Calibri"/>
                  </a:rPr>
                  <a:t> là số tiền còn nợ (triệu đồng) của chị Hương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tháng.</a:t>
                </a:r>
              </a:p>
              <a:p>
                <a:pPr algn="l" marL="365760" indent="-365760">
                  <a:spcAft>
                    <a:spcPts val="800"/>
                  </a:spcAft>
                  <a:buClr>
                    <a:srgbClr val="1E40AF"/>
                  </a:buClr>
                  <a:buFont typeface="Arial"/>
                  <a:buChar char="•"/>
                </a:pPr>
                <a:r>
                  <a:rPr sz="2200">
                    <a:solidFill>
                      <a:srgbClr val="1E293B"/>
                    </a:solidFill>
                    <a:latin typeface="Calibri"/>
                  </a:rPr>
                  <a:t>a) Tìm lần lượt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2</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3</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4</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5</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6</m:t>
                        </m:r>
                      </m:sub>
                    </m:sSub>
                  </m:oMath>
                </a14:m>
                <a:r>
                  <a:rPr sz="2200">
                    <a:solidFill>
                      <a:srgbClr val="1E293B"/>
                    </a:solidFill>
                    <a:latin typeface="Calibri"/>
                  </a:rPr>
                  <a:t> để tính số tiền còn nợ của chị Hương sau 6 tháng.</a:t>
                </a:r>
              </a:p>
            </p:txBody>
          </p:sp>
        </mc:Choice>
        <mc:Fallback>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Chị Hương vay trả góp một khoản tiền 100 triệu đồng và đồng ý trả dần 2 triệu đồng mỗi tháng với lãi suất 0,8% số tiền còn lại của mỗi tháng. Gọi </a:t>
                </a:r>
                <a:r>
                  <a:rPr lang="vi-VN"/>
                  <a:t>A_n</a:t>
                </a:r>
                <a:r>
                  <a:rPr sz="2200">
                    <a:solidFill>
                      <a:srgbClr val="1E293B"/>
                    </a:solidFill>
                    <a:latin typeface="Calibri"/>
                  </a:rPr>
                  <a:t> </a:t>
                </a:r>
                <a:r>
                  <a:rPr lang="vi-VN"/>
                  <a:t>(n ℕ)</a:t>
                </a:r>
                <a:r>
                  <a:rPr sz="2200">
                    <a:solidFill>
                      <a:srgbClr val="1E293B"/>
                    </a:solidFill>
                    <a:latin typeface="Calibri"/>
                  </a:rPr>
                  <a:t> là số tiền còn nợ (triệu đồng) của chị Hương sau </a:t>
                </a:r>
                <a:r>
                  <a:rPr lang="vi-VN"/>
                  <a:t>n</a:t>
                </a:r>
                <a:r>
                  <a:rPr sz="2200">
                    <a:solidFill>
                      <a:srgbClr val="1E293B"/>
                    </a:solidFill>
                    <a:latin typeface="Calibri"/>
                  </a:rPr>
                  <a:t> tháng.</a:t>
                </a:r>
              </a:p>
              <a:p>
                <a:pPr algn="l" marL="365760" indent="-365760">
                  <a:spcAft>
                    <a:spcPts val="800"/>
                  </a:spcAft>
                  <a:buClr>
                    <a:srgbClr val="1E40AF"/>
                  </a:buClr>
                  <a:buFont typeface="Arial"/>
                  <a:buChar char="•"/>
                </a:pPr>
                <a:r>
                  <a:rPr sz="2200">
                    <a:solidFill>
                      <a:srgbClr val="1E293B"/>
                    </a:solidFill>
                    <a:latin typeface="Calibri"/>
                  </a:rPr>
                  <a:t>a) Tìm lần lượt </a:t>
                </a:r>
                <a:r>
                  <a:rPr lang="vi-VN"/>
                  <a:t>A_0</a:t>
                </a:r>
                <a:r>
                  <a:rPr sz="2200">
                    <a:solidFill>
                      <a:srgbClr val="1E293B"/>
                    </a:solidFill>
                    <a:latin typeface="Calibri"/>
                  </a:rPr>
                  <a:t>, </a:t>
                </a:r>
                <a:r>
                  <a:rPr lang="vi-VN"/>
                  <a:t>A_1</a:t>
                </a:r>
                <a:r>
                  <a:rPr sz="2200">
                    <a:solidFill>
                      <a:srgbClr val="1E293B"/>
                    </a:solidFill>
                    <a:latin typeface="Calibri"/>
                  </a:rPr>
                  <a:t>, </a:t>
                </a:r>
                <a:r>
                  <a:rPr lang="vi-VN"/>
                  <a:t>A_2</a:t>
                </a:r>
                <a:r>
                  <a:rPr sz="2200">
                    <a:solidFill>
                      <a:srgbClr val="1E293B"/>
                    </a:solidFill>
                    <a:latin typeface="Calibri"/>
                  </a:rPr>
                  <a:t>, </a:t>
                </a:r>
                <a:r>
                  <a:rPr lang="vi-VN"/>
                  <a:t>A_3</a:t>
                </a:r>
                <a:r>
                  <a:rPr sz="2200">
                    <a:solidFill>
                      <a:srgbClr val="1E293B"/>
                    </a:solidFill>
                    <a:latin typeface="Calibri"/>
                  </a:rPr>
                  <a:t>, </a:t>
                </a:r>
                <a:r>
                  <a:rPr lang="vi-VN"/>
                  <a:t>A_4</a:t>
                </a:r>
                <a:r>
                  <a:rPr sz="2200">
                    <a:solidFill>
                      <a:srgbClr val="1E293B"/>
                    </a:solidFill>
                    <a:latin typeface="Calibri"/>
                  </a:rPr>
                  <a:t>, </a:t>
                </a:r>
                <a:r>
                  <a:rPr lang="vi-VN"/>
                  <a:t>A_5</a:t>
                </a:r>
                <a:r>
                  <a:rPr sz="2200">
                    <a:solidFill>
                      <a:srgbClr val="1E293B"/>
                    </a:solidFill>
                    <a:latin typeface="Calibri"/>
                  </a:rPr>
                  <a:t>, </a:t>
                </a:r>
                <a:r>
                  <a:rPr lang="vi-VN"/>
                  <a:t>A_6</a:t>
                </a:r>
                <a:r>
                  <a:rPr sz="2200">
                    <a:solidFill>
                      <a:srgbClr val="1E293B"/>
                    </a:solidFill>
                    <a:latin typeface="Calibri"/>
                  </a:rPr>
                  <a:t> để tính số tiền còn nợ của chị Hương sau 6 tháng.</a:t>
                </a: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2.7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Dự đoán hệ thức truy hồi đối với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a:t>
                </a:r>
              </a:p>
              <a:p>
                <a:pPr algn="l">
                  <a:spcAft>
                    <a:spcPts val="800"/>
                  </a:spcAft>
                </a:pPr>
                <a:r>
                  <a:rPr sz="2200" b="1">
                    <a:solidFill>
                      <a:srgbClr val="1E40AF"/>
                    </a:solidFill>
                    <a:latin typeface="Calibri"/>
                  </a:rPr>
                  <a:t>Gợi mở: Mỗi tháng: nợ cũ cộng lãi 0,8% rồi trừ 2 triệu</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Dự đoán hệ thức truy hồi đối với dãy số </a:t>
                </a:r>
                <a:r>
                  <a:rPr lang="vi-VN"/>
                  <a:t>(A_n)</a:t>
                </a:r>
                <a:r>
                  <a:rPr sz="2200">
                    <a:solidFill>
                      <a:srgbClr val="1E293B"/>
                    </a:solidFill>
                    <a:latin typeface="Calibri"/>
                  </a:rPr>
                  <a:t>.</a:t>
                </a:r>
              </a:p>
              <a:p>
                <a:pPr algn="l">
                  <a:spcAft>
                    <a:spcPts val="800"/>
                  </a:spcAft>
                </a:pPr>
                <a:r>
                  <a:rPr sz="2200" b="1">
                    <a:solidFill>
                      <a:srgbClr val="1E40AF"/>
                    </a:solidFill>
                    <a:latin typeface="Calibri"/>
                  </a:rPr>
                  <a:t>Gợi mở: Mỗi tháng: nợ cũ cộng lãi 0,8% rồi trừ 2 triệu</a:t>
                </a: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=100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008−2=98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=98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008−2≈97</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590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≈96</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371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≈95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142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≈93</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903</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≈92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655</m:t>
                    </m:r>
                  </m:oMath>
                </a14:m>
                <a:r>
                  <a:rPr sz="2400">
                    <a:solidFill>
                      <a:srgbClr val="1E293B"/>
                    </a:solidFill>
                    <a:latin typeface="Calibri"/>
                  </a:rPr>
                  <a:t> (triệu đồng)</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A_0=100</a:t>
                </a:r>
                <a:r>
                  <a:rPr sz="2400">
                    <a:solidFill>
                      <a:srgbClr val="1E293B"/>
                    </a:solidFill>
                    <a:latin typeface="Calibri"/>
                  </a:rPr>
                  <a:t>;  </a:t>
                </a:r>
                <a:r>
                  <a:rPr lang="vi-VN"/>
                  <a:t>A_1=100\cdot 1{,}008-2=98{,}8</a:t>
                </a:r>
              </a:p>
              <a:p>
                <a:pPr algn="l" marL="365760" indent="-365760">
                  <a:spcAft>
                    <a:spcPts val="800"/>
                  </a:spcAft>
                  <a:buClr>
                    <a:srgbClr val="1E40AF"/>
                  </a:buClr>
                  <a:buFont typeface="Arial"/>
                  <a:buChar char="•"/>
                </a:pPr>
                <a:r>
                  <a:rPr lang="vi-VN"/>
                  <a:t>A_2=98{,}8\cdot 1{,}008-2\approx 97{,}590</a:t>
                </a:r>
              </a:p>
              <a:p>
                <a:pPr algn="l" marL="365760" indent="-365760">
                  <a:spcAft>
                    <a:spcPts val="800"/>
                  </a:spcAft>
                  <a:buClr>
                    <a:srgbClr val="1E40AF"/>
                  </a:buClr>
                  <a:buFont typeface="Arial"/>
                  <a:buChar char="•"/>
                </a:pPr>
                <a:r>
                  <a:rPr lang="vi-VN"/>
                  <a:t>A_3\approx 96{,}371</a:t>
                </a:r>
                <a:r>
                  <a:rPr sz="2400">
                    <a:solidFill>
                      <a:srgbClr val="1E293B"/>
                    </a:solidFill>
                    <a:latin typeface="Calibri"/>
                  </a:rPr>
                  <a:t>;  </a:t>
                </a:r>
                <a:r>
                  <a:rPr lang="vi-VN"/>
                  <a:t>A_4\approx 95{,}142</a:t>
                </a:r>
              </a:p>
              <a:p>
                <a:pPr algn="l" marL="365760" indent="-365760">
                  <a:spcAft>
                    <a:spcPts val="800"/>
                  </a:spcAft>
                  <a:buClr>
                    <a:srgbClr val="1E40AF"/>
                  </a:buClr>
                  <a:buFont typeface="Arial"/>
                  <a:buChar char="•"/>
                </a:pPr>
                <a:r>
                  <a:rPr lang="vi-VN"/>
                  <a:t>A_5\approx 93{,}903</a:t>
                </a:r>
                <a:r>
                  <a:rPr sz="2400">
                    <a:solidFill>
                      <a:srgbClr val="1E293B"/>
                    </a:solidFill>
                    <a:latin typeface="Calibri"/>
                  </a:rPr>
                  <a:t>;  </a:t>
                </a:r>
                <a:r>
                  <a:rPr lang="vi-VN"/>
                  <a:t>A_6\approx 92{,}655</a:t>
                </a:r>
                <a:r>
                  <a:rPr sz="2400">
                    <a:solidFill>
                      <a:srgbClr val="1E293B"/>
                    </a:solidFill>
                    <a:latin typeface="Calibri"/>
                  </a:rPr>
                  <a:t> (triệu đồng)</a:t>
                </a:r>
              </a:p>
            </p:txBody>
          </p:sp>
        </mc:Fallback>
      </mc:AlternateContent>
      <p:sp>
        <p:nvSpPr>
          <p:cNvPr id="8" name="Rounded Rectangle 7"/>
          <p:cNvSpPr/>
          <p:nvPr/>
        </p:nvSpPr>
        <p:spPr>
          <a:xfrm>
            <a:off x="731520" y="3624072"/>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 </a:t>
                </a:r>
                <a14:m>
                  <m:oMath xmlns:m="http://schemas.openxmlformats.org/officeDocument/2006/math">
                    <m:sSub>
                      <m:e>
                        <m:r>
                          <a:rPr lang="vi-VN" sz="2400" b="1">
                            <a:solidFill>
                              <a:srgbClr val="991B1B"/>
                            </a:solidFill>
                            <a:latin typeface="Cambria Math" panose="02040503050406030204" pitchFamily="18" charset="0"/>
                          </a:rPr>
                          <m:t>A</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=1</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008</m:t>
                    </m:r>
                    <m:sSub>
                      <m:e>
                        <m:r>
                          <a:rPr lang="vi-VN" sz="2400" b="1">
                            <a:solidFill>
                              <a:srgbClr val="991B1B"/>
                            </a:solidFill>
                            <a:latin typeface="Cambria Math" panose="02040503050406030204" pitchFamily="18" charset="0"/>
                          </a:rPr>
                          <m:t>A</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−2</m:t>
                    </m:r>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1</m:t>
                        </m:r>
                      </m:e>
                    </m:d>
                  </m:oMath>
                </a14:m>
              </a:p>
              <a:p>
                <a:pPr algn="l">
                  <a:spcAft>
                    <a:spcPts val="400"/>
                  </a:spcAft>
                </a:pPr>
                <a:r>
                  <a:rPr sz="2400" b="1">
                    <a:solidFill>
                      <a:srgbClr val="991B1B"/>
                    </a:solidFill>
                    <a:latin typeface="Calibri"/>
                  </a:rPr>
                  <a:t>Sau 6 tháng còn nợ khoảng 92,655 triệu đồng</a:t>
                </a:r>
              </a:p>
            </p:txBody>
          </p:sp>
        </mc:Choice>
        <mc:Fallback>
          <p:sp>
            <p:nvSpPr>
              <p:cNvPr id="9" name="TextBox 8"/>
              <p:cNvSpPr txBox="1"/>
              <p:nvPr/>
            </p:nvSpPr>
            <p:spPr>
              <a:xfrm>
                <a:off x="914400" y="3624072"/>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 </a:t>
                </a:r>
                <a:r>
                  <a:rPr lang="vi-VN"/>
                  <a:t>A_n=1{,}008A_{n-1}-2</a:t>
                </a:r>
                <a:r>
                  <a:rPr sz="2400" b="1">
                    <a:solidFill>
                      <a:srgbClr val="991B1B"/>
                    </a:solidFill>
                    <a:latin typeface="Calibri"/>
                  </a:rPr>
                  <a:t> </a:t>
                </a:r>
                <a:r>
                  <a:rPr lang="vi-VN"/>
                  <a:t>(n\ge 1)</a:t>
                </a:r>
              </a:p>
              <a:p>
                <a:pPr algn="l">
                  <a:spcAft>
                    <a:spcPts val="400"/>
                  </a:spcAft>
                </a:pPr>
                <a:r>
                  <a:rPr sz="2400" b="1">
                    <a:solidFill>
                      <a:srgbClr val="991B1B"/>
                    </a:solidFill>
                    <a:latin typeface="Calibri"/>
                  </a:rPr>
                  <a:t>Sau 6 tháng còn nợ khoảng 92,655 triệu đồng</a:t>
                </a: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m:t>
                    </m:r>
                    <m:f>
                      <m:fPr>
                        <m:type m:val="bar"/>
                      </m:fPr>
                      <m:num>
                        <m:sSup>
                          <m:e>
                            <m:d>
                              <m:dPr>
                                <m:sepChr m:val=""/>
                              </m:dPr>
                              <m:e>
                                <m:r>
                                  <a:rPr lang="vi-VN" sz="2400" b="1">
                                    <a:solidFill>
                                      <a:srgbClr val="1E40AF"/>
                                    </a:solidFill>
                                    <a:latin typeface="Cambria Math" panose="02040503050406030204" pitchFamily="18" charset="0"/>
                                  </a:rPr>
                                  <m:t>−</m:t>
                                </m:r>
                                <m:r>
                                  <a:rPr lang="vi-VN" sz="2400" b="1">
                                    <a:solidFill>
                                      <a:srgbClr val="1E40AF"/>
                                    </a:solidFill>
                                    <a:latin typeface="Cambria Math" panose="02040503050406030204" pitchFamily="18" charset="0"/>
                                  </a:rPr>
                                  <m:t>1</m:t>
                                </m:r>
                              </m:e>
                            </m:d>
                          </m:e>
                          <m:sup>
                            <m:r>
                              <a:rPr lang="vi-VN" sz="2400" b="1">
                                <a:solidFill>
                                  <a:srgbClr val="1E40AF"/>
                                </a:solidFill>
                                <a:latin typeface="Cambria Math" panose="02040503050406030204" pitchFamily="18" charset="0"/>
                              </a:rPr>
                              <m:t>n</m:t>
                            </m:r>
                          </m:sup>
                        </m:sSup>
                      </m:num>
                      <m:den>
                        <m:r>
                          <a:rPr lang="vi-VN" sz="2400" b="1">
                            <a:solidFill>
                              <a:srgbClr val="1E40AF"/>
                            </a:solidFill>
                            <a:latin typeface="Cambria Math" panose="02040503050406030204" pitchFamily="18" charset="0"/>
                          </a:rPr>
                          <m:t>n</m:t>
                        </m:r>
                      </m:den>
                    </m:f>
                  </m:oMath>
                </a14:m>
                <a:r>
                  <a:rPr sz="2400" b="1">
                    <a:solidFill>
                      <a:srgbClr val="1E40AF"/>
                    </a:solidFill>
                    <a:latin typeface="Calibri"/>
                  </a:rPr>
                  <a:t>.</a:t>
                </a:r>
              </a:p>
              <a:p>
                <a:pPr algn="l">
                  <a:spcAft>
                    <a:spcPts val="800"/>
                  </a:spcAft>
                </a:pPr>
                <a:r>
                  <a:rPr sz="2400">
                    <a:solidFill>
                      <a:srgbClr val="1E293B"/>
                    </a:solidFill>
                    <a:latin typeface="Calibri"/>
                  </a:rPr>
                  <a:t>"Ta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Vì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dãy số tăng."</a:t>
                </a:r>
              </a:p>
              <a:p>
                <a:pPr algn="l">
                  <a:spcAft>
                    <a:spcPts val="800"/>
                  </a:spcAft>
                </a:pPr>
                <a:r>
                  <a:rPr sz="2400" b="1">
                    <a:solidFill>
                      <a:srgbClr val="1E40AF"/>
                    </a:solidFill>
                    <a:latin typeface="Calibri"/>
                  </a:rPr>
                  <a:t>Gợi mở: Lời giải AI sai ở đâu? Tìm phản ví dụ</a:t>
                </a:r>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tăng, giảm của dãy số </a:t>
                </a:r>
                <a:r>
                  <a:rPr lang="vi-VN"/>
                  <a:t>u_n=((−1)^n)/n</a:t>
                </a:r>
                <a:r>
                  <a:rPr sz="2400" b="1">
                    <a:solidFill>
                      <a:srgbClr val="1E40AF"/>
                    </a:solidFill>
                    <a:latin typeface="Calibri"/>
                  </a:rPr>
                  <a:t>.</a:t>
                </a:r>
              </a:p>
              <a:p>
                <a:pPr algn="l">
                  <a:spcAft>
                    <a:spcPts val="800"/>
                  </a:spcAft>
                </a:pPr>
                <a:r>
                  <a:rPr sz="2400">
                    <a:solidFill>
                      <a:srgbClr val="1E293B"/>
                    </a:solidFill>
                    <a:latin typeface="Calibri"/>
                  </a:rPr>
                  <a:t>"Ta có </a:t>
                </a:r>
                <a:r>
                  <a:rPr lang="vi-VN"/>
                  <a:t>u_1=−1</a:t>
                </a:r>
                <a:r>
                  <a:rPr sz="2400">
                    <a:solidFill>
                      <a:srgbClr val="1E293B"/>
                    </a:solidFill>
                    <a:latin typeface="Calibri"/>
                  </a:rPr>
                  <a:t>, </a:t>
                </a:r>
                <a:r>
                  <a:rPr lang="vi-VN"/>
                  <a:t>u_2=1/2</a:t>
                </a:r>
                <a:r>
                  <a:rPr sz="2400">
                    <a:solidFill>
                      <a:srgbClr val="1E293B"/>
                    </a:solidFill>
                    <a:latin typeface="Calibri"/>
                  </a:rPr>
                  <a:t>. Vì </a:t>
                </a:r>
                <a:r>
                  <a:rPr lang="vi-VN"/>
                  <a:t>u_1&lt;u_2</a:t>
                </a:r>
                <a:r>
                  <a:rPr sz="2400">
                    <a:solidFill>
                      <a:srgbClr val="1E293B"/>
                    </a:solidFill>
                    <a:latin typeface="Calibri"/>
                  </a:rPr>
                  <a:t> nên </a:t>
                </a:r>
                <a:r>
                  <a:rPr lang="vi-VN"/>
                  <a:t>(u_n)</a:t>
                </a:r>
                <a:r>
                  <a:rPr sz="2400">
                    <a:solidFill>
                      <a:srgbClr val="1E293B"/>
                    </a:solidFill>
                    <a:latin typeface="Calibri"/>
                  </a:rPr>
                  <a:t> là dãy số tăng."</a:t>
                </a:r>
              </a:p>
              <a:p>
                <a:pPr algn="l">
                  <a:spcAft>
                    <a:spcPts val="800"/>
                  </a:spcAft>
                </a:pPr>
                <a:r>
                  <a:rPr sz="2400" b="1">
                    <a:solidFill>
                      <a:srgbClr val="1E40AF"/>
                    </a:solidFill>
                    <a:latin typeface="Calibri"/>
                  </a:rPr>
                  <a:t>Gợi mở: Lời giải AI sai ở đâu? Tìm phản ví dụ</a:t>
                </a: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25882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kết luận từ hai số hạng đầu là sai. Phản ví dụ: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Các số hạng đổi dấu liên tục nên dãy không tăng, không giảm.</a:t>
                </a:r>
              </a:p>
            </p:txBody>
          </p:sp>
        </mc:Choice>
        <mc:Fallback>
          <p:sp>
            <p:nvSpPr>
              <p:cNvPr id="7" name="TextBox 6"/>
              <p:cNvSpPr txBox="1"/>
              <p:nvPr/>
            </p:nvSpPr>
            <p:spPr>
              <a:xfrm>
                <a:off x="731520" y="1463040"/>
                <a:ext cx="10789920" cy="125882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kết luận từ hai số hạng đầu là sai. Phản ví dụ: </a:t>
                </a:r>
                <a:r>
                  <a:rPr lang="vi-VN"/>
                  <a:t>u_3=−1/3&lt;u_2=1/2</a:t>
                </a:r>
                <a:r>
                  <a:rPr sz="2400">
                    <a:solidFill>
                      <a:srgbClr val="1E293B"/>
                    </a:solidFill>
                    <a:latin typeface="Calibri"/>
                  </a:rPr>
                  <a:t>. Các số hạng đổi dấu liên tục nên dãy không tăng, không giảm.</a:t>
                </a:r>
              </a:p>
            </p:txBody>
          </p:sp>
        </mc:Fallback>
      </mc:AlternateContent>
      <p:sp>
        <p:nvSpPr>
          <p:cNvPr id="8" name="Rounded Rectangle 7"/>
          <p:cNvSpPr/>
          <p:nvPr/>
        </p:nvSpPr>
        <p:spPr>
          <a:xfrm>
            <a:off x="731520" y="2859023"/>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902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không tăng, không giảm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bị chặn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=2n−1</m:t>
                    </m:r>
                  </m:oMath>
                </a14:m>
                <a:r>
                  <a:rPr sz="2400" b="1">
                    <a:solidFill>
                      <a:srgbClr val="1E40AF"/>
                    </a:solidFill>
                    <a:latin typeface="Calibri"/>
                  </a:rPr>
                  <a:t>.</a:t>
                </a:r>
              </a:p>
              <a:p>
                <a:pPr algn="l">
                  <a:spcAft>
                    <a:spcPts val="800"/>
                  </a:spcAft>
                </a:pPr>
                <a:r>
                  <a:rPr sz="2400">
                    <a:solidFill>
                      <a:srgbClr val="1E293B"/>
                    </a:solidFill>
                    <a:latin typeface="Calibri"/>
                  </a:rPr>
                  <a:t>"Ta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1≤2n−1&lt;2n</m:t>
                    </m:r>
                  </m:oMath>
                </a14:m>
                <a:r>
                  <a:rPr sz="2400">
                    <a:solidFill>
                      <a:srgbClr val="1E293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Vậy dãy số bị chặn dưới bởi 1 và bị chặn trên bởi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2n</m:t>
                    </m:r>
                  </m:oMath>
                </a14:m>
                <a:r>
                  <a:rPr sz="2400">
                    <a:solidFill>
                      <a:srgbClr val="1E293B"/>
                    </a:solidFill>
                    <a:latin typeface="Calibri"/>
                  </a:rPr>
                  <a:t>, do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bị chặn."</a:t>
                </a:r>
              </a:p>
              <a:p>
                <a:pPr algn="l">
                  <a:spcAft>
                    <a:spcPts val="800"/>
                  </a:spcAft>
                </a:pPr>
                <a:r>
                  <a:rPr sz="2400" b="1">
                    <a:solidFill>
                      <a:srgbClr val="1E40AF"/>
                    </a:solidFill>
                    <a:latin typeface="Calibri"/>
                  </a:rPr>
                  <a:t>Gợi mở: Số chặn trên có được phụ thuộc n không?</a:t>
                </a:r>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bị chặn của dãy số </a:t>
                </a:r>
                <a:r>
                  <a:rPr lang="vi-VN"/>
                  <a:t>u_n=2n−1</a:t>
                </a:r>
                <a:r>
                  <a:rPr sz="2400" b="1">
                    <a:solidFill>
                      <a:srgbClr val="1E40AF"/>
                    </a:solidFill>
                    <a:latin typeface="Calibri"/>
                  </a:rPr>
                  <a:t>.</a:t>
                </a:r>
              </a:p>
              <a:p>
                <a:pPr algn="l">
                  <a:spcAft>
                    <a:spcPts val="800"/>
                  </a:spcAft>
                </a:pPr>
                <a:r>
                  <a:rPr sz="2400">
                    <a:solidFill>
                      <a:srgbClr val="1E293B"/>
                    </a:solidFill>
                    <a:latin typeface="Calibri"/>
                  </a:rPr>
                  <a:t>"Ta có </a:t>
                </a:r>
                <a:r>
                  <a:rPr lang="vi-VN"/>
                  <a:t>1≤2n−1&lt;2n</a:t>
                </a:r>
                <a:r>
                  <a:rPr sz="2400">
                    <a:solidFill>
                      <a:srgbClr val="1E293B"/>
                    </a:solidFill>
                    <a:latin typeface="Calibri"/>
                  </a:rPr>
                  <a:t> với mọi </a:t>
                </a:r>
                <a:r>
                  <a:rPr lang="vi-VN"/>
                  <a:t>n∈ℕ^*</a:t>
                </a:r>
                <a:r>
                  <a:rPr sz="2400">
                    <a:solidFill>
                      <a:srgbClr val="1E293B"/>
                    </a:solidFill>
                    <a:latin typeface="Calibri"/>
                  </a:rPr>
                  <a:t>. Vậy dãy số bị chặn dưới bởi 1 và bị chặn trên bởi </a:t>
                </a:r>
                <a:r>
                  <a:rPr lang="vi-VN"/>
                  <a:t>2n</a:t>
                </a:r>
                <a:r>
                  <a:rPr sz="2400">
                    <a:solidFill>
                      <a:srgbClr val="1E293B"/>
                    </a:solidFill>
                    <a:latin typeface="Calibri"/>
                  </a:rPr>
                  <a:t>, do đó </a:t>
                </a:r>
                <a:r>
                  <a:rPr lang="vi-VN"/>
                  <a:t>(u_n)</a:t>
                </a:r>
                <a:r>
                  <a:rPr sz="2400">
                    <a:solidFill>
                      <a:srgbClr val="1E293B"/>
                    </a:solidFill>
                    <a:latin typeface="Calibri"/>
                  </a:rPr>
                  <a:t> bị chặn."</a:t>
                </a:r>
              </a:p>
              <a:p>
                <a:pPr algn="l">
                  <a:spcAft>
                    <a:spcPts val="800"/>
                  </a:spcAft>
                </a:pPr>
                <a:r>
                  <a:rPr sz="2400" b="1">
                    <a:solidFill>
                      <a:srgbClr val="1E40AF"/>
                    </a:solidFill>
                    <a:latin typeface="Calibri"/>
                  </a:rPr>
                  <a:t>Gợi mở: Số chặn trên có được phụ thuộc n không?</a:t>
                </a: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767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2n</m:t>
                    </m:r>
                  </m:oMath>
                </a14:m>
                <a:r>
                  <a:rPr sz="2400">
                    <a:solidFill>
                      <a:srgbClr val="1E293B"/>
                    </a:solidFill>
                    <a:latin typeface="Calibri"/>
                  </a:rPr>
                  <a:t>" phụ thuộc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nên không phải số chặn trên. Với mọi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M</m:t>
                    </m:r>
                  </m:oMath>
                </a14:m>
                <a:r>
                  <a:rPr sz="2400">
                    <a:solidFill>
                      <a:srgbClr val="1E293B"/>
                    </a:solidFill>
                    <a:latin typeface="Calibri"/>
                  </a:rPr>
                  <a:t>, chọn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n&gt;</m:t>
                    </m:r>
                    <m:f>
                      <m:fPr>
                        <m:type m:val="bar"/>
                      </m:fPr>
                      <m:num>
                        <m:r>
                          <a:rPr lang="vi-VN" sz="2400" b="0">
                            <a:solidFill>
                              <a:srgbClr val="1E293B"/>
                            </a:solidFill>
                            <a:latin typeface="Cambria Math" panose="02040503050406030204" pitchFamily="18" charset="0"/>
                          </a:rPr>
                          <m:t>M+1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&gt;M</m:t>
                    </m:r>
                  </m:oMath>
                </a14:m>
                <a:r>
                  <a:rPr sz="2400">
                    <a:solidFill>
                      <a:srgbClr val="1E293B"/>
                    </a:solidFill>
                    <a:latin typeface="Calibri"/>
                  </a:rPr>
                  <a:t>. Đúng: dãy bị chặn dưới (bởi 1), không bị chặn trên, nên không bị chặn.</a:t>
                </a:r>
              </a:p>
            </p:txBody>
          </p:sp>
        </mc:Choice>
        <mc:Fallback>
          <p:sp>
            <p:nvSpPr>
              <p:cNvPr id="7" name="TextBox 6"/>
              <p:cNvSpPr txBox="1"/>
              <p:nvPr/>
            </p:nvSpPr>
            <p:spPr>
              <a:xfrm>
                <a:off x="731520" y="1463040"/>
                <a:ext cx="10789920" cy="14767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a:t>
                </a:r>
                <a:r>
                  <a:rPr lang="vi-VN"/>
                  <a:t>2n</a:t>
                </a:r>
                <a:r>
                  <a:rPr sz="2400">
                    <a:solidFill>
                      <a:srgbClr val="1E293B"/>
                    </a:solidFill>
                    <a:latin typeface="Calibri"/>
                  </a:rPr>
                  <a:t>" phụ thuộc </a:t>
                </a:r>
                <a:r>
                  <a:rPr lang="vi-VN"/>
                  <a:t>n</a:t>
                </a:r>
                <a:r>
                  <a:rPr sz="2400">
                    <a:solidFill>
                      <a:srgbClr val="1E293B"/>
                    </a:solidFill>
                    <a:latin typeface="Calibri"/>
                  </a:rPr>
                  <a:t> nên không phải số chặn trên. Với mọi số </a:t>
                </a:r>
                <a:r>
                  <a:rPr lang="vi-VN"/>
                  <a:t>M</a:t>
                </a:r>
                <a:r>
                  <a:rPr sz="2400">
                    <a:solidFill>
                      <a:srgbClr val="1E293B"/>
                    </a:solidFill>
                    <a:latin typeface="Calibri"/>
                  </a:rPr>
                  <a:t>, chọn </a:t>
                </a:r>
                <a:r>
                  <a:rPr lang="vi-VN"/>
                  <a:t>n&gt;(M+1)/2</a:t>
                </a:r>
                <a:r>
                  <a:rPr sz="2400">
                    <a:solidFill>
                      <a:srgbClr val="1E293B"/>
                    </a:solidFill>
                    <a:latin typeface="Calibri"/>
                  </a:rPr>
                  <a:t> thì </a:t>
                </a:r>
                <a:r>
                  <a:rPr lang="vi-VN"/>
                  <a:t>u_n&gt;M</a:t>
                </a:r>
                <a:r>
                  <a:rPr sz="2400">
                    <a:solidFill>
                      <a:srgbClr val="1E293B"/>
                    </a:solidFill>
                    <a:latin typeface="Calibri"/>
                  </a:rPr>
                  <a:t>. Đúng: dãy bị chặn dưới (bởi 1), không bị chặn trên, nên không bị chặn.</a:t>
                </a:r>
              </a:p>
            </p:txBody>
          </p:sp>
        </mc:Fallback>
      </mc:AlternateContent>
      <p:sp>
        <p:nvSpPr>
          <p:cNvPr id="8" name="Rounded Rectangle 7"/>
          <p:cNvSpPr/>
          <p:nvPr/>
        </p:nvSpPr>
        <p:spPr>
          <a:xfrm>
            <a:off x="731520" y="307695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7695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bị chặn dưới, không bị chặn trên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LƯƠNG ANH THANH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Anh Thanh vừa được tuyển dụng vào một công ty công nghệ, được cam kết lương năm đầu sẽ là 200 triệu đồng và lương mỗi năm tiếp theo sẽ được tăng thêm 25 triệu đồng. Gọi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(triệu đồng) là lương vào năm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mà anh Thanh làm việc cho công ty đó. Khi đó 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=200</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+25</m:t>
                    </m:r>
                  </m:oMath>
                </a14:m>
                <a:r>
                  <a:rPr sz="22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n≥2</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Tính lương của anh Thanh vào năm thứ 5 làm việc cho công ty.</a:t>
                </a:r>
              </a:p>
            </p:txBody>
          </p:sp>
        </mc:Choice>
        <mc:Fallback>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Anh Thanh vừa được tuyển dụng vào một công ty công nghệ, được cam kết lương năm đầu sẽ là 200 triệu đồng và lương mỗi năm tiếp theo sẽ được tăng thêm 25 triệu đồng. Gọi </a:t>
                </a:r>
                <a:r>
                  <a:rPr lang="vi-VN"/>
                  <a:t>s_n</a:t>
                </a:r>
                <a:r>
                  <a:rPr sz="2200">
                    <a:solidFill>
                      <a:srgbClr val="1E293B"/>
                    </a:solidFill>
                    <a:latin typeface="Calibri"/>
                  </a:rPr>
                  <a:t> (triệu đồng) là lương vào năm thứ </a:t>
                </a:r>
                <a:r>
                  <a:rPr lang="vi-VN"/>
                  <a:t>n</a:t>
                </a:r>
                <a:r>
                  <a:rPr sz="2200">
                    <a:solidFill>
                      <a:srgbClr val="1E293B"/>
                    </a:solidFill>
                    <a:latin typeface="Calibri"/>
                  </a:rPr>
                  <a:t> mà anh Thanh làm việc cho công ty đó. Khi đó ta có: </a:t>
                </a:r>
                <a:r>
                  <a:rPr lang="vi-VN"/>
                  <a:t>s_1=200</a:t>
                </a:r>
                <a:r>
                  <a:rPr sz="2200">
                    <a:solidFill>
                      <a:srgbClr val="1E293B"/>
                    </a:solidFill>
                    <a:latin typeface="Calibri"/>
                  </a:rPr>
                  <a:t>, </a:t>
                </a:r>
                <a:r>
                  <a:rPr lang="vi-VN"/>
                  <a:t>s_n=s_(n−1)+25</a:t>
                </a:r>
                <a:r>
                  <a:rPr sz="2200">
                    <a:solidFill>
                      <a:srgbClr val="1E293B"/>
                    </a:solidFill>
                    <a:latin typeface="Calibri"/>
                  </a:rPr>
                  <a:t> với </a:t>
                </a:r>
                <a:r>
                  <a:rPr lang="vi-VN"/>
                  <a:t>n≥2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Tính lương của anh Thanh vào năm thứ 5 làm việc cho công ty.</a:t>
                </a: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Chứng minh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là dãy số tăng. Giải thích ý nghĩa thực tế của kết quả này.</a:t>
                </a:r>
              </a:p>
              <a:p>
                <a:pPr algn="l">
                  <a:spcAft>
                    <a:spcPts val="800"/>
                  </a:spcAft>
                </a:pPr>
                <a:r>
                  <a:rPr sz="2200" b="1">
                    <a:solidFill>
                      <a:srgbClr val="1E40AF"/>
                    </a:solidFill>
                    <a:latin typeface="Calibri"/>
                  </a:rPr>
                  <a:t>Gợi mở: Tính lần lượt </a:t>
                </a:r>
                <a14:m>
                  <m:oMath xmlns:m="http://schemas.openxmlformats.org/officeDocument/2006/math">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2</m:t>
                        </m:r>
                      </m:sub>
                    </m:sSub>
                    <m:r>
                      <a:rPr lang="vi-VN" sz="2200" b="1">
                        <a:solidFill>
                          <a:srgbClr val="1E40AF"/>
                        </a:solidFill>
                        <a:latin typeface="Cambria Math" panose="02040503050406030204" pitchFamily="18" charset="0"/>
                      </a:rPr>
                      <m:t>,</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3</m:t>
                        </m:r>
                      </m:sub>
                    </m:sSub>
                    <m:r>
                      <a:rPr lang="vi-VN" sz="2200" b="1">
                        <a:solidFill>
                          <a:srgbClr val="1E40AF"/>
                        </a:solidFill>
                        <a:latin typeface="Cambria Math" panose="02040503050406030204" pitchFamily="18" charset="0"/>
                      </a:rPr>
                      <m:t>,</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4</m:t>
                        </m:r>
                      </m:sub>
                    </m:sSub>
                    <m:r>
                      <a:rPr lang="vi-VN" sz="2200" b="1">
                        <a:solidFill>
                          <a:srgbClr val="1E40AF"/>
                        </a:solidFill>
                        <a:latin typeface="Cambria Math" panose="02040503050406030204" pitchFamily="18" charset="0"/>
                      </a:rPr>
                      <m:t>,</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5</m:t>
                        </m:r>
                      </m:sub>
                    </m:sSub>
                  </m:oMath>
                </a14:m>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Chứng minh </a:t>
                </a:r>
                <a:r>
                  <a:rPr lang="vi-VN"/>
                  <a:t>(s_n)</a:t>
                </a:r>
                <a:r>
                  <a:rPr sz="2200">
                    <a:solidFill>
                      <a:srgbClr val="1E293B"/>
                    </a:solidFill>
                    <a:latin typeface="Calibri"/>
                  </a:rPr>
                  <a:t> là dãy số tăng. Giải thích ý nghĩa thực tế của kết quả này.</a:t>
                </a:r>
              </a:p>
              <a:p>
                <a:pPr algn="l">
                  <a:spcAft>
                    <a:spcPts val="800"/>
                  </a:spcAft>
                </a:pPr>
                <a:r>
                  <a:rPr sz="2200" b="1">
                    <a:solidFill>
                      <a:srgbClr val="1E40AF"/>
                    </a:solidFill>
                    <a:latin typeface="Calibri"/>
                  </a:rPr>
                  <a:t>Gợi mở: Tính lần lượt </a:t>
                </a:r>
                <a:r>
                  <a:rPr lang="vi-VN"/>
                  <a:t>s_2, s_3, s_4, s_5</a:t>
                </a: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LƯƠNG ANH THANH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=225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=250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=275</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+25=300</m:t>
                    </m:r>
                  </m:oMath>
                </a14:m>
                <a:r>
                  <a:rPr sz="2400">
                    <a:solidFill>
                      <a:srgbClr val="1E293B"/>
                    </a:solidFill>
                    <a:latin typeface="Calibri"/>
                  </a:rPr>
                  <a:t> (hay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=200+4·25=300</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=25&gt;0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r>
                  <a:rPr sz="2400">
                    <a:solidFill>
                      <a:srgbClr val="1E293B"/>
                    </a:solidFill>
                    <a:latin typeface="Calibri"/>
                  </a:rPr>
                  <a:t>: </a:t>
                </a:r>
                <a14:m>
                  <m:oMath xmlns:m="http://schemas.openxmlformats.org/officeDocument/2006/math">
                    <m:d>
                      <m:dPr>
                        <m:sepChr m:val=""/>
                      </m:dPr>
                      <m:e>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dãy số tăng</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s_2=225</a:t>
                </a:r>
                <a:r>
                  <a:rPr sz="2400">
                    <a:solidFill>
                      <a:srgbClr val="1E293B"/>
                    </a:solidFill>
                    <a:latin typeface="Calibri"/>
                  </a:rPr>
                  <a:t>, </a:t>
                </a:r>
                <a:r>
                  <a:rPr lang="vi-VN"/>
                  <a:t>s_3=250</a:t>
                </a:r>
                <a:r>
                  <a:rPr sz="2400">
                    <a:solidFill>
                      <a:srgbClr val="1E293B"/>
                    </a:solidFill>
                    <a:latin typeface="Calibri"/>
                  </a:rPr>
                  <a:t>, </a:t>
                </a:r>
                <a:r>
                  <a:rPr lang="vi-VN"/>
                  <a:t>s_4=275</a:t>
                </a:r>
              </a:p>
              <a:p>
                <a:pPr algn="l" marL="365760" indent="-365760">
                  <a:spcAft>
                    <a:spcPts val="800"/>
                  </a:spcAft>
                  <a:buClr>
                    <a:srgbClr val="1E40AF"/>
                  </a:buClr>
                  <a:buFont typeface="Arial"/>
                  <a:buChar char="•"/>
                </a:pPr>
                <a:r>
                  <a:rPr lang="vi-VN"/>
                  <a:t>s_5=s_4+25=300</a:t>
                </a:r>
                <a:r>
                  <a:rPr sz="2400">
                    <a:solidFill>
                      <a:srgbClr val="1E293B"/>
                    </a:solidFill>
                    <a:latin typeface="Calibri"/>
                  </a:rPr>
                  <a:t> (hay </a:t>
                </a:r>
                <a:r>
                  <a:rPr lang="vi-VN"/>
                  <a:t>s_5=200+4\cdot 25=300</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s_n-s_{n-1}=25&gt;0</a:t>
                </a:r>
                <a:r>
                  <a:rPr sz="2400">
                    <a:solidFill>
                      <a:srgbClr val="1E293B"/>
                    </a:solidFill>
                    <a:latin typeface="Calibri"/>
                  </a:rPr>
                  <a:t> với mọi </a:t>
                </a:r>
                <a:r>
                  <a:rPr lang="vi-VN"/>
                  <a:t>n\ge 2</a:t>
                </a:r>
                <a:r>
                  <a:rPr sz="2400">
                    <a:solidFill>
                      <a:srgbClr val="1E293B"/>
                    </a:solidFill>
                    <a:latin typeface="Calibri"/>
                  </a:rPr>
                  <a:t>: </a:t>
                </a:r>
                <a:r>
                  <a:rPr lang="vi-VN"/>
                  <a:t>(s_n)</a:t>
                </a:r>
                <a:r>
                  <a:rPr sz="2400">
                    <a:solidFill>
                      <a:srgbClr val="1E293B"/>
                    </a:solidFill>
                    <a:latin typeface="Calibri"/>
                  </a:rPr>
                  <a:t> là dãy số tăng</a:t>
                </a:r>
              </a:p>
            </p:txBody>
          </p:sp>
        </mc:Fallback>
      </mc:AlternateContent>
      <p:sp>
        <p:nvSpPr>
          <p:cNvPr id="8" name="Rounded Rectangle 7"/>
          <p:cNvSpPr/>
          <p:nvPr/>
        </p:nvSpPr>
        <p:spPr>
          <a:xfrm>
            <a:off x="731520" y="3118104"/>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Năm thứ 5: 300 triệu đồng</a:t>
            </a:r>
          </a:p>
          <a:p>
            <a:pPr algn="l">
              <a:spcAft>
                <a:spcPts val="400"/>
              </a:spcAft>
            </a:pPr>
            <a:r>
              <a:rPr sz="2400" b="1">
                <a:solidFill>
                  <a:srgbClr val="991B1B"/>
                </a:solidFill>
                <a:latin typeface="Calibri"/>
              </a:rPr>
              <a:t>Lương năm sau luôn cao hơn năm trước</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NHIỆM VỤ NHÓM: GIÁ CÀ PHÊ</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Ghi giá cà phê nhân 10 ngày liên tiếp</a:t>
                </a:r>
              </a:p>
              <a:p>
                <a:pPr algn="l" marL="365760" indent="-365760">
                  <a:spcAft>
                    <a:spcPts val="800"/>
                  </a:spcAft>
                  <a:buClr>
                    <a:srgbClr val="1E40AF"/>
                  </a:buClr>
                  <a:buFont typeface="Arial"/>
                  <a:buChar char="•"/>
                </a:pPr>
                <a:r>
                  <a:rPr sz="2400">
                    <a:solidFill>
                      <a:srgbClr val="1E293B"/>
                    </a:solidFill>
                    <a:latin typeface="Calibri"/>
                  </a:rPr>
                  <a:t>Lập dãy số hữu hạn </a:t>
                </a:r>
                <a14:m>
                  <m:oMath xmlns:m="http://schemas.openxmlformats.org/officeDocument/2006/math">
                    <m:d>
                      <m:dPr>
                        <m:sepChr m:val=""/>
                      </m:dPr>
                      <m:e>
                        <m:sSub>
                          <m:e>
                            <m:r>
                              <a:rPr lang="vi-VN" sz="2400" b="0">
                                <a:solidFill>
                                  <a:srgbClr val="1E293B"/>
                                </a:solidFill>
                                <a:latin typeface="Cambria Math" panose="02040503050406030204" pitchFamily="18" charset="0"/>
                              </a:rPr>
                              <m:t>g</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vẽ biểu đồ điểm</a:t>
                </a:r>
              </a:p>
              <a:p>
                <a:pPr algn="l" marL="365760" indent="-365760">
                  <a:spcAft>
                    <a:spcPts val="800"/>
                  </a:spcAft>
                  <a:buClr>
                    <a:srgbClr val="1E40AF"/>
                  </a:buClr>
                  <a:buFont typeface="Arial"/>
                  <a:buChar char="•"/>
                </a:pPr>
                <a:r>
                  <a:rPr sz="2400">
                    <a:solidFill>
                      <a:srgbClr val="1E293B"/>
                    </a:solidFill>
                    <a:latin typeface="Calibri"/>
                  </a:rPr>
                  <a:t>Nhận xét tăng, giảm; tìm số m, M chặn dãy</a:t>
                </a:r>
              </a:p>
              <a:p>
                <a:pPr algn="l" marL="365760" indent="-365760">
                  <a:spcAft>
                    <a:spcPts val="800"/>
                  </a:spcAft>
                  <a:buClr>
                    <a:srgbClr val="1E40AF"/>
                  </a:buClr>
                  <a:buFont typeface="Arial"/>
                  <a:buChar char="•"/>
                </a:pPr>
                <a:r>
                  <a:rPr sz="2400">
                    <a:solidFill>
                      <a:srgbClr val="1E293B"/>
                    </a:solidFill>
                    <a:latin typeface="Calibri"/>
                  </a:rPr>
                  <a:t>Đề xuất thời điểm bán hợp lí</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Choice>
        <mc:Fallback>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Ghi giá cà phê nhân 10 ngày liên tiếp</a:t>
                </a:r>
              </a:p>
              <a:p>
                <a:pPr algn="l" marL="365760" indent="-365760">
                  <a:spcAft>
                    <a:spcPts val="800"/>
                  </a:spcAft>
                  <a:buClr>
                    <a:srgbClr val="1E40AF"/>
                  </a:buClr>
                  <a:buFont typeface="Arial"/>
                  <a:buChar char="•"/>
                </a:pPr>
                <a:r>
                  <a:rPr sz="2400">
                    <a:solidFill>
                      <a:srgbClr val="1E293B"/>
                    </a:solidFill>
                    <a:latin typeface="Calibri"/>
                  </a:rPr>
                  <a:t>Lập dãy số hữu hạn </a:t>
                </a:r>
                <a:r>
                  <a:rPr lang="vi-VN"/>
                  <a:t>(g_n)</a:t>
                </a:r>
                <a:r>
                  <a:rPr sz="2400">
                    <a:solidFill>
                      <a:srgbClr val="1E293B"/>
                    </a:solidFill>
                    <a:latin typeface="Calibri"/>
                  </a:rPr>
                  <a:t>, vẽ biểu đồ điểm</a:t>
                </a:r>
              </a:p>
              <a:p>
                <a:pPr algn="l" marL="365760" indent="-365760">
                  <a:spcAft>
                    <a:spcPts val="800"/>
                  </a:spcAft>
                  <a:buClr>
                    <a:srgbClr val="1E40AF"/>
                  </a:buClr>
                  <a:buFont typeface="Arial"/>
                  <a:buChar char="•"/>
                </a:pPr>
                <a:r>
                  <a:rPr sz="2400">
                    <a:solidFill>
                      <a:srgbClr val="1E293B"/>
                    </a:solidFill>
                    <a:latin typeface="Calibri"/>
                  </a:rPr>
                  <a:t>Nhận xét tăng, giảm; tìm số m, M chặn dãy</a:t>
                </a:r>
              </a:p>
              <a:p>
                <a:pPr algn="l" marL="365760" indent="-365760">
                  <a:spcAft>
                    <a:spcPts val="800"/>
                  </a:spcAft>
                  <a:buClr>
                    <a:srgbClr val="1E40AF"/>
                  </a:buClr>
                  <a:buFont typeface="Arial"/>
                  <a:buChar char="•"/>
                </a:pPr>
                <a:r>
                  <a:rPr sz="2400">
                    <a:solidFill>
                      <a:srgbClr val="1E293B"/>
                    </a:solidFill>
                    <a:latin typeface="Calibri"/>
                  </a:rPr>
                  <a:t>Đề xuất thời điểm bán hợp lí</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BÀI 5</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77</a:t>
            </a:r>
          </a:p>
        </p:txBody>
      </p:sp>
      <p:pic>
        <p:nvPicPr>
          <p:cNvPr id="6" name="Picture 5" descr="img05.png"/>
          <p:cNvPicPr>
            <a:picLocks noChangeAspect="1"/>
          </p:cNvPicPr>
          <p:nvPr/>
        </p:nvPicPr>
        <p:blipFill>
          <a:blip r:embed="rId2"/>
          <a:stretch>
            <a:fillRect/>
          </a:stretch>
        </p:blipFill>
        <p:spPr>
          <a:xfrm>
            <a:off x="1784056" y="1417320"/>
            <a:ext cx="8593408" cy="48006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78</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5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trangtu66.github.io/Taode_thi_online/cc_bai5_t11.html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