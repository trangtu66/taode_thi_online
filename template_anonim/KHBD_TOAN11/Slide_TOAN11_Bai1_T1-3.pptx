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hyperlink" Target="https://trangtu66.github.io/Taode_thi_online/cc_bai1_t11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1. GIÁ TRỊ LƯỢNG GIÁC CỦA GÓC LƯỢNG GIÁC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Hàm số lượng giác và phương trình lượng giác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11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 – 3 theo PPCT (T1, T2, T3)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góc lượng giác, hệ thức Chasles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Đổi độ – rađian, tính độ dài cung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Biểu diễn góc trên đường tròn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Tính giá trị lượng giác của góc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Dùng các góc liên quan đặc biệt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bài toán thực tiễn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TRẠM VŨ TRỤ ISS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Trạm ISS cách mặt đất 400 km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Bán kính Trái Đất: 6 400 km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Được theo dõi trong góc 45° ở tâm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ISS đi được bao nhiêu km?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159" y="1463040"/>
            <a:ext cx="4074082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GÓC LƯỢNG GIÁC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Tia Om quay từ Ou đến Ov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Ngược chiều kim đồng hồ: chiều dương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Cùng chiều kim đồng hồ: chiều âm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sđ(Ou, Ov) = α° + k360°,  k ∈ ℤ</a:t>
            </a:r>
          </a:p>
        </p:txBody>
      </p:sp>
      <p:pic>
        <p:nvPicPr>
          <p:cNvPr id="9" name="Picture 8" descr="rId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853" y="4169664"/>
            <a:ext cx="8291814" cy="20482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Góc hình học uOv = 60°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sđ(Ou, Ov) = 60° + k360°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sđ(Ov, Ou) = −60° + k360°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Hai góc cùng tia đầu, tia cuối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sai khác bội nguyên của 360°</a:t>
            </a:r>
          </a:p>
        </p:txBody>
      </p:sp>
      <p:pic>
        <p:nvPicPr>
          <p:cNvPr id="9" name="Picture 8" descr="rI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839191"/>
            <a:ext cx="4389120" cy="39568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HỆ THỨC CHASLES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5590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Hệ quả: sđ(Ou, Ov) = sđ(Ox, Ov) − sđ(Ox, Ou) + k360°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Ví dụ 2: sđ(Ox, Ou) = −270°, sđ(Ox, Ov) = 135°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⇒ sđ(Ou, Ov) = 405° + k360° = 45° + m360°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4971"/>
            <a:ext cx="8686800" cy="647699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04971"/>
            <a:ext cx="8321040" cy="6476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sđ(Ou, Ov) + sđ(Ov, Ow) = sđ(Ou, Ow) + k360°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ĐƠN VỊ RAĐIAN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Cung dài bằng R: số đo 1 rad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Cung dài bằng R: số đo 1 rad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45^\circ=\frac{\pi}{4}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:r>
                  <a:rPr lang="vi-VN"/>
                  <a:t>150^\circ=\frac{5\pi}{6}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\frac{\pi}{3}=60^\circ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:r>
                  <a:rPr lang="vi-VN"/>
                  <a:t>\frac{5\pi}{4}=225^\circ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895344"/>
            <a:ext cx="6400800" cy="960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895344"/>
                <a:ext cx="6035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rad;   1 rad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sepChr m:val=""/>
                          </m:dPr>
                          <m:e>
                            <m:f>
                              <m:fPr>
                                <m:type m:val="bar"/>
                              </m:fPr>
                              <m:num>
                                <m:r>
                                  <a:rPr lang="vi-VN" sz="2400" b="1">
                                    <a:solidFill>
                                      <a:srgbClr val="991B1B"/>
                                    </a:solidFill>
                                    <a:latin typeface="Cambria Math" panose="02040503050406030204" pitchFamily="18" charset="0"/>
                                  </a:rPr>
                                  <m:t>180</m:t>
                                </m:r>
                              </m:num>
                              <m:den>
                                <m:r>
                                  <a:rPr lang="vi-VN" sz="2400" b="1">
                                    <a:solidFill>
                                      <a:srgbClr val="991B1B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895344"/>
                <a:ext cx="6035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1^\circ=\frac{\pi}{180}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rad;   1 rad </a:t>
                </a:r>
                <a:r>
                  <a:rPr lang="vi-VN"/>
                  <a:t>=\left(\frac{180}{\pi}\right)^\circ</a:t>
                </a:r>
              </a:p>
            </p:txBody>
          </p:sp>
        </mc:Fallback>
      </mc:AlternateContent>
      <p:pic>
        <p:nvPicPr>
          <p:cNvPr id="9" name="Picture 8" descr="rId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4343" y="1463040"/>
            <a:ext cx="3613713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BẢNG ĐỘ – RAĐIAN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92708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51560"/>
                <a:gridCol w="1051560"/>
                <a:gridCol w="1051560"/>
                <a:gridCol w="1051560"/>
                <a:gridCol w="1051560"/>
                <a:gridCol w="1051560"/>
                <a:gridCol w="1051560"/>
                <a:gridCol w="1051560"/>
                <a:gridCol w="105156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Độ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0°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30°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45°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60°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90°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120°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135°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150°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180°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1E293B"/>
                          </a:solidFill>
                          <a:latin typeface="Calibri"/>
                        </a:rPr>
                        <a:t>Rađian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π/6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π/4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π/3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π/2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2π/3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3π/4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5π/6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ĐỘ DÀI CUNG TRÒN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4: R = 2 cm, cung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l=2·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(cm)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4: R = 2 cm, cung </a:t>
                </a:r>
                <a:r>
                  <a:rPr lang="vi-VN"/>
                  <a:t>\frac{2\pi}{3}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l=2\cdot\frac{2\pi}{3}=\frac{4\pi}{3}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(cm)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28415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28415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l=Rα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  (α đo bằng rađian)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28415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l=R\alpha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  (α đo bằng rađian)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R = 6 400 + 400 = 6 800 km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R = 6 400 + 400 = 6 800 km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45^\circ=\frac{\pi}{4}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6400800" cy="960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054096"/>
                <a:ext cx="6035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l=6800·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=1700π≈5341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km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054096"/>
                <a:ext cx="6035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l=6800\cdot\frac{\pi}{4}=1700\pi\approx 5341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km</a:t>
                </a:r>
              </a:p>
            </p:txBody>
          </p:sp>
        </mc:Fallback>
      </mc:AlternateContent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159" y="1463040"/>
            <a:ext cx="4074082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ĐƯỜNG TRÒN LƯỢNG GIÁC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Tâm O, bán kính 1, có định hướng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Điểm gốc A(1; 0)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 biểu diễn α: sđ(OA, OM) = 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Chiều dương: ngược chiều kim đồng hồ</a:t>
            </a:r>
          </a:p>
        </p:txBody>
      </p:sp>
      <p:pic>
        <p:nvPicPr>
          <p:cNvPr id="9" name="Picture 8" descr="rId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71531"/>
            <a:ext cx="4389120" cy="469217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GIÁ TRỊ LƯỢNG GIÁC CỦA GÓC 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M(x; y) biểu diễn góc α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−1 ≤ sin α ≤ 1;   −1 ≤ cos α ≤ 1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tan α xác định khi α ≠ π/2 + kπ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14173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6035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cos α = x;   sin α = y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6035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cos α = x;   sin α = y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\tan\ \alpha=\frac{\sin\ \alpha}{\cos\ \alpha}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 </a:t>
                </a:r>
                <a:r>
                  <a:rPr lang="vi-VN"/>
                  <a:t>\cot\ \alpha=\frac{\cos\ \alpha}{\sin\ \alpha}</a:t>
                </a:r>
              </a:p>
            </p:txBody>
          </p:sp>
        </mc:Fallback>
      </mc:AlternateContent>
      <p:pic>
        <p:nvPicPr>
          <p:cNvPr id="9" name="Picture 8" descr="rId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657853"/>
            <a:ext cx="4389120" cy="231953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DẤU CỦA GIÁ TRỊ LƯỢNG GIÁC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82296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463040"/>
                <a:gridCol w="1463040"/>
                <a:gridCol w="1463040"/>
                <a:gridCol w="146304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Góc phần tư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II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III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IV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cos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sin 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tan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cot 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GIÁ TRỊ LƯỢNG GIÁC GÓC ĐẶC BIỆT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97840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554480"/>
                <a:gridCol w="1554480"/>
                <a:gridCol w="1554480"/>
                <a:gridCol w="1554480"/>
                <a:gridCol w="155448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α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π/6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π/4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π/3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π/2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sin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1/2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√2/2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√3/2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cos 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√3/2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√2/2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1/2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tan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1/√3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√3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KXĐ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cot 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KXĐ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√3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1/√3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6: GÓC −π/3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\cos\ \left(−\frac{\pi}{3}\right)=\frac{1}{2}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:r>
                  <a:rPr lang="vi-VN"/>
                  <a:t>\sin\ \left(−\frac{\pi}{3}\right)=−\frac{\sqrt{3}}{2}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\tan\ \left(−\frac{\pi}{3}\right)=−\sqrt{3}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:r>
                  <a:rPr lang="vi-VN"/>
                  <a:t>\cot\ \left(−\frac{\pi}{3}\right)=−\frac{1}{\sqrt{3}}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28415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28415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 thuộc góc phần tư thứ IV</a:t>
            </a:r>
          </a:p>
        </p:txBody>
      </p:sp>
      <p:pic>
        <p:nvPicPr>
          <p:cNvPr id="9" name="Picture 8" descr="rId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563893"/>
            <a:ext cx="4389120" cy="450745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DÙNG MÁY TÍNH CẦM TAY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Chọn đơn vị: độ hoặc rađian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Luyện tập 6: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≈0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2225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Chọn đơn vị: độ hoặc rađian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Luyện tập 6: </a:t>
                </a:r>
                <a:r>
                  <a:rPr lang="vi-VN"/>
                  <a:t>\cos\ \frac{3\pi}{7}\approx 0{,}2225</a:t>
                </a:r>
              </a:p>
            </p:txBody>
          </p:sp>
        </mc:Fallback>
      </mc:AlternateContent>
      <p:pic>
        <p:nvPicPr>
          <p:cNvPr id="7" name="Picture 6" descr="rId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301694"/>
            <a:ext cx="10698480" cy="266862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4. HỆ THỨC CƠ BẢN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8686800" cy="260604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914400" y="1508760"/>
                <a:ext cx="8321040" cy="260604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α+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α=1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1+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1+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α·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α=1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914400" y="1508760"/>
                <a:ext cx="8321040" cy="260604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\sin^2\alpha+\cos^2\alpha=1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1+\tan^2\alpha=\frac{1}{\cos^2\alpha}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1+\cot^2\alpha=\frac{1}{\sin^2\alpha}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\tan\ \alpha\cdot\cot\ \alpha=1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18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2374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α=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 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&lt;α&lt;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α&lt;0⇒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α=−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e>
                    </m:ra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2374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\sin\ \alpha=\frac{3}{5}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  </a:t>
                </a:r>
                <a:r>
                  <a:rPr lang="vi-VN"/>
                  <a:t>90^\circ&lt;\alpha&lt;180^\circ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\cos\ \alpha&lt;0\Rightarrow\cos\ \alpha=−\sqrt{1−\frac{9}{25}}=−\frac{4}{5}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\tan\ \alpha=−\frac{3}{4}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:r>
                  <a:rPr lang="vi-VN"/>
                  <a:t>\cot\ \alpha=−\frac{4}{3}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169663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69663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Xét dấu theo góc phần tư trước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GÓC LIÊN QUAN ĐẶC BIỆT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Mẹo: cos đối, sin bù, phụ chéo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10312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  <a:gridCol w="2743200"/>
                <a:gridCol w="265176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Đối nhau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Bù nhau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Phụ nhau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Hơn kém π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E293B"/>
                          </a:solidFill>
                          <a:latin typeface="Calibri"/>
                        </a:rPr>
                        <a:t>cos(−α) = cos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sin(π − α) = sin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sin(π/2 − α) = cos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sin(π + α) = −sin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E293B"/>
                          </a:solidFill>
                          <a:latin typeface="Calibri"/>
                        </a:rPr>
                        <a:t>sin(−α) = −sin 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cos(π − α) = −cos 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cos(π/2 − α) = sin 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cos(π + α) = −cos 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E293B"/>
                          </a:solidFill>
                          <a:latin typeface="Calibri"/>
                        </a:rPr>
                        <a:t>tan(−α) = −tan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tan(π − α) = −tan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tan(π/2 − α) = cot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tan(π + α) = tan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10 – LUYỆN TẬP 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20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11π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cot(−675°) = cot(45° − 2·360°) = 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675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\cos\ \left(−\frac{11\pi}{4}\right)=\cos\ \frac{3\pi}{4}=−\frac{\sqrt{2}}{2}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cot(−675°) = cot(45° − 2·360°) = 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\sin\ (−675^\circ)=\frac{\sqrt{2}}{2}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:r>
                  <a:rPr lang="vi-VN"/>
                  <a:t>\tan\ \frac{15\pi}{4}=−1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89534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9534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Bỏ bội của 2π (hoặc 360°) trước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21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khi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&lt;α&lt;π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l = 30 · 150 = 4 500 cm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:r>
                  <a:rPr lang="vi-VN"/>
                  <a:t>\cos\ \alpha=\frac{2\sqrt{2}}{3}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khi </a:t>
                </a:r>
                <a:r>
                  <a:rPr lang="vi-VN"/>
                  <a:t>\frac{\pi}{2}&lt;\alpha&lt;\pi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l = 30 · 150 = 4 500 cm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21024"/>
            <a:ext cx="8686800" cy="169164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621024"/>
                <a:ext cx="8321040" cy="169164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Đúng: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(góc phần tư II)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Đổi rađian: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l=30·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5π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≈78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cm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621024"/>
                <a:ext cx="8321040" cy="169164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Đúng: </a:t>
                </a:r>
                <a:r>
                  <a:rPr lang="vi-VN"/>
                  <a:t>\cos\ \alpha=−\frac{2\sqrt{2}}{3}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(góc phần tư II)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Đổi rađian: </a:t>
                </a:r>
                <a:r>
                  <a:rPr lang="vi-VN"/>
                  <a:t>l=30\cdot\frac{5\pi}{6}\approx 78{,}54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cm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HUYẾT ÁP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22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B(t)=80+7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πt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(mmHg)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6 giờ sáng: B(6) = 87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12 giờ trưa: B(12) = 80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8 giờ tối: B(20) ≈ 73,9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B(t)=80+7\sin\ \frac{\pi t}{12}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(mmHg)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6 giờ sáng: B(6) = 87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12 giờ trưa: B(12) = 80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8 giờ tối: B(20) ≈ 73,9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187951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87951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Huyết áp dao động quanh 80 mmHg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NHÓM: VẬT QUAY QUANH TA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401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Chọn một vật quay ở nhà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Đo bán kính, đếm số vòng quay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góc quay trong 1 giây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quãng đường trong 1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Vẽ minh họa bằng GeoGebra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kèm Nhật ký sử dụng AI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24</a:t>
            </a:r>
          </a:p>
        </p:txBody>
      </p:sp>
      <p:pic>
        <p:nvPicPr>
          <p:cNvPr id="6" name="Picture 5" descr="rId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1_Toan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trangtu66.github.io/Taode_thi_online/cc_bai1_t11.html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