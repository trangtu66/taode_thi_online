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Chữa nhanh Bài 2.10, 2.13 (Bài 6). HS dự đoán, GV ghi lại – giải ở Ví dụ 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Đối chiếu dự đoán ở Khởi động: nếu nghĩ là cấp số cộng tăng 12 triệu/năm thì chỉ được 2 940 triệu.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trangtu66.github.io/Taode_thi_online/cc_bai7_t11.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22860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15600" cy="1371600"/>
          </a:xfrm>
          <a:prstGeom prst="rect">
            <a:avLst/>
          </a:prstGeom>
          <a:noFill/>
        </p:spPr>
        <p:txBody>
          <a:bodyPr wrap="square">
            <a:spAutoFit/>
          </a:bodyPr>
          <a:lstStyle/>
          <a:p>
            <a:r>
              <a:rPr sz="4000" b="1">
                <a:solidFill>
                  <a:srgbClr val="1E40AF"/>
                </a:solidFill>
                <a:latin typeface="Arial"/>
              </a:rPr>
              <a:t>BÀI 7. CẤP SỐ NHÂN</a:t>
            </a:r>
          </a:p>
        </p:txBody>
      </p:sp>
      <p:sp>
        <p:nvSpPr>
          <p:cNvPr id="4" name="TextBox 3"/>
          <p:cNvSpPr txBox="1"/>
          <p:nvPr/>
        </p:nvSpPr>
        <p:spPr>
          <a:xfrm>
            <a:off x="822960" y="2560320"/>
            <a:ext cx="10515600" cy="822960"/>
          </a:xfrm>
          <a:prstGeom prst="rect">
            <a:avLst/>
          </a:prstGeom>
          <a:noFill/>
        </p:spPr>
        <p:txBody>
          <a:bodyPr wrap="square" anchor="t" lIns="45720" rIns="45720">
            <a:spAutoFit/>
          </a:bodyPr>
          <a:lstStyle/>
          <a:p>
            <a:pPr algn="l">
              <a:spcAft>
                <a:spcPts val="800"/>
              </a:spcAft>
            </a:pPr>
            <a:r>
              <a:rPr sz="2800" b="1">
                <a:solidFill>
                  <a:srgbClr val="1E293B"/>
                </a:solidFill>
                <a:latin typeface="Calibri"/>
              </a:rPr>
              <a:t>Chương II. Dãy số. Cấp số cộng và cấp số nhân</a:t>
            </a:r>
          </a:p>
        </p:txBody>
      </p:sp>
      <p:sp>
        <p:nvSpPr>
          <p:cNvPr id="5" name="Rectangle 4"/>
          <p:cNvSpPr/>
          <p:nvPr/>
        </p:nvSpPr>
        <p:spPr>
          <a:xfrm>
            <a:off x="868680" y="3474720"/>
            <a:ext cx="2286000" cy="36576"/>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10515600" cy="20116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Môn Toán – Lớp 11 (Kết nối tri thức với cuộc sống)</a:t>
            </a:r>
          </a:p>
          <a:p>
            <a:pPr algn="l">
              <a:spcAft>
                <a:spcPts val="800"/>
              </a:spcAft>
            </a:pPr>
            <a:r>
              <a:rPr sz="2200">
                <a:solidFill>
                  <a:srgbClr val="1E293B"/>
                </a:solidFill>
                <a:latin typeface="Calibri"/>
              </a:rPr>
              <a:t>Tiết 15, 16 theo PPCT · Năm học 2026 – 2027</a:t>
            </a:r>
          </a:p>
          <a:p>
            <a:pPr algn="l">
              <a:spcAft>
                <a:spcPts val="800"/>
              </a:spcAft>
            </a:pPr>
            <a:r>
              <a:rPr sz="2200">
                <a:solidFill>
                  <a:srgbClr val="1E293B"/>
                </a:solidFill>
                <a:latin typeface="Calibri"/>
              </a:rPr>
              <a:t>GV soạn: TTT – Trường Trường THPT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MỤC TIÊU BÀI HỌC</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a:t>
            </a:r>
          </a:p>
        </p:txBody>
      </p:sp>
      <p:sp>
        <p:nvSpPr>
          <p:cNvPr id="6" name="TextBox 5"/>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Nhận biết một dãy số là cấp số nhân</a:t>
            </a:r>
          </a:p>
          <a:p>
            <a:pPr algn="l" marL="365760" indent="-365760">
              <a:spcAft>
                <a:spcPts val="800"/>
              </a:spcAft>
              <a:buClr>
                <a:srgbClr val="1E40AF"/>
              </a:buClr>
              <a:buFont typeface="Arial"/>
              <a:buChar char="•"/>
            </a:pPr>
            <a:r>
              <a:rPr sz="2400">
                <a:solidFill>
                  <a:srgbClr val="1E293B"/>
                </a:solidFill>
                <a:latin typeface="Calibri"/>
              </a:rPr>
              <a:t>Giải thích công thức số hạng tổng quát</a:t>
            </a:r>
          </a:p>
          <a:p>
            <a:pPr algn="l" marL="365760" indent="-365760">
              <a:spcAft>
                <a:spcPts val="800"/>
              </a:spcAft>
              <a:buClr>
                <a:srgbClr val="1E40AF"/>
              </a:buClr>
              <a:buFont typeface="Arial"/>
              <a:buChar char="•"/>
            </a:pPr>
            <a:r>
              <a:rPr sz="2400">
                <a:solidFill>
                  <a:srgbClr val="1E293B"/>
                </a:solidFill>
                <a:latin typeface="Calibri"/>
              </a:rPr>
              <a:t>Tính tổng n số hạng đầu của cấp số nhân</a:t>
            </a:r>
          </a:p>
          <a:p>
            <a:pPr algn="l" marL="365760" indent="-365760">
              <a:spcAft>
                <a:spcPts val="800"/>
              </a:spcAft>
              <a:buClr>
                <a:srgbClr val="1E40AF"/>
              </a:buClr>
              <a:buFont typeface="Arial"/>
              <a:buChar char="•"/>
            </a:pPr>
            <a:r>
              <a:rPr sz="2400">
                <a:solidFill>
                  <a:srgbClr val="1E293B"/>
                </a:solidFill>
                <a:latin typeface="Calibri"/>
              </a:rPr>
              <a:t>Giải bài toán tăng trưởng thực tiễn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600" b="1">
                <a:solidFill>
                  <a:srgbClr val="1E40AF"/>
                </a:solidFill>
                <a:latin typeface="Arial"/>
              </a:rPr>
              <a:t>KHỞI ĐỘNG: LƯƠNG CHUYÊN GIA</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a:t>
            </a:r>
          </a:p>
        </p:txBody>
      </p:sp>
      <p:sp>
        <p:nvSpPr>
          <p:cNvPr id="7" name="TextBox 6"/>
          <p:cNvSpPr txBox="1"/>
          <p:nvPr/>
        </p:nvSpPr>
        <p:spPr>
          <a:xfrm>
            <a:off x="731520" y="1463040"/>
            <a:ext cx="10789920" cy="259689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công ty tuyển một chuyên gia về công nghệ thông tin với mức lương năm đầu là 240 triệu đồng và cam kết sẽ tăng thêm 5% lương mỗi năm so với năm liền trước đó. Tính tổng số lương mà chuyên gia đó nhận được sau khi làm việc cho công ty 10 năm (làm tròn đến triệu đồng).</a:t>
            </a:r>
          </a:p>
          <a:p>
            <a:pPr algn="l">
              <a:spcAft>
                <a:spcPts val="800"/>
              </a:spcAft>
            </a:pPr>
            <a:r>
              <a:rPr sz="2400" b="1">
                <a:solidFill>
                  <a:srgbClr val="1E40AF"/>
                </a:solidFill>
                <a:latin typeface="Calibri"/>
              </a:rPr>
              <a:t>Gợi mở: Lương năm thứ hai, thứ ba là bao nhiêu? Có lập thành cấp số cộng không?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1. ĐỊNH NGHĨA</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HĐ1: NHẬN BIẾT CẤP SỐ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 này.</a:t>
                </a:r>
              </a:p>
              <a:p>
                <a:pPr algn="l" marL="365760" indent="-365760">
                  <a:spcAft>
                    <a:spcPts val="800"/>
                  </a:spcAft>
                  <a:buClr>
                    <a:srgbClr val="1E40AF"/>
                  </a:buClr>
                  <a:buFont typeface="Arial"/>
                  <a:buChar char="•"/>
                </a:pPr>
                <a:r>
                  <a:rPr sz="2400">
                    <a:solidFill>
                      <a:srgbClr val="1E293B"/>
                    </a:solidFill>
                    <a:latin typeface="Calibri"/>
                  </a:rPr>
                  <a:t>b) Dự đoán hệ thức truy hồi liên hệ giữa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oMath>
                </a14:m>
                <a:r>
                  <a:rPr sz="2400">
                    <a:solidFill>
                      <a:srgbClr val="1E293B"/>
                    </a:solidFill>
                    <a:latin typeface="Calibri"/>
                  </a:rPr>
                  <a:t>.</a:t>
                </a:r>
              </a:p>
              <a:p>
                <a:pPr algn="l">
                  <a:spcAft>
                    <a:spcPts val="800"/>
                  </a:spcAft>
                </a:pPr>
                <a:r>
                  <a:rPr sz="2400" b="1">
                    <a:solidFill>
                      <a:srgbClr val="1E40AF"/>
                    </a:solidFill>
                    <a:latin typeface="Calibri"/>
                  </a:rPr>
                  <a:t>Gợi mở: Xét tỉ số </a:t>
                </a:r>
                <a14:m>
                  <m:oMath xmlns:m="http://schemas.openxmlformats.org/officeDocument/2006/math">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den>
                    </m:f>
                  </m:oMath>
                </a14:m>
              </a:p>
            </p:txBody>
          </p:sp>
        </mc:Choice>
        <mc:Fallback>
          <p:sp>
            <p:nvSpPr>
              <p:cNvPr id="7" name="TextBox 6"/>
              <p:cNvSpPr txBox="1"/>
              <p:nvPr/>
            </p:nvSpPr>
            <p:spPr>
              <a:xfrm>
                <a:off x="731520" y="1463040"/>
                <a:ext cx="10789920" cy="220218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dãy số </a:t>
                </a:r>
                <a:r>
                  <a:rPr lang="vi-VN"/>
                  <a:t>(u_n)</a:t>
                </a:r>
                <a:r>
                  <a:rPr sz="2400">
                    <a:solidFill>
                      <a:srgbClr val="1E293B"/>
                    </a:solidFill>
                    <a:latin typeface="Calibri"/>
                  </a:rPr>
                  <a:t> với </a:t>
                </a:r>
                <a:r>
                  <a:rPr lang="vi-VN"/>
                  <a:t>u_n=3·2^n</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Viết năm số hạng đầu của dãy số này.</a:t>
                </a:r>
              </a:p>
              <a:p>
                <a:pPr algn="l" marL="365760" indent="-365760">
                  <a:spcAft>
                    <a:spcPts val="800"/>
                  </a:spcAft>
                  <a:buClr>
                    <a:srgbClr val="1E40AF"/>
                  </a:buClr>
                  <a:buFont typeface="Arial"/>
                  <a:buChar char="•"/>
                </a:pPr>
                <a:r>
                  <a:rPr sz="2400">
                    <a:solidFill>
                      <a:srgbClr val="1E293B"/>
                    </a:solidFill>
                    <a:latin typeface="Calibri"/>
                  </a:rPr>
                  <a:t>b) Dự đoán hệ thức truy hồi liên hệ giữa </a:t>
                </a:r>
                <a:r>
                  <a:rPr lang="vi-VN"/>
                  <a:t>u_n</a:t>
                </a:r>
                <a:r>
                  <a:rPr sz="2400">
                    <a:solidFill>
                      <a:srgbClr val="1E293B"/>
                    </a:solidFill>
                    <a:latin typeface="Calibri"/>
                  </a:rPr>
                  <a:t> và </a:t>
                </a:r>
                <a:r>
                  <a:rPr lang="vi-VN"/>
                  <a:t>u_(n−1)</a:t>
                </a:r>
                <a:r>
                  <a:rPr sz="2400">
                    <a:solidFill>
                      <a:srgbClr val="1E293B"/>
                    </a:solidFill>
                    <a:latin typeface="Calibri"/>
                  </a:rPr>
                  <a:t>.</a:t>
                </a:r>
              </a:p>
              <a:p>
                <a:pPr algn="l">
                  <a:spcAft>
                    <a:spcPts val="800"/>
                  </a:spcAft>
                </a:pPr>
                <a:r>
                  <a:rPr sz="2400" b="1">
                    <a:solidFill>
                      <a:srgbClr val="1E40AF"/>
                    </a:solidFill>
                    <a:latin typeface="Calibri"/>
                  </a:rPr>
                  <a:t>Gợi mở: Xét tỉ số </a:t>
                </a:r>
                <a:r>
                  <a:rPr lang="vi-VN"/>
                  <a:t>\frac{u_n}{u_{n-1}}</a:t>
                </a: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HĐ1: NHẬN BIẾT CẤP SỐ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=3·2=6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=12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=24</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=48</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=96</m:t>
                    </m:r>
                  </m:oMath>
                </a14:m>
              </a:p>
              <a:p>
                <a:pPr algn="l" marL="365760" indent="-365760">
                  <a:spcAft>
                    <a:spcPts val="800"/>
                  </a:spcAft>
                  <a:buClr>
                    <a:srgbClr val="1E40AF"/>
                  </a:buClr>
                  <a:buFont typeface="Arial"/>
                  <a:buChar char="•"/>
                </a:pPr>
                <a:r>
                  <a:rPr sz="2400">
                    <a:solidFill>
                      <a:srgbClr val="1E293B"/>
                    </a:solidFill>
                    <a:latin typeface="Calibri"/>
                  </a:rPr>
                  <a:t>b) Mỗi số hạng gấp 2 lần số hạng liền trước</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u_1=3\cdot 2=6</a:t>
                </a:r>
                <a:r>
                  <a:rPr sz="2400">
                    <a:solidFill>
                      <a:srgbClr val="1E293B"/>
                    </a:solidFill>
                    <a:latin typeface="Calibri"/>
                  </a:rPr>
                  <a:t>, </a:t>
                </a:r>
                <a:r>
                  <a:rPr lang="vi-VN"/>
                  <a:t>u_2=12</a:t>
                </a:r>
                <a:r>
                  <a:rPr sz="2400">
                    <a:solidFill>
                      <a:srgbClr val="1E293B"/>
                    </a:solidFill>
                    <a:latin typeface="Calibri"/>
                  </a:rPr>
                  <a:t>, </a:t>
                </a:r>
                <a:r>
                  <a:rPr lang="vi-VN"/>
                  <a:t>u_3=24</a:t>
                </a:r>
                <a:r>
                  <a:rPr sz="2400">
                    <a:solidFill>
                      <a:srgbClr val="1E293B"/>
                    </a:solidFill>
                    <a:latin typeface="Calibri"/>
                  </a:rPr>
                  <a:t>, </a:t>
                </a:r>
                <a:r>
                  <a:rPr lang="vi-VN"/>
                  <a:t>u_4=48</a:t>
                </a:r>
                <a:r>
                  <a:rPr sz="2400">
                    <a:solidFill>
                      <a:srgbClr val="1E293B"/>
                    </a:solidFill>
                    <a:latin typeface="Calibri"/>
                  </a:rPr>
                  <a:t>, </a:t>
                </a:r>
                <a:r>
                  <a:rPr lang="vi-VN"/>
                  <a:t>u_5=96</a:t>
                </a:r>
              </a:p>
              <a:p>
                <a:pPr algn="l" marL="365760" indent="-365760">
                  <a:spcAft>
                    <a:spcPts val="800"/>
                  </a:spcAft>
                  <a:buClr>
                    <a:srgbClr val="1E40AF"/>
                  </a:buClr>
                  <a:buFont typeface="Arial"/>
                  <a:buChar char="•"/>
                </a:pPr>
                <a:r>
                  <a:rPr sz="2400">
                    <a:solidFill>
                      <a:srgbClr val="1E293B"/>
                    </a:solidFill>
                    <a:latin typeface="Calibri"/>
                  </a:rPr>
                  <a:t>b) Mỗi số hạng gấp 2 lần số hạng liền trước</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=2</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n</m:t>
                        </m:r>
                      </m:e>
                      <m:e>
                        <m:r>
                          <a:rPr lang="vi-VN" sz="2400" b="1">
                            <a:solidFill>
                              <a:srgbClr val="991B1B"/>
                            </a:solidFill>
                            <a:latin typeface="Cambria Math" panose="02040503050406030204" pitchFamily="18" charset="0"/>
                          </a:rPr>
                          <m:t>2</m:t>
                        </m:r>
                      </m:e>
                    </m:d>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u_n=2u_{n-1}</a:t>
                </a:r>
                <a:r>
                  <a:rPr sz="2400" b="1">
                    <a:solidFill>
                      <a:srgbClr val="991B1B"/>
                    </a:solidFill>
                    <a:latin typeface="Calibri"/>
                  </a:rPr>
                  <a:t> </a:t>
                </a:r>
                <a:r>
                  <a:rPr lang="vi-VN"/>
                  <a:t>(n\ge 2)</a:t>
                </a: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CẤP SỐ NHÂN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7</a:t>
            </a:r>
          </a:p>
        </p:txBody>
      </p:sp>
      <p:sp>
        <p:nvSpPr>
          <p:cNvPr id="7" name="Rounded Rectangle 6"/>
          <p:cNvSpPr/>
          <p:nvPr/>
        </p:nvSpPr>
        <p:spPr>
          <a:xfrm>
            <a:off x="731520" y="1463040"/>
            <a:ext cx="9601200" cy="3017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a:t>
                </a:r>
                <a:r>
                  <a:rPr sz="2400" b="1">
                    <a:solidFill>
                      <a:srgbClr val="991B1B"/>
                    </a:solidFill>
                    <a:latin typeface="Calibri"/>
                  </a:rPr>
                  <a:t> là một dãy số (hữu hạn hay vô hạn), trong đó kể từ số hạng thứ hai, mỗi số hạng đều là tích của số hạng đứng ngay trước nó với một số không đổi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được gọi là </a:t>
                </a:r>
                <a:r>
                  <a:rPr sz="2400" b="1">
                    <a:solidFill>
                      <a:srgbClr val="991B1B"/>
                    </a:solidFill>
                    <a:latin typeface="Calibri"/>
                  </a:rPr>
                  <a:t>công bội</a:t>
                </a:r>
                <a:r>
                  <a:rPr sz="2400" b="1">
                    <a:solidFill>
                      <a:srgbClr val="991B1B"/>
                    </a:solidFill>
                    <a:latin typeface="Calibri"/>
                  </a:rPr>
                  <a:t> của cấp số nhân.</a:t>
                </a:r>
              </a:p>
              <a:p>
                <a:pPr algn="l">
                  <a:spcAft>
                    <a:spcPts val="400"/>
                  </a:spcAft>
                </a:pPr>
                <a:r>
                  <a:rPr sz="2400" b="1">
                    <a:solidFill>
                      <a:srgbClr val="991B1B"/>
                    </a:solidFill>
                    <a:latin typeface="Calibri"/>
                  </a:rPr>
                  <a:t>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với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được cho bởi hệ thức truy hồi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n−1</m:t>
                        </m:r>
                      </m:sub>
                    </m:sSub>
                    <m:r>
                      <a:rPr lang="vi-VN" sz="2400" b="1">
                        <a:solidFill>
                          <a:srgbClr val="991B1B"/>
                        </a:solidFill>
                        <a:latin typeface="Cambria Math" panose="02040503050406030204" pitchFamily="18" charset="0"/>
                      </a:rPr>
                      <m:t>·q</m:t>
                    </m:r>
                  </m:oMath>
                </a14:m>
                <a:r>
                  <a:rPr sz="2400" b="1">
                    <a:solidFill>
                      <a:srgbClr val="991B1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n≥2</m:t>
                    </m:r>
                  </m:oMath>
                </a14:m>
                <a:r>
                  <a:rPr sz="2400" b="1">
                    <a:solidFill>
                      <a:srgbClr val="991B1B"/>
                    </a:solidFill>
                    <a:latin typeface="Calibri"/>
                  </a:rPr>
                  <a:t>.</a:t>
                </a:r>
              </a:p>
            </p:txBody>
          </p:sp>
        </mc:Choice>
        <mc:Fallback>
          <p:sp>
            <p:nvSpPr>
              <p:cNvPr id="8" name="TextBox 7"/>
              <p:cNvSpPr txBox="1"/>
              <p:nvPr/>
            </p:nvSpPr>
            <p:spPr>
              <a:xfrm>
                <a:off x="914400" y="1463040"/>
                <a:ext cx="9235440" cy="3017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a:t>
                </a:r>
                <a:r>
                  <a:rPr sz="2400" b="1">
                    <a:solidFill>
                      <a:srgbClr val="991B1B"/>
                    </a:solidFill>
                    <a:latin typeface="Calibri"/>
                  </a:rPr>
                  <a:t> là một dãy số (hữu hạn hay vô hạn), trong đó kể từ số hạng thứ hai, mỗi số hạng đều là tích của số hạng đứng ngay trước nó với một số không đổi </a:t>
                </a:r>
                <a:r>
                  <a:rPr lang="vi-VN"/>
                  <a:t>q</a:t>
                </a:r>
                <a:r>
                  <a:rPr sz="2400" b="1">
                    <a:solidFill>
                      <a:srgbClr val="991B1B"/>
                    </a:solidFill>
                    <a:latin typeface="Calibri"/>
                  </a:rPr>
                  <a:t>. Số </a:t>
                </a:r>
                <a:r>
                  <a:rPr lang="vi-VN"/>
                  <a:t>q</a:t>
                </a:r>
                <a:r>
                  <a:rPr sz="2400" b="1">
                    <a:solidFill>
                      <a:srgbClr val="991B1B"/>
                    </a:solidFill>
                    <a:latin typeface="Calibri"/>
                  </a:rPr>
                  <a:t> được gọi là </a:t>
                </a:r>
                <a:r>
                  <a:rPr sz="2400" b="1">
                    <a:solidFill>
                      <a:srgbClr val="991B1B"/>
                    </a:solidFill>
                    <a:latin typeface="Calibri"/>
                  </a:rPr>
                  <a:t>công bội</a:t>
                </a:r>
                <a:r>
                  <a:rPr sz="2400" b="1">
                    <a:solidFill>
                      <a:srgbClr val="991B1B"/>
                    </a:solidFill>
                    <a:latin typeface="Calibri"/>
                  </a:rPr>
                  <a:t> của cấp số nhân.</a:t>
                </a:r>
              </a:p>
              <a:p>
                <a:pPr algn="l">
                  <a:spcAft>
                    <a:spcPts val="400"/>
                  </a:spcAft>
                </a:pPr>
                <a:r>
                  <a:rPr sz="2400" b="1">
                    <a:solidFill>
                      <a:srgbClr val="991B1B"/>
                    </a:solidFill>
                    <a:latin typeface="Calibri"/>
                  </a:rPr>
                  <a:t>Cấp số nhân </a:t>
                </a:r>
                <a:r>
                  <a:rPr lang="vi-VN"/>
                  <a:t>(u_n)</a:t>
                </a:r>
                <a:r>
                  <a:rPr sz="2400" b="1">
                    <a:solidFill>
                      <a:srgbClr val="991B1B"/>
                    </a:solidFill>
                    <a:latin typeface="Calibri"/>
                  </a:rPr>
                  <a:t> với công bội </a:t>
                </a:r>
                <a:r>
                  <a:rPr lang="vi-VN"/>
                  <a:t>q</a:t>
                </a:r>
                <a:r>
                  <a:rPr sz="2400" b="1">
                    <a:solidFill>
                      <a:srgbClr val="991B1B"/>
                    </a:solidFill>
                    <a:latin typeface="Calibri"/>
                  </a:rPr>
                  <a:t> được cho bởi hệ thức truy hồi </a:t>
                </a:r>
                <a:r>
                  <a:rPr lang="vi-VN"/>
                  <a:t>u_n=u_(n−1)·q</a:t>
                </a:r>
                <a:r>
                  <a:rPr sz="2400" b="1">
                    <a:solidFill>
                      <a:srgbClr val="991B1B"/>
                    </a:solidFill>
                    <a:latin typeface="Calibri"/>
                  </a:rPr>
                  <a:t> với </a:t>
                </a:r>
                <a:r>
                  <a:rPr lang="vi-VN"/>
                  <a:t>n≥2</a:t>
                </a:r>
                <a:r>
                  <a:rPr sz="2400" b="1">
                    <a:solidFill>
                      <a:srgbClr val="991B1B"/>
                    </a:solidFill>
                    <a:latin typeface="Calibri"/>
                  </a:rPr>
                  <a:t>.</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Dãy số không đổi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a,</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 có phải là một cấp số nhân không?</a:t>
                </a:r>
              </a:p>
              <a:p>
                <a:pPr algn="l">
                  <a:spcAft>
                    <a:spcPts val="800"/>
                  </a:spcAft>
                </a:pPr>
                <a:r>
                  <a:rPr sz="2400" b="1">
                    <a:solidFill>
                      <a:srgbClr val="1E40AF"/>
                    </a:solidFill>
                    <a:latin typeface="Calibri"/>
                  </a:rPr>
                  <a:t>Gợi mở: Số hạng sau bằng số hạng trước nhân với số nào?</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a:spcAft>
                    <a:spcPts val="800"/>
                  </a:spcAft>
                </a:pPr>
                <a:r>
                  <a:rPr sz="2400">
                    <a:solidFill>
                      <a:srgbClr val="1E293B"/>
                    </a:solidFill>
                    <a:latin typeface="Calibri"/>
                  </a:rPr>
                  <a:t>Dãy số không đổi </a:t>
                </a:r>
                <a:r>
                  <a:rPr lang="vi-VN"/>
                  <a:t>a, a, a, …</a:t>
                </a:r>
                <a:r>
                  <a:rPr sz="2400">
                    <a:solidFill>
                      <a:srgbClr val="1E293B"/>
                    </a:solidFill>
                    <a:latin typeface="Calibri"/>
                  </a:rPr>
                  <a:t> có phải là một cấp số nhân không?</a:t>
                </a:r>
              </a:p>
              <a:p>
                <a:pPr algn="l">
                  <a:spcAft>
                    <a:spcPts val="800"/>
                  </a:spcAft>
                </a:pPr>
                <a:r>
                  <a:rPr sz="2400" b="1">
                    <a:solidFill>
                      <a:srgbClr val="1E40AF"/>
                    </a:solidFill>
                    <a:latin typeface="Calibri"/>
                  </a:rPr>
                  <a:t>Gợi mở: Số hạng sau bằng số hạng trước nhân với số nào?</a:t>
                </a: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50596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=a=a·1=</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r>
                      <a:rPr lang="vi-VN" sz="2400" b="0">
                        <a:solidFill>
                          <a:srgbClr val="1E293B"/>
                        </a:solidFill>
                        <a:latin typeface="Cambria Math" panose="02040503050406030204" pitchFamily="18" charset="0"/>
                      </a:rPr>
                      <m:t>·1</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p:txBody>
          </p:sp>
        </mc:Choice>
        <mc:Fallback>
          <p:sp>
            <p:nvSpPr>
              <p:cNvPr id="7" name="TextBox 6"/>
              <p:cNvSpPr txBox="1"/>
              <p:nvPr/>
            </p:nvSpPr>
            <p:spPr>
              <a:xfrm>
                <a:off x="731520" y="1463040"/>
                <a:ext cx="10789920" cy="50596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u_n=a=a\cdot 1=u_{n-1}\cdot 1</a:t>
                </a:r>
                <a:r>
                  <a:rPr sz="2400">
                    <a:solidFill>
                      <a:srgbClr val="1E293B"/>
                    </a:solidFill>
                    <a:latin typeface="Calibri"/>
                  </a:rPr>
                  <a:t> với mọi </a:t>
                </a:r>
                <a:r>
                  <a:rPr lang="vi-VN"/>
                  <a:t>n\ge 2</a:t>
                </a:r>
              </a:p>
            </p:txBody>
          </p:sp>
        </mc:Fallback>
      </mc:AlternateContent>
      <p:sp>
        <p:nvSpPr>
          <p:cNvPr id="8" name="Rounded Rectangle 7"/>
          <p:cNvSpPr/>
          <p:nvPr/>
        </p:nvSpPr>
        <p:spPr>
          <a:xfrm>
            <a:off x="731520" y="210616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1061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Có: cấp số nhân với công bội </a:t>
                </a:r>
                <a14:m>
                  <m:oMath xmlns:m="http://schemas.openxmlformats.org/officeDocument/2006/math">
                    <m:r>
                      <a:rPr lang="vi-VN" sz="2400" b="1">
                        <a:solidFill>
                          <a:srgbClr val="991B1B"/>
                        </a:solidFill>
                        <a:latin typeface="Cambria Math" panose="02040503050406030204" pitchFamily="18" charset="0"/>
                      </a:rPr>
                      <m:t>q=1</m:t>
                    </m:r>
                  </m:oMath>
                </a14:m>
              </a:p>
            </p:txBody>
          </p:sp>
        </mc:Choice>
        <mc:Fallback>
          <p:sp>
            <p:nvSpPr>
              <p:cNvPr id="9" name="TextBox 8"/>
              <p:cNvSpPr txBox="1"/>
              <p:nvPr/>
            </p:nvSpPr>
            <p:spPr>
              <a:xfrm>
                <a:off x="914400" y="21061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Có: cấp số nhân với công bội </a:t>
                </a:r>
                <a:r>
                  <a:rPr lang="vi-VN"/>
                  <a:t>q=1</a:t>
                </a: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nhân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q=−2</m:t>
                    </m:r>
                  </m:oMath>
                </a14:m>
                <a:r>
                  <a:rPr sz="2400">
                    <a:solidFill>
                      <a:srgbClr val="1E293B"/>
                    </a:solidFill>
                    <a:latin typeface="Calibri"/>
                  </a:rPr>
                  <a:t>. Viết năm số hạng đầu của cấp số nhân này.</a:t>
                </a:r>
              </a:p>
              <a:p>
                <a:pPr algn="l">
                  <a:spcAft>
                    <a:spcPts val="800"/>
                  </a:spcAft>
                </a:pPr>
                <a:r>
                  <a:rPr sz="2400" b="1">
                    <a:solidFill>
                      <a:srgbClr val="1E40AF"/>
                    </a:solidFill>
                    <a:latin typeface="Calibri"/>
                  </a:rPr>
                  <a:t>Gợi mở: Nhân liên tiếp với </a:t>
                </a:r>
                <a14:m>
                  <m:oMath xmlns:m="http://schemas.openxmlformats.org/officeDocument/2006/math">
                    <m:r>
                      <a:rPr lang="vi-VN" sz="2400" b="1">
                        <a:solidFill>
                          <a:srgbClr val="1E40AF"/>
                        </a:solidFill>
                        <a:latin typeface="Cambria Math" panose="02040503050406030204" pitchFamily="18" charset="0"/>
                      </a:rPr>
                      <m:t>q=−2</m:t>
                    </m:r>
                  </m:oMath>
                </a14:m>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nhân có số hạng đầu </a:t>
                </a:r>
                <a:r>
                  <a:rPr lang="vi-VN"/>
                  <a:t>u_1=5</a:t>
                </a:r>
                <a:r>
                  <a:rPr sz="2400">
                    <a:solidFill>
                      <a:srgbClr val="1E293B"/>
                    </a:solidFill>
                    <a:latin typeface="Calibri"/>
                  </a:rPr>
                  <a:t> và công bội </a:t>
                </a:r>
                <a:r>
                  <a:rPr lang="vi-VN"/>
                  <a:t>q=−2</a:t>
                </a:r>
                <a:r>
                  <a:rPr sz="2400">
                    <a:solidFill>
                      <a:srgbClr val="1E293B"/>
                    </a:solidFill>
                    <a:latin typeface="Calibri"/>
                  </a:rPr>
                  <a:t>. Viết năm số hạng đầu của cấp số nhân này.</a:t>
                </a:r>
              </a:p>
              <a:p>
                <a:pPr algn="l">
                  <a:spcAft>
                    <a:spcPts val="800"/>
                  </a:spcAft>
                </a:pPr>
                <a:r>
                  <a:rPr sz="2400" b="1">
                    <a:solidFill>
                      <a:srgbClr val="1E40AF"/>
                    </a:solidFill>
                    <a:latin typeface="Calibri"/>
                  </a:rPr>
                  <a:t>Gợi mở: Nhân liên tiếp với </a:t>
                </a:r>
                <a:r>
                  <a:rPr lang="vi-VN"/>
                  <a:t>q=-2</a:t>
                </a: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·q=5·(−2)=−10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·q=(−10)·(−2)=20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=20·(−2)=−40</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=(−40)·(−2)=80</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u_1=5</a:t>
                </a:r>
                <a:r>
                  <a:rPr sz="2400">
                    <a:solidFill>
                      <a:srgbClr val="1E293B"/>
                    </a:solidFill>
                    <a:latin typeface="Calibri"/>
                  </a:rPr>
                  <a:t>;  </a:t>
                </a:r>
                <a:r>
                  <a:rPr lang="vi-VN"/>
                  <a:t>u_2=u_1\cdot q=5\cdot(-2)=-10</a:t>
                </a:r>
              </a:p>
              <a:p>
                <a:pPr algn="l" marL="365760" indent="-365760">
                  <a:spcAft>
                    <a:spcPts val="800"/>
                  </a:spcAft>
                  <a:buClr>
                    <a:srgbClr val="1E40AF"/>
                  </a:buClr>
                  <a:buFont typeface="Arial"/>
                  <a:buChar char="•"/>
                </a:pPr>
                <a:r>
                  <a:rPr lang="vi-VN"/>
                  <a:t>u_3=u_2\cdot q=(-10)\cdot(-2)=20</a:t>
                </a:r>
              </a:p>
              <a:p>
                <a:pPr algn="l" marL="365760" indent="-365760">
                  <a:spcAft>
                    <a:spcPts val="800"/>
                  </a:spcAft>
                  <a:buClr>
                    <a:srgbClr val="1E40AF"/>
                  </a:buClr>
                  <a:buFont typeface="Arial"/>
                  <a:buChar char="•"/>
                </a:pPr>
                <a:r>
                  <a:rPr lang="vi-VN"/>
                  <a:t>u_4=20\cdot(-2)=-40</a:t>
                </a:r>
                <a:r>
                  <a:rPr sz="2400">
                    <a:solidFill>
                      <a:srgbClr val="1E293B"/>
                    </a:solidFill>
                    <a:latin typeface="Calibri"/>
                  </a:rPr>
                  <a:t>;  </a:t>
                </a:r>
                <a:r>
                  <a:rPr lang="vi-VN"/>
                  <a:t>u_5=(-40)\cdot(-2)=80</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5, −10, 20, −40, 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n−1</m:t>
                            </m:r>
                          </m:sup>
                        </m:sSup>
                      </m:den>
                    </m:f>
                  </m:oMath>
                </a14:m>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a:p>
                <a:pPr algn="l">
                  <a:spcAft>
                    <a:spcPts val="800"/>
                  </a:spcAft>
                </a:pPr>
                <a:r>
                  <a:rPr sz="2400" b="1">
                    <a:solidFill>
                      <a:srgbClr val="1E40AF"/>
                    </a:solidFill>
                    <a:latin typeface="Calibri"/>
                  </a:rPr>
                  <a:t>Gợi mở: Chứng minh tỉ số </a:t>
                </a:r>
                <a14:m>
                  <m:oMath xmlns:m="http://schemas.openxmlformats.org/officeDocument/2006/math">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n−1</m:t>
                            </m:r>
                          </m:sub>
                        </m:sSub>
                      </m:den>
                    </m:f>
                  </m:oMath>
                </a14:m>
                <a:r>
                  <a:rPr sz="2400" b="1">
                    <a:solidFill>
                      <a:srgbClr val="1E40AF"/>
                    </a:solidFill>
                    <a:latin typeface="Calibri"/>
                  </a:rPr>
                  <a:t> không đổi</a:t>
                </a:r>
              </a:p>
            </p:txBody>
          </p:sp>
        </mc:Choice>
        <mc:Fallback>
          <p:sp>
            <p:nvSpPr>
              <p:cNvPr id="7" name="TextBox 6"/>
              <p:cNvSpPr txBox="1"/>
              <p:nvPr/>
            </p:nvSpPr>
            <p:spPr>
              <a:xfrm>
                <a:off x="731520" y="1463040"/>
                <a:ext cx="10789920" cy="2380488"/>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u_n=1/(3^(n−1))</a:t>
                </a:r>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a:p>
                <a:pPr algn="l">
                  <a:spcAft>
                    <a:spcPts val="800"/>
                  </a:spcAft>
                </a:pPr>
                <a:r>
                  <a:rPr sz="2400" b="1">
                    <a:solidFill>
                      <a:srgbClr val="1E40AF"/>
                    </a:solidFill>
                    <a:latin typeface="Calibri"/>
                  </a:rPr>
                  <a:t>Gợi mở: Chứng minh tỉ số </a:t>
                </a:r>
                <a:r>
                  <a:rPr lang="vi-VN"/>
                  <a:t>\frac{u_n}{u_{n-1}}</a:t>
                </a:r>
                <a:r>
                  <a:rPr sz="2400" b="1">
                    <a:solidFill>
                      <a:srgbClr val="1E40AF"/>
                    </a:solidFill>
                    <a:latin typeface="Calibri"/>
                  </a:rPr>
                  <a:t> không đổi</a:t>
                </a: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9969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Với mọi </a:t>
                </a:r>
                <a14:m>
                  <m:oMath xmlns:m="http://schemas.openxmlformats.org/officeDocument/2006/math">
                    <m:r>
                      <a:rPr lang="vi-VN" sz="2200" b="0">
                        <a:solidFill>
                          <a:srgbClr val="1E293B"/>
                        </a:solidFill>
                        <a:latin typeface="Cambria Math" panose="02040503050406030204" pitchFamily="18" charset="0"/>
                      </a:rPr>
                      <m:t>n≥2</m:t>
                    </m:r>
                  </m:oMath>
                </a14:m>
                <a:r>
                  <a:rPr sz="2200">
                    <a:solidFill>
                      <a:srgbClr val="1E293B"/>
                    </a:solidFill>
                    <a:latin typeface="Calibri"/>
                  </a:rPr>
                  <a:t>: </a:t>
                </a:r>
                <a14:m>
                  <m:oMath xmlns:m="http://schemas.openxmlformats.org/officeDocument/2006/math">
                    <m:f>
                      <m:fPr>
                        <m:type m:val="bar"/>
                      </m:fPr>
                      <m:num>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num>
                      <m:den>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sSup>
                          <m:e>
                            <m:r>
                              <a:rPr lang="vi-VN" sz="2200" b="0">
                                <a:solidFill>
                                  <a:srgbClr val="1E293B"/>
                                </a:solidFill>
                                <a:latin typeface="Cambria Math" panose="02040503050406030204" pitchFamily="18" charset="0"/>
                              </a:rPr>
                              <m:t>3</m:t>
                            </m:r>
                          </m:e>
                          <m:sup>
                            <m:r>
                              <a:rPr lang="vi-VN" sz="2200" b="0">
                                <a:solidFill>
                                  <a:srgbClr val="1E293B"/>
                                </a:solidFill>
                                <a:latin typeface="Cambria Math" panose="02040503050406030204" pitchFamily="18" charset="0"/>
                              </a:rPr>
                              <m:t>n−1</m:t>
                            </m:r>
                          </m:sup>
                        </m:sSup>
                      </m:den>
                    </m:f>
                    <m:r>
                      <a:rPr lang="vi-VN" sz="2200" b="0">
                        <a:solidFill>
                          <a:srgbClr val="1E293B"/>
                        </a:solidFill>
                        <a:latin typeface="Cambria Math" panose="02040503050406030204" pitchFamily="18" charset="0"/>
                      </a:rPr>
                      <m:t>·</m:t>
                    </m:r>
                    <m:f>
                      <m:fPr>
                        <m:type m:val="bar"/>
                      </m:fPr>
                      <m:num>
                        <m:sSup>
                          <m:e>
                            <m:r>
                              <a:rPr lang="vi-VN" sz="2200" b="0">
                                <a:solidFill>
                                  <a:srgbClr val="1E293B"/>
                                </a:solidFill>
                                <a:latin typeface="Cambria Math" panose="02040503050406030204" pitchFamily="18" charset="0"/>
                              </a:rPr>
                              <m:t>3</m:t>
                            </m:r>
                          </m:e>
                          <m:sup>
                            <m:r>
                              <a:rPr lang="vi-VN" sz="2200" b="0">
                                <a:solidFill>
                                  <a:srgbClr val="1E293B"/>
                                </a:solidFill>
                                <a:latin typeface="Cambria Math" panose="02040503050406030204" pitchFamily="18" charset="0"/>
                              </a:rPr>
                              <m:t>n−2</m:t>
                            </m:r>
                          </m:sup>
                        </m:sSup>
                      </m:num>
                      <m:den>
                        <m:r>
                          <a:rPr lang="vi-VN" sz="2200" b="0">
                            <a:solidFill>
                              <a:srgbClr val="1E293B"/>
                            </a:solidFill>
                            <a:latin typeface="Cambria Math" panose="02040503050406030204" pitchFamily="18" charset="0"/>
                          </a:rPr>
                          <m:t>1</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3</m:t>
                        </m:r>
                      </m:den>
                    </m:f>
                  </m:oMath>
                </a14:m>
              </a:p>
              <a:p>
                <a:pPr algn="l" marL="365760" indent="-365760">
                  <a:spcAft>
                    <a:spcPts val="800"/>
                  </a:spcAft>
                  <a:buClr>
                    <a:srgbClr val="1E40AF"/>
                  </a:buClr>
                  <a:buFont typeface="Arial"/>
                  <a:buChar char="•"/>
                </a:pPr>
                <a:r>
                  <a:rPr sz="2200">
                    <a:solidFill>
                      <a:srgbClr val="1E293B"/>
                    </a:solidFill>
                    <a:latin typeface="Calibri"/>
                  </a:rPr>
                  <a:t>Tức là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3</m:t>
                        </m:r>
                      </m:den>
                    </m:f>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oMath>
                </a14:m>
              </a:p>
            </p:txBody>
          </p:sp>
        </mc:Choice>
        <mc:Fallback>
          <p:sp>
            <p:nvSpPr>
              <p:cNvPr id="7" name="TextBox 6"/>
              <p:cNvSpPr txBox="1"/>
              <p:nvPr/>
            </p:nvSpPr>
            <p:spPr>
              <a:xfrm>
                <a:off x="731520" y="1463040"/>
                <a:ext cx="10789920" cy="159969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Với mọi </a:t>
                </a:r>
                <a:r>
                  <a:rPr lang="vi-VN"/>
                  <a:t>n\ge 2</a:t>
                </a:r>
                <a:r>
                  <a:rPr sz="2200">
                    <a:solidFill>
                      <a:srgbClr val="1E293B"/>
                    </a:solidFill>
                    <a:latin typeface="Calibri"/>
                  </a:rPr>
                  <a:t>: </a:t>
                </a:r>
                <a:r>
                  <a:rPr lang="vi-VN"/>
                  <a:t>\frac{u_n}{u_{n-1}}=\frac{1}{3^{n-1}}\cdot\frac{3^{n-2}}{1}=\frac{1}{3}</a:t>
                </a:r>
              </a:p>
              <a:p>
                <a:pPr algn="l" marL="365760" indent="-365760">
                  <a:spcAft>
                    <a:spcPts val="800"/>
                  </a:spcAft>
                  <a:buClr>
                    <a:srgbClr val="1E40AF"/>
                  </a:buClr>
                  <a:buFont typeface="Arial"/>
                  <a:buChar char="•"/>
                </a:pPr>
                <a:r>
                  <a:rPr sz="2200">
                    <a:solidFill>
                      <a:srgbClr val="1E293B"/>
                    </a:solidFill>
                    <a:latin typeface="Calibri"/>
                  </a:rPr>
                  <a:t>Tức là </a:t>
                </a:r>
                <a:r>
                  <a:rPr lang="vi-VN"/>
                  <a:t>u_n=\frac{1}{3}\cdot u_{n-1}</a:t>
                </a: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2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sSup>
                          <m:e>
                            <m:r>
                              <a:rPr lang="vi-VN" sz="2200" b="0">
                                <a:solidFill>
                                  <a:srgbClr val="1E293B"/>
                                </a:solidFill>
                                <a:latin typeface="Cambria Math" panose="02040503050406030204" pitchFamily="18" charset="0"/>
                              </a:rPr>
                              <m:t>3</m:t>
                            </m:r>
                          </m:e>
                          <m:sup>
                            <m:r>
                              <a:rPr lang="vi-VN" sz="2200" b="0">
                                <a:solidFill>
                                  <a:srgbClr val="1E293B"/>
                                </a:solidFill>
                                <a:latin typeface="Cambria Math" panose="02040503050406030204" pitchFamily="18" charset="0"/>
                              </a:rPr>
                              <m:t>0</m:t>
                            </m:r>
                          </m:sup>
                        </m:sSup>
                      </m:den>
                    </m:f>
                    <m:r>
                      <a:rPr lang="vi-VN" sz="2200" b="0">
                        <a:solidFill>
                          <a:srgbClr val="1E293B"/>
                        </a:solidFill>
                        <a:latin typeface="Cambria Math" panose="02040503050406030204" pitchFamily="18" charset="0"/>
                      </a:rPr>
                      <m:t>=1</m:t>
                    </m:r>
                  </m:oMath>
                </a14:m>
              </a:p>
            </p:txBody>
          </p:sp>
        </mc:Choice>
        <mc:Fallback>
          <p:sp>
            <p:nvSpPr>
              <p:cNvPr id="7" name="TextBox 6"/>
              <p:cNvSpPr txBox="1"/>
              <p:nvPr/>
            </p:nvSpPr>
            <p:spPr>
              <a:xfrm>
                <a:off x="731520" y="1463040"/>
                <a:ext cx="10789920" cy="63639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u_1=\frac{1}{3^0}=1</a:t>
                </a:r>
              </a:p>
            </p:txBody>
          </p:sp>
        </mc:Fallback>
      </mc:AlternateContent>
      <p:sp>
        <p:nvSpPr>
          <p:cNvPr id="8" name="Rounded Rectangle 7"/>
          <p:cNvSpPr/>
          <p:nvPr/>
        </p:nvSpPr>
        <p:spPr>
          <a:xfrm>
            <a:off x="731520" y="2236597"/>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236597"/>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Cấp số nhân: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m:t>
                        </m:r>
                      </m:sub>
                    </m:sSub>
                    <m:r>
                      <a:rPr lang="vi-VN" sz="2200" b="1">
                        <a:solidFill>
                          <a:srgbClr val="991B1B"/>
                        </a:solidFill>
                        <a:latin typeface="Cambria Math" panose="02040503050406030204" pitchFamily="18" charset="0"/>
                      </a:rPr>
                      <m:t>=1</m:t>
                    </m:r>
                  </m:oMath>
                </a14:m>
                <a:r>
                  <a:rPr sz="2200" b="1">
                    <a:solidFill>
                      <a:srgbClr val="991B1B"/>
                    </a:solidFill>
                    <a:latin typeface="Calibri"/>
                  </a:rPr>
                  <a:t>, </a:t>
                </a:r>
                <a14:m>
                  <m:oMath xmlns:m="http://schemas.openxmlformats.org/officeDocument/2006/math">
                    <m:r>
                      <a:rPr lang="vi-VN" sz="2200" b="1">
                        <a:solidFill>
                          <a:srgbClr val="991B1B"/>
                        </a:solidFill>
                        <a:latin typeface="Cambria Math" panose="02040503050406030204" pitchFamily="18" charset="0"/>
                      </a:rPr>
                      <m:t>q=</m:t>
                    </m:r>
                    <m:f>
                      <m:fPr>
                        <m:type m:val="bar"/>
                      </m:fPr>
                      <m:num>
                        <m:r>
                          <a:rPr lang="vi-VN" sz="2200" b="1">
                            <a:solidFill>
                              <a:srgbClr val="991B1B"/>
                            </a:solidFill>
                            <a:latin typeface="Cambria Math" panose="02040503050406030204" pitchFamily="18" charset="0"/>
                          </a:rPr>
                          <m:t>1</m:t>
                        </m:r>
                      </m:num>
                      <m:den>
                        <m:r>
                          <a:rPr lang="vi-VN" sz="2200" b="1">
                            <a:solidFill>
                              <a:srgbClr val="991B1B"/>
                            </a:solidFill>
                            <a:latin typeface="Cambria Math" panose="02040503050406030204" pitchFamily="18" charset="0"/>
                          </a:rPr>
                          <m:t>3</m:t>
                        </m:r>
                      </m:den>
                    </m:f>
                  </m:oMath>
                </a14:m>
              </a:p>
            </p:txBody>
          </p:sp>
        </mc:Choice>
        <mc:Fallback>
          <p:sp>
            <p:nvSpPr>
              <p:cNvPr id="9" name="TextBox 8"/>
              <p:cNvSpPr txBox="1"/>
              <p:nvPr/>
            </p:nvSpPr>
            <p:spPr>
              <a:xfrm>
                <a:off x="914400" y="2236597"/>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Cấp số nhân: </a:t>
                </a:r>
                <a:r>
                  <a:rPr lang="vi-VN"/>
                  <a:t>u_1=1</a:t>
                </a:r>
                <a:r>
                  <a:rPr sz="2200" b="1">
                    <a:solidFill>
                      <a:srgbClr val="991B1B"/>
                    </a:solidFill>
                    <a:latin typeface="Calibri"/>
                  </a:rPr>
                  <a:t>, </a:t>
                </a:r>
                <a:r>
                  <a:rPr lang="vi-VN"/>
                  <a:t>q=\frac{1}{3}</a:t>
                </a: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n</m:t>
                        </m:r>
                      </m:sup>
                    </m:sSup>
                  </m:oMath>
                </a14:m>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dãy số </a:t>
                </a:r>
                <a:r>
                  <a:rPr lang="vi-VN"/>
                  <a:t>(u_n)</a:t>
                </a:r>
                <a:r>
                  <a:rPr sz="2400">
                    <a:solidFill>
                      <a:srgbClr val="1E293B"/>
                    </a:solidFill>
                    <a:latin typeface="Calibri"/>
                  </a:rPr>
                  <a:t> với </a:t>
                </a:r>
                <a:r>
                  <a:rPr lang="vi-VN"/>
                  <a:t>u_n=2·5^n</a:t>
                </a:r>
                <a:r>
                  <a:rPr sz="2400">
                    <a:solidFill>
                      <a:srgbClr val="1E293B"/>
                    </a:solidFill>
                    <a:latin typeface="Calibri"/>
                  </a:rPr>
                  <a:t>.</a:t>
                </a:r>
              </a:p>
              <a:p>
                <a:pPr algn="l">
                  <a:spcAft>
                    <a:spcPts val="800"/>
                  </a:spcAft>
                </a:pPr>
                <a:r>
                  <a:rPr sz="2400">
                    <a:solidFill>
                      <a:srgbClr val="1E293B"/>
                    </a:solidFill>
                    <a:latin typeface="Calibri"/>
                  </a:rPr>
                  <a:t>Chứng minh rằng dãy số này là một cấp số nhân.</a:t>
                </a:r>
              </a:p>
              <a:p>
                <a:pPr algn="l">
                  <a:spcAft>
                    <a:spcPts val="800"/>
                  </a:spcAft>
                </a:pPr>
                <a:r>
                  <a:rPr sz="2400">
                    <a:solidFill>
                      <a:srgbClr val="1E293B"/>
                    </a:solidFill>
                    <a:latin typeface="Calibri"/>
                  </a:rPr>
                  <a:t>Xác định số hạng đầu và công bội của nó.</a:t>
                </a: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f>
                      <m:fPr>
                        <m:type m:val="bar"/>
                      </m:fPr>
                      <m:num>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num>
                      <m:den>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n−1</m:t>
                            </m:r>
                          </m:sub>
                        </m:sSub>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n</m:t>
                            </m:r>
                          </m:sup>
                        </m:sSup>
                      </m:num>
                      <m:den>
                        <m:r>
                          <a:rPr lang="vi-VN" sz="2400" b="0">
                            <a:solidFill>
                              <a:srgbClr val="1E293B"/>
                            </a:solidFill>
                            <a:latin typeface="Cambria Math" panose="02040503050406030204" pitchFamily="18" charset="0"/>
                          </a:rPr>
                          <m:t>2·</m:t>
                        </m:r>
                        <m:sSup>
                          <m:e>
                            <m:r>
                              <a:rPr lang="vi-VN" sz="2400" b="0">
                                <a:solidFill>
                                  <a:srgbClr val="1E293B"/>
                                </a:solidFill>
                                <a:latin typeface="Cambria Math" panose="02040503050406030204" pitchFamily="18" charset="0"/>
                              </a:rPr>
                              <m:t>5</m:t>
                            </m:r>
                          </m:e>
                          <m:sup>
                            <m:r>
                              <a:rPr lang="vi-VN" sz="2400" b="0">
                                <a:solidFill>
                                  <a:srgbClr val="1E293B"/>
                                </a:solidFill>
                                <a:latin typeface="Cambria Math" panose="02040503050406030204" pitchFamily="18" charset="0"/>
                              </a:rPr>
                              <m:t>n−1</m:t>
                            </m:r>
                          </m:sup>
                        </m:sSup>
                      </m:den>
                    </m:f>
                    <m:r>
                      <a:rPr lang="vi-VN" sz="2400" b="0">
                        <a:solidFill>
                          <a:srgbClr val="1E293B"/>
                        </a:solidFill>
                        <a:latin typeface="Cambria Math" panose="02040503050406030204" pitchFamily="18" charset="0"/>
                      </a:rPr>
                      <m:t>=5</m:t>
                    </m:r>
                  </m:oMath>
                </a14:m>
                <a:r>
                  <a:rPr sz="2400">
                    <a:solidFill>
                      <a:srgbClr val="1E293B"/>
                    </a:solidFill>
                    <a:latin typeface="Calibri"/>
                  </a:rPr>
                  <a:t> với mọi </a:t>
                </a:r>
                <a14:m>
                  <m:oMath xmlns:m="http://schemas.openxmlformats.org/officeDocument/2006/math">
                    <m:r>
                      <a:rPr lang="vi-VN" sz="2400" b="0">
                        <a:solidFill>
                          <a:srgbClr val="1E293B"/>
                        </a:solidFill>
                        <a:latin typeface="Cambria Math" panose="02040503050406030204" pitchFamily="18" charset="0"/>
                      </a:rPr>
                      <m:t>n≥2</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=2·5=10</m:t>
                    </m:r>
                  </m:oMath>
                </a14:m>
              </a:p>
            </p:txBody>
          </p:sp>
        </mc:Choice>
        <mc:Fallback>
          <p:sp>
            <p:nvSpPr>
              <p:cNvPr id="7" name="TextBox 6"/>
              <p:cNvSpPr txBox="1"/>
              <p:nvPr/>
            </p:nvSpPr>
            <p:spPr>
              <a:xfrm>
                <a:off x="731520" y="1463040"/>
                <a:ext cx="10789920" cy="136855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\frac{u_n}{u_{n-1}}=\frac{2\cdot 5^n}{2\cdot 5^{n-1}}=5</a:t>
                </a:r>
                <a:r>
                  <a:rPr sz="2400">
                    <a:solidFill>
                      <a:srgbClr val="1E293B"/>
                    </a:solidFill>
                    <a:latin typeface="Calibri"/>
                  </a:rPr>
                  <a:t> với mọi </a:t>
                </a:r>
                <a:r>
                  <a:rPr lang="vi-VN"/>
                  <a:t>n\ge 2</a:t>
                </a:r>
              </a:p>
              <a:p>
                <a:pPr algn="l" marL="365760" indent="-365760">
                  <a:spcAft>
                    <a:spcPts val="800"/>
                  </a:spcAft>
                  <a:buClr>
                    <a:srgbClr val="1E40AF"/>
                  </a:buClr>
                  <a:buFont typeface="Arial"/>
                  <a:buChar char="•"/>
                </a:pPr>
                <a:r>
                  <a:rPr lang="vi-VN"/>
                  <a:t>u_1=2\cdot 5=10</a:t>
                </a:r>
              </a:p>
            </p:txBody>
          </p:sp>
        </mc:Fallback>
      </mc:AlternateContent>
      <p:sp>
        <p:nvSpPr>
          <p:cNvPr id="8" name="Rounded Rectangle 7"/>
          <p:cNvSpPr/>
          <p:nvPr/>
        </p:nvSpPr>
        <p:spPr>
          <a:xfrm>
            <a:off x="731520" y="2968751"/>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968751"/>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=10</m:t>
                    </m:r>
                  </m:oMath>
                </a14:m>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q=5</m:t>
                    </m:r>
                  </m:oMath>
                </a14:m>
              </a:p>
            </p:txBody>
          </p:sp>
        </mc:Choice>
        <mc:Fallback>
          <p:sp>
            <p:nvSpPr>
              <p:cNvPr id="9" name="TextBox 8"/>
              <p:cNvSpPr txBox="1"/>
              <p:nvPr/>
            </p:nvSpPr>
            <p:spPr>
              <a:xfrm>
                <a:off x="914400" y="2968751"/>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Cấp số nhân: </a:t>
                </a:r>
                <a:r>
                  <a:rPr lang="vi-VN"/>
                  <a:t>u_1=10</a:t>
                </a:r>
                <a:r>
                  <a:rPr sz="2400" b="1">
                    <a:solidFill>
                      <a:srgbClr val="991B1B"/>
                    </a:solidFill>
                    <a:latin typeface="Calibri"/>
                  </a:rPr>
                  <a:t>, </a:t>
                </a:r>
                <a:r>
                  <a:rPr lang="vi-VN"/>
                  <a:t>q=5</a:t>
                </a: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2. SỐ HẠNG TỔNG QUÁT</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1 (T15)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HĐ2: 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Tính các số hạng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oMath>
                </a14:m>
                <a:r>
                  <a:rPr sz="24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m:t>
                    </m:r>
                  </m:oMath>
                </a14:m>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Dự đoán công thức tính số hạng thứ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m:t>
                    </m:r>
                  </m:oMath>
                </a14:m>
                <a:r>
                  <a:rPr sz="2400">
                    <a:solidFill>
                      <a:srgbClr val="1E293B"/>
                    </a:solidFill>
                    <a:latin typeface="Calibri"/>
                  </a:rPr>
                  <a:t>.</a:t>
                </a:r>
              </a:p>
              <a:p>
                <a:pPr algn="l">
                  <a:spcAft>
                    <a:spcPts val="800"/>
                  </a:spcAft>
                </a:pPr>
                <a:r>
                  <a:rPr sz="2400" b="1">
                    <a:solidFill>
                      <a:srgbClr val="1E40AF"/>
                    </a:solidFill>
                    <a:latin typeface="Calibri"/>
                  </a:rPr>
                  <a:t>Gợi mở: Mỗi bước nhân thêm một lần q</a:t>
                </a:r>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Cho cấp số nhân </a:t>
                </a:r>
                <a:r>
                  <a:rPr lang="vi-VN"/>
                  <a:t>(u_n)</a:t>
                </a:r>
                <a:r>
                  <a:rPr sz="2400">
                    <a:solidFill>
                      <a:srgbClr val="1E293B"/>
                    </a:solidFill>
                    <a:latin typeface="Calibri"/>
                  </a:rPr>
                  <a:t> với số hạng đầu </a:t>
                </a:r>
                <a:r>
                  <a:rPr lang="vi-VN"/>
                  <a:t>u_1</a:t>
                </a:r>
                <a:r>
                  <a:rPr sz="2400">
                    <a:solidFill>
                      <a:srgbClr val="1E293B"/>
                    </a:solidFill>
                    <a:latin typeface="Calibri"/>
                  </a:rPr>
                  <a:t> và công bội </a:t>
                </a:r>
                <a:r>
                  <a:rPr lang="vi-VN"/>
                  <a:t>q</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a) Tính các số hạng </a:t>
                </a:r>
                <a:r>
                  <a:rPr lang="vi-VN"/>
                  <a:t>u_2</a:t>
                </a:r>
                <a:r>
                  <a:rPr sz="2400">
                    <a:solidFill>
                      <a:srgbClr val="1E293B"/>
                    </a:solidFill>
                    <a:latin typeface="Calibri"/>
                  </a:rPr>
                  <a:t>, </a:t>
                </a:r>
                <a:r>
                  <a:rPr lang="vi-VN"/>
                  <a:t>u_3</a:t>
                </a:r>
                <a:r>
                  <a:rPr sz="2400">
                    <a:solidFill>
                      <a:srgbClr val="1E293B"/>
                    </a:solidFill>
                    <a:latin typeface="Calibri"/>
                  </a:rPr>
                  <a:t>, </a:t>
                </a:r>
                <a:r>
                  <a:rPr lang="vi-VN"/>
                  <a:t>u_4</a:t>
                </a:r>
                <a:r>
                  <a:rPr sz="2400">
                    <a:solidFill>
                      <a:srgbClr val="1E293B"/>
                    </a:solidFill>
                    <a:latin typeface="Calibri"/>
                  </a:rPr>
                  <a:t>, </a:t>
                </a:r>
                <a:r>
                  <a:rPr lang="vi-VN"/>
                  <a:t>u_5</a:t>
                </a:r>
                <a:r>
                  <a:rPr sz="2400">
                    <a:solidFill>
                      <a:srgbClr val="1E293B"/>
                    </a:solidFill>
                    <a:latin typeface="Calibri"/>
                  </a:rPr>
                  <a:t> theo </a:t>
                </a:r>
                <a:r>
                  <a:rPr lang="vi-VN"/>
                  <a:t>u_1</a:t>
                </a:r>
                <a:r>
                  <a:rPr sz="2400">
                    <a:solidFill>
                      <a:srgbClr val="1E293B"/>
                    </a:solidFill>
                    <a:latin typeface="Calibri"/>
                  </a:rPr>
                  <a:t> và </a:t>
                </a:r>
                <a:r>
                  <a:rPr lang="vi-VN"/>
                  <a:t>q</a:t>
                </a:r>
                <a:r>
                  <a:rPr sz="2400">
                    <a:solidFill>
                      <a:srgbClr val="1E293B"/>
                    </a:solidFill>
                    <a:latin typeface="Calibri"/>
                  </a:rPr>
                  <a:t>.</a:t>
                </a:r>
              </a:p>
              <a:p>
                <a:pPr algn="l" marL="365760" indent="-365760">
                  <a:spcAft>
                    <a:spcPts val="800"/>
                  </a:spcAft>
                  <a:buClr>
                    <a:srgbClr val="1E40AF"/>
                  </a:buClr>
                  <a:buFont typeface="Arial"/>
                  <a:buChar char="•"/>
                </a:pPr>
                <a:r>
                  <a:rPr sz="2400">
                    <a:solidFill>
                      <a:srgbClr val="1E293B"/>
                    </a:solidFill>
                    <a:latin typeface="Calibri"/>
                  </a:rPr>
                  <a:t>b) Dự đoán công thức tính số hạng thứ </a:t>
                </a:r>
                <a:r>
                  <a:rPr lang="vi-VN"/>
                  <a:t>n</a:t>
                </a:r>
                <a:r>
                  <a:rPr sz="2400">
                    <a:solidFill>
                      <a:srgbClr val="1E293B"/>
                    </a:solidFill>
                    <a:latin typeface="Calibri"/>
                  </a:rPr>
                  <a:t> theo </a:t>
                </a:r>
                <a:r>
                  <a:rPr lang="vi-VN"/>
                  <a:t>u_1</a:t>
                </a:r>
                <a:r>
                  <a:rPr sz="2400">
                    <a:solidFill>
                      <a:srgbClr val="1E293B"/>
                    </a:solidFill>
                    <a:latin typeface="Calibri"/>
                  </a:rPr>
                  <a:t> và </a:t>
                </a:r>
                <a:r>
                  <a:rPr lang="vi-VN"/>
                  <a:t>q</a:t>
                </a:r>
                <a:r>
                  <a:rPr sz="2400">
                    <a:solidFill>
                      <a:srgbClr val="1E293B"/>
                    </a:solidFill>
                    <a:latin typeface="Calibri"/>
                  </a:rPr>
                  <a:t>.</a:t>
                </a:r>
              </a:p>
              <a:p>
                <a:pPr algn="l">
                  <a:spcAft>
                    <a:spcPts val="800"/>
                  </a:spcAft>
                </a:pPr>
                <a:r>
                  <a:rPr sz="2400" b="1">
                    <a:solidFill>
                      <a:srgbClr val="1E40AF"/>
                    </a:solidFill>
                    <a:latin typeface="Calibri"/>
                  </a:rPr>
                  <a:t>Gợi mở: Mỗi bước nhân thêm một lần q</a:t>
                </a: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HĐ2: 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19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4</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3</m:t>
                        </m:r>
                      </m:sup>
                    </m:sSup>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4</m:t>
                        </m:r>
                      </m:sup>
                    </m:sSup>
                  </m:oMath>
                </a14:m>
              </a:p>
              <a:p>
                <a:pPr algn="l" marL="365760" indent="-365760">
                  <a:spcAft>
                    <a:spcPts val="800"/>
                  </a:spcAft>
                  <a:buClr>
                    <a:srgbClr val="1E40AF"/>
                  </a:buClr>
                  <a:buFont typeface="Arial"/>
                  <a:buChar char="•"/>
                </a:pPr>
                <a:r>
                  <a:rPr sz="2400">
                    <a:solidFill>
                      <a:srgbClr val="1E293B"/>
                    </a:solidFill>
                    <a:latin typeface="Calibri"/>
                  </a:rPr>
                  <a:t>Số hạng thứ n: nhân </a:t>
                </a:r>
                <a14:m>
                  <m:oMath xmlns:m="http://schemas.openxmlformats.org/officeDocument/2006/math">
                    <m:d>
                      <m:dPr>
                        <m:sepChr m:val=""/>
                      </m:dPr>
                      <m:e>
                        <m:r>
                          <a:rPr lang="vi-VN" sz="2400" b="0">
                            <a:solidFill>
                              <a:srgbClr val="1E293B"/>
                            </a:solidFill>
                            <a:latin typeface="Cambria Math" panose="02040503050406030204" pitchFamily="18" charset="0"/>
                          </a:rPr>
                          <m:t>n</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e>
                    </m:d>
                  </m:oMath>
                </a14:m>
                <a:r>
                  <a:rPr sz="2400">
                    <a:solidFill>
                      <a:srgbClr val="1E293B"/>
                    </a:solidFill>
                    <a:latin typeface="Calibri"/>
                  </a:rPr>
                  <a:t> lần công bội</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u_2=u_1q</a:t>
                </a:r>
                <a:r>
                  <a:rPr sz="2400">
                    <a:solidFill>
                      <a:srgbClr val="1E293B"/>
                    </a:solidFill>
                    <a:latin typeface="Calibri"/>
                  </a:rPr>
                  <a:t>;  </a:t>
                </a:r>
                <a:r>
                  <a:rPr lang="vi-VN"/>
                  <a:t>u_3=u_2q=u_1q^2</a:t>
                </a:r>
              </a:p>
              <a:p>
                <a:pPr algn="l" marL="365760" indent="-365760">
                  <a:spcAft>
                    <a:spcPts val="800"/>
                  </a:spcAft>
                  <a:buClr>
                    <a:srgbClr val="1E40AF"/>
                  </a:buClr>
                  <a:buFont typeface="Arial"/>
                  <a:buChar char="•"/>
                </a:pPr>
                <a:r>
                  <a:rPr lang="vi-VN"/>
                  <a:t>u_4=u_1q^3</a:t>
                </a:r>
                <a:r>
                  <a:rPr sz="2400">
                    <a:solidFill>
                      <a:srgbClr val="1E293B"/>
                    </a:solidFill>
                    <a:latin typeface="Calibri"/>
                  </a:rPr>
                  <a:t>;  </a:t>
                </a:r>
                <a:r>
                  <a:rPr lang="vi-VN"/>
                  <a:t>u_5=u_1q^4</a:t>
                </a:r>
              </a:p>
              <a:p>
                <a:pPr algn="l" marL="365760" indent="-365760">
                  <a:spcAft>
                    <a:spcPts val="800"/>
                  </a:spcAft>
                  <a:buClr>
                    <a:srgbClr val="1E40AF"/>
                  </a:buClr>
                  <a:buFont typeface="Arial"/>
                  <a:buChar char="•"/>
                </a:pPr>
                <a:r>
                  <a:rPr sz="2400">
                    <a:solidFill>
                      <a:srgbClr val="1E293B"/>
                    </a:solidFill>
                    <a:latin typeface="Calibri"/>
                  </a:rPr>
                  <a:t>Số hạng thứ n: nhân </a:t>
                </a:r>
                <a:r>
                  <a:rPr lang="vi-VN"/>
                  <a:t>(n-1)</a:t>
                </a:r>
                <a:r>
                  <a:rPr sz="2400">
                    <a:solidFill>
                      <a:srgbClr val="1E293B"/>
                    </a:solidFill>
                    <a:latin typeface="Calibri"/>
                  </a:rPr>
                  <a:t> lần công bội</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n−1</m:t>
                        </m:r>
                      </m:sup>
                    </m:sSup>
                  </m:oMath>
                </a14:m>
              </a:p>
            </p:txBody>
          </p:sp>
        </mc:Choice>
        <mc:Fallback>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u_n=u_1\cdot q^{n-1}</a:t>
                </a: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SỐ HẠNG TỔNG QUÁT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20</a:t>
            </a:r>
          </a:p>
        </p:txBody>
      </p:sp>
      <p:sp>
        <p:nvSpPr>
          <p:cNvPr id="7" name="Rounded Rectangle 6"/>
          <p:cNvSpPr/>
          <p:nvPr/>
        </p:nvSpPr>
        <p:spPr>
          <a:xfrm>
            <a:off x="731520" y="1463040"/>
            <a:ext cx="9601200" cy="16459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6459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một cấp số nhân có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oMath>
                </a14:m>
                <a:r>
                  <a:rPr sz="2400" b="1">
                    <a:solidFill>
                      <a:srgbClr val="991B1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m:t>
                    </m:r>
                  </m:oMath>
                </a14:m>
                <a:r>
                  <a:rPr sz="2400" b="1">
                    <a:solidFill>
                      <a:srgbClr val="991B1B"/>
                    </a:solidFill>
                    <a:latin typeface="Calibri"/>
                  </a:rPr>
                  <a:t> thì </a:t>
                </a:r>
                <a:r>
                  <a:rPr sz="2400" b="1">
                    <a:solidFill>
                      <a:srgbClr val="991B1B"/>
                    </a:solidFill>
                    <a:latin typeface="Calibri"/>
                  </a:rPr>
                  <a:t>số hạng tổng quát</a:t>
                </a:r>
                <a:r>
                  <a:rPr sz="2400" b="1">
                    <a:solidFill>
                      <a:srgbClr val="991B1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của nó được xác định bởi công thức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n−1</m:t>
                        </m:r>
                      </m:sup>
                    </m:sSup>
                  </m:oMath>
                </a14:m>
                <a:r>
                  <a:rPr sz="2400" b="1">
                    <a:solidFill>
                      <a:srgbClr val="991B1B"/>
                    </a:solidFill>
                    <a:latin typeface="Calibri"/>
                  </a:rPr>
                  <a:t>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n≥2</m:t>
                    </m:r>
                  </m:oMath>
                </a14:m>
                <a:r>
                  <a:rPr sz="2400" b="1">
                    <a:solidFill>
                      <a:srgbClr val="991B1B"/>
                    </a:solidFill>
                    <a:latin typeface="Calibri"/>
                  </a:rPr>
                  <a:t>.</a:t>
                </a:r>
              </a:p>
            </p:txBody>
          </p:sp>
        </mc:Choice>
        <mc:Fallback>
          <p:sp>
            <p:nvSpPr>
              <p:cNvPr id="8" name="TextBox 7"/>
              <p:cNvSpPr txBox="1"/>
              <p:nvPr/>
            </p:nvSpPr>
            <p:spPr>
              <a:xfrm>
                <a:off x="914400" y="1463040"/>
                <a:ext cx="9235440" cy="16459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Nếu một cấp số nhân có số hạng đầu </a:t>
                </a:r>
                <a:r>
                  <a:rPr lang="vi-VN"/>
                  <a:t>u_1</a:t>
                </a:r>
                <a:r>
                  <a:rPr sz="2400" b="1">
                    <a:solidFill>
                      <a:srgbClr val="991B1B"/>
                    </a:solidFill>
                    <a:latin typeface="Calibri"/>
                  </a:rPr>
                  <a:t> và công bội </a:t>
                </a:r>
                <a:r>
                  <a:rPr lang="vi-VN"/>
                  <a:t>q</a:t>
                </a:r>
                <a:r>
                  <a:rPr sz="2400" b="1">
                    <a:solidFill>
                      <a:srgbClr val="991B1B"/>
                    </a:solidFill>
                    <a:latin typeface="Calibri"/>
                  </a:rPr>
                  <a:t> thì </a:t>
                </a:r>
                <a:r>
                  <a:rPr sz="2400" b="1">
                    <a:solidFill>
                      <a:srgbClr val="991B1B"/>
                    </a:solidFill>
                    <a:latin typeface="Calibri"/>
                  </a:rPr>
                  <a:t>số hạng tổng quát</a:t>
                </a:r>
                <a:r>
                  <a:rPr sz="2400" b="1">
                    <a:solidFill>
                      <a:srgbClr val="991B1B"/>
                    </a:solidFill>
                    <a:latin typeface="Calibri"/>
                  </a:rPr>
                  <a:t> </a:t>
                </a:r>
                <a:r>
                  <a:rPr lang="vi-VN"/>
                  <a:t>u_n</a:t>
                </a:r>
                <a:r>
                  <a:rPr sz="2400" b="1">
                    <a:solidFill>
                      <a:srgbClr val="991B1B"/>
                    </a:solidFill>
                    <a:latin typeface="Calibri"/>
                  </a:rPr>
                  <a:t> của nó được xác định bởi công thức </a:t>
                </a:r>
                <a:r>
                  <a:rPr lang="vi-VN"/>
                  <a:t>u_n=u_1·q^(n−1)</a:t>
                </a:r>
                <a:r>
                  <a:rPr sz="2400" b="1">
                    <a:solidFill>
                      <a:srgbClr val="991B1B"/>
                    </a:solidFill>
                    <a:latin typeface="Calibri"/>
                  </a:rPr>
                  <a:t> với </a:t>
                </a:r>
                <a:r>
                  <a:rPr lang="vi-VN"/>
                  <a:t>n≥2</a:t>
                </a:r>
                <a:r>
                  <a:rPr sz="2400" b="1">
                    <a:solidFill>
                      <a:srgbClr val="991B1B"/>
                    </a:solidFill>
                    <a:latin typeface="Calibri"/>
                  </a:rPr>
                  <a:t>.</a:t>
                </a: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năm số hạng đầu và số hạng thứ 100 của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p>
              <a:p>
                <a:pPr algn="l">
                  <a:spcAft>
                    <a:spcPts val="800"/>
                  </a:spcAft>
                </a:pPr>
                <a:r>
                  <a:rPr sz="2400" b="1">
                    <a:solidFill>
                      <a:srgbClr val="1E40AF"/>
                    </a:solidFill>
                    <a:latin typeface="Calibri"/>
                  </a:rPr>
                  <a:t>Gợi mở: Tìm </a:t>
                </a:r>
                <a14:m>
                  <m:oMath xmlns:m="http://schemas.openxmlformats.org/officeDocument/2006/math">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oMath>
                </a14:m>
                <a:r>
                  <a:rPr sz="2400" b="1">
                    <a:solidFill>
                      <a:srgbClr val="1E40AF"/>
                    </a:solidFill>
                    <a:latin typeface="Calibri"/>
                  </a:rPr>
                  <a:t> và </a:t>
                </a:r>
                <a14:m>
                  <m:oMath xmlns:m="http://schemas.openxmlformats.org/officeDocument/2006/math">
                    <m:r>
                      <a:rPr lang="vi-VN" sz="2400" b="1">
                        <a:solidFill>
                          <a:srgbClr val="1E40AF"/>
                        </a:solidFill>
                        <a:latin typeface="Cambria Math" panose="02040503050406030204" pitchFamily="18" charset="0"/>
                      </a:rPr>
                      <m:t>q=</m:t>
                    </m:r>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2</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1</m:t>
                            </m:r>
                          </m:sub>
                        </m:sSub>
                      </m:den>
                    </m:f>
                  </m:oMath>
                </a14:m>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a:spcAft>
                    <a:spcPts val="800"/>
                  </a:spcAft>
                </a:pPr>
                <a:r>
                  <a:rPr sz="2400">
                    <a:solidFill>
                      <a:srgbClr val="1E293B"/>
                    </a:solidFill>
                    <a:latin typeface="Calibri"/>
                  </a:rPr>
                  <a:t>Tìm năm số hạng đầu và số hạng thứ 100 của cấp số nhân: </a:t>
                </a:r>
                <a:r>
                  <a:rPr lang="vi-VN"/>
                  <a:t>8, −4, …</a:t>
                </a:r>
              </a:p>
              <a:p>
                <a:pPr algn="l">
                  <a:spcAft>
                    <a:spcPts val="800"/>
                  </a:spcAft>
                </a:pPr>
                <a:r>
                  <a:rPr sz="2400" b="1">
                    <a:solidFill>
                      <a:srgbClr val="1E40AF"/>
                    </a:solidFill>
                    <a:latin typeface="Calibri"/>
                  </a:rPr>
                  <a:t>Gợi mở: Tìm </a:t>
                </a:r>
                <a:r>
                  <a:rPr lang="vi-VN"/>
                  <a:t>u_1</a:t>
                </a:r>
                <a:r>
                  <a:rPr sz="2400" b="1">
                    <a:solidFill>
                      <a:srgbClr val="1E40AF"/>
                    </a:solidFill>
                    <a:latin typeface="Calibri"/>
                  </a:rPr>
                  <a:t> và </a:t>
                </a:r>
                <a:r>
                  <a:rPr lang="vi-VN"/>
                  <a:t>q=\frac{u_2}{u_1}</a:t>
                </a: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311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=8</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m:t>
                    </m:r>
                    <m:f>
                      <m:fPr>
                        <m:type m:val="bar"/>
                      </m:fPr>
                      <m:num>
                        <m:r>
                          <a:rPr lang="vi-VN" sz="2400" b="0">
                            <a:solidFill>
                              <a:srgbClr val="1E293B"/>
                            </a:solidFill>
                            <a:latin typeface="Cambria Math" panose="02040503050406030204" pitchFamily="18" charset="0"/>
                          </a:rPr>
                          <m:t>−4</m:t>
                        </m:r>
                      </m:num>
                      <m:den>
                        <m:r>
                          <a:rPr lang="vi-VN" sz="2400" b="0">
                            <a:solidFill>
                              <a:srgbClr val="1E293B"/>
                            </a:solidFill>
                            <a:latin typeface="Cambria Math" panose="02040503050406030204" pitchFamily="18" charset="0"/>
                          </a:rPr>
                          <m:t>8</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p>
              <a:p>
                <a:pPr algn="l" marL="365760" indent="-365760">
                  <a:spcAft>
                    <a:spcPts val="800"/>
                  </a:spcAft>
                  <a:buClr>
                    <a:srgbClr val="1E40AF"/>
                  </a:buClr>
                  <a:buFont typeface="Arial"/>
                  <a:buChar char="•"/>
                </a:pPr>
                <a:r>
                  <a:rPr sz="2400">
                    <a:solidFill>
                      <a:srgbClr val="1E293B"/>
                    </a:solidFill>
                    <a:latin typeface="Calibri"/>
                  </a:rPr>
                  <a:t>Năm số hạng đầu: 8, −4, 2, −1, </a:t>
                </a:r>
                <a14:m>
                  <m:oMath xmlns:m="http://schemas.openxmlformats.org/officeDocument/2006/math">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99</m:t>
                        </m:r>
                      </m:sup>
                    </m:sSup>
                    <m:r>
                      <a:rPr lang="vi-VN" sz="2400" b="0">
                        <a:solidFill>
                          <a:srgbClr val="1E293B"/>
                        </a:solidFill>
                        <a:latin typeface="Cambria Math" panose="02040503050406030204" pitchFamily="18" charset="0"/>
                      </a:rPr>
                      <m:t>=8·</m:t>
                    </m:r>
                    <m:sSup>
                      <m:e>
                        <m:d>
                          <m:dPr>
                            <m:sepChr m:val=""/>
                          </m:dPr>
                          <m:e>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e>
                        </m:d>
                      </m:e>
                      <m:sup>
                        <m:r>
                          <a:rPr lang="vi-VN" sz="2400" b="0">
                            <a:solidFill>
                              <a:srgbClr val="1E293B"/>
                            </a:solidFill>
                            <a:latin typeface="Cambria Math" panose="02040503050406030204" pitchFamily="18" charset="0"/>
                          </a:rPr>
                          <m:t>99</m:t>
                        </m:r>
                      </m:sup>
                    </m:sSup>
                  </m:oMath>
                </a14:m>
              </a:p>
            </p:txBody>
          </p:sp>
        </mc:Choice>
        <mc:Fallback>
          <p:sp>
            <p:nvSpPr>
              <p:cNvPr id="7" name="TextBox 6"/>
              <p:cNvSpPr txBox="1"/>
              <p:nvPr/>
            </p:nvSpPr>
            <p:spPr>
              <a:xfrm>
                <a:off x="731520" y="1463040"/>
                <a:ext cx="10789920" cy="22311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u_1=8</a:t>
                </a:r>
                <a:r>
                  <a:rPr sz="2400">
                    <a:solidFill>
                      <a:srgbClr val="1E293B"/>
                    </a:solidFill>
                    <a:latin typeface="Calibri"/>
                  </a:rPr>
                  <a:t>, </a:t>
                </a:r>
                <a:r>
                  <a:rPr lang="vi-VN"/>
                  <a:t>q=\frac{-4}{8}=-\frac{1}{2}</a:t>
                </a:r>
              </a:p>
              <a:p>
                <a:pPr algn="l" marL="365760" indent="-365760">
                  <a:spcAft>
                    <a:spcPts val="800"/>
                  </a:spcAft>
                  <a:buClr>
                    <a:srgbClr val="1E40AF"/>
                  </a:buClr>
                  <a:buFont typeface="Arial"/>
                  <a:buChar char="•"/>
                </a:pPr>
                <a:r>
                  <a:rPr sz="2400">
                    <a:solidFill>
                      <a:srgbClr val="1E293B"/>
                    </a:solidFill>
                    <a:latin typeface="Calibri"/>
                  </a:rPr>
                  <a:t>Năm số hạng đầu: 8, −4, 2, −1, </a:t>
                </a:r>
                <a:r>
                  <a:rPr lang="vi-VN"/>
                  <a:t>\frac{1}{2}</a:t>
                </a:r>
              </a:p>
              <a:p>
                <a:pPr algn="l" marL="365760" indent="-365760">
                  <a:spcAft>
                    <a:spcPts val="800"/>
                  </a:spcAft>
                  <a:buClr>
                    <a:srgbClr val="1E40AF"/>
                  </a:buClr>
                  <a:buFont typeface="Arial"/>
                  <a:buChar char="•"/>
                </a:pPr>
                <a:r>
                  <a:rPr lang="vi-VN"/>
                  <a:t>u_{100}=u_1\cdot q^{99}=8\cdot\paren{-\frac{1}{2}}^{99}</a:t>
                </a:r>
              </a:p>
            </p:txBody>
          </p:sp>
        </mc:Fallback>
      </mc:AlternateContent>
      <p:sp>
        <p:nvSpPr>
          <p:cNvPr id="8" name="Rounded Rectangle 7"/>
          <p:cNvSpPr/>
          <p:nvPr/>
        </p:nvSpPr>
        <p:spPr>
          <a:xfrm>
            <a:off x="731520" y="3831336"/>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831336"/>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100</m:t>
                        </m:r>
                      </m:sub>
                    </m:sSub>
                    <m:r>
                      <a:rPr lang="vi-VN" sz="2400" b="1">
                        <a:solidFill>
                          <a:srgbClr val="991B1B"/>
                        </a:solidFill>
                        <a:latin typeface="Cambria Math" panose="02040503050406030204" pitchFamily="18" charset="0"/>
                      </a:rPr>
                      <m:t>=−</m:t>
                    </m:r>
                    <m:f>
                      <m:fPr>
                        <m:type m:val="bar"/>
                      </m:fPr>
                      <m:num>
                        <m:r>
                          <a:rPr lang="vi-VN" sz="2400" b="1">
                            <a:solidFill>
                              <a:srgbClr val="991B1B"/>
                            </a:solidFill>
                            <a:latin typeface="Cambria Math" panose="02040503050406030204" pitchFamily="18" charset="0"/>
                          </a:rPr>
                          <m:t>1</m:t>
                        </m:r>
                      </m:num>
                      <m:den>
                        <m:sSup>
                          <m:e>
                            <m:r>
                              <a:rPr lang="vi-VN" sz="2400" b="1">
                                <a:solidFill>
                                  <a:srgbClr val="991B1B"/>
                                </a:solidFill>
                                <a:latin typeface="Cambria Math" panose="02040503050406030204" pitchFamily="18" charset="0"/>
                              </a:rPr>
                              <m:t>2</m:t>
                            </m:r>
                          </m:e>
                          <m:sup>
                            <m:r>
                              <a:rPr lang="vi-VN" sz="2400" b="1">
                                <a:solidFill>
                                  <a:srgbClr val="991B1B"/>
                                </a:solidFill>
                                <a:latin typeface="Cambria Math" panose="02040503050406030204" pitchFamily="18" charset="0"/>
                              </a:rPr>
                              <m:t>96</m:t>
                            </m:r>
                          </m:sup>
                        </m:sSup>
                      </m:den>
                    </m:f>
                  </m:oMath>
                </a14:m>
              </a:p>
            </p:txBody>
          </p:sp>
        </mc:Choice>
        <mc:Fallback>
          <p:sp>
            <p:nvSpPr>
              <p:cNvPr id="9" name="TextBox 8"/>
              <p:cNvSpPr txBox="1"/>
              <p:nvPr/>
            </p:nvSpPr>
            <p:spPr>
              <a:xfrm>
                <a:off x="914400" y="3831336"/>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u_{100}=-\frac{1}{2^{96}}</a:t>
                </a: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23</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một cấp số nhân gồm các số hạng dương.</a:t>
            </a:r>
          </a:p>
          <a:p>
            <a:pPr algn="l">
              <a:spcAft>
                <a:spcPts val="800"/>
              </a:spcAft>
            </a:pPr>
            <a:r>
              <a:rPr sz="2400">
                <a:solidFill>
                  <a:srgbClr val="1E293B"/>
                </a:solidFill>
                <a:latin typeface="Calibri"/>
              </a:rPr>
              <a:t>Biết số hạng thứ 10 bằng 1 536 và số hạng thứ 12 bằng 6 144. Tìm số hạng thứ 20 của cấp số nhân đó.</a:t>
            </a:r>
          </a:p>
          <a:p>
            <a:pPr algn="l">
              <a:spcAft>
                <a:spcPts val="800"/>
              </a:spcAft>
            </a:pPr>
            <a:r>
              <a:rPr sz="2400" b="1">
                <a:solidFill>
                  <a:srgbClr val="1E40AF"/>
                </a:solidFill>
                <a:latin typeface="Calibri"/>
              </a:rPr>
              <a:t>Gợi mở: Chia hai đẳng thức vế theo vế</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9</m:t>
                        </m:r>
                      </m:sup>
                    </m:sSup>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536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11</m:t>
                        </m:r>
                      </m:sup>
                    </m:sSup>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144</m:t>
                    </m:r>
                  </m:oMath>
                </a14:m>
              </a:p>
              <a:p>
                <a:pPr algn="l" marL="365760" indent="-365760">
                  <a:spcAft>
                    <a:spcPts val="800"/>
                  </a:spcAft>
                  <a:buClr>
                    <a:srgbClr val="1E40AF"/>
                  </a:buClr>
                  <a:buFont typeface="Arial"/>
                  <a:buChar char="•"/>
                </a:pPr>
                <a:r>
                  <a:rPr sz="2400">
                    <a:solidFill>
                      <a:srgbClr val="1E293B"/>
                    </a:solidFill>
                    <a:latin typeface="Calibri"/>
                  </a:rPr>
                  <a:t>Chia vế theo vế: </a:t>
                </a:r>
                <a14:m>
                  <m:oMath xmlns:m="http://schemas.openxmlformats.org/officeDocument/2006/math">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=4⇒q=2</m:t>
                    </m:r>
                  </m:oMath>
                </a14:m>
                <a:r>
                  <a:rPr sz="2400">
                    <a:solidFill>
                      <a:srgbClr val="1E293B"/>
                    </a:solidFill>
                    <a:latin typeface="Calibri"/>
                  </a:rPr>
                  <a:t> hoặc </a:t>
                </a:r>
                <a14:m>
                  <m:oMath xmlns:m="http://schemas.openxmlformats.org/officeDocument/2006/math">
                    <m:r>
                      <a:rPr lang="vi-VN" sz="2400" b="0">
                        <a:solidFill>
                          <a:srgbClr val="1E293B"/>
                        </a:solidFill>
                        <a:latin typeface="Cambria Math" panose="02040503050406030204" pitchFamily="18" charset="0"/>
                      </a:rPr>
                      <m:t>q=−2</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q=−2⇒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=−3&lt;0</m:t>
                    </m:r>
                  </m:oMath>
                </a14:m>
                <a:r>
                  <a:rPr sz="2400">
                    <a:solidFill>
                      <a:srgbClr val="1E293B"/>
                    </a:solidFill>
                    <a:latin typeface="Calibri"/>
                  </a:rPr>
                  <a:t> (loại); </a:t>
                </a:r>
                <a14:m>
                  <m:oMath xmlns:m="http://schemas.openxmlformats.org/officeDocument/2006/math">
                    <m:r>
                      <a:rPr lang="vi-VN" sz="2400" b="0">
                        <a:solidFill>
                          <a:srgbClr val="1E293B"/>
                        </a:solidFill>
                        <a:latin typeface="Cambria Math" panose="02040503050406030204" pitchFamily="18" charset="0"/>
                      </a:rPr>
                      <m:t>q=2⇒</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=3</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19</m:t>
                        </m:r>
                      </m:sup>
                    </m:sSup>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19</m:t>
                        </m:r>
                      </m:sup>
                    </m:sSup>
                  </m:oMath>
                </a14:m>
              </a:p>
            </p:txBody>
          </p:sp>
        </mc:Choice>
        <mc:Fallback>
          <p:sp>
            <p:nvSpPr>
              <p:cNvPr id="7" name="TextBox 6"/>
              <p:cNvSpPr txBox="1"/>
              <p:nvPr/>
            </p:nvSpPr>
            <p:spPr>
              <a:xfrm>
                <a:off x="731520" y="1463040"/>
                <a:ext cx="10789920" cy="202387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u_{10}=u_1q^9=1\,536</a:t>
                </a:r>
                <a:r>
                  <a:rPr sz="2400">
                    <a:solidFill>
                      <a:srgbClr val="1E293B"/>
                    </a:solidFill>
                    <a:latin typeface="Calibri"/>
                  </a:rPr>
                  <a:t>;  </a:t>
                </a:r>
                <a:r>
                  <a:rPr lang="vi-VN"/>
                  <a:t>u_{12}=u_1q^{11}=6\,144</a:t>
                </a:r>
              </a:p>
              <a:p>
                <a:pPr algn="l" marL="365760" indent="-365760">
                  <a:spcAft>
                    <a:spcPts val="800"/>
                  </a:spcAft>
                  <a:buClr>
                    <a:srgbClr val="1E40AF"/>
                  </a:buClr>
                  <a:buFont typeface="Arial"/>
                  <a:buChar char="•"/>
                </a:pPr>
                <a:r>
                  <a:rPr sz="2400">
                    <a:solidFill>
                      <a:srgbClr val="1E293B"/>
                    </a:solidFill>
                    <a:latin typeface="Calibri"/>
                  </a:rPr>
                  <a:t>Chia vế theo vế: </a:t>
                </a:r>
                <a:r>
                  <a:rPr lang="vi-VN"/>
                  <a:t>q^2=4\Rightarrow q=2</a:t>
                </a:r>
                <a:r>
                  <a:rPr sz="2400">
                    <a:solidFill>
                      <a:srgbClr val="1E293B"/>
                    </a:solidFill>
                    <a:latin typeface="Calibri"/>
                  </a:rPr>
                  <a:t> hoặc </a:t>
                </a:r>
                <a:r>
                  <a:rPr lang="vi-VN"/>
                  <a:t>q=-2</a:t>
                </a:r>
              </a:p>
              <a:p>
                <a:pPr algn="l" marL="365760" indent="-365760">
                  <a:spcAft>
                    <a:spcPts val="800"/>
                  </a:spcAft>
                  <a:buClr>
                    <a:srgbClr val="1E40AF"/>
                  </a:buClr>
                  <a:buFont typeface="Arial"/>
                  <a:buChar char="•"/>
                </a:pPr>
                <a:r>
                  <a:rPr lang="vi-VN"/>
                  <a:t>q=-2\Rightarrow u_1=-3&lt;0</a:t>
                </a:r>
                <a:r>
                  <a:rPr sz="2400">
                    <a:solidFill>
                      <a:srgbClr val="1E293B"/>
                    </a:solidFill>
                    <a:latin typeface="Calibri"/>
                  </a:rPr>
                  <a:t> (loại); </a:t>
                </a:r>
                <a:r>
                  <a:rPr lang="vi-VN"/>
                  <a:t>q=2\Rightarrow u_1=3</a:t>
                </a:r>
              </a:p>
              <a:p>
                <a:pPr algn="l" marL="365760" indent="-365760">
                  <a:spcAft>
                    <a:spcPts val="800"/>
                  </a:spcAft>
                  <a:buClr>
                    <a:srgbClr val="1E40AF"/>
                  </a:buClr>
                  <a:buFont typeface="Arial"/>
                  <a:buChar char="•"/>
                </a:pPr>
                <a:r>
                  <a:rPr lang="vi-VN"/>
                  <a:t>u_{20}=u_1q^{19}=3\cdot 2^{19}</a:t>
                </a:r>
              </a:p>
            </p:txBody>
          </p:sp>
        </mc:Fallback>
      </mc:AlternateContent>
      <p:sp>
        <p:nvSpPr>
          <p:cNvPr id="8" name="Rounded Rectangle 7"/>
          <p:cNvSpPr/>
          <p:nvPr/>
        </p:nvSpPr>
        <p:spPr>
          <a:xfrm>
            <a:off x="731520" y="362407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20</m:t>
                        </m:r>
                      </m:sub>
                    </m:sSub>
                    <m:r>
                      <a:rPr lang="vi-VN" sz="2400" b="1">
                        <a:solidFill>
                          <a:srgbClr val="991B1B"/>
                        </a:solidFill>
                        <a:latin typeface="Cambria Math" panose="02040503050406030204" pitchFamily="18" charset="0"/>
                      </a:rPr>
                      <m:t>=1</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572</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864</m:t>
                    </m:r>
                  </m:oMath>
                </a14:m>
              </a:p>
            </p:txBody>
          </p:sp>
        </mc:Choice>
        <mc:Fallback>
          <p:sp>
            <p:nvSpPr>
              <p:cNvPr id="9" name="TextBox 8"/>
              <p:cNvSpPr txBox="1"/>
              <p:nvPr/>
            </p:nvSpPr>
            <p:spPr>
              <a:xfrm>
                <a:off x="914400" y="362407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u_{20}=1\,572\,864</a:t>
                </a: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LUYỆN TẬP 2: VI KHUẨN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25</a:t>
            </a:r>
          </a:p>
        </p:txBody>
      </p:sp>
      <p:sp>
        <p:nvSpPr>
          <p:cNvPr id="7" name="TextBox 6"/>
          <p:cNvSpPr txBox="1"/>
          <p:nvPr/>
        </p:nvSpPr>
        <p:spPr>
          <a:xfrm>
            <a:off x="731520" y="1463040"/>
            <a:ext cx="10789920" cy="1914144"/>
          </a:xfrm>
          <a:prstGeom prst="rect">
            <a:avLst/>
          </a:prstGeom>
          <a:noFill/>
        </p:spPr>
        <p:txBody>
          <a:bodyPr wrap="square" anchor="t" lIns="45720" rIns="45720">
            <a:spAutoFit/>
          </a:bodyPr>
          <a:lstStyle/>
          <a:p>
            <a:pPr algn="l">
              <a:spcAft>
                <a:spcPts val="800"/>
              </a:spcAft>
            </a:pPr>
            <a:r>
              <a:rPr sz="2400">
                <a:solidFill>
                  <a:srgbClr val="1E293B"/>
                </a:solidFill>
                <a:latin typeface="Calibri"/>
              </a:rPr>
              <a:t>Trong một lọ nuôi cấy vi khuẩn, ban đầu có 5 000 con vi khuẩn và số lượng vi khuẩn tăng lên thêm 8% mỗi giờ.</a:t>
            </a:r>
          </a:p>
          <a:p>
            <a:pPr algn="l">
              <a:spcAft>
                <a:spcPts val="800"/>
              </a:spcAft>
            </a:pPr>
            <a:r>
              <a:rPr sz="2400">
                <a:solidFill>
                  <a:srgbClr val="1E293B"/>
                </a:solidFill>
                <a:latin typeface="Calibri"/>
              </a:rPr>
              <a:t>Hỏi sau 5 giờ thì số lượng vi khuẩn là bao nhiêu?</a:t>
            </a:r>
          </a:p>
          <a:p>
            <a:pPr algn="l">
              <a:spcAft>
                <a:spcPts val="800"/>
              </a:spcAft>
            </a:pPr>
            <a:r>
              <a:rPr sz="2400" b="1">
                <a:solidFill>
                  <a:srgbClr val="1E40AF"/>
                </a:solidFill>
                <a:latin typeface="Calibri"/>
              </a:rPr>
              <a:t>Gợi mở: Ban đầu ứng với số hạng nào? Sau 5 giờ là số hạng thứ mấy?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LUYỆN TẬP 2: VI KHUẨN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vi khuẩn: cấp số nhân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r>
                  <a:rPr sz="2400">
                    <a:solidFill>
                      <a:srgbClr val="1E293B"/>
                    </a:solidFill>
                    <a:latin typeface="Calibri"/>
                  </a:rPr>
                  <a:t> (ban đầu), </a:t>
                </a:r>
                <a14:m>
                  <m:oMath xmlns:m="http://schemas.openxmlformats.org/officeDocument/2006/math">
                    <m:r>
                      <a:rPr lang="vi-VN" sz="2400" b="0">
                        <a:solidFill>
                          <a:srgbClr val="1E293B"/>
                        </a:solidFill>
                        <a:latin typeface="Cambria Math" panose="02040503050406030204" pitchFamily="18" charset="0"/>
                      </a:rPr>
                      <m:t>q=1+8%=1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08</m:t>
                    </m:r>
                  </m:oMath>
                </a14:m>
              </a:p>
              <a:p>
                <a:pPr algn="l" marL="365760" indent="-365760">
                  <a:spcAft>
                    <a:spcPts val="800"/>
                  </a:spcAft>
                  <a:buClr>
                    <a:srgbClr val="1E40AF"/>
                  </a:buClr>
                  <a:buFont typeface="Arial"/>
                  <a:buChar char="•"/>
                </a:pPr>
                <a:r>
                  <a:rPr sz="2400">
                    <a:solidFill>
                      <a:srgbClr val="1E293B"/>
                    </a:solidFill>
                    <a:latin typeface="Calibri"/>
                  </a:rPr>
                  <a:t>Sau 1 giờ: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 …; sau 5 giờ: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08</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347</m:t>
                    </m:r>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Số vi khuẩn: cấp số nhân </a:t>
                </a:r>
                <a:r>
                  <a:rPr lang="vi-VN"/>
                  <a:t>u_1=5\,000</a:t>
                </a:r>
                <a:r>
                  <a:rPr sz="2400">
                    <a:solidFill>
                      <a:srgbClr val="1E293B"/>
                    </a:solidFill>
                    <a:latin typeface="Calibri"/>
                  </a:rPr>
                  <a:t> (ban đầu), </a:t>
                </a:r>
                <a:r>
                  <a:rPr lang="vi-VN"/>
                  <a:t>q=1+8\%=1{,}08</a:t>
                </a:r>
              </a:p>
              <a:p>
                <a:pPr algn="l" marL="365760" indent="-365760">
                  <a:spcAft>
                    <a:spcPts val="800"/>
                  </a:spcAft>
                  <a:buClr>
                    <a:srgbClr val="1E40AF"/>
                  </a:buClr>
                  <a:buFont typeface="Arial"/>
                  <a:buChar char="•"/>
                </a:pPr>
                <a:r>
                  <a:rPr sz="2400">
                    <a:solidFill>
                      <a:srgbClr val="1E293B"/>
                    </a:solidFill>
                    <a:latin typeface="Calibri"/>
                  </a:rPr>
                  <a:t>Sau 1 giờ: </a:t>
                </a:r>
                <a:r>
                  <a:rPr lang="vi-VN"/>
                  <a:t>u_2</a:t>
                </a:r>
                <a:r>
                  <a:rPr sz="2400">
                    <a:solidFill>
                      <a:srgbClr val="1E293B"/>
                    </a:solidFill>
                    <a:latin typeface="Calibri"/>
                  </a:rPr>
                  <a:t>; …; sau 5 giờ: </a:t>
                </a:r>
                <a:r>
                  <a:rPr lang="vi-VN"/>
                  <a:t>u_6</a:t>
                </a:r>
              </a:p>
              <a:p>
                <a:pPr algn="l" marL="365760" indent="-365760">
                  <a:spcAft>
                    <a:spcPts val="800"/>
                  </a:spcAft>
                  <a:buClr>
                    <a:srgbClr val="1E40AF"/>
                  </a:buClr>
                  <a:buFont typeface="Arial"/>
                  <a:buChar char="•"/>
                </a:pPr>
                <a:r>
                  <a:rPr lang="vi-VN"/>
                  <a:t>u_6=5\,000\cdot 1{,}08^5\approx 7\,347</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7 347 con vi khuẩn</a:t>
            </a:r>
          </a:p>
        </p:txBody>
      </p:sp>
      <p:pic>
        <p:nvPicPr>
          <p:cNvPr id="10" name="Picture 9" descr="img02.png"/>
          <p:cNvPicPr>
            <a:picLocks noChangeAspect="1"/>
          </p:cNvPicPr>
          <p:nvPr/>
        </p:nvPicPr>
        <p:blipFill>
          <a:blip r:embed="rId2"/>
          <a:stretch>
            <a:fillRect/>
          </a:stretch>
        </p:blipFill>
        <p:spPr>
          <a:xfrm>
            <a:off x="3776177" y="3986784"/>
            <a:ext cx="4609165" cy="227685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3. TỔNG n SỐ HẠNG ĐẦU</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CÔNG THỨC TỔNG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Cho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với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q≠1</m:t>
                    </m:r>
                  </m:oMath>
                </a14:m>
                <a:r>
                  <a:rPr sz="2200">
                    <a:solidFill>
                      <a:srgbClr val="1E293B"/>
                    </a:solidFill>
                    <a:latin typeface="Calibri"/>
                  </a:rPr>
                  <a:t>. Để tính tổng của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n</m:t>
                    </m:r>
                  </m:oMath>
                </a14:m>
                <a:r>
                  <a:rPr sz="2200">
                    <a:solidFill>
                      <a:srgbClr val="1E293B"/>
                    </a:solidFill>
                    <a:latin typeface="Calibri"/>
                  </a:rPr>
                  <a:t>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thực hiện lần lượt các yêu cầu sau:</a:t>
                </a:r>
              </a:p>
              <a:p>
                <a:pPr algn="l" marL="365760" indent="-365760">
                  <a:spcAft>
                    <a:spcPts val="800"/>
                  </a:spcAft>
                  <a:buClr>
                    <a:srgbClr val="1E40AF"/>
                  </a:buClr>
                  <a:buFont typeface="Arial"/>
                  <a:buChar char="•"/>
                </a:pPr>
                <a:r>
                  <a:rPr sz="2200">
                    <a:solidFill>
                      <a:srgbClr val="1E293B"/>
                    </a:solidFill>
                    <a:latin typeface="Calibri"/>
                  </a:rPr>
                  <a:t>a) Biểu diễn mỗi số hạng trong tổng trên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để được biểu thức tính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chỉ chứa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Từ kết quả phần a, nhân cả hai vế với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để được biểu thức tính tích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chỉ chứa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a:t>
                </a:r>
              </a:p>
            </p:txBody>
          </p:sp>
        </mc:Choice>
        <mc:Fallback>
          <p:sp>
            <p:nvSpPr>
              <p:cNvPr id="7" name="TextBox 6"/>
              <p:cNvSpPr txBox="1"/>
              <p:nvPr/>
            </p:nvSpPr>
            <p:spPr>
              <a:xfrm>
                <a:off x="731520" y="1463040"/>
                <a:ext cx="10789920" cy="25085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Cho cấp số nhân </a:t>
                </a:r>
                <a:r>
                  <a:rPr lang="vi-VN"/>
                  <a:t>(u_n)</a:t>
                </a:r>
                <a:r>
                  <a:rPr sz="2200">
                    <a:solidFill>
                      <a:srgbClr val="1E293B"/>
                    </a:solidFill>
                    <a:latin typeface="Calibri"/>
                  </a:rPr>
                  <a:t> với số hạng đầu </a:t>
                </a:r>
                <a:r>
                  <a:rPr lang="vi-VN"/>
                  <a:t>u_1</a:t>
                </a:r>
                <a:r>
                  <a:rPr sz="2200">
                    <a:solidFill>
                      <a:srgbClr val="1E293B"/>
                    </a:solidFill>
                    <a:latin typeface="Calibri"/>
                  </a:rPr>
                  <a:t> và công bội </a:t>
                </a:r>
                <a:r>
                  <a:rPr lang="vi-VN"/>
                  <a:t>q≠1</a:t>
                </a:r>
                <a:r>
                  <a:rPr sz="2200">
                    <a:solidFill>
                      <a:srgbClr val="1E293B"/>
                    </a:solidFill>
                    <a:latin typeface="Calibri"/>
                  </a:rPr>
                  <a:t>. Để tính tổng của </a:t>
                </a:r>
                <a:r>
                  <a:rPr lang="vi-VN"/>
                  <a:t>n</a:t>
                </a:r>
                <a:r>
                  <a:rPr sz="2200">
                    <a:solidFill>
                      <a:srgbClr val="1E293B"/>
                    </a:solidFill>
                    <a:latin typeface="Calibri"/>
                  </a:rPr>
                  <a:t> số hạng đầu </a:t>
                </a:r>
                <a:r>
                  <a:rPr lang="vi-VN"/>
                  <a:t>S_n=u_1+u_2+…+u_(n−1)+u_n</a:t>
                </a:r>
                <a:r>
                  <a:rPr sz="2200">
                    <a:solidFill>
                      <a:srgbClr val="1E293B"/>
                    </a:solidFill>
                    <a:latin typeface="Calibri"/>
                  </a:rPr>
                  <a:t>, thực hiện lần lượt các yêu cầu sau:</a:t>
                </a:r>
              </a:p>
              <a:p>
                <a:pPr algn="l" marL="365760" indent="-365760">
                  <a:spcAft>
                    <a:spcPts val="800"/>
                  </a:spcAft>
                  <a:buClr>
                    <a:srgbClr val="1E40AF"/>
                  </a:buClr>
                  <a:buFont typeface="Arial"/>
                  <a:buChar char="•"/>
                </a:pPr>
                <a:r>
                  <a:rPr sz="2200">
                    <a:solidFill>
                      <a:srgbClr val="1E293B"/>
                    </a:solidFill>
                    <a:latin typeface="Calibri"/>
                  </a:rPr>
                  <a:t>a) Biểu diễn mỗi số hạng trong tổng trên theo </a:t>
                </a:r>
                <a:r>
                  <a:rPr lang="vi-VN"/>
                  <a:t>u_1</a:t>
                </a:r>
                <a:r>
                  <a:rPr sz="2200">
                    <a:solidFill>
                      <a:srgbClr val="1E293B"/>
                    </a:solidFill>
                    <a:latin typeface="Calibri"/>
                  </a:rPr>
                  <a:t> và </a:t>
                </a:r>
                <a:r>
                  <a:rPr lang="vi-VN"/>
                  <a:t>q</a:t>
                </a:r>
                <a:r>
                  <a:rPr sz="2200">
                    <a:solidFill>
                      <a:srgbClr val="1E293B"/>
                    </a:solidFill>
                    <a:latin typeface="Calibri"/>
                  </a:rPr>
                  <a:t> để được biểu thức tính tổng </a:t>
                </a:r>
                <a:r>
                  <a:rPr lang="vi-VN"/>
                  <a:t>S_n</a:t>
                </a:r>
                <a:r>
                  <a:rPr sz="2200">
                    <a:solidFill>
                      <a:srgbClr val="1E293B"/>
                    </a:solidFill>
                    <a:latin typeface="Calibri"/>
                  </a:rPr>
                  <a:t> chỉ chứa </a:t>
                </a:r>
                <a:r>
                  <a:rPr lang="vi-VN"/>
                  <a:t>u_1</a:t>
                </a:r>
                <a:r>
                  <a:rPr sz="2200">
                    <a:solidFill>
                      <a:srgbClr val="1E293B"/>
                    </a:solidFill>
                    <a:latin typeface="Calibri"/>
                  </a:rPr>
                  <a:t> và </a:t>
                </a:r>
                <a:r>
                  <a:rPr lang="vi-VN"/>
                  <a:t>q</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Từ kết quả phần a, nhân cả hai vế với </a:t>
                </a:r>
                <a:r>
                  <a:rPr lang="vi-VN"/>
                  <a:t>q</a:t>
                </a:r>
                <a:r>
                  <a:rPr sz="2200">
                    <a:solidFill>
                      <a:srgbClr val="1E293B"/>
                    </a:solidFill>
                    <a:latin typeface="Calibri"/>
                  </a:rPr>
                  <a:t> để được biểu thức tính tích </a:t>
                </a:r>
                <a:r>
                  <a:rPr lang="vi-VN"/>
                  <a:t>q·S_n</a:t>
                </a:r>
                <a:r>
                  <a:rPr sz="2200">
                    <a:solidFill>
                      <a:srgbClr val="1E293B"/>
                    </a:solidFill>
                    <a:latin typeface="Calibri"/>
                  </a:rPr>
                  <a:t> chỉ chứa </a:t>
                </a:r>
                <a:r>
                  <a:rPr lang="vi-VN"/>
                  <a:t>u_1</a:t>
                </a:r>
                <a:r>
                  <a:rPr sz="2200">
                    <a:solidFill>
                      <a:srgbClr val="1E293B"/>
                    </a:solidFill>
                    <a:latin typeface="Calibri"/>
                  </a:rPr>
                  <a:t> và </a:t>
                </a:r>
                <a:r>
                  <a:rPr lang="vi-VN"/>
                  <a:t>q</a:t>
                </a:r>
                <a:r>
                  <a:rPr sz="2200">
                    <a:solidFill>
                      <a:srgbClr val="1E293B"/>
                    </a:solidFill>
                    <a:latin typeface="Calibri"/>
                  </a:rPr>
                  <a:t>.</a:t>
                </a: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HĐ3: CÔNG THỨC TỔNG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29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Trừ từng vế hai đẳng thức nhận được ở a và b và giản ước các số hạng đồng dạng để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(1−q)</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và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Từ đó suy ra công thức tính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a:t>
                </a:r>
              </a:p>
              <a:p>
                <a:pPr algn="l">
                  <a:spcAft>
                    <a:spcPts val="800"/>
                  </a:spcAft>
                </a:pPr>
                <a:r>
                  <a:rPr sz="2200" b="1">
                    <a:solidFill>
                      <a:srgbClr val="1E40AF"/>
                    </a:solidFill>
                    <a:latin typeface="Calibri"/>
                  </a:rPr>
                  <a:t>Gợi mở: Viết </a:t>
                </a:r>
                <a14:m>
                  <m:oMath xmlns:m="http://schemas.openxmlformats.org/officeDocument/2006/math">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n</m:t>
                        </m:r>
                      </m:sub>
                    </m:sSub>
                  </m:oMath>
                </a14:m>
                <a:r>
                  <a:rPr sz="2200" b="1">
                    <a:solidFill>
                      <a:srgbClr val="1E40AF"/>
                    </a:solidFill>
                    <a:latin typeface="Calibri"/>
                  </a:rPr>
                  <a:t> và </a:t>
                </a:r>
                <a14:m>
                  <m:oMath xmlns:m="http://schemas.openxmlformats.org/officeDocument/2006/math">
                    <m:r>
                      <a:rPr lang="vi-VN" sz="2200" b="1">
                        <a:solidFill>
                          <a:srgbClr val="1E40AF"/>
                        </a:solidFill>
                        <a:latin typeface="Cambria Math" panose="02040503050406030204" pitchFamily="18" charset="0"/>
                      </a:rPr>
                      <m:t>q</m:t>
                    </m:r>
                    <m:sSub>
                      <m:e>
                        <m:r>
                          <a:rPr lang="vi-VN" sz="2200" b="1">
                            <a:solidFill>
                              <a:srgbClr val="1E40AF"/>
                            </a:solidFill>
                            <a:latin typeface="Cambria Math" panose="02040503050406030204" pitchFamily="18" charset="0"/>
                          </a:rPr>
                          <m:t>S</m:t>
                        </m:r>
                      </m:e>
                      <m:sub>
                        <m:r>
                          <a:rPr lang="vi-VN" sz="2200" b="1">
                            <a:solidFill>
                              <a:srgbClr val="1E40AF"/>
                            </a:solidFill>
                            <a:latin typeface="Cambria Math" panose="02040503050406030204" pitchFamily="18" charset="0"/>
                          </a:rPr>
                          <m:t>n</m:t>
                        </m:r>
                      </m:sub>
                    </m:sSub>
                  </m:oMath>
                </a14:m>
                <a:r>
                  <a:rPr sz="2200" b="1">
                    <a:solidFill>
                      <a:srgbClr val="1E40AF"/>
                    </a:solidFill>
                    <a:latin typeface="Calibri"/>
                  </a:rPr>
                  <a:t> lệch nhau một cột rồi trừ</a:t>
                </a:r>
              </a:p>
            </p:txBody>
          </p:sp>
        </mc:Choice>
        <mc:Fallback>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c) Trừ từng vế hai đẳng thức nhận được ở a và b và giản ước các số hạng đồng dạng để tính </a:t>
                </a:r>
                <a:r>
                  <a:rPr lang="vi-VN"/>
                  <a:t>(1−q)S_n</a:t>
                </a:r>
                <a:r>
                  <a:rPr sz="2200">
                    <a:solidFill>
                      <a:srgbClr val="1E293B"/>
                    </a:solidFill>
                    <a:latin typeface="Calibri"/>
                  </a:rPr>
                  <a:t> theo </a:t>
                </a:r>
                <a:r>
                  <a:rPr lang="vi-VN"/>
                  <a:t>u_1</a:t>
                </a:r>
                <a:r>
                  <a:rPr sz="2200">
                    <a:solidFill>
                      <a:srgbClr val="1E293B"/>
                    </a:solidFill>
                    <a:latin typeface="Calibri"/>
                  </a:rPr>
                  <a:t> và </a:t>
                </a:r>
                <a:r>
                  <a:rPr lang="vi-VN"/>
                  <a:t>q</a:t>
                </a:r>
                <a:r>
                  <a:rPr sz="2200">
                    <a:solidFill>
                      <a:srgbClr val="1E293B"/>
                    </a:solidFill>
                    <a:latin typeface="Calibri"/>
                  </a:rPr>
                  <a:t>. Từ đó suy ra công thức tính </a:t>
                </a:r>
                <a:r>
                  <a:rPr lang="vi-VN"/>
                  <a:t>S_n</a:t>
                </a:r>
                <a:r>
                  <a:rPr sz="2200">
                    <a:solidFill>
                      <a:srgbClr val="1E293B"/>
                    </a:solidFill>
                    <a:latin typeface="Calibri"/>
                  </a:rPr>
                  <a:t>.</a:t>
                </a:r>
              </a:p>
              <a:p>
                <a:pPr algn="l">
                  <a:spcAft>
                    <a:spcPts val="800"/>
                  </a:spcAft>
                </a:pPr>
                <a:r>
                  <a:rPr sz="2200" b="1">
                    <a:solidFill>
                      <a:srgbClr val="1E40AF"/>
                    </a:solidFill>
                    <a:latin typeface="Calibri"/>
                  </a:rPr>
                  <a:t>Gợi mở: Viết </a:t>
                </a:r>
                <a:r>
                  <a:rPr lang="vi-VN"/>
                  <a:t>S_n</a:t>
                </a:r>
                <a:r>
                  <a:rPr sz="2200" b="1">
                    <a:solidFill>
                      <a:srgbClr val="1E40AF"/>
                    </a:solidFill>
                    <a:latin typeface="Calibri"/>
                  </a:rPr>
                  <a:t> và </a:t>
                </a:r>
                <a:r>
                  <a:rPr lang="vi-VN"/>
                  <a:t>qS_n</a:t>
                </a:r>
                <a:r>
                  <a:rPr sz="2200" b="1">
                    <a:solidFill>
                      <a:srgbClr val="1E40AF"/>
                    </a:solidFill>
                    <a:latin typeface="Calibri"/>
                  </a:rPr>
                  <a:t> lệch nhau một cột rồi trừ</a:t>
                </a: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HĐ3: CÔNG THỨC TỔNG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n−1</m:t>
                        </m:r>
                      </m:sup>
                    </m:sSup>
                  </m:oMath>
                </a14:m>
              </a:p>
              <a:p>
                <a:pPr algn="l" marL="365760" indent="-365760">
                  <a:spcAft>
                    <a:spcPts val="800"/>
                  </a:spcAft>
                  <a:buClr>
                    <a:srgbClr val="1E40AF"/>
                  </a:buClr>
                  <a:buFont typeface="Arial"/>
                  <a:buChar char="•"/>
                </a:pPr>
                <a:r>
                  <a:rPr sz="2400">
                    <a:solidFill>
                      <a:srgbClr val="1E293B"/>
                    </a:solidFill>
                    <a:latin typeface="Calibri"/>
                  </a:rPr>
                  <a:t>b) </a:t>
                </a:r>
                <a14:m>
                  <m:oMath xmlns:m="http://schemas.openxmlformats.org/officeDocument/2006/math">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q+</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n</m:t>
                        </m:r>
                      </m:sup>
                    </m:sSup>
                  </m:oMath>
                </a14:m>
              </a:p>
              <a:p>
                <a:pPr algn="l" marL="365760" indent="-365760">
                  <a:spcAft>
                    <a:spcPts val="800"/>
                  </a:spcAft>
                  <a:buClr>
                    <a:srgbClr val="1E40AF"/>
                  </a:buClr>
                  <a:buFont typeface="Arial"/>
                  <a:buChar char="•"/>
                </a:pPr>
                <a:r>
                  <a:rPr sz="2400">
                    <a:solidFill>
                      <a:srgbClr val="1E293B"/>
                    </a:solidFill>
                    <a:latin typeface="Calibri"/>
                  </a:rPr>
                  <a:t>c) Trừ vế: </a:t>
                </a:r>
                <a14:m>
                  <m:oMath xmlns:m="http://schemas.openxmlformats.org/officeDocument/2006/math">
                    <m:r>
                      <a:rPr lang="vi-VN" sz="2400" b="0">
                        <a:solidFill>
                          <a:srgbClr val="1E293B"/>
                        </a:solidFill>
                        <a:latin typeface="Cambria Math" panose="02040503050406030204" pitchFamily="18" charset="0"/>
                      </a:rPr>
                      <m:t>(1−q)</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n</m:t>
                        </m:r>
                      </m:sup>
                    </m:sSup>
                  </m:oMath>
                </a14:m>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a) </a:t>
                </a:r>
                <a:r>
                  <a:rPr lang="vi-VN"/>
                  <a:t>S_n=u_1+u_1q+\ldots+u_1q^{n-1}</a:t>
                </a:r>
              </a:p>
              <a:p>
                <a:pPr algn="l" marL="365760" indent="-365760">
                  <a:spcAft>
                    <a:spcPts val="800"/>
                  </a:spcAft>
                  <a:buClr>
                    <a:srgbClr val="1E40AF"/>
                  </a:buClr>
                  <a:buFont typeface="Arial"/>
                  <a:buChar char="•"/>
                </a:pPr>
                <a:r>
                  <a:rPr sz="2400">
                    <a:solidFill>
                      <a:srgbClr val="1E293B"/>
                    </a:solidFill>
                    <a:latin typeface="Calibri"/>
                  </a:rPr>
                  <a:t>b) </a:t>
                </a:r>
                <a:r>
                  <a:rPr lang="vi-VN"/>
                  <a:t>qS_n=u_1q+u_1q^2+\ldots+u_1q^n</a:t>
                </a:r>
              </a:p>
              <a:p>
                <a:pPr algn="l" marL="365760" indent="-365760">
                  <a:spcAft>
                    <a:spcPts val="800"/>
                  </a:spcAft>
                  <a:buClr>
                    <a:srgbClr val="1E40AF"/>
                  </a:buClr>
                  <a:buFont typeface="Arial"/>
                  <a:buChar char="•"/>
                </a:pPr>
                <a:r>
                  <a:rPr sz="2400">
                    <a:solidFill>
                      <a:srgbClr val="1E293B"/>
                    </a:solidFill>
                    <a:latin typeface="Calibri"/>
                  </a:rPr>
                  <a:t>c) Trừ vế: </a:t>
                </a:r>
                <a:r>
                  <a:rPr lang="vi-VN"/>
                  <a:t>(1-q)S_n=u_1-u_1q^n</a:t>
                </a:r>
              </a:p>
            </p:txBody>
          </p:sp>
        </mc:Fallback>
      </mc:AlternateContent>
      <p:sp>
        <p:nvSpPr>
          <p:cNvPr id="8" name="Rounded Rectangle 7"/>
          <p:cNvSpPr/>
          <p:nvPr/>
        </p:nvSpPr>
        <p:spPr>
          <a:xfrm>
            <a:off x="731520" y="3118104"/>
            <a:ext cx="9601200" cy="937259"/>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118104"/>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m:t>
                            </m:r>
                          </m:sup>
                        </m:sSup>
                        <m:r>
                          <a:rPr lang="vi-VN" sz="2400" b="1">
                            <a:solidFill>
                              <a:srgbClr val="991B1B"/>
                            </a:solidFill>
                            <a:latin typeface="Cambria Math" panose="02040503050406030204" pitchFamily="18" charset="0"/>
                          </a:rPr>
                          <m:t>)</m:t>
                        </m:r>
                      </m:num>
                      <m:den>
                        <m:r>
                          <a:rPr lang="vi-VN" sz="2400" b="1">
                            <a:solidFill>
                              <a:srgbClr val="991B1B"/>
                            </a:solidFill>
                            <a:latin typeface="Cambria Math" panose="02040503050406030204" pitchFamily="18" charset="0"/>
                          </a:rPr>
                          <m:t>1−q</m:t>
                        </m:r>
                      </m:den>
                    </m:f>
                  </m:oMath>
                </a14:m>
                <a:r>
                  <a:rPr sz="2400" b="1">
                    <a:solidFill>
                      <a:srgbClr val="991B1B"/>
                    </a:solidFill>
                    <a:latin typeface="Calibri"/>
                  </a:rPr>
                  <a:t> </a:t>
                </a:r>
                <a14:m>
                  <m:oMath xmlns:m="http://schemas.openxmlformats.org/officeDocument/2006/math">
                    <m:d>
                      <m:dPr>
                        <m:sepChr m:val="≠"/>
                      </m:dPr>
                      <m:e>
                        <m:r>
                          <a:rPr lang="vi-VN" sz="2400" b="1">
                            <a:solidFill>
                              <a:srgbClr val="991B1B"/>
                            </a:solidFill>
                            <a:latin typeface="Cambria Math" panose="02040503050406030204" pitchFamily="18" charset="0"/>
                          </a:rPr>
                          <m:t>q</m:t>
                        </m:r>
                      </m:e>
                      <m:e>
                        <m:r>
                          <a:rPr lang="vi-VN" sz="2400" b="1">
                            <a:solidFill>
                              <a:srgbClr val="991B1B"/>
                            </a:solidFill>
                            <a:latin typeface="Cambria Math" panose="02040503050406030204" pitchFamily="18" charset="0"/>
                          </a:rPr>
                          <m:t>1</m:t>
                        </m:r>
                      </m:e>
                    </m:d>
                  </m:oMath>
                </a14:m>
              </a:p>
            </p:txBody>
          </p:sp>
        </mc:Choice>
        <mc:Fallback>
          <p:sp>
            <p:nvSpPr>
              <p:cNvPr id="9" name="TextBox 8"/>
              <p:cNvSpPr txBox="1"/>
              <p:nvPr/>
            </p:nvSpPr>
            <p:spPr>
              <a:xfrm>
                <a:off x="914400" y="3118104"/>
                <a:ext cx="9235440" cy="937259"/>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S_n=\frac{u_1(1-q^n)}{1-q}</a:t>
                </a:r>
                <a:r>
                  <a:rPr sz="2400" b="1">
                    <a:solidFill>
                      <a:srgbClr val="991B1B"/>
                    </a:solidFill>
                    <a:latin typeface="Calibri"/>
                  </a:rPr>
                  <a:t> </a:t>
                </a:r>
                <a:r>
                  <a:rPr lang="vi-VN"/>
                  <a:t>(q\ne 1)</a:t>
                </a: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582351" y="457200"/>
            <a:ext cx="1060704"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GHI NHỚ</a:t>
            </a:r>
          </a:p>
        </p:txBody>
      </p:sp>
      <p:sp>
        <p:nvSpPr>
          <p:cNvPr id="4" name="TextBox 3"/>
          <p:cNvSpPr txBox="1"/>
          <p:nvPr/>
        </p:nvSpPr>
        <p:spPr>
          <a:xfrm>
            <a:off x="731520" y="274320"/>
            <a:ext cx="9912096" cy="868680"/>
          </a:xfrm>
          <a:prstGeom prst="rect">
            <a:avLst/>
          </a:prstGeom>
          <a:noFill/>
        </p:spPr>
        <p:txBody>
          <a:bodyPr wrap="square" anchor="ctr">
            <a:spAutoFit/>
          </a:bodyPr>
          <a:lstStyle/>
          <a:p>
            <a:r>
              <a:rPr sz="3600" b="1">
                <a:solidFill>
                  <a:srgbClr val="1E40AF"/>
                </a:solidFill>
                <a:latin typeface="Arial"/>
              </a:rPr>
              <a:t>TỔNG n SỐ HẠNG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31</a:t>
            </a:r>
          </a:p>
        </p:txBody>
      </p:sp>
      <p:sp>
        <p:nvSpPr>
          <p:cNvPr id="7" name="Rounded Rectangle 6"/>
          <p:cNvSpPr/>
          <p:nvPr/>
        </p:nvSpPr>
        <p:spPr>
          <a:xfrm>
            <a:off x="731520" y="1463040"/>
            <a:ext cx="9601200" cy="139446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914400" y="1463040"/>
                <a:ext cx="9235440" cy="139446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Cho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e>
                    </m:d>
                  </m:oMath>
                </a14:m>
                <a:r>
                  <a:rPr sz="2400" b="1">
                    <a:solidFill>
                      <a:srgbClr val="991B1B"/>
                    </a:solidFill>
                    <a:latin typeface="Calibri"/>
                  </a:rPr>
                  <a:t> với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991B1B"/>
                        </a:solidFill>
                        <a:latin typeface="Cambria Math" panose="02040503050406030204" pitchFamily="18" charset="0"/>
                      </a:rPr>
                      <m:t>q≠1</m:t>
                    </m:r>
                  </m:oMath>
                </a14:m>
                <a:r>
                  <a:rPr sz="2400" b="1">
                    <a:solidFill>
                      <a:srgbClr val="991B1B"/>
                    </a:solidFill>
                    <a:latin typeface="Calibri"/>
                  </a:rPr>
                  <a:t>. Đặt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2</m:t>
                        </m:r>
                      </m:sub>
                    </m:sSub>
                    <m:r>
                      <a:rPr lang="vi-VN" sz="2400" b="1">
                        <a:solidFill>
                          <a:srgbClr val="991B1B"/>
                        </a:solidFill>
                        <a:latin typeface="Cambria Math" panose="02040503050406030204" pitchFamily="18" charset="0"/>
                      </a:rPr>
                      <m:t>+…+</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n</m:t>
                        </m:r>
                      </m:sub>
                    </m:sSub>
                  </m:oMath>
                </a14:m>
                <a:r>
                  <a:rPr sz="2400" b="1">
                    <a:solidFill>
                      <a:srgbClr val="991B1B"/>
                    </a:solidFill>
                    <a:latin typeface="Calibri"/>
                  </a:rPr>
                  <a:t>. Khi đó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m:t>
                    </m:r>
                    <m:f>
                      <m:fPr>
                        <m:type m:val="bar"/>
                      </m:fPr>
                      <m:num>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r>
                          <a:rPr lang="vi-VN" sz="2400" b="1">
                            <a:solidFill>
                              <a:srgbClr val="991B1B"/>
                            </a:solidFill>
                            <a:latin typeface="Cambria Math" panose="02040503050406030204" pitchFamily="18" charset="0"/>
                          </a:rPr>
                          <m:t>(1−</m:t>
                        </m:r>
                        <m:sSup>
                          <m:e>
                            <m:r>
                              <a:rPr lang="vi-VN" sz="2400" b="1">
                                <a:solidFill>
                                  <a:srgbClr val="991B1B"/>
                                </a:solidFill>
                                <a:latin typeface="Cambria Math" panose="02040503050406030204" pitchFamily="18" charset="0"/>
                              </a:rPr>
                              <m:t>q</m:t>
                            </m:r>
                          </m:e>
                          <m:sup>
                            <m:r>
                              <a:rPr lang="vi-VN" sz="2400" b="1">
                                <a:solidFill>
                                  <a:srgbClr val="991B1B"/>
                                </a:solidFill>
                                <a:latin typeface="Cambria Math" panose="02040503050406030204" pitchFamily="18" charset="0"/>
                              </a:rPr>
                              <m:t>n</m:t>
                            </m:r>
                          </m:sup>
                        </m:sSup>
                        <m:r>
                          <a:rPr lang="vi-VN" sz="2400" b="1">
                            <a:solidFill>
                              <a:srgbClr val="991B1B"/>
                            </a:solidFill>
                            <a:latin typeface="Cambria Math" panose="02040503050406030204" pitchFamily="18" charset="0"/>
                          </a:rPr>
                          <m:t>)</m:t>
                        </m:r>
                      </m:num>
                      <m:den>
                        <m:r>
                          <a:rPr lang="vi-VN" sz="2400" b="1">
                            <a:solidFill>
                              <a:srgbClr val="991B1B"/>
                            </a:solidFill>
                            <a:latin typeface="Cambria Math" panose="02040503050406030204" pitchFamily="18" charset="0"/>
                          </a:rPr>
                          <m:t>1−q</m:t>
                        </m:r>
                      </m:den>
                    </m:f>
                  </m:oMath>
                </a14:m>
                <a:r>
                  <a:rPr sz="2400" b="1">
                    <a:solidFill>
                      <a:srgbClr val="991B1B"/>
                    </a:solidFill>
                    <a:latin typeface="Calibri"/>
                  </a:rPr>
                  <a:t>.</a:t>
                </a:r>
              </a:p>
            </p:txBody>
          </p:sp>
        </mc:Choice>
        <mc:Fallback>
          <p:sp>
            <p:nvSpPr>
              <p:cNvPr id="8" name="TextBox 7"/>
              <p:cNvSpPr txBox="1"/>
              <p:nvPr/>
            </p:nvSpPr>
            <p:spPr>
              <a:xfrm>
                <a:off x="914400" y="1463040"/>
                <a:ext cx="9235440" cy="139446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Cho cấp số nhân </a:t>
                </a:r>
                <a:r>
                  <a:rPr lang="vi-VN"/>
                  <a:t>(u_n)</a:t>
                </a:r>
                <a:r>
                  <a:rPr sz="2400" b="1">
                    <a:solidFill>
                      <a:srgbClr val="991B1B"/>
                    </a:solidFill>
                    <a:latin typeface="Calibri"/>
                  </a:rPr>
                  <a:t> với công bội </a:t>
                </a:r>
                <a:r>
                  <a:rPr lang="vi-VN"/>
                  <a:t>q≠1</a:t>
                </a:r>
                <a:r>
                  <a:rPr sz="2400" b="1">
                    <a:solidFill>
                      <a:srgbClr val="991B1B"/>
                    </a:solidFill>
                    <a:latin typeface="Calibri"/>
                  </a:rPr>
                  <a:t>. Đặt </a:t>
                </a:r>
                <a:r>
                  <a:rPr lang="vi-VN"/>
                  <a:t>S_n=u_1+u_2+…+u_n</a:t>
                </a:r>
                <a:r>
                  <a:rPr sz="2400" b="1">
                    <a:solidFill>
                      <a:srgbClr val="991B1B"/>
                    </a:solidFill>
                    <a:latin typeface="Calibri"/>
                  </a:rPr>
                  <a:t>. Khi đó </a:t>
                </a:r>
                <a:r>
                  <a:rPr lang="vi-VN"/>
                  <a:t>S_n=(u_1(1−q^n))/(1−q)</a:t>
                </a:r>
                <a:r>
                  <a:rPr sz="2400" b="1">
                    <a:solidFill>
                      <a:srgbClr val="991B1B"/>
                    </a:solidFill>
                    <a:latin typeface="Calibri"/>
                  </a:rPr>
                  <a:t>.</a:t>
                </a: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CÂU HỎI: q =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Nếu cấp số nhân có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q=1</m:t>
                    </m:r>
                  </m:oMath>
                </a14:m>
                <a:r>
                  <a:rPr sz="2400">
                    <a:solidFill>
                      <a:srgbClr val="1E293B"/>
                    </a:solidFill>
                    <a:latin typeface="Calibri"/>
                  </a:rPr>
                  <a:t> thì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m:t>
                    </m:r>
                  </m:oMath>
                </a14:m>
                <a:r>
                  <a:rPr sz="2400">
                    <a:solidFill>
                      <a:srgbClr val="1E293B"/>
                    </a:solidFill>
                    <a:latin typeface="Calibri"/>
                  </a:rPr>
                  <a:t> số hạng đầu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của nó bằng bao nhiêu?</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a:spcAft>
                    <a:spcPts val="800"/>
                  </a:spcAft>
                </a:pPr>
                <a:r>
                  <a:rPr sz="2400">
                    <a:solidFill>
                      <a:srgbClr val="1E293B"/>
                    </a:solidFill>
                    <a:latin typeface="Calibri"/>
                  </a:rPr>
                  <a:t>Nếu cấp số nhân có công bội </a:t>
                </a:r>
                <a:r>
                  <a:rPr lang="vi-VN"/>
                  <a:t>q=1</a:t>
                </a:r>
                <a:r>
                  <a:rPr sz="2400">
                    <a:solidFill>
                      <a:srgbClr val="1E293B"/>
                    </a:solidFill>
                    <a:latin typeface="Calibri"/>
                  </a:rPr>
                  <a:t> thì tổng </a:t>
                </a:r>
                <a:r>
                  <a:rPr lang="vi-VN"/>
                  <a:t>n</a:t>
                </a:r>
                <a:r>
                  <a:rPr sz="2400">
                    <a:solidFill>
                      <a:srgbClr val="1E293B"/>
                    </a:solidFill>
                    <a:latin typeface="Calibri"/>
                  </a:rPr>
                  <a:t> số hạng đầu </a:t>
                </a:r>
                <a:r>
                  <a:rPr lang="vi-VN"/>
                  <a:t>S_n</a:t>
                </a:r>
                <a:r>
                  <a:rPr sz="2400">
                    <a:solidFill>
                      <a:srgbClr val="1E293B"/>
                    </a:solidFill>
                    <a:latin typeface="Calibri"/>
                  </a:rPr>
                  <a:t> của nó bằng bao nhiêu?</a:t>
                </a: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CÂU HỎI: q =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q=1</m:t>
                    </m:r>
                  </m:oMath>
                </a14:m>
                <a:r>
                  <a:rPr sz="2400">
                    <a:solidFill>
                      <a:srgbClr val="1E293B"/>
                    </a:solidFill>
                    <a:latin typeface="Calibri"/>
                  </a:rPr>
                  <a:t>: mọi số hạng bằng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(n số hạng)</a:t>
                </a:r>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q=1</a:t>
                </a:r>
                <a:r>
                  <a:rPr sz="2400">
                    <a:solidFill>
                      <a:srgbClr val="1E293B"/>
                    </a:solidFill>
                    <a:latin typeface="Calibri"/>
                  </a:rPr>
                  <a:t>: mọi số hạng bằng </a:t>
                </a:r>
                <a:r>
                  <a:rPr lang="vi-VN"/>
                  <a:t>u_1</a:t>
                </a:r>
              </a:p>
              <a:p>
                <a:pPr algn="l" marL="365760" indent="-365760">
                  <a:spcAft>
                    <a:spcPts val="800"/>
                  </a:spcAft>
                  <a:buClr>
                    <a:srgbClr val="1E40AF"/>
                  </a:buClr>
                  <a:buFont typeface="Arial"/>
                  <a:buChar char="•"/>
                </a:pPr>
                <a:r>
                  <a:rPr lang="vi-VN"/>
                  <a:t>S_n=u_1+u_1+\ldots+u_1</a:t>
                </a:r>
                <a:r>
                  <a:rPr sz="2400">
                    <a:solidFill>
                      <a:srgbClr val="1E293B"/>
                    </a:solidFill>
                    <a:latin typeface="Calibri"/>
                  </a:rPr>
                  <a:t> (n số hạng)</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S</m:t>
                        </m:r>
                      </m:e>
                      <m:sub>
                        <m:r>
                          <a:rPr lang="vi-VN" sz="2400" b="1">
                            <a:solidFill>
                              <a:srgbClr val="991B1B"/>
                            </a:solidFill>
                            <a:latin typeface="Cambria Math" panose="02040503050406030204" pitchFamily="18" charset="0"/>
                          </a:rPr>
                          <m:t>n</m:t>
                        </m:r>
                      </m:sub>
                    </m:sSub>
                    <m:r>
                      <a:rPr lang="vi-VN" sz="2400" b="1">
                        <a:solidFill>
                          <a:srgbClr val="991B1B"/>
                        </a:solidFill>
                        <a:latin typeface="Cambria Math" panose="02040503050406030204" pitchFamily="18" charset="0"/>
                      </a:rPr>
                      <m:t>=n·</m:t>
                    </m:r>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1</m:t>
                        </m:r>
                      </m:sub>
                    </m:sSub>
                  </m:oMath>
                </a14:m>
              </a:p>
            </p:txBody>
          </p:sp>
        </mc:Choice>
        <mc:Fallback>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S_n=n\cdot u_1</a:t>
                </a: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5: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34</a:t>
            </a:r>
          </a:p>
        </p:txBody>
      </p:sp>
      <p:sp>
        <p:nvSpPr>
          <p:cNvPr id="7" name="TextBox 6"/>
          <p:cNvSpPr txBox="1"/>
          <p:nvPr/>
        </p:nvSpPr>
        <p:spPr>
          <a:xfrm>
            <a:off x="731520" y="1463040"/>
            <a:ext cx="10789920" cy="2200655"/>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công ty tuyển một chuyên gia về công nghệ thông tin với mức lương năm đầu là 240 triệu đồng và cam kết sẽ tăng thêm 5% lương mỗi năm so với năm liền trước đó. Tính tổng số lương mà chuyên gia đó nhận được sau khi làm việc cho công ty 10 năm (làm tròn đến triệu đồng).</a:t>
            </a:r>
          </a:p>
          <a:p>
            <a:pPr algn="l">
              <a:spcAft>
                <a:spcPts val="800"/>
              </a:spcAft>
            </a:pPr>
            <a:r>
              <a:rPr sz="2400" b="1">
                <a:solidFill>
                  <a:srgbClr val="1E40AF"/>
                </a:solidFill>
                <a:latin typeface="Calibri"/>
              </a:rPr>
              <a:t>Gợi mở: Lương các năm lập thành dãy số gì? Công bội bằng bao nhiêu?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5: GIẢI BÀI TOÁN MỞ ĐẦU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Lương năm 1, 2, 3: 240; 252; 264,6 – gấp 1,05 lần năm trước</a:t>
                </a:r>
              </a:p>
              <a:p>
                <a:pPr algn="l" marL="365760" indent="-365760">
                  <a:spcAft>
                    <a:spcPts val="800"/>
                  </a:spcAft>
                  <a:buClr>
                    <a:srgbClr val="1E40AF"/>
                  </a:buClr>
                  <a:buFont typeface="Arial"/>
                  <a:buChar char="•"/>
                </a:pPr>
                <a:r>
                  <a:rPr sz="2400">
                    <a:solidFill>
                      <a:srgbClr val="1E293B"/>
                    </a:solidFill>
                    <a:latin typeface="Calibri"/>
                  </a:rPr>
                  <a:t>Cấp số nhân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=240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05</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1−q</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240[1−(1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05</m:t>
                        </m:r>
                        <m:sSup>
                          <m:e>
                            <m:r>
                              <a:rPr lang="vi-VN" sz="2400" b="0">
                                <a:solidFill>
                                  <a:srgbClr val="1E293B"/>
                                </a:solidFill>
                                <a:latin typeface="Cambria Math" panose="02040503050406030204" pitchFamily="18" charset="0"/>
                              </a:rPr>
                              <m:t>)</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05</m:t>
                        </m:r>
                      </m:den>
                    </m:f>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019</m:t>
                    </m:r>
                  </m:oMath>
                </a14:m>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Lương năm 1, 2, 3: 240; 252; 264,6 – gấp 1,05 lần năm trước</a:t>
                </a:r>
              </a:p>
              <a:p>
                <a:pPr algn="l" marL="365760" indent="-365760">
                  <a:spcAft>
                    <a:spcPts val="800"/>
                  </a:spcAft>
                  <a:buClr>
                    <a:srgbClr val="1E40AF"/>
                  </a:buClr>
                  <a:buFont typeface="Arial"/>
                  <a:buChar char="•"/>
                </a:pPr>
                <a:r>
                  <a:rPr sz="2400">
                    <a:solidFill>
                      <a:srgbClr val="1E293B"/>
                    </a:solidFill>
                    <a:latin typeface="Calibri"/>
                  </a:rPr>
                  <a:t>Cấp số nhân </a:t>
                </a:r>
                <a:r>
                  <a:rPr lang="vi-VN"/>
                  <a:t>u_1=240</a:t>
                </a:r>
                <a:r>
                  <a:rPr sz="2400">
                    <a:solidFill>
                      <a:srgbClr val="1E293B"/>
                    </a:solidFill>
                    <a:latin typeface="Calibri"/>
                  </a:rPr>
                  <a:t>, </a:t>
                </a:r>
                <a:r>
                  <a:rPr lang="vi-VN"/>
                  <a:t>q=1{,}05</a:t>
                </a:r>
                <a:r>
                  <a:rPr sz="2400">
                    <a:solidFill>
                      <a:srgbClr val="1E293B"/>
                    </a:solidFill>
                    <a:latin typeface="Calibri"/>
                  </a:rPr>
                  <a:t>, </a:t>
                </a:r>
                <a:r>
                  <a:rPr lang="vi-VN"/>
                  <a:t>n=10</a:t>
                </a:r>
              </a:p>
              <a:p>
                <a:pPr algn="l" marL="365760" indent="-365760">
                  <a:spcAft>
                    <a:spcPts val="800"/>
                  </a:spcAft>
                  <a:buClr>
                    <a:srgbClr val="1E40AF"/>
                  </a:buClr>
                  <a:buFont typeface="Arial"/>
                  <a:buChar char="•"/>
                </a:pPr>
                <a:r>
                  <a:rPr lang="vi-VN"/>
                  <a:t>S_{10}=\frac{u_1(1-q^{10})}{1-q}=\frac{240[1-(1{,}05)^{10}]}{1-1{,}05}\approx 3\,019</a:t>
                </a:r>
              </a:p>
            </p:txBody>
          </p:sp>
        </mc:Fallback>
      </mc:AlternateContent>
      <p:sp>
        <p:nvSpPr>
          <p:cNvPr id="8" name="Rounded Rectangle 7"/>
          <p:cNvSpPr/>
          <p:nvPr/>
        </p:nvSpPr>
        <p:spPr>
          <a:xfrm>
            <a:off x="731520" y="3474719"/>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Tổng lương 10 năm ≈ 3 019 triệu đồng (≈ 3,019 tỉ đồng)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VÍ DỤ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Cần lấy tổng của bao nhiêu số hạng đầu của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oMath>
                </a14:m>
                <a:r>
                  <a:rPr sz="2400">
                    <a:solidFill>
                      <a:srgbClr val="1E293B"/>
                    </a:solidFill>
                    <a:latin typeface="Calibri"/>
                  </a:rPr>
                  <a:t> để được kết quả bằng 728?</a:t>
                </a:r>
              </a:p>
              <a:p>
                <a:pPr algn="l">
                  <a:spcAft>
                    <a:spcPts val="800"/>
                  </a:spcAft>
                </a:pPr>
                <a:r>
                  <a:rPr sz="2400" b="1">
                    <a:solidFill>
                      <a:srgbClr val="1E40AF"/>
                    </a:solidFill>
                    <a:latin typeface="Calibri"/>
                  </a:rPr>
                  <a:t>Gợi mở: Đưa về </a:t>
                </a:r>
                <a14:m>
                  <m:oMath xmlns:m="http://schemas.openxmlformats.org/officeDocument/2006/math">
                    <m:sSup>
                      <m:e>
                        <m:r>
                          <a:rPr lang="vi-VN" sz="2400" b="1">
                            <a:solidFill>
                              <a:srgbClr val="1E40AF"/>
                            </a:solidFill>
                            <a:latin typeface="Cambria Math" panose="02040503050406030204" pitchFamily="18" charset="0"/>
                          </a:rPr>
                          <m:t>3</m:t>
                        </m:r>
                      </m:e>
                      <m:sup>
                        <m:r>
                          <a:rPr lang="vi-VN" sz="2400" b="1">
                            <a:solidFill>
                              <a:srgbClr val="1E40AF"/>
                            </a:solidFill>
                            <a:latin typeface="Cambria Math" panose="02040503050406030204" pitchFamily="18" charset="0"/>
                          </a:rPr>
                          <m:t>n</m:t>
                        </m:r>
                      </m:sup>
                    </m:sSup>
                  </m:oMath>
                </a14:m>
                <a:r>
                  <a:rPr sz="2400" b="1">
                    <a:solidFill>
                      <a:srgbClr val="1E40AF"/>
                    </a:solidFill>
                    <a:latin typeface="Calibri"/>
                  </a:rPr>
                  <a:t> bằng một số đã biết</a:t>
                </a:r>
              </a:p>
            </p:txBody>
          </p:sp>
        </mc:Choice>
        <mc:Fallback>
          <p:sp>
            <p:nvSpPr>
              <p:cNvPr id="7" name="TextBox 6"/>
              <p:cNvSpPr txBox="1"/>
              <p:nvPr/>
            </p:nvSpPr>
            <p:spPr>
              <a:xfrm>
                <a:off x="731520" y="1463040"/>
                <a:ext cx="10789920" cy="1408176"/>
              </a:xfrm>
              <a:prstGeom prst="rect">
                <a:avLst/>
              </a:prstGeom>
              <a:noFill/>
            </p:spPr>
            <p:txBody>
              <a:bodyPr wrap="square" anchor="t" lIns="45720" rIns="45720">
                <a:spAutoFit/>
              </a:bodyPr>
              <a:lstStyle/>
              <a:p>
                <a:pPr algn="l">
                  <a:spcAft>
                    <a:spcPts val="800"/>
                  </a:spcAft>
                </a:pPr>
                <a:r>
                  <a:rPr sz="2400">
                    <a:solidFill>
                      <a:srgbClr val="1E293B"/>
                    </a:solidFill>
                    <a:latin typeface="Calibri"/>
                  </a:rPr>
                  <a:t>Cần lấy tổng của bao nhiêu số hạng đầu của cấp số nhân </a:t>
                </a:r>
                <a:r>
                  <a:rPr lang="vi-VN"/>
                  <a:t>2, 6, 18, …</a:t>
                </a:r>
                <a:r>
                  <a:rPr sz="2400">
                    <a:solidFill>
                      <a:srgbClr val="1E293B"/>
                    </a:solidFill>
                    <a:latin typeface="Calibri"/>
                  </a:rPr>
                  <a:t> để được kết quả bằng 728?</a:t>
                </a:r>
              </a:p>
              <a:p>
                <a:pPr algn="l">
                  <a:spcAft>
                    <a:spcPts val="800"/>
                  </a:spcAft>
                </a:pPr>
                <a:r>
                  <a:rPr sz="2400" b="1">
                    <a:solidFill>
                      <a:srgbClr val="1E40AF"/>
                    </a:solidFill>
                    <a:latin typeface="Calibri"/>
                  </a:rPr>
                  <a:t>Gợi mở: Đưa về </a:t>
                </a:r>
                <a:r>
                  <a:rPr lang="vi-VN"/>
                  <a:t>3^n</a:t>
                </a:r>
                <a:r>
                  <a:rPr sz="2400" b="1">
                    <a:solidFill>
                      <a:srgbClr val="1E40AF"/>
                    </a:solidFill>
                    <a:latin typeface="Calibri"/>
                  </a:rPr>
                  <a:t> bằng một số đã biết</a:t>
                </a: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VÍ DỤ 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=2</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q=3</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728=</m:t>
                    </m:r>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2(1−</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1−3</m:t>
                        </m:r>
                      </m:den>
                    </m:f>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=729=</m:t>
                    </m:r>
                    <m:sSup>
                      <m:e>
                        <m:r>
                          <a:rPr lang="vi-VN" sz="2400" b="0">
                            <a:solidFill>
                              <a:srgbClr val="1E293B"/>
                            </a:solidFill>
                            <a:latin typeface="Cambria Math" panose="02040503050406030204" pitchFamily="18" charset="0"/>
                          </a:rPr>
                          <m:t>3</m:t>
                        </m:r>
                      </m:e>
                      <m:sup>
                        <m:r>
                          <a:rPr lang="vi-VN" sz="2400" b="0">
                            <a:solidFill>
                              <a:srgbClr val="1E293B"/>
                            </a:solidFill>
                            <a:latin typeface="Cambria Math" panose="02040503050406030204" pitchFamily="18" charset="0"/>
                          </a:rPr>
                          <m:t>6</m:t>
                        </m:r>
                      </m:sup>
                    </m:sSup>
                    <m:r>
                      <a:rPr lang="vi-VN" sz="2400" b="0">
                        <a:solidFill>
                          <a:srgbClr val="1E293B"/>
                        </a:solidFill>
                        <a:latin typeface="Cambria Math" panose="02040503050406030204" pitchFamily="18" charset="0"/>
                      </a:rPr>
                      <m:t>⇔n=6</m:t>
                    </m:r>
                  </m:oMath>
                </a14:m>
              </a:p>
            </p:txBody>
          </p:sp>
        </mc:Choice>
        <mc:Fallback>
          <p:sp>
            <p:nvSpPr>
              <p:cNvPr id="7" name="TextBox 6"/>
              <p:cNvSpPr txBox="1"/>
              <p:nvPr/>
            </p:nvSpPr>
            <p:spPr>
              <a:xfrm>
                <a:off x="731520" y="1463040"/>
                <a:ext cx="10789920" cy="169621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u_1=2</a:t>
                </a:r>
                <a:r>
                  <a:rPr sz="2400">
                    <a:solidFill>
                      <a:srgbClr val="1E293B"/>
                    </a:solidFill>
                    <a:latin typeface="Calibri"/>
                  </a:rPr>
                  <a:t>, </a:t>
                </a:r>
                <a:r>
                  <a:rPr lang="vi-VN"/>
                  <a:t>q=3</a:t>
                </a:r>
              </a:p>
              <a:p>
                <a:pPr algn="l" marL="365760" indent="-365760">
                  <a:spcAft>
                    <a:spcPts val="800"/>
                  </a:spcAft>
                  <a:buClr>
                    <a:srgbClr val="1E40AF"/>
                  </a:buClr>
                  <a:buFont typeface="Arial"/>
                  <a:buChar char="•"/>
                </a:pPr>
                <a:r>
                  <a:rPr lang="vi-VN"/>
                  <a:t>728=S_n=\frac{2(1-3^n)}{1-3}=3^n-1</a:t>
                </a:r>
              </a:p>
              <a:p>
                <a:pPr algn="l" marL="365760" indent="-365760">
                  <a:spcAft>
                    <a:spcPts val="800"/>
                  </a:spcAft>
                  <a:buClr>
                    <a:srgbClr val="1E40AF"/>
                  </a:buClr>
                  <a:buFont typeface="Arial"/>
                  <a:buChar char="•"/>
                </a:pPr>
                <a:r>
                  <a:rPr lang="vi-VN"/>
                  <a:t>\Leftrightarrow 3^n=729=3^6\Leftrightarrow n=6</a:t>
                </a:r>
              </a:p>
            </p:txBody>
          </p:sp>
        </mc:Fallback>
      </mc:AlternateContent>
      <p:sp>
        <p:nvSpPr>
          <p:cNvPr id="8" name="Rounded Rectangle 7"/>
          <p:cNvSpPr/>
          <p:nvPr/>
        </p:nvSpPr>
        <p:spPr>
          <a:xfrm>
            <a:off x="731520" y="3296412"/>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96412"/>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Lấy tổng 6 số hạng đầu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LUYỆN TẬP</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Phiếu học tập số 2 – Bài tập 2.15 – 2.21 (SGK tr.55)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39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74535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Xác định công bội, số hạng thứ 5, số hạng tổng quát và số hạng thứ 100 của mỗi cấp số nhân sau:</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4,</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16,</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8</m:t>
                        </m:r>
                      </m:den>
                    </m:f>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m:t>
                    </m:r>
                  </m:oMath>
                </a14:m>
              </a:p>
              <a:p>
                <a:pPr algn="l">
                  <a:spcAft>
                    <a:spcPts val="800"/>
                  </a:spcAft>
                </a:pPr>
                <a:r>
                  <a:rPr sz="2200" b="1">
                    <a:solidFill>
                      <a:srgbClr val="1E40AF"/>
                    </a:solidFill>
                    <a:latin typeface="Calibri"/>
                  </a:rPr>
                  <a:t>Gợi mở: Công bội </a:t>
                </a:r>
                <a14:m>
                  <m:oMath xmlns:m="http://schemas.openxmlformats.org/officeDocument/2006/math">
                    <m:r>
                      <a:rPr lang="vi-VN" sz="2200" b="1">
                        <a:solidFill>
                          <a:srgbClr val="1E40AF"/>
                        </a:solidFill>
                        <a:latin typeface="Cambria Math" panose="02040503050406030204" pitchFamily="18" charset="0"/>
                      </a:rPr>
                      <m:t>q=</m:t>
                    </m:r>
                    <m:f>
                      <m:fPr>
                        <m:type m:val="bar"/>
                      </m:fPr>
                      <m:num>
                        <m:sSub>
                          <m:e>
                            <m:r>
                              <a:rPr lang="vi-VN" sz="2200" b="1">
                                <a:solidFill>
                                  <a:srgbClr val="1E40AF"/>
                                </a:solidFill>
                                <a:latin typeface="Cambria Math" panose="02040503050406030204" pitchFamily="18" charset="0"/>
                              </a:rPr>
                              <m:t>u</m:t>
                            </m:r>
                          </m:e>
                          <m:sub>
                            <m:r>
                              <a:rPr lang="vi-VN" sz="2200" b="1">
                                <a:solidFill>
                                  <a:srgbClr val="1E40AF"/>
                                </a:solidFill>
                                <a:latin typeface="Cambria Math" panose="02040503050406030204" pitchFamily="18" charset="0"/>
                              </a:rPr>
                              <m:t>2</m:t>
                            </m:r>
                          </m:sub>
                        </m:sSub>
                      </m:num>
                      <m:den>
                        <m:sSub>
                          <m:e>
                            <m:r>
                              <a:rPr lang="vi-VN" sz="2200" b="1">
                                <a:solidFill>
                                  <a:srgbClr val="1E40AF"/>
                                </a:solidFill>
                                <a:latin typeface="Cambria Math" panose="02040503050406030204" pitchFamily="18" charset="0"/>
                              </a:rPr>
                              <m:t>u</m:t>
                            </m:r>
                          </m:e>
                          <m:sub>
                            <m:r>
                              <a:rPr lang="vi-VN" sz="2200" b="1">
                                <a:solidFill>
                                  <a:srgbClr val="1E40AF"/>
                                </a:solidFill>
                                <a:latin typeface="Cambria Math" panose="02040503050406030204" pitchFamily="18" charset="0"/>
                              </a:rPr>
                              <m:t>1</m:t>
                            </m:r>
                          </m:sub>
                        </m:sSub>
                      </m:den>
                    </m:f>
                  </m:oMath>
                </a14:m>
              </a:p>
            </p:txBody>
          </p:sp>
        </mc:Choice>
        <mc:Fallback>
          <p:sp>
            <p:nvSpPr>
              <p:cNvPr id="7" name="TextBox 6"/>
              <p:cNvSpPr txBox="1"/>
              <p:nvPr/>
            </p:nvSpPr>
            <p:spPr>
              <a:xfrm>
                <a:off x="731520" y="1463040"/>
                <a:ext cx="10789920" cy="274535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Xác định công bội, số hạng thứ 5, số hạng tổng quát và số hạng thứ 100 của mỗi cấp số nhân sau:</a:t>
                </a:r>
              </a:p>
              <a:p>
                <a:pPr algn="l" marL="365760" indent="-365760">
                  <a:spcAft>
                    <a:spcPts val="800"/>
                  </a:spcAft>
                  <a:buClr>
                    <a:srgbClr val="1E40AF"/>
                  </a:buClr>
                  <a:buFont typeface="Arial"/>
                  <a:buChar char="•"/>
                </a:pPr>
                <a:r>
                  <a:rPr sz="2200">
                    <a:solidFill>
                      <a:srgbClr val="1E293B"/>
                    </a:solidFill>
                    <a:latin typeface="Calibri"/>
                  </a:rPr>
                  <a:t>a) </a:t>
                </a:r>
                <a:r>
                  <a:rPr lang="vi-VN"/>
                  <a:t>1, 4, 16, …</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2, −1/2, 1/8, …</a:t>
                </a:r>
              </a:p>
              <a:p>
                <a:pPr algn="l">
                  <a:spcAft>
                    <a:spcPts val="800"/>
                  </a:spcAft>
                </a:pPr>
                <a:r>
                  <a:rPr sz="2200" b="1">
                    <a:solidFill>
                      <a:srgbClr val="1E40AF"/>
                    </a:solidFill>
                    <a:latin typeface="Calibri"/>
                  </a:rPr>
                  <a:t>Gợi mở: Công bội </a:t>
                </a:r>
                <a:r>
                  <a:rPr lang="vi-VN"/>
                  <a:t>q=\frac{u_2}{u_1}</a:t>
                </a: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726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m:r>
                      <a:rPr lang="vi-VN" sz="2200" b="0">
                        <a:solidFill>
                          <a:srgbClr val="1E293B"/>
                        </a:solidFill>
                        <a:latin typeface="Cambria Math" panose="02040503050406030204" pitchFamily="18" charset="0"/>
                      </a:rPr>
                      <m:t>q=</m:t>
                    </m:r>
                    <m:f>
                      <m:fPr>
                        <m:type m:val="bar"/>
                      </m:fPr>
                      <m:num>
                        <m:r>
                          <a:rPr lang="vi-VN" sz="2200" b="0">
                            <a:solidFill>
                              <a:srgbClr val="1E293B"/>
                            </a:solidFill>
                            <a:latin typeface="Cambria Math" panose="02040503050406030204" pitchFamily="18" charset="0"/>
                          </a:rPr>
                          <m:t>4</m:t>
                        </m:r>
                      </m:num>
                      <m:den>
                        <m:r>
                          <a:rPr lang="vi-VN" sz="2200" b="0">
                            <a:solidFill>
                              <a:srgbClr val="1E293B"/>
                            </a:solidFill>
                            <a:latin typeface="Cambria Math" panose="02040503050406030204" pitchFamily="18" charset="0"/>
                          </a:rPr>
                          <m:t>1</m:t>
                        </m:r>
                      </m:den>
                    </m:f>
                    <m:r>
                      <a:rPr lang="vi-VN" sz="2200" b="0">
                        <a:solidFill>
                          <a:srgbClr val="1E293B"/>
                        </a:solidFill>
                        <a:latin typeface="Cambria Math" panose="02040503050406030204" pitchFamily="18" charset="0"/>
                      </a:rPr>
                      <m:t>=4</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5</m:t>
                        </m:r>
                      </m:sub>
                    </m:sSub>
                    <m:r>
                      <a:rPr lang="vi-VN" sz="2200" b="0">
                        <a:solidFill>
                          <a:srgbClr val="1E293B"/>
                        </a:solidFill>
                        <a:latin typeface="Cambria Math" panose="02040503050406030204" pitchFamily="18" charset="0"/>
                      </a:rPr>
                      <m:t>=1·</m:t>
                    </m:r>
                    <m:sSup>
                      <m:e>
                        <m:r>
                          <a:rPr lang="vi-VN" sz="2200" b="0">
                            <a:solidFill>
                              <a:srgbClr val="1E293B"/>
                            </a:solidFill>
                            <a:latin typeface="Cambria Math" panose="02040503050406030204" pitchFamily="18" charset="0"/>
                          </a:rPr>
                          <m:t>4</m:t>
                        </m:r>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=256</m:t>
                    </m:r>
                  </m:oMath>
                </a14:m>
              </a:p>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4</m:t>
                        </m:r>
                      </m:e>
                      <m:sup>
                        <m:r>
                          <a:rPr lang="vi-VN" sz="2200" b="0">
                            <a:solidFill>
                              <a:srgbClr val="1E293B"/>
                            </a:solidFill>
                            <a:latin typeface="Cambria Math" panose="02040503050406030204" pitchFamily="18" charset="0"/>
                          </a:rPr>
                          <m:t>n−1</m:t>
                        </m:r>
                      </m:sup>
                    </m:sSup>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4</m:t>
                        </m:r>
                      </m:e>
                      <m:sup>
                        <m:r>
                          <a:rPr lang="vi-VN" sz="2200" b="0">
                            <a:solidFill>
                              <a:srgbClr val="1E293B"/>
                            </a:solidFill>
                            <a:latin typeface="Cambria Math" panose="02040503050406030204" pitchFamily="18" charset="0"/>
                          </a:rPr>
                          <m:t>99</m:t>
                        </m:r>
                      </m:sup>
                    </m:sSup>
                  </m:oMath>
                </a14:m>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m:r>
                      <a:rPr lang="vi-VN" sz="2200" b="0">
                        <a:solidFill>
                          <a:srgbClr val="1E293B"/>
                        </a:solidFill>
                        <a:latin typeface="Cambria Math" panose="02040503050406030204" pitchFamily="18" charset="0"/>
                      </a:rPr>
                      <m:t>q=</m:t>
                    </m:r>
                    <m:f>
                      <m:fPr>
                        <m:type m:val="bar"/>
                      </m:fPr>
                      <m:num>
                        <m:r>
                          <a:rPr lang="vi-VN" sz="2200" b="0">
                            <a:solidFill>
                              <a:srgbClr val="1E293B"/>
                            </a:solidFill>
                            <a:latin typeface="Cambria Math" panose="02040503050406030204" pitchFamily="18" charset="0"/>
                          </a:rPr>
                          <m:t>−1/2</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5</m:t>
                        </m:r>
                      </m:sub>
                    </m:sSub>
                    <m:r>
                      <a:rPr lang="vi-VN" sz="2200" b="0">
                        <a:solidFill>
                          <a:srgbClr val="1E293B"/>
                        </a:solidFill>
                        <a:latin typeface="Cambria Math" panose="02040503050406030204" pitchFamily="18" charset="0"/>
                      </a:rPr>
                      <m:t>=2·</m:t>
                    </m:r>
                    <m:sSup>
                      <m:e>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128</m:t>
                        </m:r>
                      </m:den>
                    </m:f>
                  </m:oMath>
                </a14:m>
              </a:p>
            </p:txBody>
          </p:sp>
        </mc:Choice>
        <mc:Fallback>
          <p:sp>
            <p:nvSpPr>
              <p:cNvPr id="7" name="TextBox 6"/>
              <p:cNvSpPr txBox="1"/>
              <p:nvPr/>
            </p:nvSpPr>
            <p:spPr>
              <a:xfrm>
                <a:off x="731520" y="1463040"/>
                <a:ext cx="10789920" cy="20726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a:t>
                </a:r>
                <a:r>
                  <a:rPr lang="vi-VN"/>
                  <a:t>q=\frac{4}{1}=4</a:t>
                </a:r>
                <a:r>
                  <a:rPr sz="2200">
                    <a:solidFill>
                      <a:srgbClr val="1E293B"/>
                    </a:solidFill>
                    <a:latin typeface="Calibri"/>
                  </a:rPr>
                  <a:t>;  </a:t>
                </a:r>
                <a:r>
                  <a:rPr lang="vi-VN"/>
                  <a:t>u_5=1\cdot 4^4=256</a:t>
                </a:r>
              </a:p>
              <a:p>
                <a:pPr algn="l" marL="365760" indent="-365760">
                  <a:spcAft>
                    <a:spcPts val="800"/>
                  </a:spcAft>
                  <a:buClr>
                    <a:srgbClr val="1E40AF"/>
                  </a:buClr>
                  <a:buFont typeface="Arial"/>
                  <a:buChar char="•"/>
                </a:pPr>
                <a:r>
                  <a:rPr lang="vi-VN"/>
                  <a:t>u_n=4^{n-1}</a:t>
                </a:r>
                <a:r>
                  <a:rPr sz="2200">
                    <a:solidFill>
                      <a:srgbClr val="1E293B"/>
                    </a:solidFill>
                    <a:latin typeface="Calibri"/>
                  </a:rPr>
                  <a:t>;  </a:t>
                </a:r>
                <a:r>
                  <a:rPr lang="vi-VN"/>
                  <a:t>u_{100}=4^{99}</a:t>
                </a:r>
              </a:p>
              <a:p>
                <a:pPr algn="l" marL="365760" indent="-365760">
                  <a:spcAft>
                    <a:spcPts val="800"/>
                  </a:spcAft>
                  <a:buClr>
                    <a:srgbClr val="1E40AF"/>
                  </a:buClr>
                  <a:buFont typeface="Arial"/>
                  <a:buChar char="•"/>
                </a:pPr>
                <a:r>
                  <a:rPr sz="2200">
                    <a:solidFill>
                      <a:srgbClr val="1E293B"/>
                    </a:solidFill>
                    <a:latin typeface="Calibri"/>
                  </a:rPr>
                  <a:t>b) </a:t>
                </a:r>
                <a:r>
                  <a:rPr lang="vi-VN"/>
                  <a:t>q=\frac{-1/2}{2}=-\frac{1}{4}</a:t>
                </a:r>
                <a:r>
                  <a:rPr sz="2200">
                    <a:solidFill>
                      <a:srgbClr val="1E293B"/>
                    </a:solidFill>
                    <a:latin typeface="Calibri"/>
                  </a:rPr>
                  <a:t>;  </a:t>
                </a:r>
                <a:r>
                  <a:rPr lang="vi-VN"/>
                  <a:t>u_5=2\cdot\paren{-\frac{1}{4}}^4=\frac{1}{128}</a:t>
                </a: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2.15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6329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=2·</m:t>
                    </m:r>
                    <m:sSup>
                      <m:e>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n−1</m:t>
                        </m:r>
                      </m:sup>
                    </m:sSup>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=2·</m:t>
                    </m:r>
                    <m:sSup>
                      <m:e>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4</m:t>
                                </m:r>
                              </m:den>
                            </m:f>
                          </m:e>
                        </m:d>
                      </m:e>
                      <m:sup>
                        <m:r>
                          <a:rPr lang="vi-VN" sz="2200" b="0">
                            <a:solidFill>
                              <a:srgbClr val="1E293B"/>
                            </a:solidFill>
                            <a:latin typeface="Cambria Math" panose="02040503050406030204" pitchFamily="18" charset="0"/>
                          </a:rPr>
                          <m:t>99</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197</m:t>
                            </m:r>
                          </m:sup>
                        </m:sSup>
                      </m:den>
                    </m:f>
                  </m:oMath>
                </a14:m>
              </a:p>
            </p:txBody>
          </p:sp>
        </mc:Choice>
        <mc:Fallback>
          <p:sp>
            <p:nvSpPr>
              <p:cNvPr id="7" name="TextBox 6"/>
              <p:cNvSpPr txBox="1"/>
              <p:nvPr/>
            </p:nvSpPr>
            <p:spPr>
              <a:xfrm>
                <a:off x="731520" y="1463040"/>
                <a:ext cx="10789920" cy="96329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u_n=2\cdot\paren{-\frac{1}{4}}^{n-1}</a:t>
                </a:r>
                <a:r>
                  <a:rPr sz="2200">
                    <a:solidFill>
                      <a:srgbClr val="1E293B"/>
                    </a:solidFill>
                    <a:latin typeface="Calibri"/>
                  </a:rPr>
                  <a:t>;  </a:t>
                </a:r>
                <a:r>
                  <a:rPr lang="vi-VN"/>
                  <a:t>u_{100}=2\cdot\paren{-\frac{1}{4}}^{99}=-\frac{1}{2^{197}}</a:t>
                </a:r>
              </a:p>
            </p:txBody>
          </p:sp>
        </mc:Fallback>
      </mc:AlternateContent>
      <p:sp>
        <p:nvSpPr>
          <p:cNvPr id="8" name="Rounded Rectangle 7"/>
          <p:cNvSpPr/>
          <p:nvPr/>
        </p:nvSpPr>
        <p:spPr>
          <a:xfrm>
            <a:off x="731520" y="2563495"/>
            <a:ext cx="9601200" cy="882015"/>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63495"/>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a)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100</m:t>
                        </m:r>
                      </m:sub>
                    </m:sSub>
                    <m:r>
                      <a:rPr lang="vi-VN" sz="2200" b="1">
                        <a:solidFill>
                          <a:srgbClr val="991B1B"/>
                        </a:solidFill>
                        <a:latin typeface="Cambria Math" panose="02040503050406030204" pitchFamily="18" charset="0"/>
                      </a:rPr>
                      <m:t>=</m:t>
                    </m:r>
                    <m:sSup>
                      <m:e>
                        <m:r>
                          <a:rPr lang="vi-VN" sz="2200" b="1">
                            <a:solidFill>
                              <a:srgbClr val="991B1B"/>
                            </a:solidFill>
                            <a:latin typeface="Cambria Math" panose="02040503050406030204" pitchFamily="18" charset="0"/>
                          </a:rPr>
                          <m:t>4</m:t>
                        </m:r>
                      </m:e>
                      <m:sup>
                        <m:r>
                          <a:rPr lang="vi-VN" sz="2200" b="1">
                            <a:solidFill>
                              <a:srgbClr val="991B1B"/>
                            </a:solidFill>
                            <a:latin typeface="Cambria Math" panose="02040503050406030204" pitchFamily="18" charset="0"/>
                          </a:rPr>
                          <m:t>99</m:t>
                        </m:r>
                      </m:sup>
                    </m:sSup>
                  </m:oMath>
                </a14:m>
                <a:r>
                  <a:rPr sz="2200" b="1">
                    <a:solidFill>
                      <a:srgbClr val="991B1B"/>
                    </a:solidFill>
                    <a:latin typeface="Calibri"/>
                  </a:rPr>
                  <a:t>;   b) </a:t>
                </a:r>
                <a14:m>
                  <m:oMath xmlns:m="http://schemas.openxmlformats.org/officeDocument/2006/math">
                    <m:sSub>
                      <m:e>
                        <m:r>
                          <a:rPr lang="vi-VN" sz="2200" b="1">
                            <a:solidFill>
                              <a:srgbClr val="991B1B"/>
                            </a:solidFill>
                            <a:latin typeface="Cambria Math" panose="02040503050406030204" pitchFamily="18" charset="0"/>
                          </a:rPr>
                          <m:t>u</m:t>
                        </m:r>
                      </m:e>
                      <m:sub>
                        <m:r>
                          <a:rPr lang="vi-VN" sz="2200" b="1">
                            <a:solidFill>
                              <a:srgbClr val="991B1B"/>
                            </a:solidFill>
                            <a:latin typeface="Cambria Math" panose="02040503050406030204" pitchFamily="18" charset="0"/>
                          </a:rPr>
                          <m:t>100</m:t>
                        </m:r>
                      </m:sub>
                    </m:sSub>
                    <m:r>
                      <a:rPr lang="vi-VN" sz="2200" b="1">
                        <a:solidFill>
                          <a:srgbClr val="991B1B"/>
                        </a:solidFill>
                        <a:latin typeface="Cambria Math" panose="02040503050406030204" pitchFamily="18" charset="0"/>
                      </a:rPr>
                      <m:t>=−</m:t>
                    </m:r>
                    <m:f>
                      <m:fPr>
                        <m:type m:val="bar"/>
                      </m:fPr>
                      <m:num>
                        <m:r>
                          <a:rPr lang="vi-VN" sz="2200" b="1">
                            <a:solidFill>
                              <a:srgbClr val="991B1B"/>
                            </a:solidFill>
                            <a:latin typeface="Cambria Math" panose="02040503050406030204" pitchFamily="18" charset="0"/>
                          </a:rPr>
                          <m:t>1</m:t>
                        </m:r>
                      </m:num>
                      <m:den>
                        <m:sSup>
                          <m:e>
                            <m:r>
                              <a:rPr lang="vi-VN" sz="2200" b="1">
                                <a:solidFill>
                                  <a:srgbClr val="991B1B"/>
                                </a:solidFill>
                                <a:latin typeface="Cambria Math" panose="02040503050406030204" pitchFamily="18" charset="0"/>
                              </a:rPr>
                              <m:t>2</m:t>
                            </m:r>
                          </m:e>
                          <m:sup>
                            <m:r>
                              <a:rPr lang="vi-VN" sz="2200" b="1">
                                <a:solidFill>
                                  <a:srgbClr val="991B1B"/>
                                </a:solidFill>
                                <a:latin typeface="Cambria Math" panose="02040503050406030204" pitchFamily="18" charset="0"/>
                              </a:rPr>
                              <m:t>197</m:t>
                            </m:r>
                          </m:sup>
                        </m:sSup>
                      </m:den>
                    </m:f>
                  </m:oMath>
                </a14:m>
              </a:p>
            </p:txBody>
          </p:sp>
        </mc:Choice>
        <mc:Fallback>
          <p:sp>
            <p:nvSpPr>
              <p:cNvPr id="9" name="TextBox 8"/>
              <p:cNvSpPr txBox="1"/>
              <p:nvPr/>
            </p:nvSpPr>
            <p:spPr>
              <a:xfrm>
                <a:off x="914400" y="2563495"/>
                <a:ext cx="9235440" cy="882015"/>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a) </a:t>
                </a:r>
                <a:r>
                  <a:rPr lang="vi-VN"/>
                  <a:t>u_{100}=4^{99}</a:t>
                </a:r>
                <a:r>
                  <a:rPr sz="2200" b="1">
                    <a:solidFill>
                      <a:srgbClr val="991B1B"/>
                    </a:solidFill>
                    <a:latin typeface="Calibri"/>
                  </a:rPr>
                  <a:t>;   b) </a:t>
                </a:r>
                <a:r>
                  <a:rPr lang="vi-VN"/>
                  <a:t>u_{100}=-\frac{1}{2^{197}}</a:t>
                </a: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61823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của mỗi dãy số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sau và xem nó có phải là cấp số nhân không. Nếu nó là cấp số nhân, hãy tìm công bội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200" b="0">
                        <a:solidFill>
                          <a:srgbClr val="1E293B"/>
                        </a:solidFill>
                        <a:latin typeface="Cambria Math" panose="02040503050406030204" pitchFamily="18" charset="0"/>
                      </a:rPr>
                      <m:t>q</m:t>
                    </m:r>
                  </m:oMath>
                </a14:m>
                <a:r>
                  <a:rPr sz="2200">
                    <a:solidFill>
                      <a:srgbClr val="1E293B"/>
                    </a:solidFill>
                    <a:latin typeface="Calibri"/>
                  </a:rPr>
                  <a:t> và viết công thức số hạng tổng quát của nó dưới dạng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q</m:t>
                        </m:r>
                      </m:e>
                      <m:sup>
                        <m:r>
                          <a:rPr lang="vi-VN" sz="2200" b="0">
                            <a:solidFill>
                              <a:srgbClr val="1E293B"/>
                            </a:solidFill>
                            <a:latin typeface="Cambria Math" panose="02040503050406030204" pitchFamily="18" charset="0"/>
                          </a:rPr>
                          <m:t>n−1</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=5n</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5</m:t>
                        </m:r>
                      </m:e>
                      <m:sup>
                        <m:r>
                          <a:rPr lang="vi-VN" sz="2200" b="0">
                            <a:solidFill>
                              <a:srgbClr val="1E293B"/>
                            </a:solidFill>
                            <a:latin typeface="Cambria Math" panose="02040503050406030204" pitchFamily="18" charset="0"/>
                          </a:rPr>
                          <m:t>n</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=1</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=n</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oMath>
                </a14:m>
                <a:r>
                  <a:rPr sz="2200">
                    <a:solidFill>
                      <a:srgbClr val="1E293B"/>
                    </a:solidFill>
                    <a:latin typeface="Calibri"/>
                  </a:rPr>
                  <a:t>;</a:t>
                </a:r>
              </a:p>
            </p:txBody>
          </p:sp>
        </mc:Choice>
        <mc:Fallback>
          <p:sp>
            <p:nvSpPr>
              <p:cNvPr id="7" name="TextBox 6"/>
              <p:cNvSpPr txBox="1"/>
              <p:nvPr/>
            </p:nvSpPr>
            <p:spPr>
              <a:xfrm>
                <a:off x="731520" y="1463040"/>
                <a:ext cx="10789920" cy="2618232"/>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Viết năm số hạng đầu của mỗi dãy số </a:t>
                </a:r>
                <a:r>
                  <a:rPr lang="vi-VN"/>
                  <a:t>(u_n)</a:t>
                </a:r>
                <a:r>
                  <a:rPr sz="2200">
                    <a:solidFill>
                      <a:srgbClr val="1E293B"/>
                    </a:solidFill>
                    <a:latin typeface="Calibri"/>
                  </a:rPr>
                  <a:t> sau và xem nó có phải là cấp số nhân không. Nếu nó là cấp số nhân, hãy tìm công bội </a:t>
                </a:r>
                <a:r>
                  <a:rPr lang="vi-VN"/>
                  <a:t>q</a:t>
                </a:r>
                <a:r>
                  <a:rPr sz="2200">
                    <a:solidFill>
                      <a:srgbClr val="1E293B"/>
                    </a:solidFill>
                    <a:latin typeface="Calibri"/>
                  </a:rPr>
                  <a:t> và viết công thức số hạng tổng quát của nó dưới dạng </a:t>
                </a:r>
                <a:r>
                  <a:rPr lang="vi-VN"/>
                  <a:t>u_n=u_1·q^(n−1)</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a) </a:t>
                </a:r>
                <a:r>
                  <a:rPr lang="vi-VN"/>
                  <a:t>u_n=5n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b) </a:t>
                </a:r>
                <a:r>
                  <a:rPr lang="vi-VN"/>
                  <a:t>u_n=5^n</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c) </a:t>
                </a:r>
                <a:r>
                  <a:rPr lang="vi-VN"/>
                  <a:t>u_1=1</a:t>
                </a:r>
                <a:r>
                  <a:rPr sz="2200">
                    <a:solidFill>
                      <a:srgbClr val="1E293B"/>
                    </a:solidFill>
                    <a:latin typeface="Calibri"/>
                  </a:rPr>
                  <a:t>, </a:t>
                </a:r>
                <a:r>
                  <a:rPr lang="vi-VN"/>
                  <a:t>u_n=nu_(n−1)</a:t>
                </a:r>
                <a:r>
                  <a:rPr sz="2200">
                    <a:solidFill>
                      <a:srgbClr val="1E293B"/>
                    </a:solidFill>
                    <a:latin typeface="Calibri"/>
                  </a:rPr>
                  <a:t>;</a:t>
                </a: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2.16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=1</m:t>
                    </m:r>
                  </m:oMath>
                </a14:m>
                <a:r>
                  <a:rPr sz="22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=5</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oMath>
                </a14:m>
                <a:r>
                  <a:rPr sz="2200">
                    <a:solidFill>
                      <a:srgbClr val="1E293B"/>
                    </a:solidFill>
                    <a:latin typeface="Calibri"/>
                  </a:rPr>
                  <a:t>.</a:t>
                </a:r>
              </a:p>
              <a:p>
                <a:pPr algn="l">
                  <a:spcAft>
                    <a:spcPts val="800"/>
                  </a:spcAft>
                </a:pPr>
                <a:r>
                  <a:rPr sz="2200" b="1">
                    <a:solidFill>
                      <a:srgbClr val="1E40AF"/>
                    </a:solidFill>
                    <a:latin typeface="Calibri"/>
                  </a:rPr>
                  <a:t>Gợi mở: Viết năm số hạng, xét tỉ số hai số hạng liên tiếp</a:t>
                </a:r>
              </a:p>
            </p:txBody>
          </p:sp>
        </mc:Choice>
        <mc:Fallback>
          <p:sp>
            <p:nvSpPr>
              <p:cNvPr id="7" name="TextBox 6"/>
              <p:cNvSpPr txBox="1"/>
              <p:nvPr/>
            </p:nvSpPr>
            <p:spPr>
              <a:xfrm>
                <a:off x="731520" y="1463040"/>
                <a:ext cx="10789920" cy="94589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a:t>
                </a:r>
                <a:r>
                  <a:rPr lang="vi-VN"/>
                  <a:t>u_1=1</a:t>
                </a:r>
                <a:r>
                  <a:rPr sz="2200">
                    <a:solidFill>
                      <a:srgbClr val="1E293B"/>
                    </a:solidFill>
                    <a:latin typeface="Calibri"/>
                  </a:rPr>
                  <a:t>, </a:t>
                </a:r>
                <a:r>
                  <a:rPr lang="vi-VN"/>
                  <a:t>u_n=5u_(n−1)</a:t>
                </a:r>
                <a:r>
                  <a:rPr sz="2200">
                    <a:solidFill>
                      <a:srgbClr val="1E293B"/>
                    </a:solidFill>
                    <a:latin typeface="Calibri"/>
                  </a:rPr>
                  <a:t>.</a:t>
                </a:r>
              </a:p>
              <a:p>
                <a:pPr algn="l">
                  <a:spcAft>
                    <a:spcPts val="800"/>
                  </a:spcAft>
                </a:pPr>
                <a:r>
                  <a:rPr sz="2200" b="1">
                    <a:solidFill>
                      <a:srgbClr val="1E40AF"/>
                    </a:solidFill>
                    <a:latin typeface="Calibri"/>
                  </a:rPr>
                  <a:t>Gợi mở: Viết năm số hạng, xét tỉ số hai số hạng liên tiếp</a:t>
                </a: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2724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5, 10, 15, 20, 25: </a:t>
                </a:r>
                <a14:m>
                  <m:oMath xmlns:m="http://schemas.openxmlformats.org/officeDocument/2006/math">
                    <m:f>
                      <m:fPr>
                        <m:type m:val="bar"/>
                      </m:fPr>
                      <m:num>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num>
                      <m:den>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den>
                    </m:f>
                    <m:r>
                      <a:rPr lang="vi-VN" sz="2200" b="0">
                        <a:solidFill>
                          <a:srgbClr val="1E293B"/>
                        </a:solidFill>
                        <a:latin typeface="Cambria Math" panose="02040503050406030204" pitchFamily="18" charset="0"/>
                      </a:rPr>
                      <m:t>=2≠</m:t>
                    </m:r>
                    <m:f>
                      <m:fPr>
                        <m:type m:val="bar"/>
                      </m:fPr>
                      <m:num>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3</m:t>
                            </m:r>
                          </m:sub>
                        </m:sSub>
                      </m:num>
                      <m:den>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3</m:t>
                        </m:r>
                      </m:num>
                      <m:den>
                        <m:r>
                          <a:rPr lang="vi-VN" sz="2200" b="0">
                            <a:solidFill>
                              <a:srgbClr val="1E293B"/>
                            </a:solidFill>
                            <a:latin typeface="Cambria Math" panose="02040503050406030204" pitchFamily="18" charset="0"/>
                          </a:rPr>
                          <m:t>2</m:t>
                        </m:r>
                      </m:den>
                    </m:f>
                  </m:oMath>
                </a14:m>
                <a:r>
                  <a:rPr sz="2200">
                    <a:solidFill>
                      <a:srgbClr val="1E293B"/>
                    </a:solidFill>
                    <a:latin typeface="Calibri"/>
                  </a:rPr>
                  <a:t> ⇒ không là cấp số nhân</a:t>
                </a:r>
              </a:p>
              <a:p>
                <a:pPr algn="l" marL="365760" indent="-365760">
                  <a:spcAft>
                    <a:spcPts val="800"/>
                  </a:spcAft>
                  <a:buClr>
                    <a:srgbClr val="1E40AF"/>
                  </a:buClr>
                  <a:buFont typeface="Arial"/>
                  <a:buChar char="•"/>
                </a:pPr>
                <a:r>
                  <a:rPr sz="2200">
                    <a:solidFill>
                      <a:srgbClr val="1E293B"/>
                    </a:solidFill>
                    <a:latin typeface="Calibri"/>
                  </a:rPr>
                  <a:t>b) 5, 25, 125, 625, 3 125: </a:t>
                </a:r>
                <a14:m>
                  <m:oMath xmlns:m="http://schemas.openxmlformats.org/officeDocument/2006/math">
                    <m:r>
                      <a:rPr lang="vi-VN" sz="2200" b="0">
                        <a:solidFill>
                          <a:srgbClr val="1E293B"/>
                        </a:solidFill>
                        <a:latin typeface="Cambria Math" panose="02040503050406030204" pitchFamily="18" charset="0"/>
                      </a:rPr>
                      <m:t>q=5</m:t>
                    </m:r>
                  </m:oMath>
                </a14:m>
                <a:r>
                  <a:rPr sz="2200">
                    <a:solidFill>
                      <a:srgbClr val="1E293B"/>
                    </a:solidFill>
                    <a:latin typeface="Calibri"/>
                  </a:rPr>
                  <a:t> ⇒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=5·</m:t>
                    </m:r>
                    <m:sSup>
                      <m:e>
                        <m:r>
                          <a:rPr lang="vi-VN" sz="2200" b="0">
                            <a:solidFill>
                              <a:srgbClr val="1E293B"/>
                            </a:solidFill>
                            <a:latin typeface="Cambria Math" panose="02040503050406030204" pitchFamily="18" charset="0"/>
                          </a:rPr>
                          <m:t>5</m:t>
                        </m:r>
                      </m:e>
                      <m:sup>
                        <m:r>
                          <a:rPr lang="vi-VN" sz="2200" b="0">
                            <a:solidFill>
                              <a:srgbClr val="1E293B"/>
                            </a:solidFill>
                            <a:latin typeface="Cambria Math" panose="02040503050406030204" pitchFamily="18" charset="0"/>
                          </a:rPr>
                          <m:t>n−1</m:t>
                        </m:r>
                      </m:sup>
                    </m:sSup>
                  </m:oMath>
                </a14:m>
              </a:p>
              <a:p>
                <a:pPr algn="l" marL="365760" indent="-365760">
                  <a:spcAft>
                    <a:spcPts val="800"/>
                  </a:spcAft>
                  <a:buClr>
                    <a:srgbClr val="1E40AF"/>
                  </a:buClr>
                  <a:buFont typeface="Arial"/>
                  <a:buChar char="•"/>
                </a:pPr>
                <a:r>
                  <a:rPr sz="2200">
                    <a:solidFill>
                      <a:srgbClr val="1E293B"/>
                    </a:solidFill>
                    <a:latin typeface="Calibri"/>
                  </a:rPr>
                  <a:t>c) 1, 2, 6, 24, 120: tỉ số thay đổi ⇒ không là cấp số nhân</a:t>
                </a:r>
              </a:p>
            </p:txBody>
          </p:sp>
        </mc:Choice>
        <mc:Fallback>
          <p:sp>
            <p:nvSpPr>
              <p:cNvPr id="7" name="TextBox 6"/>
              <p:cNvSpPr txBox="1"/>
              <p:nvPr/>
            </p:nvSpPr>
            <p:spPr>
              <a:xfrm>
                <a:off x="731520" y="1463040"/>
                <a:ext cx="10789920" cy="2272411"/>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a) 5, 10, 15, 20, 25: </a:t>
                </a:r>
                <a:r>
                  <a:rPr lang="vi-VN"/>
                  <a:t>\frac{u_2}{u_1}=2\ne\frac{u_3}{u_2}=\frac{3}{2}</a:t>
                </a:r>
                <a:r>
                  <a:rPr sz="2200">
                    <a:solidFill>
                      <a:srgbClr val="1E293B"/>
                    </a:solidFill>
                    <a:latin typeface="Calibri"/>
                  </a:rPr>
                  <a:t> ⇒ không là cấp số nhân</a:t>
                </a:r>
              </a:p>
              <a:p>
                <a:pPr algn="l" marL="365760" indent="-365760">
                  <a:spcAft>
                    <a:spcPts val="800"/>
                  </a:spcAft>
                  <a:buClr>
                    <a:srgbClr val="1E40AF"/>
                  </a:buClr>
                  <a:buFont typeface="Arial"/>
                  <a:buChar char="•"/>
                </a:pPr>
                <a:r>
                  <a:rPr sz="2200">
                    <a:solidFill>
                      <a:srgbClr val="1E293B"/>
                    </a:solidFill>
                    <a:latin typeface="Calibri"/>
                  </a:rPr>
                  <a:t>b) 5, 25, 125, 625, 3 125: </a:t>
                </a:r>
                <a:r>
                  <a:rPr lang="vi-VN"/>
                  <a:t>q=5</a:t>
                </a:r>
                <a:r>
                  <a:rPr sz="2200">
                    <a:solidFill>
                      <a:srgbClr val="1E293B"/>
                    </a:solidFill>
                    <a:latin typeface="Calibri"/>
                  </a:rPr>
                  <a:t> ⇒ </a:t>
                </a:r>
                <a:r>
                  <a:rPr lang="vi-VN"/>
                  <a:t>u_n=5\cdot 5^{n-1}</a:t>
                </a:r>
              </a:p>
              <a:p>
                <a:pPr algn="l" marL="365760" indent="-365760">
                  <a:spcAft>
                    <a:spcPts val="800"/>
                  </a:spcAft>
                  <a:buClr>
                    <a:srgbClr val="1E40AF"/>
                  </a:buClr>
                  <a:buFont typeface="Arial"/>
                  <a:buChar char="•"/>
                </a:pPr>
                <a:r>
                  <a:rPr sz="2200">
                    <a:solidFill>
                      <a:srgbClr val="1E293B"/>
                    </a:solidFill>
                    <a:latin typeface="Calibri"/>
                  </a:rPr>
                  <a:t>c) 1, 2, 6, 24, 120: tỉ số thay đổi ⇒ không là cấp số nhân</a:t>
                </a: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2.16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1, 5, 25, 125, 625: </a:t>
                </a:r>
                <a14:m>
                  <m:oMath xmlns:m="http://schemas.openxmlformats.org/officeDocument/2006/math">
                    <m:r>
                      <a:rPr lang="vi-VN" sz="2200" b="0">
                        <a:solidFill>
                          <a:srgbClr val="1E293B"/>
                        </a:solidFill>
                        <a:latin typeface="Cambria Math" panose="02040503050406030204" pitchFamily="18" charset="0"/>
                      </a:rPr>
                      <m:t>q=5</m:t>
                    </m:r>
                  </m:oMath>
                </a14:m>
                <a:r>
                  <a:rPr sz="2200">
                    <a:solidFill>
                      <a:srgbClr val="1E293B"/>
                    </a:solidFill>
                    <a:latin typeface="Calibri"/>
                  </a:rPr>
                  <a:t> ⇒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5</m:t>
                        </m:r>
                      </m:e>
                      <m:sup>
                        <m:r>
                          <a:rPr lang="vi-VN" sz="2200" b="0">
                            <a:solidFill>
                              <a:srgbClr val="1E293B"/>
                            </a:solidFill>
                            <a:latin typeface="Cambria Math" panose="02040503050406030204" pitchFamily="18" charset="0"/>
                          </a:rPr>
                          <m:t>n−1</m:t>
                        </m:r>
                      </m:sup>
                    </m:sSup>
                  </m:oMath>
                </a14:m>
              </a:p>
            </p:txBody>
          </p:sp>
        </mc:Choice>
        <mc:Fallback>
          <p:sp>
            <p:nvSpPr>
              <p:cNvPr id="7" name="TextBox 6"/>
              <p:cNvSpPr txBox="1"/>
              <p:nvPr/>
            </p:nvSpPr>
            <p:spPr>
              <a:xfrm>
                <a:off x="731520" y="1463040"/>
                <a:ext cx="10789920" cy="47294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d) 1, 5, 25, 125, 625: </a:t>
                </a:r>
                <a:r>
                  <a:rPr lang="vi-VN"/>
                  <a:t>q=5</a:t>
                </a:r>
                <a:r>
                  <a:rPr sz="2200">
                    <a:solidFill>
                      <a:srgbClr val="1E293B"/>
                    </a:solidFill>
                    <a:latin typeface="Calibri"/>
                  </a:rPr>
                  <a:t> ⇒ </a:t>
                </a:r>
                <a:r>
                  <a:rPr lang="vi-VN"/>
                  <a:t>u_n=5^{n-1}</a:t>
                </a:r>
              </a:p>
            </p:txBody>
          </p:sp>
        </mc:Fallback>
      </mc:AlternateContent>
      <p:sp>
        <p:nvSpPr>
          <p:cNvPr id="8" name="Rounded Rectangle 7"/>
          <p:cNvSpPr/>
          <p:nvPr/>
        </p:nvSpPr>
        <p:spPr>
          <a:xfrm>
            <a:off x="731520" y="2073148"/>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73148"/>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b), d) là cấp số nhân; a), c) không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thứ 6 bằng 96 và số hạng thứ 3 bằng 12. Tìm số hạng thứ 50 của cấp số nhân này.</a:t>
                </a:r>
              </a:p>
              <a:p>
                <a:pPr algn="l">
                  <a:spcAft>
                    <a:spcPts val="800"/>
                  </a:spcAft>
                </a:pPr>
                <a:r>
                  <a:rPr sz="2400" b="1">
                    <a:solidFill>
                      <a:srgbClr val="1E40AF"/>
                    </a:solidFill>
                    <a:latin typeface="Calibri"/>
                  </a:rPr>
                  <a:t>Gợi mở: Lập tỉ số </a:t>
                </a:r>
                <a14:m>
                  <m:oMath xmlns:m="http://schemas.openxmlformats.org/officeDocument/2006/math">
                    <m:f>
                      <m:fPr>
                        <m:type m:val="bar"/>
                      </m:fPr>
                      <m:num>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6</m:t>
                            </m:r>
                          </m:sub>
                        </m:sSub>
                      </m:num>
                      <m:den>
                        <m:sSub>
                          <m:e>
                            <m:r>
                              <a:rPr lang="vi-VN" sz="2400" b="1">
                                <a:solidFill>
                                  <a:srgbClr val="1E40AF"/>
                                </a:solidFill>
                                <a:latin typeface="Cambria Math" panose="02040503050406030204" pitchFamily="18" charset="0"/>
                              </a:rPr>
                              <m:t>u</m:t>
                            </m:r>
                          </m:e>
                          <m:sub>
                            <m:r>
                              <a:rPr lang="vi-VN" sz="2400" b="1">
                                <a:solidFill>
                                  <a:srgbClr val="1E40AF"/>
                                </a:solidFill>
                                <a:latin typeface="Cambria Math" panose="02040503050406030204" pitchFamily="18" charset="0"/>
                              </a:rPr>
                              <m:t>3</m:t>
                            </m:r>
                          </m:sub>
                        </m:sSub>
                      </m:den>
                    </m:f>
                  </m:oMath>
                </a14:m>
              </a:p>
            </p:txBody>
          </p:sp>
        </mc:Choice>
        <mc:Fallback>
          <p:sp>
            <p:nvSpPr>
              <p:cNvPr id="7" name="TextBox 6"/>
              <p:cNvSpPr txBox="1"/>
              <p:nvPr/>
            </p:nvSpPr>
            <p:spPr>
              <a:xfrm>
                <a:off x="731520" y="1463040"/>
                <a:ext cx="10789920" cy="1586484"/>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thứ 6 bằng 96 và số hạng thứ 3 bằng 12. Tìm số hạng thứ 50 của cấp số nhân này.</a:t>
                </a:r>
              </a:p>
              <a:p>
                <a:pPr algn="l">
                  <a:spcAft>
                    <a:spcPts val="800"/>
                  </a:spcAft>
                </a:pPr>
                <a:r>
                  <a:rPr sz="2400" b="1">
                    <a:solidFill>
                      <a:srgbClr val="1E40AF"/>
                    </a:solidFill>
                    <a:latin typeface="Calibri"/>
                  </a:rPr>
                  <a:t>Gợi mở: Lập tỉ số </a:t>
                </a:r>
                <a:r>
                  <a:rPr lang="vi-VN"/>
                  <a:t>\frac{u_6}{u_3}</a:t>
                </a: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=96</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2</m:t>
                        </m:r>
                      </m:sup>
                    </m:sSup>
                    <m:r>
                      <a:rPr lang="vi-VN" sz="2400" b="0">
                        <a:solidFill>
                          <a:srgbClr val="1E293B"/>
                        </a:solidFill>
                        <a:latin typeface="Cambria Math" panose="02040503050406030204" pitchFamily="18" charset="0"/>
                      </a:rPr>
                      <m:t>=12</m:t>
                    </m:r>
                  </m:oMath>
                </a14:m>
              </a:p>
              <a:p>
                <a:pPr algn="l" marL="365760" indent="-365760">
                  <a:spcAft>
                    <a:spcPts val="800"/>
                  </a:spcAft>
                  <a:buClr>
                    <a:srgbClr val="1E40AF"/>
                  </a:buClr>
                  <a:buFont typeface="Arial"/>
                  <a:buChar char="•"/>
                </a:pPr>
                <a14:m>
                  <m:oMath xmlns:m="http://schemas.openxmlformats.org/officeDocument/2006/math">
                    <m:f>
                      <m:fPr>
                        <m:type m:val="bar"/>
                      </m:fPr>
                      <m:num>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num>
                      <m:den>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3</m:t>
                            </m:r>
                          </m:sub>
                        </m:sSub>
                      </m:den>
                    </m:f>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=8⇒q=2</m:t>
                    </m:r>
                  </m:oMath>
                </a14:m>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12</m:t>
                        </m:r>
                      </m:num>
                      <m:den>
                        <m:r>
                          <a:rPr lang="vi-VN" sz="2400" b="0">
                            <a:solidFill>
                              <a:srgbClr val="1E293B"/>
                            </a:solidFill>
                            <a:latin typeface="Cambria Math" panose="02040503050406030204" pitchFamily="18" charset="0"/>
                          </a:rPr>
                          <m:t>4</m:t>
                        </m:r>
                      </m:den>
                    </m:f>
                    <m:r>
                      <a:rPr lang="vi-VN" sz="2400" b="0">
                        <a:solidFill>
                          <a:srgbClr val="1E293B"/>
                        </a:solidFill>
                        <a:latin typeface="Cambria Math" panose="02040503050406030204" pitchFamily="18" charset="0"/>
                      </a:rPr>
                      <m:t>=3</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50</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49</m:t>
                        </m:r>
                      </m:sup>
                    </m:sSup>
                  </m:oMath>
                </a14:m>
              </a:p>
            </p:txBody>
          </p:sp>
        </mc:Choice>
        <mc:Fallback>
          <p:sp>
            <p:nvSpPr>
              <p:cNvPr id="7" name="TextBox 6"/>
              <p:cNvSpPr txBox="1"/>
              <p:nvPr/>
            </p:nvSpPr>
            <p:spPr>
              <a:xfrm>
                <a:off x="731520" y="1463040"/>
                <a:ext cx="10789920" cy="1874519"/>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u_6=u_1q^5=96</a:t>
                </a:r>
                <a:r>
                  <a:rPr sz="2400">
                    <a:solidFill>
                      <a:srgbClr val="1E293B"/>
                    </a:solidFill>
                    <a:latin typeface="Calibri"/>
                  </a:rPr>
                  <a:t>;  </a:t>
                </a:r>
                <a:r>
                  <a:rPr lang="vi-VN"/>
                  <a:t>u_3=u_1q^2=12</a:t>
                </a:r>
              </a:p>
              <a:p>
                <a:pPr algn="l" marL="365760" indent="-365760">
                  <a:spcAft>
                    <a:spcPts val="800"/>
                  </a:spcAft>
                  <a:buClr>
                    <a:srgbClr val="1E40AF"/>
                  </a:buClr>
                  <a:buFont typeface="Arial"/>
                  <a:buChar char="•"/>
                </a:pPr>
                <a:r>
                  <a:rPr lang="vi-VN"/>
                  <a:t>\frac{u_6}{u_3}=q^3=8\Rightarrow q=2</a:t>
                </a:r>
                <a:r>
                  <a:rPr sz="2400">
                    <a:solidFill>
                      <a:srgbClr val="1E293B"/>
                    </a:solidFill>
                    <a:latin typeface="Calibri"/>
                  </a:rPr>
                  <a:t>;  </a:t>
                </a:r>
                <a:r>
                  <a:rPr lang="vi-VN"/>
                  <a:t>u_1=\frac{12}{4}=3</a:t>
                </a:r>
              </a:p>
              <a:p>
                <a:pPr algn="l" marL="365760" indent="-365760">
                  <a:spcAft>
                    <a:spcPts val="800"/>
                  </a:spcAft>
                  <a:buClr>
                    <a:srgbClr val="1E40AF"/>
                  </a:buClr>
                  <a:buFont typeface="Arial"/>
                  <a:buChar char="•"/>
                </a:pPr>
                <a:r>
                  <a:rPr lang="vi-VN"/>
                  <a:t>u_{50}=u_1q^{49}</a:t>
                </a:r>
              </a:p>
            </p:txBody>
          </p:sp>
        </mc:Fallback>
      </mc:AlternateContent>
      <p:sp>
        <p:nvSpPr>
          <p:cNvPr id="8" name="Rounded Rectangle 7"/>
          <p:cNvSpPr/>
          <p:nvPr/>
        </p:nvSpPr>
        <p:spPr>
          <a:xfrm>
            <a:off x="731520" y="3474719"/>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50</m:t>
                        </m:r>
                      </m:sub>
                    </m:sSub>
                    <m:r>
                      <a:rPr lang="vi-VN" sz="2400" b="1">
                        <a:solidFill>
                          <a:srgbClr val="991B1B"/>
                        </a:solidFill>
                        <a:latin typeface="Cambria Math" panose="02040503050406030204" pitchFamily="18" charset="0"/>
                      </a:rPr>
                      <m:t>=3·</m:t>
                    </m:r>
                    <m:sSup>
                      <m:e>
                        <m:r>
                          <a:rPr lang="vi-VN" sz="2400" b="1">
                            <a:solidFill>
                              <a:srgbClr val="991B1B"/>
                            </a:solidFill>
                            <a:latin typeface="Cambria Math" panose="02040503050406030204" pitchFamily="18" charset="0"/>
                          </a:rPr>
                          <m:t>2</m:t>
                        </m:r>
                      </m:e>
                      <m:sup>
                        <m:r>
                          <a:rPr lang="vi-VN" sz="2400" b="1">
                            <a:solidFill>
                              <a:srgbClr val="991B1B"/>
                            </a:solidFill>
                            <a:latin typeface="Cambria Math" panose="02040503050406030204" pitchFamily="18" charset="0"/>
                          </a:rPr>
                          <m:t>49</m:t>
                        </m:r>
                      </m:sup>
                    </m:sSup>
                  </m:oMath>
                </a14:m>
              </a:p>
            </p:txBody>
          </p:sp>
        </mc:Choice>
        <mc:Fallback>
          <p:sp>
            <p:nvSpPr>
              <p:cNvPr id="9" name="TextBox 8"/>
              <p:cNvSpPr txBox="1"/>
              <p:nvPr/>
            </p:nvSpPr>
            <p:spPr>
              <a:xfrm>
                <a:off x="914400" y="3474719"/>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u_{50}=3\cdot 2^{49}</a:t>
                </a: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đầu bằng 5 và công bội bằng 2. Hỏi phải lấy tổng của bao nhiêu số hạng đầu của cấp số nhân này để có tổng bằng 5 115?</a:t>
                </a:r>
              </a:p>
              <a:p>
                <a:pPr algn="l">
                  <a:spcAft>
                    <a:spcPts val="800"/>
                  </a:spcAft>
                </a:pPr>
                <a:r>
                  <a:rPr sz="2400" b="1">
                    <a:solidFill>
                      <a:srgbClr val="1E40AF"/>
                    </a:solidFill>
                    <a:latin typeface="Calibri"/>
                  </a:rPr>
                  <a:t>Gợi mở: Đặt </a:t>
                </a:r>
                <a14:m>
                  <m:oMath xmlns:m="http://schemas.openxmlformats.org/officeDocument/2006/math">
                    <m:sSub>
                      <m:e>
                        <m:r>
                          <a:rPr lang="vi-VN" sz="2400" b="1">
                            <a:solidFill>
                              <a:srgbClr val="1E40AF"/>
                            </a:solidFill>
                            <a:latin typeface="Cambria Math" panose="02040503050406030204" pitchFamily="18" charset="0"/>
                          </a:rPr>
                          <m:t>S</m:t>
                        </m:r>
                      </m:e>
                      <m:sub>
                        <m:r>
                          <a:rPr lang="vi-VN" sz="2400" b="1">
                            <a:solidFill>
                              <a:srgbClr val="1E40AF"/>
                            </a:solidFill>
                            <a:latin typeface="Cambria Math" panose="02040503050406030204" pitchFamily="18" charset="0"/>
                          </a:rPr>
                          <m:t>n</m:t>
                        </m:r>
                      </m:sub>
                    </m:sSub>
                    <m:r>
                      <a:rPr lang="vi-VN" sz="2400" b="1">
                        <a:solidFill>
                          <a:srgbClr val="1E40AF"/>
                        </a:solidFill>
                        <a:latin typeface="Cambria Math" panose="02040503050406030204" pitchFamily="18" charset="0"/>
                      </a:rPr>
                      <m:t>=5</m:t>
                    </m:r>
                    <m:r>
                      <m:rPr>
                        <m:sty m:val="p"/>
                      </m:rPr>
                      <a:rPr lang="vi-VN" sz="2400" b="1">
                        <a:solidFill>
                          <a:srgbClr val="1E40AF"/>
                        </a:solidFill>
                        <a:latin typeface="Cambria Math" panose="02040503050406030204" pitchFamily="18" charset="0"/>
                      </a:rPr>
                      <m:t> </m:t>
                    </m:r>
                    <m:r>
                      <a:rPr lang="vi-VN" sz="2400" b="1">
                        <a:solidFill>
                          <a:srgbClr val="1E40AF"/>
                        </a:solidFill>
                        <a:latin typeface="Cambria Math" panose="02040503050406030204" pitchFamily="18" charset="0"/>
                      </a:rPr>
                      <m:t>115</m:t>
                    </m:r>
                  </m:oMath>
                </a14:m>
              </a:p>
            </p:txBody>
          </p:sp>
        </mc:Choice>
        <mc:Fallback>
          <p:sp>
            <p:nvSpPr>
              <p:cNvPr id="7" name="TextBox 6"/>
              <p:cNvSpPr txBox="1"/>
              <p:nvPr/>
            </p:nvSpPr>
            <p:spPr>
              <a:xfrm>
                <a:off x="731520" y="1463040"/>
                <a:ext cx="10789920" cy="1804416"/>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cấp số nhân có số hạng đầu bằng 5 và công bội bằng 2. Hỏi phải lấy tổng của bao nhiêu số hạng đầu của cấp số nhân này để có tổng bằng 5 115?</a:t>
                </a:r>
              </a:p>
              <a:p>
                <a:pPr algn="l">
                  <a:spcAft>
                    <a:spcPts val="800"/>
                  </a:spcAft>
                </a:pPr>
                <a:r>
                  <a:rPr sz="2400" b="1">
                    <a:solidFill>
                      <a:srgbClr val="1E40AF"/>
                    </a:solidFill>
                    <a:latin typeface="Calibri"/>
                  </a:rPr>
                  <a:t>Gợi mở: Đặt </a:t>
                </a:r>
                <a:r>
                  <a:rPr lang="vi-VN"/>
                  <a:t>S_n=5\,115</a:t>
                </a: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49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5(1−</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1−2</m:t>
                        </m:r>
                      </m:den>
                    </m:f>
                    <m:r>
                      <a:rPr lang="vi-VN" sz="2400" b="0">
                        <a:solidFill>
                          <a:srgbClr val="1E293B"/>
                        </a:solidFill>
                        <a:latin typeface="Cambria Math" panose="02040503050406030204" pitchFamily="18" charset="0"/>
                      </a:rPr>
                      <m:t>=5(</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m:t>
                    </m:r>
                  </m:oMath>
                </a14:m>
              </a:p>
              <a:p>
                <a:pPr algn="l" marL="365760" indent="-365760">
                  <a:spcAft>
                    <a:spcPts val="800"/>
                  </a:spcAft>
                  <a:buClr>
                    <a:srgbClr val="1E40AF"/>
                  </a:buClr>
                  <a:buFont typeface="Arial"/>
                  <a:buChar char="•"/>
                </a:pPr>
                <a14:m>
                  <m:oMath xmlns:m="http://schemas.openxmlformats.org/officeDocument/2006/math">
                    <m:r>
                      <a:rPr lang="vi-VN" sz="2400" b="0">
                        <a:solidFill>
                          <a:srgbClr val="1E293B"/>
                        </a:solidFill>
                        <a:latin typeface="Cambria Math" panose="02040503050406030204" pitchFamily="18" charset="0"/>
                      </a:rPr>
                      <m:t>5(</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115⇔</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024=</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10</m:t>
                        </m:r>
                      </m:sup>
                    </m:sSup>
                  </m:oMath>
                </a14:m>
              </a:p>
            </p:txBody>
          </p:sp>
        </mc:Choice>
        <mc:Fallback>
          <p:sp>
            <p:nvSpPr>
              <p:cNvPr id="7" name="TextBox 6"/>
              <p:cNvSpPr txBox="1"/>
              <p:nvPr/>
            </p:nvSpPr>
            <p:spPr>
              <a:xfrm>
                <a:off x="731520" y="1463040"/>
                <a:ext cx="10789920" cy="119024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S_n=\frac{5(1-2^n)}{1-2}=5(2^n-1)</a:t>
                </a:r>
              </a:p>
              <a:p>
                <a:pPr algn="l" marL="365760" indent="-365760">
                  <a:spcAft>
                    <a:spcPts val="800"/>
                  </a:spcAft>
                  <a:buClr>
                    <a:srgbClr val="1E40AF"/>
                  </a:buClr>
                  <a:buFont typeface="Arial"/>
                  <a:buChar char="•"/>
                </a:pPr>
                <a:r>
                  <a:rPr lang="vi-VN"/>
                  <a:t>5(2^n-1)=5\,115\Leftrightarrow 2^n=1\,024=2^{10}</a:t>
                </a:r>
              </a:p>
            </p:txBody>
          </p:sp>
        </mc:Fallback>
      </mc:AlternateContent>
      <p:sp>
        <p:nvSpPr>
          <p:cNvPr id="8" name="Rounded Rectangle 7"/>
          <p:cNvSpPr/>
          <p:nvPr/>
        </p:nvSpPr>
        <p:spPr>
          <a:xfrm>
            <a:off x="731520" y="279044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79044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Lấy tổng 10 số hạng đầu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2.19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50</a:t>
            </a:r>
          </a:p>
        </p:txBody>
      </p:sp>
      <p:sp>
        <p:nvSpPr>
          <p:cNvPr id="7" name="TextBox 6"/>
          <p:cNvSpPr txBox="1"/>
          <p:nvPr/>
        </p:nvSpPr>
        <p:spPr>
          <a:xfrm>
            <a:off x="731520" y="1463040"/>
            <a:ext cx="10789920" cy="2420112"/>
          </a:xfrm>
          <a:prstGeom prst="rect">
            <a:avLst/>
          </a:prstGeom>
          <a:noFill/>
        </p:spPr>
        <p:txBody>
          <a:bodyPr wrap="square" anchor="t" lIns="45720" rIns="45720">
            <a:spAutoFit/>
          </a:bodyPr>
          <a:lstStyle/>
          <a:p>
            <a:pPr algn="l">
              <a:spcAft>
                <a:spcPts val="800"/>
              </a:spcAft>
            </a:pPr>
            <a:r>
              <a:rPr sz="2400">
                <a:solidFill>
                  <a:srgbClr val="1E293B"/>
                </a:solidFill>
                <a:latin typeface="Calibri"/>
              </a:rPr>
              <a:t>Một công ty xây dựng mua một chiếc máy ủi với giá 3 tỉ đồng.</a:t>
            </a:r>
          </a:p>
          <a:p>
            <a:pPr algn="l">
              <a:spcAft>
                <a:spcPts val="800"/>
              </a:spcAft>
            </a:pPr>
            <a:r>
              <a:rPr sz="2400">
                <a:solidFill>
                  <a:srgbClr val="1E293B"/>
                </a:solidFill>
                <a:latin typeface="Calibri"/>
              </a:rPr>
              <a:t>Cứ sau mỗi năm sử dụng, giá trị của chiếc máy ủi này lại giảm 20% so với giá trị của nó trong năm liền trước đó.</a:t>
            </a:r>
          </a:p>
          <a:p>
            <a:pPr algn="l">
              <a:spcAft>
                <a:spcPts val="800"/>
              </a:spcAft>
            </a:pPr>
            <a:r>
              <a:rPr sz="2400">
                <a:solidFill>
                  <a:srgbClr val="1E293B"/>
                </a:solidFill>
                <a:latin typeface="Calibri"/>
              </a:rPr>
              <a:t>Tìm giá trị còn lại của chiếc máy ủi đó sau 5 năm sử dụng.</a:t>
            </a:r>
          </a:p>
          <a:p>
            <a:pPr algn="l">
              <a:spcAft>
                <a:spcPts val="800"/>
              </a:spcAft>
            </a:pPr>
            <a:r>
              <a:rPr sz="2400" b="1">
                <a:solidFill>
                  <a:srgbClr val="1E40AF"/>
                </a:solidFill>
                <a:latin typeface="Calibri"/>
              </a:rPr>
              <a:t>Gợi mở: Giảm 20% thì công bội bằng bao nhiêu?</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2.19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51</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trị sau mỗi năm: cấp số nhân, công bội </a:t>
                </a:r>
                <a14:m>
                  <m:oMath xmlns:m="http://schemas.openxmlformats.org/officeDocument/2006/math">
                    <m:r>
                      <a:rPr lang="vi-VN" sz="2400" b="0">
                        <a:solidFill>
                          <a:srgbClr val="1E293B"/>
                        </a:solidFill>
                        <a:latin typeface="Cambria Math" panose="02040503050406030204" pitchFamily="18" charset="0"/>
                      </a:rPr>
                      <m:t>q=1−20%=0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m:t>
                    </m:r>
                  </m:oMath>
                </a14:m>
              </a:p>
              <a:p>
                <a:pPr algn="l" marL="365760" indent="-365760">
                  <a:spcAft>
                    <a:spcPts val="800"/>
                  </a:spcAft>
                  <a:buClr>
                    <a:srgbClr val="1E40AF"/>
                  </a:buClr>
                  <a:buFont typeface="Arial"/>
                  <a:buChar char="•"/>
                </a:pPr>
                <a:r>
                  <a:rPr sz="2400">
                    <a:solidFill>
                      <a:srgbClr val="1E293B"/>
                    </a:solidFill>
                    <a:latin typeface="Calibri"/>
                  </a:rPr>
                  <a:t>Sau 1, 2, 3, 4 năm: 2,4; 1,92; 1,536; 1,2288 (tỉ đồng)</a:t>
                </a:r>
              </a:p>
              <a:p>
                <a:pPr algn="l" marL="365760" indent="-365760">
                  <a:spcAft>
                    <a:spcPts val="800"/>
                  </a:spcAft>
                  <a:buClr>
                    <a:srgbClr val="1E40AF"/>
                  </a:buClr>
                  <a:buFont typeface="Arial"/>
                  <a:buChar char="•"/>
                </a:pPr>
                <a:r>
                  <a:rPr sz="2400">
                    <a:solidFill>
                      <a:srgbClr val="1E293B"/>
                    </a:solidFill>
                    <a:latin typeface="Calibri"/>
                  </a:rPr>
                  <a:t>Sau 5 năm: </a:t>
                </a:r>
                <a14:m>
                  <m:oMath xmlns:m="http://schemas.openxmlformats.org/officeDocument/2006/math">
                    <m:r>
                      <a:rPr lang="vi-VN" sz="2400" b="0">
                        <a:solidFill>
                          <a:srgbClr val="1E293B"/>
                        </a:solidFill>
                        <a:latin typeface="Cambria Math" panose="02040503050406030204" pitchFamily="18" charset="0"/>
                      </a:rPr>
                      <m:t>3·0</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8</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=0</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98304</m:t>
                    </m:r>
                  </m:oMath>
                </a14:m>
                <a:r>
                  <a:rPr sz="2400">
                    <a:solidFill>
                      <a:srgbClr val="1E293B"/>
                    </a:solidFill>
                    <a:latin typeface="Calibri"/>
                  </a:rPr>
                  <a:t> (tỉ đồng)</a:t>
                </a:r>
              </a:p>
            </p:txBody>
          </p:sp>
        </mc:Choice>
        <mc:Fallback>
          <p:sp>
            <p:nvSpPr>
              <p:cNvPr id="7" name="TextBox 6"/>
              <p:cNvSpPr txBox="1"/>
              <p:nvPr/>
            </p:nvSpPr>
            <p:spPr>
              <a:xfrm>
                <a:off x="731520" y="1463040"/>
                <a:ext cx="10789920" cy="1517904"/>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Giá trị sau mỗi năm: cấp số nhân, công bội </a:t>
                </a:r>
                <a:r>
                  <a:rPr lang="vi-VN"/>
                  <a:t>q=1-20\%=0{,}8</a:t>
                </a:r>
              </a:p>
              <a:p>
                <a:pPr algn="l" marL="365760" indent="-365760">
                  <a:spcAft>
                    <a:spcPts val="800"/>
                  </a:spcAft>
                  <a:buClr>
                    <a:srgbClr val="1E40AF"/>
                  </a:buClr>
                  <a:buFont typeface="Arial"/>
                  <a:buChar char="•"/>
                </a:pPr>
                <a:r>
                  <a:rPr sz="2400">
                    <a:solidFill>
                      <a:srgbClr val="1E293B"/>
                    </a:solidFill>
                    <a:latin typeface="Calibri"/>
                  </a:rPr>
                  <a:t>Sau 1, 2, 3, 4 năm: 2,4; 1,92; 1,536; 1,2288 (tỉ đồng)</a:t>
                </a:r>
              </a:p>
              <a:p>
                <a:pPr algn="l" marL="365760" indent="-365760">
                  <a:spcAft>
                    <a:spcPts val="800"/>
                  </a:spcAft>
                  <a:buClr>
                    <a:srgbClr val="1E40AF"/>
                  </a:buClr>
                  <a:buFont typeface="Arial"/>
                  <a:buChar char="•"/>
                </a:pPr>
                <a:r>
                  <a:rPr sz="2400">
                    <a:solidFill>
                      <a:srgbClr val="1E293B"/>
                    </a:solidFill>
                    <a:latin typeface="Calibri"/>
                  </a:rPr>
                  <a:t>Sau 5 năm: </a:t>
                </a:r>
                <a:r>
                  <a:rPr lang="vi-VN"/>
                  <a:t>3\cdot 0{,}8^5=0{,}98304</a:t>
                </a:r>
                <a:r>
                  <a:rPr sz="2400">
                    <a:solidFill>
                      <a:srgbClr val="1E293B"/>
                    </a:solidFill>
                    <a:latin typeface="Calibri"/>
                  </a:rPr>
                  <a:t> (tỉ đồng)</a:t>
                </a:r>
              </a:p>
            </p:txBody>
          </p:sp>
        </mc:Fallback>
      </mc:AlternateContent>
      <p:sp>
        <p:nvSpPr>
          <p:cNvPr id="8" name="Rounded Rectangle 7"/>
          <p:cNvSpPr/>
          <p:nvPr/>
        </p:nvSpPr>
        <p:spPr>
          <a:xfrm>
            <a:off x="731520" y="3118104"/>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18104"/>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Còn khoảng 983 triệu đồng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52</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a:solidFill>
                      <a:srgbClr val="1E293B"/>
                    </a:solidFill>
                    <a:latin typeface="Calibri"/>
                  </a:rPr>
                  <a:t>Vào năm 2020, dân số của một quốc gia là khoảng 97 triệu người và tốc độ tăng trưởng dân số là 0,91%.</a:t>
                </a:r>
              </a:p>
              <a:p>
                <a:pPr algn="l">
                  <a:spcAft>
                    <a:spcPts val="800"/>
                  </a:spcAft>
                </a:pPr>
                <a:r>
                  <a:rPr sz="2400">
                    <a:solidFill>
                      <a:srgbClr val="1E293B"/>
                    </a:solidFill>
                    <a:latin typeface="Calibri"/>
                  </a:rPr>
                  <a:t>Nếu tốc độ tăng trưởng dân số này được giữ nguyên hằng năm, hãy ước tính dân số của quốc gia đó vào năm 2030.</a:t>
                </a:r>
              </a:p>
              <a:p>
                <a:pPr algn="l">
                  <a:spcAft>
                    <a:spcPts val="800"/>
                  </a:spcAft>
                </a:pPr>
                <a:r>
                  <a:rPr sz="2400" b="1">
                    <a:solidFill>
                      <a:srgbClr val="1E40AF"/>
                    </a:solidFill>
                    <a:latin typeface="Calibri"/>
                  </a:rPr>
                  <a:t>Gợi mở: Tăng 0,91% mỗi năm: </a:t>
                </a:r>
                <a14:m>
                  <m:oMath xmlns:m="http://schemas.openxmlformats.org/officeDocument/2006/math">
                    <m:r>
                      <a:rPr lang="vi-VN" sz="2400" b="1">
                        <a:solidFill>
                          <a:srgbClr val="1E40AF"/>
                        </a:solidFill>
                        <a:latin typeface="Cambria Math" panose="02040503050406030204" pitchFamily="18" charset="0"/>
                      </a:rPr>
                      <m:t>q=1</m:t>
                    </m:r>
                    <m:r>
                      <a:rPr lang="vi-VN" sz="2400" b="1">
                        <a:solidFill>
                          <a:srgbClr val="1E40AF"/>
                        </a:solidFill>
                        <a:latin typeface="Cambria Math" panose="02040503050406030204" pitchFamily="18" charset="0"/>
                      </a:rPr>
                      <m:t>,</m:t>
                    </m:r>
                    <m:r>
                      <a:rPr lang="vi-VN" sz="2400" b="1">
                        <a:solidFill>
                          <a:srgbClr val="1E40AF"/>
                        </a:solidFill>
                        <a:latin typeface="Cambria Math" panose="02040503050406030204" pitchFamily="18" charset="0"/>
                      </a:rPr>
                      <m:t>0091</m:t>
                    </m:r>
                  </m:oMath>
                </a14:m>
              </a:p>
            </p:txBody>
          </p:sp>
        </mc:Choice>
        <mc:Fallback>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a:solidFill>
                      <a:srgbClr val="1E293B"/>
                    </a:solidFill>
                    <a:latin typeface="Calibri"/>
                  </a:rPr>
                  <a:t>Vào năm 2020, dân số của một quốc gia là khoảng 97 triệu người và tốc độ tăng trưởng dân số là 0,91%.</a:t>
                </a:r>
              </a:p>
              <a:p>
                <a:pPr algn="l">
                  <a:spcAft>
                    <a:spcPts val="800"/>
                  </a:spcAft>
                </a:pPr>
                <a:r>
                  <a:rPr sz="2400">
                    <a:solidFill>
                      <a:srgbClr val="1E293B"/>
                    </a:solidFill>
                    <a:latin typeface="Calibri"/>
                  </a:rPr>
                  <a:t>Nếu tốc độ tăng trưởng dân số này được giữ nguyên hằng năm, hãy ước tính dân số của quốc gia đó vào năm 2030.</a:t>
                </a:r>
              </a:p>
              <a:p>
                <a:pPr algn="l">
                  <a:spcAft>
                    <a:spcPts val="800"/>
                  </a:spcAft>
                </a:pPr>
                <a:r>
                  <a:rPr sz="2400" b="1">
                    <a:solidFill>
                      <a:srgbClr val="1E40AF"/>
                    </a:solidFill>
                    <a:latin typeface="Calibri"/>
                  </a:rPr>
                  <a:t>Gợi mở: Tăng 0,91% mỗi năm: </a:t>
                </a:r>
                <a:r>
                  <a:rPr lang="vi-VN"/>
                  <a:t>q=1{,}0091</a:t>
                </a: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2.20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53</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Dân số các năm: cấp số nhân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=97</m:t>
                    </m:r>
                  </m:oMath>
                </a14:m>
                <a:r>
                  <a:rPr sz="2400">
                    <a:solidFill>
                      <a:srgbClr val="1E293B"/>
                    </a:solidFill>
                    <a:latin typeface="Calibri"/>
                  </a:rPr>
                  <a:t> (năm 2020), </a:t>
                </a:r>
                <a14:m>
                  <m:oMath xmlns:m="http://schemas.openxmlformats.org/officeDocument/2006/math">
                    <m:r>
                      <a:rPr lang="vi-VN" sz="2400" b="0">
                        <a:solidFill>
                          <a:srgbClr val="1E293B"/>
                        </a:solidFill>
                        <a:latin typeface="Cambria Math" panose="02040503050406030204" pitchFamily="18" charset="0"/>
                      </a:rPr>
                      <m:t>q=1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0091</m:t>
                    </m:r>
                  </m:oMath>
                </a14:m>
              </a:p>
              <a:p>
                <a:pPr algn="l" marL="365760" indent="-365760">
                  <a:spcAft>
                    <a:spcPts val="800"/>
                  </a:spcAft>
                  <a:buClr>
                    <a:srgbClr val="1E40AF"/>
                  </a:buClr>
                  <a:buFont typeface="Arial"/>
                  <a:buChar char="•"/>
                </a:pPr>
                <a:r>
                  <a:rPr sz="2400">
                    <a:solidFill>
                      <a:srgbClr val="1E293B"/>
                    </a:solidFill>
                    <a:latin typeface="Calibri"/>
                  </a:rPr>
                  <a:t>Năm 2030 ứng với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11</m:t>
                        </m:r>
                      </m:sub>
                    </m:sSub>
                    <m:r>
                      <a:rPr lang="vi-VN" sz="2400" b="0">
                        <a:solidFill>
                          <a:srgbClr val="1E293B"/>
                        </a:solidFill>
                        <a:latin typeface="Cambria Math" panose="02040503050406030204" pitchFamily="18" charset="0"/>
                      </a:rPr>
                      <m:t>=97·1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0091</m:t>
                        </m:r>
                      </m:e>
                      <m:sup>
                        <m:r>
                          <a:rPr lang="vi-VN" sz="2400" b="0">
                            <a:solidFill>
                              <a:srgbClr val="1E293B"/>
                            </a:solidFill>
                            <a:latin typeface="Cambria Math" panose="02040503050406030204" pitchFamily="18" charset="0"/>
                          </a:rPr>
                          <m:t>10</m:t>
                        </m:r>
                      </m:sup>
                    </m:sSup>
                  </m:oMath>
                </a14:m>
              </a:p>
            </p:txBody>
          </p:sp>
        </mc:Choice>
        <mc:Fallback>
          <p:sp>
            <p:nvSpPr>
              <p:cNvPr id="7" name="TextBox 6"/>
              <p:cNvSpPr txBox="1"/>
              <p:nvPr/>
            </p:nvSpPr>
            <p:spPr>
              <a:xfrm>
                <a:off x="731520" y="1463040"/>
                <a:ext cx="10789920" cy="1011936"/>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Dân số các năm: cấp số nhân </a:t>
                </a:r>
                <a:r>
                  <a:rPr lang="vi-VN"/>
                  <a:t>u_1=97</a:t>
                </a:r>
                <a:r>
                  <a:rPr sz="2400">
                    <a:solidFill>
                      <a:srgbClr val="1E293B"/>
                    </a:solidFill>
                    <a:latin typeface="Calibri"/>
                  </a:rPr>
                  <a:t> (năm 2020), </a:t>
                </a:r>
                <a:r>
                  <a:rPr lang="vi-VN"/>
                  <a:t>q=1{,}0091</a:t>
                </a:r>
              </a:p>
              <a:p>
                <a:pPr algn="l" marL="365760" indent="-365760">
                  <a:spcAft>
                    <a:spcPts val="800"/>
                  </a:spcAft>
                  <a:buClr>
                    <a:srgbClr val="1E40AF"/>
                  </a:buClr>
                  <a:buFont typeface="Arial"/>
                  <a:buChar char="•"/>
                </a:pPr>
                <a:r>
                  <a:rPr sz="2400">
                    <a:solidFill>
                      <a:srgbClr val="1E293B"/>
                    </a:solidFill>
                    <a:latin typeface="Calibri"/>
                  </a:rPr>
                  <a:t>Năm 2030 ứng với </a:t>
                </a:r>
                <a:r>
                  <a:rPr lang="vi-VN"/>
                  <a:t>u_{11}=97\cdot 1{,}0091^{10}</a:t>
                </a:r>
              </a:p>
            </p:txBody>
          </p:sp>
        </mc:Fallback>
      </mc:AlternateContent>
      <p:sp>
        <p:nvSpPr>
          <p:cNvPr id="8" name="Rounded Rectangle 7"/>
          <p:cNvSpPr/>
          <p:nvPr/>
        </p:nvSpPr>
        <p:spPr>
          <a:xfrm>
            <a:off x="731520" y="2612136"/>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12136"/>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106,2 triệu người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54</a:t>
            </a:r>
          </a:p>
        </p:txBody>
      </p:sp>
      <p:sp>
        <p:nvSpPr>
          <p:cNvPr id="7" name="TextBox 6"/>
          <p:cNvSpPr txBox="1"/>
          <p:nvPr/>
        </p:nvSpPr>
        <p:spPr>
          <a:xfrm>
            <a:off x="731520" y="1463040"/>
            <a:ext cx="10789920" cy="2145284"/>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loại thuốc được dùng mỗi ngày một lần.</a:t>
            </a:r>
          </a:p>
          <a:p>
            <a:pPr algn="l">
              <a:spcAft>
                <a:spcPts val="800"/>
              </a:spcAft>
            </a:pPr>
            <a:r>
              <a:rPr sz="2200">
                <a:solidFill>
                  <a:srgbClr val="1E293B"/>
                </a:solidFill>
                <a:latin typeface="Calibri"/>
              </a:rPr>
              <a:t>Lúc đầu nồng độ thuốc trong máu của bệnh nhân tăng nhanh, nhưng mỗi liều kế tiếp có tác dụng ít hơn liều trước đó.</a:t>
            </a:r>
          </a:p>
          <a:p>
            <a:pPr algn="l">
              <a:spcAft>
                <a:spcPts val="800"/>
              </a:spcAft>
            </a:pPr>
            <a:r>
              <a:rPr sz="2200">
                <a:solidFill>
                  <a:srgbClr val="1E293B"/>
                </a:solidFill>
                <a:latin typeface="Calibri"/>
              </a:rPr>
              <a:t>Lượng thuốc trong máu ở ngày thứ nhất là 50 mg, và mỗi ngày sau đó giảm chỉ còn một nửa so với ngày kề trước đó.</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BÀI 2.21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55</a:t>
            </a:r>
          </a:p>
        </p:txBody>
      </p:sp>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Tính tổng lượng thuốc (tính bằng mg) trong máu của bệnh nhân sau khi dùng thuốc 10 ngày liên tiếp.</a:t>
            </a:r>
          </a:p>
          <a:p>
            <a:pPr algn="l">
              <a:spcAft>
                <a:spcPts val="800"/>
              </a:spcAft>
            </a:pPr>
            <a:r>
              <a:rPr sz="2200" b="1">
                <a:solidFill>
                  <a:srgbClr val="1E40AF"/>
                </a:solidFill>
                <a:latin typeface="Calibri"/>
              </a:rPr>
              <a:t>Gợi mở: Lượng thuốc các ngày lập thành cấp số nhân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BÀI 2.21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56</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72516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=50</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n=10</m:t>
                    </m:r>
                  </m:oMath>
                </a14:m>
              </a:p>
              <a:p>
                <a:pPr algn="l" marL="365760" indent="-365760">
                  <a:spcAft>
                    <a:spcPts val="800"/>
                  </a:spcAft>
                  <a:buClr>
                    <a:srgbClr val="1E40AF"/>
                  </a:buClr>
                  <a:buFont typeface="Arial"/>
                  <a:buChar char="•"/>
                </a:pP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50</m:t>
                        </m:r>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10</m:t>
                                    </m:r>
                                  </m:sup>
                                </m:sSup>
                              </m:den>
                            </m:f>
                          </m:e>
                        </m:d>
                      </m:num>
                      <m:den>
                        <m:r>
                          <a:rPr lang="vi-VN" sz="2400" b="0">
                            <a:solidFill>
                              <a:srgbClr val="1E293B"/>
                            </a:solidFill>
                            <a:latin typeface="Cambria Math" panose="02040503050406030204" pitchFamily="18" charset="0"/>
                          </a:rPr>
                          <m:t>1−</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2</m:t>
                            </m:r>
                          </m:den>
                        </m:f>
                      </m:den>
                    </m:f>
                    <m:r>
                      <a:rPr lang="vi-VN" sz="2400" b="0">
                        <a:solidFill>
                          <a:srgbClr val="1E293B"/>
                        </a:solidFill>
                        <a:latin typeface="Cambria Math" panose="02040503050406030204" pitchFamily="18" charset="0"/>
                      </a:rPr>
                      <m:t>=100</m:t>
                    </m:r>
                    <m:d>
                      <m:dPr>
                        <m:sepChr m:val=""/>
                      </m:dPr>
                      <m:e>
                        <m:r>
                          <a:rPr lang="vi-VN" sz="2400" b="0">
                            <a:solidFill>
                              <a:srgbClr val="1E293B"/>
                            </a:solidFill>
                            <a:latin typeface="Cambria Math" panose="02040503050406030204" pitchFamily="18" charset="0"/>
                          </a:rPr>
                          <m:t>1</m:t>
                        </m:r>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1</m:t>
                            </m:r>
                          </m:num>
                          <m:den>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024</m:t>
                            </m:r>
                          </m:den>
                        </m:f>
                      </m:e>
                    </m:d>
                  </m:oMath>
                </a14:m>
              </a:p>
            </p:txBody>
          </p:sp>
        </mc:Choice>
        <mc:Fallback>
          <p:sp>
            <p:nvSpPr>
              <p:cNvPr id="7" name="TextBox 6"/>
              <p:cNvSpPr txBox="1"/>
              <p:nvPr/>
            </p:nvSpPr>
            <p:spPr>
              <a:xfrm>
                <a:off x="731520" y="1463040"/>
                <a:ext cx="10789920" cy="1725167"/>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lang="vi-VN"/>
                  <a:t>u_1=50</a:t>
                </a:r>
                <a:r>
                  <a:rPr sz="2400">
                    <a:solidFill>
                      <a:srgbClr val="1E293B"/>
                    </a:solidFill>
                    <a:latin typeface="Calibri"/>
                  </a:rPr>
                  <a:t>, </a:t>
                </a:r>
                <a:r>
                  <a:rPr lang="vi-VN"/>
                  <a:t>q=\frac{1}{2}</a:t>
                </a:r>
                <a:r>
                  <a:rPr sz="2400">
                    <a:solidFill>
                      <a:srgbClr val="1E293B"/>
                    </a:solidFill>
                    <a:latin typeface="Calibri"/>
                  </a:rPr>
                  <a:t>, </a:t>
                </a:r>
                <a:r>
                  <a:rPr lang="vi-VN"/>
                  <a:t>n=10</a:t>
                </a:r>
              </a:p>
              <a:p>
                <a:pPr algn="l" marL="365760" indent="-365760">
                  <a:spcAft>
                    <a:spcPts val="800"/>
                  </a:spcAft>
                  <a:buClr>
                    <a:srgbClr val="1E40AF"/>
                  </a:buClr>
                  <a:buFont typeface="Arial"/>
                  <a:buChar char="•"/>
                </a:pPr>
                <a:r>
                  <a:rPr lang="vi-VN"/>
                  <a:t>S_{10}=\frac{50\paren{1-\frac{1}{2^{10}}}}{1-\frac{1}{2}}=100\paren{1-\frac{1}{1\,024}}</a:t>
                </a:r>
              </a:p>
            </p:txBody>
          </p:sp>
        </mc:Fallback>
      </mc:AlternateContent>
      <p:sp>
        <p:nvSpPr>
          <p:cNvPr id="8" name="Rounded Rectangle 7"/>
          <p:cNvSpPr/>
          <p:nvPr/>
        </p:nvSpPr>
        <p:spPr>
          <a:xfrm>
            <a:off x="731520" y="332536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2536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Khoảng 99,9 mg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57</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Ban đầu có 5 000 con vi khuẩn, mỗi giờ tăng thêm 8%. Tính số vi khuẩn sau 5 giờ.</a:t>
                </a:r>
              </a:p>
              <a:p>
                <a:pPr algn="l">
                  <a:spcAft>
                    <a:spcPts val="800"/>
                  </a:spcAft>
                </a:pPr>
                <a:r>
                  <a:rPr sz="2400">
                    <a:solidFill>
                      <a:srgbClr val="1E293B"/>
                    </a:solidFill>
                    <a:latin typeface="Calibri"/>
                  </a:rPr>
                  <a:t>"Số vi khuẩn lập thành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q=1</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08</m:t>
                    </m:r>
                  </m:oMath>
                </a14:m>
                <a:r>
                  <a:rPr sz="2400">
                    <a:solidFill>
                      <a:srgbClr val="1E293B"/>
                    </a:solidFill>
                    <a:latin typeface="Calibri"/>
                  </a:rPr>
                  <a:t>. Sau 5 giờ số vi khuẩn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5</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08</m:t>
                        </m:r>
                      </m:e>
                      <m:sup>
                        <m:r>
                          <a:rPr lang="vi-VN" sz="2400" b="0">
                            <a:solidFill>
                              <a:srgbClr val="1E293B"/>
                            </a:solidFill>
                            <a:latin typeface="Cambria Math" panose="02040503050406030204" pitchFamily="18" charset="0"/>
                          </a:rPr>
                          <m:t>4</m:t>
                        </m:r>
                      </m:sup>
                    </m:sSup>
                    <m:r>
                      <a:rPr lang="vi-VN" sz="2400" b="0">
                        <a:solidFill>
                          <a:srgbClr val="1E293B"/>
                        </a:solidFill>
                        <a:latin typeface="Cambria Math" panose="02040503050406030204" pitchFamily="18" charset="0"/>
                      </a:rPr>
                      <m:t>≈6</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802</m:t>
                    </m:r>
                  </m:oMath>
                </a14:m>
                <a:r>
                  <a:rPr sz="2400">
                    <a:solidFill>
                      <a:srgbClr val="1E293B"/>
                    </a:solidFill>
                    <a:latin typeface="Calibri"/>
                  </a:rPr>
                  <a:t> con."</a:t>
                </a:r>
              </a:p>
              <a:p>
                <a:pPr algn="l">
                  <a:spcAft>
                    <a:spcPts val="800"/>
                  </a:spcAft>
                </a:pPr>
                <a:r>
                  <a:rPr sz="2400" b="1">
                    <a:solidFill>
                      <a:srgbClr val="1E40AF"/>
                    </a:solidFill>
                    <a:latin typeface="Calibri"/>
                  </a:rPr>
                  <a:t>Gợi mở: Ban đầu (0 giờ) là số hạng nào?</a:t>
                </a:r>
              </a:p>
            </p:txBody>
          </p:sp>
        </mc:Choice>
        <mc:Fallback>
          <p:sp>
            <p:nvSpPr>
              <p:cNvPr id="7" name="TextBox 6"/>
              <p:cNvSpPr txBox="1"/>
              <p:nvPr/>
            </p:nvSpPr>
            <p:spPr>
              <a:xfrm>
                <a:off x="731520" y="1463040"/>
                <a:ext cx="10789920" cy="2310383"/>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Ban đầu có 5 000 con vi khuẩn, mỗi giờ tăng thêm 8%. Tính số vi khuẩn sau 5 giờ.</a:t>
                </a:r>
              </a:p>
              <a:p>
                <a:pPr algn="l">
                  <a:spcAft>
                    <a:spcPts val="800"/>
                  </a:spcAft>
                </a:pPr>
                <a:r>
                  <a:rPr sz="2400">
                    <a:solidFill>
                      <a:srgbClr val="1E293B"/>
                    </a:solidFill>
                    <a:latin typeface="Calibri"/>
                  </a:rPr>
                  <a:t>"Số vi khuẩn lập thành cấp số nhân </a:t>
                </a:r>
                <a:r>
                  <a:rPr lang="vi-VN"/>
                  <a:t>u_1=5 000</a:t>
                </a:r>
                <a:r>
                  <a:rPr sz="2400">
                    <a:solidFill>
                      <a:srgbClr val="1E293B"/>
                    </a:solidFill>
                    <a:latin typeface="Calibri"/>
                  </a:rPr>
                  <a:t>, </a:t>
                </a:r>
                <a:r>
                  <a:rPr lang="vi-VN"/>
                  <a:t>q=1,08</a:t>
                </a:r>
                <a:r>
                  <a:rPr sz="2400">
                    <a:solidFill>
                      <a:srgbClr val="1E293B"/>
                    </a:solidFill>
                    <a:latin typeface="Calibri"/>
                  </a:rPr>
                  <a:t>. Sau 5 giờ số vi khuẩn là </a:t>
                </a:r>
                <a:r>
                  <a:rPr lang="vi-VN"/>
                  <a:t>u_5=5 000·1,08^4≈6 802</a:t>
                </a:r>
                <a:r>
                  <a:rPr sz="2400">
                    <a:solidFill>
                      <a:srgbClr val="1E293B"/>
                    </a:solidFill>
                    <a:latin typeface="Calibri"/>
                  </a:rPr>
                  <a:t> con."</a:t>
                </a:r>
              </a:p>
              <a:p>
                <a:pPr algn="l">
                  <a:spcAft>
                    <a:spcPts val="800"/>
                  </a:spcAft>
                </a:pPr>
                <a:r>
                  <a:rPr sz="2400" b="1">
                    <a:solidFill>
                      <a:srgbClr val="1E40AF"/>
                    </a:solidFill>
                    <a:latin typeface="Calibri"/>
                  </a:rPr>
                  <a:t>Gợi mở: Ban đầu (0 giờ) là số hạng nào?</a:t>
                </a: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LẺ</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58</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1: lệch chỉ số –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oMath>
                </a14:m>
                <a:r>
                  <a:rPr sz="2400">
                    <a:solidFill>
                      <a:srgbClr val="1E293B"/>
                    </a:solidFill>
                    <a:latin typeface="Calibri"/>
                  </a:rPr>
                  <a:t> là thời điểm ban đầu (0 giờ) nên sau 5 giờ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08</m:t>
                        </m:r>
                      </m:e>
                      <m:sup>
                        <m:r>
                          <a:rPr lang="vi-VN" sz="2400" b="0">
                            <a:solidFill>
                              <a:srgbClr val="1E293B"/>
                            </a:solidFill>
                            <a:latin typeface="Cambria Math" panose="02040503050406030204" pitchFamily="18" charset="0"/>
                          </a:rPr>
                          <m:t>5</m:t>
                        </m:r>
                      </m:sup>
                    </m:sSup>
                    <m:r>
                      <a:rPr lang="vi-VN" sz="2400" b="0">
                        <a:solidFill>
                          <a:srgbClr val="1E293B"/>
                        </a:solidFill>
                        <a:latin typeface="Cambria Math" panose="02040503050406030204" pitchFamily="18" charset="0"/>
                      </a:rPr>
                      <m:t>≈7</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347</m:t>
                    </m:r>
                  </m:oMath>
                </a14:m>
                <a:r>
                  <a:rPr sz="2400">
                    <a:solidFill>
                      <a:srgbClr val="1E293B"/>
                    </a:solidFill>
                    <a:latin typeface="Calibri"/>
                  </a:rPr>
                  <a:t> con. Kiểm chứng: sau 1 giờ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400=</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oMath>
                </a14:m>
                <a:r>
                  <a:rPr sz="2400">
                    <a:solidFill>
                      <a:srgbClr val="1E293B"/>
                    </a:solidFill>
                    <a:latin typeface="Calibri"/>
                  </a:rPr>
                  <a:t>.</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1: lệch chỉ số – </a:t>
                </a:r>
                <a:r>
                  <a:rPr lang="vi-VN"/>
                  <a:t>u_1</a:t>
                </a:r>
                <a:r>
                  <a:rPr sz="2400">
                    <a:solidFill>
                      <a:srgbClr val="1E293B"/>
                    </a:solidFill>
                    <a:latin typeface="Calibri"/>
                  </a:rPr>
                  <a:t> là thời điểm ban đầu (0 giờ) nên sau 5 giờ là </a:t>
                </a:r>
                <a:r>
                  <a:rPr lang="vi-VN"/>
                  <a:t>u_6=5 000·1,08^5≈7 347</a:t>
                </a:r>
                <a:r>
                  <a:rPr sz="2400">
                    <a:solidFill>
                      <a:srgbClr val="1E293B"/>
                    </a:solidFill>
                    <a:latin typeface="Calibri"/>
                  </a:rPr>
                  <a:t> con. Kiểm chứng: sau 1 giờ là </a:t>
                </a:r>
                <a:r>
                  <a:rPr lang="vi-VN"/>
                  <a:t>5 400=u_2</a:t>
                </a:r>
                <a:r>
                  <a:rPr sz="2400">
                    <a:solidFill>
                      <a:srgbClr val="1E293B"/>
                    </a:solidFill>
                    <a:latin typeface="Calibri"/>
                  </a:rPr>
                  <a:t>.</a:t>
                </a:r>
              </a:p>
            </p:txBody>
          </p:sp>
        </mc:Fallback>
      </mc:AlternateContent>
      <p:sp>
        <p:nvSpPr>
          <p:cNvPr id="8" name="Rounded Rectangle 7"/>
          <p:cNvSpPr/>
          <p:nvPr/>
        </p:nvSpPr>
        <p:spPr>
          <a:xfrm>
            <a:off x="731520" y="250240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Sau 5 giờ: </a:t>
                </a:r>
                <a14:m>
                  <m:oMath xmlns:m="http://schemas.openxmlformats.org/officeDocument/2006/math">
                    <m:sSub>
                      <m:e>
                        <m:r>
                          <a:rPr lang="vi-VN" sz="2400" b="1">
                            <a:solidFill>
                              <a:srgbClr val="991B1B"/>
                            </a:solidFill>
                            <a:latin typeface="Cambria Math" panose="02040503050406030204" pitchFamily="18" charset="0"/>
                          </a:rPr>
                          <m:t>u</m:t>
                        </m:r>
                      </m:e>
                      <m:sub>
                        <m:r>
                          <a:rPr lang="vi-VN" sz="2400" b="1">
                            <a:solidFill>
                              <a:srgbClr val="991B1B"/>
                            </a:solidFill>
                            <a:latin typeface="Cambria Math" panose="02040503050406030204" pitchFamily="18" charset="0"/>
                          </a:rPr>
                          <m:t>6</m:t>
                        </m:r>
                      </m:sub>
                    </m:sSub>
                    <m:r>
                      <a:rPr lang="vi-VN" sz="2400" b="1">
                        <a:solidFill>
                          <a:srgbClr val="991B1B"/>
                        </a:solidFill>
                        <a:latin typeface="Cambria Math" panose="02040503050406030204" pitchFamily="18" charset="0"/>
                      </a:rPr>
                      <m:t>≈7</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347</m:t>
                    </m:r>
                  </m:oMath>
                </a14:m>
                <a:r>
                  <a:rPr sz="2400" b="1">
                    <a:solidFill>
                      <a:srgbClr val="991B1B"/>
                    </a:solidFill>
                    <a:latin typeface="Calibri"/>
                  </a:rPr>
                  <a:t> con</a:t>
                </a:r>
              </a:p>
            </p:txBody>
          </p:sp>
        </mc:Choice>
        <mc:Fallback>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Sau 5 giờ: </a:t>
                </a:r>
                <a:r>
                  <a:rPr lang="vi-VN"/>
                  <a:t>u_6\approx 7\,347</a:t>
                </a:r>
                <a:r>
                  <a:rPr sz="2400" b="1">
                    <a:solidFill>
                      <a:srgbClr val="991B1B"/>
                    </a:solidFill>
                    <a:latin typeface="Calibri"/>
                  </a:rPr>
                  <a:t> con</a:t>
                </a: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59</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2092452"/>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Tính tổng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1">
                        <a:solidFill>
                          <a:srgbClr val="1E40AF"/>
                        </a:solidFill>
                        <a:latin typeface="Cambria Math" panose="02040503050406030204" pitchFamily="18" charset="0"/>
                      </a:rPr>
                      <m:t>S=1+2+4+…+</m:t>
                    </m:r>
                    <m:sSup>
                      <m:e>
                        <m:r>
                          <a:rPr lang="vi-VN" sz="2400" b="1">
                            <a:solidFill>
                              <a:srgbClr val="1E40AF"/>
                            </a:solidFill>
                            <a:latin typeface="Cambria Math" panose="02040503050406030204" pitchFamily="18" charset="0"/>
                          </a:rPr>
                          <m:t>2</m:t>
                        </m:r>
                      </m:e>
                      <m:sup>
                        <m:r>
                          <a:rPr lang="vi-VN" sz="2400" b="1">
                            <a:solidFill>
                              <a:srgbClr val="1E40AF"/>
                            </a:solidFill>
                            <a:latin typeface="Cambria Math" panose="02040503050406030204" pitchFamily="18" charset="0"/>
                          </a:rPr>
                          <m:t>9</m:t>
                        </m:r>
                      </m:sup>
                    </m:sSup>
                  </m:oMath>
                </a14:m>
                <a:r>
                  <a:rPr sz="2400" b="1">
                    <a:solidFill>
                      <a:srgbClr val="1E40AF"/>
                    </a:solidFill>
                    <a:latin typeface="Calibri"/>
                  </a:rPr>
                  <a:t>.</a:t>
                </a:r>
              </a:p>
              <a:p>
                <a:pPr algn="l">
                  <a:spcAft>
                    <a:spcPts val="800"/>
                  </a:spcAft>
                </a:pPr>
                <a:r>
                  <a:rPr sz="2400">
                    <a:solidFill>
                      <a:srgbClr val="1E293B"/>
                    </a:solidFill>
                    <a:latin typeface="Calibri"/>
                  </a:rPr>
                  <a:t>"Đây là tổng cấp số nhân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q=2</m:t>
                    </m:r>
                  </m:oMath>
                </a14:m>
                <a:r>
                  <a:rPr sz="2400">
                    <a:solidFill>
                      <a:srgbClr val="1E293B"/>
                    </a:solidFill>
                    <a:latin typeface="Calibri"/>
                  </a:rPr>
                  <a:t>, số hạng cuối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9</m:t>
                        </m:r>
                      </m:sup>
                    </m:sSup>
                  </m:oMath>
                </a14:m>
                <a:r>
                  <a:rPr sz="2400">
                    <a:solidFill>
                      <a:srgbClr val="1E293B"/>
                    </a:solidFill>
                    <a:latin typeface="Calibri"/>
                  </a:rPr>
                  <a:t> nên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n=9</m:t>
                    </m:r>
                  </m:oMath>
                </a14:m>
                <a:r>
                  <a:rPr sz="2400">
                    <a:solidFill>
                      <a:srgbClr val="1E293B"/>
                    </a:solidFill>
                    <a:latin typeface="Calibri"/>
                  </a:rPr>
                  <a:t>. Vậy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S=</m:t>
                    </m:r>
                    <m:f>
                      <m:fPr>
                        <m:type m:val="bar"/>
                      </m:fPr>
                      <m:num>
                        <m:r>
                          <a:rPr lang="vi-VN" sz="2400" b="0">
                            <a:solidFill>
                              <a:srgbClr val="1E293B"/>
                            </a:solidFill>
                            <a:latin typeface="Cambria Math" panose="02040503050406030204" pitchFamily="18" charset="0"/>
                          </a:rPr>
                          <m:t>1−</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9</m:t>
                            </m:r>
                          </m:sup>
                        </m:sSup>
                      </m:num>
                      <m:den>
                        <m:r>
                          <a:rPr lang="vi-VN" sz="2400" b="0">
                            <a:solidFill>
                              <a:srgbClr val="1E293B"/>
                            </a:solidFill>
                            <a:latin typeface="Cambria Math" panose="02040503050406030204" pitchFamily="18" charset="0"/>
                          </a:rPr>
                          <m:t>1−2</m:t>
                        </m:r>
                      </m:den>
                    </m:f>
                    <m:r>
                      <a:rPr lang="vi-VN" sz="2400" b="0">
                        <a:solidFill>
                          <a:srgbClr val="1E293B"/>
                        </a:solidFill>
                        <a:latin typeface="Cambria Math" panose="02040503050406030204" pitchFamily="18" charset="0"/>
                      </a:rPr>
                      <m:t>=511</m:t>
                    </m:r>
                  </m:oMath>
                </a14:m>
                <a:r>
                  <a:rPr sz="2400">
                    <a:solidFill>
                      <a:srgbClr val="1E293B"/>
                    </a:solidFill>
                    <a:latin typeface="Calibri"/>
                  </a:rPr>
                  <a:t>."</a:t>
                </a:r>
              </a:p>
              <a:p>
                <a:pPr algn="l">
                  <a:spcAft>
                    <a:spcPts val="800"/>
                  </a:spcAft>
                </a:pPr>
                <a:r>
                  <a:rPr sz="2400" b="1">
                    <a:solidFill>
                      <a:srgbClr val="1E40AF"/>
                    </a:solidFill>
                    <a:latin typeface="Calibri"/>
                  </a:rPr>
                  <a:t>Gợi mở: Đếm lại số số hạng của tổng</a:t>
                </a:r>
              </a:p>
            </p:txBody>
          </p:sp>
        </mc:Choice>
        <mc:Fallback>
          <p:sp>
            <p:nvSpPr>
              <p:cNvPr id="7" name="TextBox 6"/>
              <p:cNvSpPr txBox="1"/>
              <p:nvPr/>
            </p:nvSpPr>
            <p:spPr>
              <a:xfrm>
                <a:off x="731520" y="1463040"/>
                <a:ext cx="10789920" cy="2092452"/>
              </a:xfrm>
              <a:prstGeom prst="rect">
                <a:avLst/>
              </a:prstGeom>
              <a:noFill/>
            </p:spPr>
            <p:txBody>
              <a:bodyPr wrap="square" anchor="t" lIns="45720" rIns="45720">
                <a:spAutoFit/>
              </a:bodyPr>
              <a:lstStyle/>
              <a:p>
                <a:pPr algn="l">
                  <a:spcAft>
                    <a:spcPts val="800"/>
                  </a:spcAft>
                </a:pPr>
                <a:r>
                  <a:rPr sz="2400" b="1">
                    <a:solidFill>
                      <a:srgbClr val="1E40AF"/>
                    </a:solidFill>
                    <a:latin typeface="Calibri"/>
                  </a:rPr>
                  <a:t>Đề: Tính tổng </a:t>
                </a:r>
                <a:r>
                  <a:rPr lang="vi-VN"/>
                  <a:t>S=1+2+4+…+2^9</a:t>
                </a:r>
                <a:r>
                  <a:rPr sz="2400" b="1">
                    <a:solidFill>
                      <a:srgbClr val="1E40AF"/>
                    </a:solidFill>
                    <a:latin typeface="Calibri"/>
                  </a:rPr>
                  <a:t>.</a:t>
                </a:r>
              </a:p>
              <a:p>
                <a:pPr algn="l">
                  <a:spcAft>
                    <a:spcPts val="800"/>
                  </a:spcAft>
                </a:pPr>
                <a:r>
                  <a:rPr sz="2400">
                    <a:solidFill>
                      <a:srgbClr val="1E293B"/>
                    </a:solidFill>
                    <a:latin typeface="Calibri"/>
                  </a:rPr>
                  <a:t>"Đây là tổng cấp số nhân </a:t>
                </a:r>
                <a:r>
                  <a:rPr lang="vi-VN"/>
                  <a:t>u_1=1</a:t>
                </a:r>
                <a:r>
                  <a:rPr sz="2400">
                    <a:solidFill>
                      <a:srgbClr val="1E293B"/>
                    </a:solidFill>
                    <a:latin typeface="Calibri"/>
                  </a:rPr>
                  <a:t>, </a:t>
                </a:r>
                <a:r>
                  <a:rPr lang="vi-VN"/>
                  <a:t>q=2</a:t>
                </a:r>
                <a:r>
                  <a:rPr sz="2400">
                    <a:solidFill>
                      <a:srgbClr val="1E293B"/>
                    </a:solidFill>
                    <a:latin typeface="Calibri"/>
                  </a:rPr>
                  <a:t>, số hạng cuối </a:t>
                </a:r>
                <a:r>
                  <a:rPr lang="vi-VN"/>
                  <a:t>2^9</a:t>
                </a:r>
                <a:r>
                  <a:rPr sz="2400">
                    <a:solidFill>
                      <a:srgbClr val="1E293B"/>
                    </a:solidFill>
                    <a:latin typeface="Calibri"/>
                  </a:rPr>
                  <a:t> nên </a:t>
                </a:r>
                <a:r>
                  <a:rPr lang="vi-VN"/>
                  <a:t>n=9</a:t>
                </a:r>
                <a:r>
                  <a:rPr sz="2400">
                    <a:solidFill>
                      <a:srgbClr val="1E293B"/>
                    </a:solidFill>
                    <a:latin typeface="Calibri"/>
                  </a:rPr>
                  <a:t>. Vậy </a:t>
                </a:r>
                <a:r>
                  <a:rPr lang="vi-VN"/>
                  <a:t>S=(1−2^9)/(1−2)=511</a:t>
                </a:r>
                <a:r>
                  <a:rPr sz="2400">
                    <a:solidFill>
                      <a:srgbClr val="1E293B"/>
                    </a:solidFill>
                    <a:latin typeface="Calibri"/>
                  </a:rPr>
                  <a:t>."</a:t>
                </a:r>
              </a:p>
              <a:p>
                <a:pPr algn="l">
                  <a:spcAft>
                    <a:spcPts val="800"/>
                  </a:spcAft>
                </a:pPr>
                <a:r>
                  <a:rPr sz="2400" b="1">
                    <a:solidFill>
                      <a:srgbClr val="1E40AF"/>
                    </a:solidFill>
                    <a:latin typeface="Calibri"/>
                  </a:rPr>
                  <a:t>Gợi mở: Đếm lại số số hạng của tổng</a:t>
                </a: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TRẠM KIỂM CHỨNG AI: NHÓM CHẴN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60</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2: đếm sai số số hạng – các số hạng là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0</m:t>
                        </m:r>
                      </m:sup>
                    </m:sSup>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m:t>
                        </m:r>
                      </m:sup>
                    </m:sSup>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m:t>
                    </m:r>
                    <m:r>
                      <m:rPr>
                        <m:sty m:val="p"/>
                      </m:rPr>
                      <a:rPr lang="vi-VN" sz="2400" b="0">
                        <a:solidFill>
                          <a:srgbClr val="1E293B"/>
                        </a:solidFill>
                        <a:latin typeface="Cambria Math" panose="02040503050406030204" pitchFamily="18" charset="0"/>
                      </a:rPr>
                      <m:t> </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9</m:t>
                        </m:r>
                      </m:sup>
                    </m:sSup>
                  </m:oMath>
                </a14:m>
                <a:r>
                  <a:rPr sz="2400">
                    <a:solidFill>
                      <a:srgbClr val="1E293B"/>
                    </a:solidFill>
                    <a:latin typeface="Calibri"/>
                  </a:rPr>
                  <a:t> nên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n=10</m:t>
                    </m:r>
                  </m:oMath>
                </a14:m>
                <a:r>
                  <a:rPr sz="2400">
                    <a:solidFill>
                      <a:srgbClr val="1E293B"/>
                    </a:solidFill>
                    <a:latin typeface="Calibri"/>
                  </a:rPr>
                  <a:t>. Đúng: </a:t>
                </a:r>
                <a14:m>
                  <m:oMath xmlns:m="http://schemas.openxmlformats.org/officeDocument/2006/math" xmlns:wpc="http://schemas.microsoft.com/office/word/2010/wordprocessingCanvas" xmlns:mo="http://schemas.microsoft.com/office/mac/office/2008/main" xmlns:mv="urn:schemas-microsoft-com:mac:vml" xmlns:o="urn:schemas-microsoft-com:office:office"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pg="http://schemas.microsoft.com/office/word/2010/wordprocessingGroup" xmlns:wpi="http://schemas.microsoft.com/office/word/2010/wordprocessingInk" xmlns:wne="http://schemas.microsoft.com/office/word/2006/wordml" xmlns:wps="http://schemas.microsoft.com/office/word/2010/wordprocessingShape">
                    <m:r>
                      <a:rPr lang="vi-VN" sz="2400" b="0">
                        <a:solidFill>
                          <a:srgbClr val="1E293B"/>
                        </a:solidFill>
                        <a:latin typeface="Cambria Math" panose="02040503050406030204" pitchFamily="18" charset="0"/>
                      </a:rPr>
                      <m:t>S=</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−1=1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023</m:t>
                    </m:r>
                  </m:oMath>
                </a14:m>
                <a:r>
                  <a:rPr sz="2400">
                    <a:solidFill>
                      <a:srgbClr val="1E293B"/>
                    </a:solidFill>
                    <a:latin typeface="Calibri"/>
                  </a:rPr>
                  <a:t>.</a:t>
                </a:r>
              </a:p>
            </p:txBody>
          </p:sp>
        </mc:Choice>
        <mc:Fallback>
          <p:sp>
            <p:nvSpPr>
              <p:cNvPr id="7" name="TextBox 6"/>
              <p:cNvSpPr txBox="1"/>
              <p:nvPr/>
            </p:nvSpPr>
            <p:spPr>
              <a:xfrm>
                <a:off x="731520" y="1463040"/>
                <a:ext cx="10789920" cy="902208"/>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Lời giải số 2: đếm sai số số hạng – các số hạng là </a:t>
                </a:r>
                <a:r>
                  <a:rPr lang="vi-VN"/>
                  <a:t>2^0, 2^1, …, 2^9</a:t>
                </a:r>
                <a:r>
                  <a:rPr sz="2400">
                    <a:solidFill>
                      <a:srgbClr val="1E293B"/>
                    </a:solidFill>
                    <a:latin typeface="Calibri"/>
                  </a:rPr>
                  <a:t> nên </a:t>
                </a:r>
                <a:r>
                  <a:rPr lang="vi-VN"/>
                  <a:t>n=10</a:t>
                </a:r>
                <a:r>
                  <a:rPr sz="2400">
                    <a:solidFill>
                      <a:srgbClr val="1E293B"/>
                    </a:solidFill>
                    <a:latin typeface="Calibri"/>
                  </a:rPr>
                  <a:t>. Đúng: </a:t>
                </a:r>
                <a:r>
                  <a:rPr lang="vi-VN"/>
                  <a:t>S=2^10−1=1 023</a:t>
                </a:r>
                <a:r>
                  <a:rPr sz="2400">
                    <a:solidFill>
                      <a:srgbClr val="1E293B"/>
                    </a:solidFill>
                    <a:latin typeface="Calibri"/>
                  </a:rPr>
                  <a:t>.</a:t>
                </a:r>
              </a:p>
            </p:txBody>
          </p:sp>
        </mc:Fallback>
      </mc:AlternateContent>
      <p:sp>
        <p:nvSpPr>
          <p:cNvPr id="8" name="Rounded Rectangle 7"/>
          <p:cNvSpPr/>
          <p:nvPr/>
        </p:nvSpPr>
        <p:spPr>
          <a:xfrm>
            <a:off x="731520" y="2502408"/>
            <a:ext cx="9601200" cy="7315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14:m>
                  <m:oMath xmlns:m="http://schemas.openxmlformats.org/officeDocument/2006/math">
                    <m:r>
                      <a:rPr lang="vi-VN" sz="2400" b="1">
                        <a:solidFill>
                          <a:srgbClr val="991B1B"/>
                        </a:solidFill>
                        <a:latin typeface="Cambria Math" panose="02040503050406030204" pitchFamily="18" charset="0"/>
                      </a:rPr>
                      <m:t>S=</m:t>
                    </m:r>
                    <m:sSup>
                      <m:e>
                        <m:r>
                          <a:rPr lang="vi-VN" sz="2400" b="1">
                            <a:solidFill>
                              <a:srgbClr val="991B1B"/>
                            </a:solidFill>
                            <a:latin typeface="Cambria Math" panose="02040503050406030204" pitchFamily="18" charset="0"/>
                          </a:rPr>
                          <m:t>2</m:t>
                        </m:r>
                      </m:e>
                      <m:sup>
                        <m:r>
                          <a:rPr lang="vi-VN" sz="2400" b="1">
                            <a:solidFill>
                              <a:srgbClr val="991B1B"/>
                            </a:solidFill>
                            <a:latin typeface="Cambria Math" panose="02040503050406030204" pitchFamily="18" charset="0"/>
                          </a:rPr>
                          <m:t>10</m:t>
                        </m:r>
                      </m:sup>
                    </m:sSup>
                    <m:r>
                      <a:rPr lang="vi-VN" sz="2400" b="1">
                        <a:solidFill>
                          <a:srgbClr val="991B1B"/>
                        </a:solidFill>
                        <a:latin typeface="Cambria Math" panose="02040503050406030204" pitchFamily="18" charset="0"/>
                      </a:rPr>
                      <m:t>−1=1</m:t>
                    </m:r>
                    <m:r>
                      <m:rPr>
                        <m:sty m:val="p"/>
                      </m:rPr>
                      <a:rPr lang="vi-VN" sz="2400" b="1">
                        <a:solidFill>
                          <a:srgbClr val="991B1B"/>
                        </a:solidFill>
                        <a:latin typeface="Cambria Math" panose="02040503050406030204" pitchFamily="18" charset="0"/>
                      </a:rPr>
                      <m:t> </m:t>
                    </m:r>
                    <m:r>
                      <a:rPr lang="vi-VN" sz="2400" b="1">
                        <a:solidFill>
                          <a:srgbClr val="991B1B"/>
                        </a:solidFill>
                        <a:latin typeface="Cambria Math" panose="02040503050406030204" pitchFamily="18" charset="0"/>
                      </a:rPr>
                      <m:t>023</m:t>
                    </m:r>
                  </m:oMath>
                </a14:m>
              </a:p>
            </p:txBody>
          </p:sp>
        </mc:Choice>
        <mc:Fallback>
          <p:sp>
            <p:nvSpPr>
              <p:cNvPr id="9" name="TextBox 8"/>
              <p:cNvSpPr txBox="1"/>
              <p:nvPr/>
            </p:nvSpPr>
            <p:spPr>
              <a:xfrm>
                <a:off x="914400" y="2502408"/>
                <a:ext cx="9235440" cy="731520"/>
              </a:xfrm>
              <a:prstGeom prst="rect">
                <a:avLst/>
              </a:prstGeom>
              <a:noFill/>
            </p:spPr>
            <p:txBody>
              <a:bodyPr wrap="square" anchor="ctr" lIns="45720" rIns="45720">
                <a:spAutoFit/>
              </a:bodyPr>
              <a:lstStyle/>
              <a:p>
                <a:pPr algn="l">
                  <a:spcAft>
                    <a:spcPts val="400"/>
                  </a:spcAft>
                </a:pPr>
                <a:r>
                  <a:rPr sz="2400" b="1">
                    <a:solidFill>
                      <a:srgbClr val="991B1B"/>
                    </a:solidFill>
                    <a:latin typeface="Calibri"/>
                  </a:rPr>
                  <a:t> </a:t>
                </a:r>
                <a:r>
                  <a:rPr lang="vi-VN"/>
                  <a:t>S=2^{10}-1=1\,023</a:t>
                </a: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822960" y="2651760"/>
            <a:ext cx="128016" cy="1371600"/>
          </a:xfrm>
          <a:prstGeom prst="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468880"/>
            <a:ext cx="10058400" cy="1097280"/>
          </a:xfrm>
          <a:prstGeom prst="rect">
            <a:avLst/>
          </a:prstGeom>
          <a:noFill/>
        </p:spPr>
        <p:txBody>
          <a:bodyPr wrap="square">
            <a:spAutoFit/>
          </a:bodyPr>
          <a:lstStyle/>
          <a:p>
            <a:r>
              <a:rPr sz="4000" b="1">
                <a:solidFill>
                  <a:srgbClr val="1E40AF"/>
                </a:solidFill>
                <a:latin typeface="Arial"/>
              </a:rPr>
              <a:t>VẬN DỤNG</a:t>
            </a:r>
          </a:p>
        </p:txBody>
      </p:sp>
      <p:sp>
        <p:nvSpPr>
          <p:cNvPr id="4" name="TextBox 3"/>
          <p:cNvSpPr txBox="1"/>
          <p:nvPr/>
        </p:nvSpPr>
        <p:spPr>
          <a:xfrm>
            <a:off x="1188720" y="3474720"/>
            <a:ext cx="10058400" cy="731520"/>
          </a:xfrm>
          <a:prstGeom prst="rect">
            <a:avLst/>
          </a:prstGeom>
          <a:noFill/>
        </p:spPr>
        <p:txBody>
          <a:bodyPr wrap="square" anchor="t" lIns="45720" rIns="45720">
            <a:spAutoFit/>
          </a:bodyPr>
          <a:lstStyle/>
          <a:p>
            <a:pPr algn="l">
              <a:spcAft>
                <a:spcPts val="800"/>
              </a:spcAft>
            </a:pPr>
            <a:r>
              <a:rPr sz="2200">
                <a:solidFill>
                  <a:srgbClr val="64748B"/>
                </a:solidFill>
                <a:latin typeface="Calibri"/>
              </a:rPr>
              <a:t>Tiết 2 (T16)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CHỌN PHƯƠNG ÁN LƯƠNG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62</a:t>
            </a:r>
          </a:p>
        </p:txBody>
      </p:sp>
      <p:sp>
        <p:nvSpPr>
          <p:cNvPr id="7" name="TextBox 6"/>
          <p:cNvSpPr txBox="1"/>
          <p:nvPr/>
        </p:nvSpPr>
        <p:spPr>
          <a:xfrm>
            <a:off x="731520" y="1463040"/>
            <a:ext cx="10789920" cy="1925828"/>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nhà máy tuyển thêm công nhân vào làm việc trong thời hạn ba năm và đưa ra hai phương án lựa chọn về lương như sau: – Phương án 1: Lương tháng khởi điểm là 5 triệu đồng và sau mỗi quý, lương tháng sẽ tăng thêm 500 nghìn đồng. – Phương án 2: Lương tháng khởi điểm là 5 triệu đồng và sau mỗi quý, lương tháng sẽ tăng thêm 5%.</a:t>
            </a:r>
            <a:r>
              <a:rPr sz="2200">
                <a:solidFill>
                  <a:srgbClr val="1E293B"/>
                </a:solidFill>
                <a:latin typeface="Calibri"/>
              </a:rPr>
              <a:t>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ĐỀ BÀI</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63</a:t>
            </a:r>
          </a:p>
        </p:txBody>
      </p:sp>
      <p:sp>
        <p:nvSpPr>
          <p:cNvPr id="7" name="TextBox 6"/>
          <p:cNvSpPr txBox="1"/>
          <p:nvPr/>
        </p:nvSpPr>
        <p:spPr>
          <a:xfrm>
            <a:off x="731520" y="1463040"/>
            <a:ext cx="10789920" cy="1309116"/>
          </a:xfrm>
          <a:prstGeom prst="rect">
            <a:avLst/>
          </a:prstGeom>
          <a:noFill/>
        </p:spPr>
        <p:txBody>
          <a:bodyPr wrap="square" anchor="t" lIns="45720" rIns="45720">
            <a:spAutoFit/>
          </a:bodyPr>
          <a:lstStyle/>
          <a:p>
            <a:pPr algn="l">
              <a:spcAft>
                <a:spcPts val="800"/>
              </a:spcAft>
            </a:pPr>
            <a:r>
              <a:rPr sz="2200">
                <a:solidFill>
                  <a:srgbClr val="1E293B"/>
                </a:solidFill>
                <a:latin typeface="Calibri"/>
              </a:rPr>
              <a:t>Với phương án nào thì tổng lương nhận được sau ba năm làm việc của người công nhân sẽ lớn hơn?</a:t>
            </a:r>
            <a:r>
              <a:rPr sz="2200">
                <a:solidFill>
                  <a:srgbClr val="1E293B"/>
                </a:solidFill>
                <a:latin typeface="Calibri"/>
              </a:rPr>
              <a:t> </a:t>
            </a:r>
          </a:p>
          <a:p>
            <a:pPr algn="l">
              <a:spcAft>
                <a:spcPts val="800"/>
              </a:spcAft>
            </a:pPr>
            <a:r>
              <a:rPr sz="2200" b="1">
                <a:solidFill>
                  <a:srgbClr val="1E40AF"/>
                </a:solidFill>
                <a:latin typeface="Calibri"/>
              </a:rPr>
              <a:t>Gợi mở: 3 năm có bao nhiêu quý? Mỗi quý có 3 tháng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CHỌN PHƯƠNG ÁN LƯƠNG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64</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58229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3 năm = 12 quý; lương mỗi quý = 3 × lương tháng</a:t>
                </a:r>
              </a:p>
              <a:p>
                <a:pPr algn="l" marL="365760" indent="-365760">
                  <a:spcAft>
                    <a:spcPts val="800"/>
                  </a:spcAft>
                  <a:buClr>
                    <a:srgbClr val="1E40AF"/>
                  </a:buClr>
                  <a:buFont typeface="Arial"/>
                  <a:buChar char="•"/>
                </a:pPr>
                <a:r>
                  <a:rPr sz="2200">
                    <a:solidFill>
                      <a:srgbClr val="1E293B"/>
                    </a:solidFill>
                    <a:latin typeface="Calibri"/>
                  </a:rPr>
                  <a:t>PA1: lương tháng theo quý là cấp số cộng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d=0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m:t>
                    </m:r>
                  </m:oMath>
                </a14:m>
              </a:p>
              <a:p>
                <a:pPr algn="l" marL="365760" indent="-365760">
                  <a:spcAft>
                    <a:spcPts val="800"/>
                  </a:spcAft>
                  <a:buClr>
                    <a:srgbClr val="1E40AF"/>
                  </a:buClr>
                  <a:buFont typeface="Arial"/>
                  <a:buChar char="•"/>
                </a:pPr>
                <a:r>
                  <a:rPr sz="2200">
                    <a:solidFill>
                      <a:srgbClr val="1E293B"/>
                    </a:solidFill>
                    <a:latin typeface="Calibri"/>
                  </a:rPr>
                  <a:t>Tổng: </a:t>
                </a:r>
                <a14:m>
                  <m:oMath xmlns:m="http://schemas.openxmlformats.org/officeDocument/2006/math">
                    <m:r>
                      <a:rPr lang="vi-VN" sz="2200" b="0">
                        <a:solidFill>
                          <a:srgbClr val="1E293B"/>
                        </a:solidFill>
                        <a:latin typeface="Cambria Math" panose="02040503050406030204" pitchFamily="18" charset="0"/>
                      </a:rPr>
                      <m:t>3·</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12</m:t>
                        </m:r>
                      </m:sub>
                    </m:sSub>
                    <m:r>
                      <a:rPr lang="vi-VN" sz="2200" b="0">
                        <a:solidFill>
                          <a:srgbClr val="1E293B"/>
                        </a:solidFill>
                        <a:latin typeface="Cambria Math" panose="02040503050406030204" pitchFamily="18" charset="0"/>
                      </a:rPr>
                      <m:t>=3·</m:t>
                    </m:r>
                    <m:f>
                      <m:fPr>
                        <m:type m:val="bar"/>
                      </m:fPr>
                      <m:num>
                        <m:r>
                          <a:rPr lang="vi-VN" sz="2200" b="0">
                            <a:solidFill>
                              <a:srgbClr val="1E293B"/>
                            </a:solidFill>
                            <a:latin typeface="Cambria Math" panose="02040503050406030204" pitchFamily="18" charset="0"/>
                          </a:rPr>
                          <m:t>12</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[10+11·0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5]=279</m:t>
                    </m:r>
                  </m:oMath>
                </a14:m>
                <a:r>
                  <a:rPr sz="2200">
                    <a:solidFill>
                      <a:srgbClr val="1E293B"/>
                    </a:solidFill>
                    <a:latin typeface="Calibri"/>
                  </a:rPr>
                  <a:t> (triệu đồng)</a:t>
                </a:r>
              </a:p>
            </p:txBody>
          </p:sp>
        </mc:Choice>
        <mc:Fallback>
          <p:sp>
            <p:nvSpPr>
              <p:cNvPr id="7" name="TextBox 6"/>
              <p:cNvSpPr txBox="1"/>
              <p:nvPr/>
            </p:nvSpPr>
            <p:spPr>
              <a:xfrm>
                <a:off x="731520" y="1463040"/>
                <a:ext cx="10789920" cy="1582293"/>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3 năm = 12 quý; lương mỗi quý = 3 × lương tháng</a:t>
                </a:r>
              </a:p>
              <a:p>
                <a:pPr algn="l" marL="365760" indent="-365760">
                  <a:spcAft>
                    <a:spcPts val="800"/>
                  </a:spcAft>
                  <a:buClr>
                    <a:srgbClr val="1E40AF"/>
                  </a:buClr>
                  <a:buFont typeface="Arial"/>
                  <a:buChar char="•"/>
                </a:pPr>
                <a:r>
                  <a:rPr sz="2200">
                    <a:solidFill>
                      <a:srgbClr val="1E293B"/>
                    </a:solidFill>
                    <a:latin typeface="Calibri"/>
                  </a:rPr>
                  <a:t>PA1: lương tháng theo quý là cấp số cộng </a:t>
                </a:r>
                <a:r>
                  <a:rPr lang="vi-VN"/>
                  <a:t>u_1=5</a:t>
                </a:r>
                <a:r>
                  <a:rPr sz="2200">
                    <a:solidFill>
                      <a:srgbClr val="1E293B"/>
                    </a:solidFill>
                    <a:latin typeface="Calibri"/>
                  </a:rPr>
                  <a:t>, </a:t>
                </a:r>
                <a:r>
                  <a:rPr lang="vi-VN"/>
                  <a:t>d=0{,}5</a:t>
                </a:r>
              </a:p>
              <a:p>
                <a:pPr algn="l" marL="365760" indent="-365760">
                  <a:spcAft>
                    <a:spcPts val="800"/>
                  </a:spcAft>
                  <a:buClr>
                    <a:srgbClr val="1E40AF"/>
                  </a:buClr>
                  <a:buFont typeface="Arial"/>
                  <a:buChar char="•"/>
                </a:pPr>
                <a:r>
                  <a:rPr sz="2200">
                    <a:solidFill>
                      <a:srgbClr val="1E293B"/>
                    </a:solidFill>
                    <a:latin typeface="Calibri"/>
                  </a:rPr>
                  <a:t>Tổng: </a:t>
                </a:r>
                <a:r>
                  <a:rPr lang="vi-VN"/>
                  <a:t>3\cdot S_{12}=3\cdot\frac{12}{2}[10+11\cdot 0{,}5]=279</a:t>
                </a:r>
                <a:r>
                  <a:rPr sz="2200">
                    <a:solidFill>
                      <a:srgbClr val="1E293B"/>
                    </a:solidFill>
                    <a:latin typeface="Calibri"/>
                  </a:rPr>
                  <a:t> (triệu đồng)</a:t>
                </a: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LỜI GIẢI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600" b="1">
                <a:solidFill>
                  <a:srgbClr val="1E40AF"/>
                </a:solidFill>
                <a:latin typeface="Arial"/>
              </a:rPr>
              <a:t>VẬN DỤNG (TIẾP)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65</a:t>
            </a:r>
          </a:p>
        </p:txBody>
      </p:sp>
      <mc:AlternateContent xmlns:mc="http://schemas.openxmlformats.org/markup-compatibility/2006">
        <mc:Choice xmlns:a14="http://schemas.microsoft.com/office/drawing/2010/main" Requires="a14">
          <p:sp>
            <p:nvSpPr>
              <p:cNvPr id="7" name="TextBox 6"/>
              <p:cNvSpPr txBox="1"/>
              <p:nvPr/>
            </p:nvSpPr>
            <p:spPr>
              <a:xfrm>
                <a:off x="731520" y="1463040"/>
                <a:ext cx="10789920" cy="110934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PA2: cấp số nhân </a:t>
                </a:r>
                <a14:m>
                  <m:oMath xmlns:m="http://schemas.openxmlformats.org/officeDocument/2006/math">
                    <m:sSub>
                      <m:e>
                        <m:r>
                          <a:rPr lang="vi-VN" sz="2200" b="0">
                            <a:solidFill>
                              <a:srgbClr val="1E293B"/>
                            </a:solidFill>
                            <a:latin typeface="Cambria Math" panose="02040503050406030204" pitchFamily="18" charset="0"/>
                          </a:rPr>
                          <m:t>v</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=5</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q=1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05</m:t>
                    </m:r>
                  </m:oMath>
                </a14:m>
              </a:p>
              <a:p>
                <a:pPr algn="l" marL="365760" indent="-365760">
                  <a:spcAft>
                    <a:spcPts val="800"/>
                  </a:spcAft>
                  <a:buClr>
                    <a:srgbClr val="1E40AF"/>
                  </a:buClr>
                  <a:buFont typeface="Arial"/>
                  <a:buChar char="•"/>
                </a:pPr>
                <a:r>
                  <a:rPr sz="2200">
                    <a:solidFill>
                      <a:srgbClr val="1E293B"/>
                    </a:solidFill>
                    <a:latin typeface="Calibri"/>
                  </a:rPr>
                  <a:t>Tổng: </a:t>
                </a:r>
                <a14:m>
                  <m:oMath xmlns:m="http://schemas.openxmlformats.org/officeDocument/2006/math">
                    <m:r>
                      <a:rPr lang="vi-VN" sz="2200" b="0">
                        <a:solidFill>
                          <a:srgbClr val="1E293B"/>
                        </a:solidFill>
                        <a:latin typeface="Cambria Math" panose="02040503050406030204" pitchFamily="18" charset="0"/>
                      </a:rPr>
                      <m:t>3·</m:t>
                    </m:r>
                    <m:f>
                      <m:fPr>
                        <m:type m:val="bar"/>
                      </m:fPr>
                      <m:num>
                        <m:r>
                          <a:rPr lang="vi-VN" sz="2200" b="0">
                            <a:solidFill>
                              <a:srgbClr val="1E293B"/>
                            </a:solidFill>
                            <a:latin typeface="Cambria Math" panose="02040503050406030204" pitchFamily="18" charset="0"/>
                          </a:rPr>
                          <m:t>5(1−1</m:t>
                        </m:r>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05</m:t>
                            </m:r>
                          </m:e>
                          <m:sup>
                            <m:r>
                              <a:rPr lang="vi-VN" sz="2200" b="0">
                                <a:solidFill>
                                  <a:srgbClr val="1E293B"/>
                                </a:solidFill>
                                <a:latin typeface="Cambria Math" panose="02040503050406030204" pitchFamily="18" charset="0"/>
                              </a:rPr>
                              <m:t>12</m:t>
                            </m:r>
                          </m:sup>
                        </m:sSup>
                        <m:r>
                          <a:rPr lang="vi-VN" sz="2200" b="0">
                            <a:solidFill>
                              <a:srgbClr val="1E293B"/>
                            </a:solidFill>
                            <a:latin typeface="Cambria Math" panose="02040503050406030204" pitchFamily="18" charset="0"/>
                          </a:rPr>
                          <m:t>)</m:t>
                        </m:r>
                      </m:num>
                      <m:den>
                        <m:r>
                          <a:rPr lang="vi-VN" sz="2200" b="0">
                            <a:solidFill>
                              <a:srgbClr val="1E293B"/>
                            </a:solidFill>
                            <a:latin typeface="Cambria Math" panose="02040503050406030204" pitchFamily="18" charset="0"/>
                          </a:rPr>
                          <m:t>1−1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05</m:t>
                        </m:r>
                      </m:den>
                    </m:f>
                    <m:r>
                      <a:rPr lang="vi-VN" sz="2200" b="0">
                        <a:solidFill>
                          <a:srgbClr val="1E293B"/>
                        </a:solidFill>
                        <a:latin typeface="Cambria Math" panose="02040503050406030204" pitchFamily="18" charset="0"/>
                      </a:rPr>
                      <m:t>≈238</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76</m:t>
                    </m:r>
                  </m:oMath>
                </a14:m>
                <a:r>
                  <a:rPr sz="2200">
                    <a:solidFill>
                      <a:srgbClr val="1E293B"/>
                    </a:solidFill>
                    <a:latin typeface="Calibri"/>
                  </a:rPr>
                  <a:t> (triệu đồng)</a:t>
                </a:r>
              </a:p>
            </p:txBody>
          </p:sp>
        </mc:Choice>
        <mc:Fallback>
          <p:sp>
            <p:nvSpPr>
              <p:cNvPr id="7" name="TextBox 6"/>
              <p:cNvSpPr txBox="1"/>
              <p:nvPr/>
            </p:nvSpPr>
            <p:spPr>
              <a:xfrm>
                <a:off x="731520" y="1463040"/>
                <a:ext cx="10789920" cy="1109345"/>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PA2: cấp số nhân </a:t>
                </a:r>
                <a:r>
                  <a:rPr lang="vi-VN"/>
                  <a:t>v_1=5</a:t>
                </a:r>
                <a:r>
                  <a:rPr sz="2200">
                    <a:solidFill>
                      <a:srgbClr val="1E293B"/>
                    </a:solidFill>
                    <a:latin typeface="Calibri"/>
                  </a:rPr>
                  <a:t>, </a:t>
                </a:r>
                <a:r>
                  <a:rPr lang="vi-VN"/>
                  <a:t>q=1{,}05</a:t>
                </a:r>
              </a:p>
              <a:p>
                <a:pPr algn="l" marL="365760" indent="-365760">
                  <a:spcAft>
                    <a:spcPts val="800"/>
                  </a:spcAft>
                  <a:buClr>
                    <a:srgbClr val="1E40AF"/>
                  </a:buClr>
                  <a:buFont typeface="Arial"/>
                  <a:buChar char="•"/>
                </a:pPr>
                <a:r>
                  <a:rPr sz="2200">
                    <a:solidFill>
                      <a:srgbClr val="1E293B"/>
                    </a:solidFill>
                    <a:latin typeface="Calibri"/>
                  </a:rPr>
                  <a:t>Tổng: </a:t>
                </a:r>
                <a:r>
                  <a:rPr lang="vi-VN"/>
                  <a:t>3\cdot\frac{5(1-1{,}05^{12})}{1-1{,}05}\approx 238{,}76</a:t>
                </a:r>
                <a:r>
                  <a:rPr sz="2200">
                    <a:solidFill>
                      <a:srgbClr val="1E293B"/>
                    </a:solidFill>
                    <a:latin typeface="Calibri"/>
                  </a:rPr>
                  <a:t> (triệu đồng)</a:t>
                </a:r>
              </a:p>
            </p:txBody>
          </p:sp>
        </mc:Fallback>
      </mc:AlternateContent>
      <p:sp>
        <p:nvSpPr>
          <p:cNvPr id="8" name="Rounded Rectangle 7"/>
          <p:cNvSpPr/>
          <p:nvPr/>
        </p:nvSpPr>
        <p:spPr>
          <a:xfrm>
            <a:off x="731520" y="2709545"/>
            <a:ext cx="9601200" cy="693420"/>
          </a:xfrm>
          <a:prstGeom prst="roundRect">
            <a:avLst>
              <a:gd name="adj" fmla="val 8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709545"/>
            <a:ext cx="9235440" cy="693420"/>
          </a:xfrm>
          <a:prstGeom prst="rect">
            <a:avLst/>
          </a:prstGeom>
          <a:noFill/>
        </p:spPr>
        <p:txBody>
          <a:bodyPr wrap="square" anchor="ctr" lIns="45720" rIns="45720">
            <a:spAutoFit/>
          </a:bodyPr>
          <a:lstStyle/>
          <a:p>
            <a:pPr algn="l">
              <a:spcAft>
                <a:spcPts val="400"/>
              </a:spcAft>
            </a:pPr>
            <a:r>
              <a:rPr sz="2200" b="1">
                <a:solidFill>
                  <a:srgbClr val="991B1B"/>
                </a:solidFill>
                <a:latin typeface="Calibri"/>
              </a:rPr>
              <a:t>Phương án 1 cho tổng lương lớn hơn</a:t>
            </a:r>
          </a:p>
        </p:txBody>
      </p:sp>
      <p:pic>
        <p:nvPicPr>
          <p:cNvPr id="10" name="Picture 9" descr="img03.png"/>
          <p:cNvPicPr>
            <a:picLocks noChangeAspect="1"/>
          </p:cNvPicPr>
          <p:nvPr/>
        </p:nvPicPr>
        <p:blipFill>
          <a:blip r:embed="rId2"/>
          <a:stretch>
            <a:fillRect/>
          </a:stretch>
        </p:blipFill>
        <p:spPr>
          <a:xfrm>
            <a:off x="3017306" y="3540125"/>
            <a:ext cx="6126908" cy="2723515"/>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701223" y="457200"/>
            <a:ext cx="941832"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Arial"/>
              </a:rPr>
              <a:t>VỀ NHÀ</a:t>
            </a:r>
          </a:p>
        </p:txBody>
      </p:sp>
      <p:sp>
        <p:nvSpPr>
          <p:cNvPr id="4" name="TextBox 3"/>
          <p:cNvSpPr txBox="1"/>
          <p:nvPr/>
        </p:nvSpPr>
        <p:spPr>
          <a:xfrm>
            <a:off x="731520" y="274320"/>
            <a:ext cx="10030968" cy="868680"/>
          </a:xfrm>
          <a:prstGeom prst="rect">
            <a:avLst/>
          </a:prstGeom>
          <a:noFill/>
        </p:spPr>
        <p:txBody>
          <a:bodyPr wrap="square" anchor="ctr">
            <a:spAutoFit/>
          </a:bodyPr>
          <a:lstStyle/>
          <a:p>
            <a:r>
              <a:rPr sz="3600" b="1">
                <a:solidFill>
                  <a:srgbClr val="1E40AF"/>
                </a:solidFill>
                <a:latin typeface="Arial"/>
              </a:rPr>
              <a:t>NHIỆM VỤ NHÓM: GỬI TIỀN BÁN CÀ PHÊ</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66</a:t>
            </a:r>
          </a:p>
        </p:txBody>
      </p:sp>
      <p:sp>
        <p:nvSpPr>
          <p:cNvPr id="7" name="TextBox 6"/>
          <p:cNvSpPr txBox="1"/>
          <p:nvPr/>
        </p:nvSpPr>
        <p:spPr>
          <a:xfrm>
            <a:off x="731520" y="1463040"/>
            <a:ext cx="10789920" cy="252984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400">
                <a:solidFill>
                  <a:srgbClr val="1E293B"/>
                </a:solidFill>
                <a:latin typeface="Calibri"/>
              </a:rPr>
              <a:t>100 triệu đồng tiền bán cà phê, gửi 5 năm</a:t>
            </a:r>
          </a:p>
          <a:p>
            <a:pPr algn="l" marL="365760" indent="-365760">
              <a:spcAft>
                <a:spcPts val="800"/>
              </a:spcAft>
              <a:buClr>
                <a:srgbClr val="1E40AF"/>
              </a:buClr>
              <a:buFont typeface="Arial"/>
              <a:buChar char="•"/>
            </a:pPr>
            <a:r>
              <a:rPr sz="2400">
                <a:solidFill>
                  <a:srgbClr val="1E293B"/>
                </a:solidFill>
                <a:latin typeface="Calibri"/>
              </a:rPr>
              <a:t>Tra lãi suất 12 tháng của 2 ngân hàng (ghi nguồn)</a:t>
            </a:r>
          </a:p>
          <a:p>
            <a:pPr algn="l" marL="365760" indent="-365760">
              <a:spcAft>
                <a:spcPts val="800"/>
              </a:spcAft>
              <a:buClr>
                <a:srgbClr val="1E40AF"/>
              </a:buClr>
              <a:buFont typeface="Arial"/>
              <a:buChar char="•"/>
            </a:pPr>
            <a:r>
              <a:rPr sz="2400">
                <a:solidFill>
                  <a:srgbClr val="1E293B"/>
                </a:solidFill>
                <a:latin typeface="Calibri"/>
              </a:rPr>
              <a:t>So sánh lãi kép và rút lãi hằng năm</a:t>
            </a:r>
          </a:p>
          <a:p>
            <a:pPr algn="l" marL="365760" indent="-365760">
              <a:spcAft>
                <a:spcPts val="800"/>
              </a:spcAft>
              <a:buClr>
                <a:srgbClr val="1E40AF"/>
              </a:buClr>
              <a:buFont typeface="Arial"/>
              <a:buChar char="•"/>
            </a:pPr>
            <a:r>
              <a:rPr sz="2400">
                <a:solidFill>
                  <a:srgbClr val="1E293B"/>
                </a:solidFill>
                <a:latin typeface="Calibri"/>
              </a:rPr>
              <a:t>Chỉ ra dãy nào là cấp số cộng, cấp số nhân</a:t>
            </a:r>
          </a:p>
          <a:p>
            <a:pPr algn="l" marL="365760" indent="-365760">
              <a:spcAft>
                <a:spcPts val="800"/>
              </a:spcAft>
              <a:buClr>
                <a:srgbClr val="1E40AF"/>
              </a:buClr>
              <a:buFont typeface="Arial"/>
              <a:buChar char="•"/>
            </a:pPr>
            <a:r>
              <a:rPr sz="2400">
                <a:solidFill>
                  <a:srgbClr val="1E293B"/>
                </a:solidFill>
                <a:latin typeface="Calibri"/>
              </a:rPr>
              <a:t>Nộp 3–5 slide kèm Nhật ký sử dụng AI</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SƠ ĐỒ TƯ DUY BÀI 7</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67</a:t>
            </a:r>
          </a:p>
        </p:txBody>
      </p:sp>
      <p:pic>
        <p:nvPicPr>
          <p:cNvPr id="6" name="Picture 5" descr="img04.png"/>
          <p:cNvPicPr>
            <a:picLocks noChangeAspect="1"/>
          </p:cNvPicPr>
          <p:nvPr/>
        </p:nvPicPr>
        <p:blipFill>
          <a:blip r:embed="rId2"/>
          <a:stretch>
            <a:fillRect/>
          </a:stretch>
        </p:blipFill>
        <p:spPr>
          <a:xfrm>
            <a:off x="1784056" y="1417320"/>
            <a:ext cx="8593408" cy="48006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972800" cy="868680"/>
          </a:xfrm>
          <a:prstGeom prst="rect">
            <a:avLst/>
          </a:prstGeom>
          <a:noFill/>
        </p:spPr>
        <p:txBody>
          <a:bodyPr wrap="square" anchor="ctr">
            <a:spAutoFit/>
          </a:bodyPr>
          <a:lstStyle/>
          <a:p>
            <a:r>
              <a:rPr sz="3600" b="1">
                <a:solidFill>
                  <a:srgbClr val="1E40AF"/>
                </a:solidFill>
                <a:latin typeface="Arial"/>
              </a:rPr>
              <a:t>BÀI TẬP CỦA BẠN</a:t>
            </a:r>
          </a:p>
        </p:txBody>
      </p:sp>
      <p:sp>
        <p:nvSpPr>
          <p:cNvPr id="4" name="Rectangle 3"/>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Toán 11 · Bài 7. Cấp số nhân          68</a:t>
            </a:r>
          </a:p>
        </p:txBody>
      </p:sp>
      <p:sp>
        <p:nvSpPr>
          <p:cNvPr id="6" name="Rectangle 5"/>
          <p:cNvSpPr/>
          <p:nvPr/>
        </p:nvSpPr>
        <p:spPr>
          <a:xfrm>
            <a:off x="731520" y="1463040"/>
            <a:ext cx="4572000" cy="4572000"/>
          </a:xfrm>
          <a:prstGeom prst="rect">
            <a:avLst/>
          </a:prstGeom>
          <a:solidFill>
            <a:srgbClr val="F8FAFC"/>
          </a:solidFill>
          <a:ln w="190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CungCo_Bai7_Toan11.png"/>
          <p:cNvPicPr>
            <a:picLocks noChangeAspect="1"/>
          </p:cNvPicPr>
          <p:nvPr/>
        </p:nvPicPr>
        <p:blipFill>
          <a:blip r:embed="rId2"/>
          <a:stretch>
            <a:fillRect/>
          </a:stretch>
        </p:blipFill>
        <p:spPr>
          <a:xfrm>
            <a:off x="960120" y="1691640"/>
            <a:ext cx="4114800" cy="4114800"/>
          </a:xfrm>
          <a:prstGeom prst="rect">
            <a:avLst/>
          </a:prstGeom>
        </p:spPr>
      </p:pic>
      <p:sp>
        <p:nvSpPr>
          <p:cNvPr id="8" name="TextBox 7"/>
          <p:cNvSpPr txBox="1"/>
          <p:nvPr/>
        </p:nvSpPr>
        <p:spPr>
          <a:xfrm>
            <a:off x="5760720" y="1554480"/>
            <a:ext cx="6035040" cy="31089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600">
                <a:solidFill>
                  <a:srgbClr val="1E293B"/>
                </a:solidFill>
                <a:latin typeface="Calibri"/>
              </a:rPr>
              <a:t>Quét mã QR bằng điện thoại</a:t>
            </a:r>
          </a:p>
          <a:p>
            <a:pPr algn="l" marL="365760" indent="-365760">
              <a:spcAft>
                <a:spcPts val="800"/>
              </a:spcAft>
              <a:buClr>
                <a:srgbClr val="1E40AF"/>
              </a:buClr>
              <a:buFont typeface="Arial"/>
              <a:buChar char="•"/>
            </a:pPr>
            <a:r>
              <a:rPr sz="2600">
                <a:solidFill>
                  <a:srgbClr val="1E293B"/>
                </a:solidFill>
                <a:latin typeface="Calibri"/>
              </a:rPr>
              <a:t>Nhập họ tên và lớp</a:t>
            </a:r>
          </a:p>
          <a:p>
            <a:pPr algn="l" marL="365760" indent="-365760">
              <a:spcAft>
                <a:spcPts val="800"/>
              </a:spcAft>
              <a:buClr>
                <a:srgbClr val="1E40AF"/>
              </a:buClr>
              <a:buFont typeface="Arial"/>
              <a:buChar char="•"/>
            </a:pPr>
            <a:r>
              <a:rPr sz="2600">
                <a:solidFill>
                  <a:srgbClr val="1E293B"/>
                </a:solidFill>
                <a:latin typeface="Calibri"/>
              </a:rPr>
              <a:t>7 câu – làm trong 7 phút</a:t>
            </a:r>
          </a:p>
          <a:p>
            <a:pPr algn="l" marL="365760" indent="-365760">
              <a:spcAft>
                <a:spcPts val="800"/>
              </a:spcAft>
              <a:buClr>
                <a:srgbClr val="1E40AF"/>
              </a:buClr>
              <a:buFont typeface="Arial"/>
              <a:buChar char="•"/>
            </a:pPr>
            <a:r>
              <a:rPr sz="2600">
                <a:solidFill>
                  <a:srgbClr val="1E293B"/>
                </a:solidFill>
                <a:latin typeface="Calibri"/>
              </a:rPr>
              <a:t>Nộp bài, xem lời giải</a:t>
            </a:r>
          </a:p>
        </p:txBody>
      </p:sp>
      <p:sp>
        <p:nvSpPr>
          <p:cNvPr id="9" name="TextBox 8"/>
          <p:cNvSpPr txBox="1"/>
          <p:nvPr/>
        </p:nvSpPr>
        <p:spPr>
          <a:xfrm>
            <a:off x="5760720" y="4754880"/>
            <a:ext cx="6035040" cy="1188720"/>
          </a:xfrm>
          <a:prstGeom prst="rect">
            <a:avLst/>
          </a:prstGeom>
          <a:noFill/>
        </p:spPr>
        <p:txBody>
          <a:bodyPr wrap="square" anchor="t" lIns="45720" rIns="45720">
            <a:spAutoFit/>
          </a:bodyPr>
          <a:lstStyle/>
          <a:p>
            <a:pPr algn="l">
              <a:spcAft>
                <a:spcPts val="800"/>
              </a:spcAft>
            </a:pPr>
            <a:r>
              <a:rPr sz="1800" b="1">
                <a:solidFill>
                  <a:srgbClr val="1E40AF"/>
                </a:solidFill>
                <a:latin typeface="Calibri"/>
                <a:hlinkClick r:id="rId3"/>
              </a:rPr>
              <a:t>trangtu66.github.io/Taode_thi_online/cc_bai7_t11.html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