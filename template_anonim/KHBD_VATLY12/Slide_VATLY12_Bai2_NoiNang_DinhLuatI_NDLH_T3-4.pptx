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Chương I: Vật lí nhiệt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2. NỘI NĂNG. ĐỊNH LUẬT I NHIỆT ĐỘNG LỰC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0" i="0">
                <a:solidFill>
                  <a:srgbClr val="1E293B"/>
                </a:solidFill>
                <a:latin typeface="Calibri"/>
              </a:rPr>
              <a:t>Tuần 2  ·  Tiết 3, 4  ·  Số tiết: 2</a:t>
            </a:r>
          </a:p>
          <a:p>
            <a:pPr algn="l">
              <a:spcBef>
                <a:spcPts val="600"/>
              </a:spcBef>
            </a:pPr>
            <a:r>
              <a:rPr sz="1600" b="0" i="0">
                <a:solidFill>
                  <a:srgbClr val="64748B"/>
                </a:solidFill>
                <a:latin typeface="Calibri"/>
              </a:rPr>
              <a:t>GV: TTT  –  Tổ TOÁN  –  Trường Trường THPT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4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Kiến thức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Nêu khái niệm nội năng U; U phụ thuộc T và thể tích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Trình bày 2 cách thay đổi nội năng: thực hiện công, truyền nhiệt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Phát biểu và viết Định luật I Nhiệt động lực học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Áp dụng ΔU = A + Q để giải bài tập cơ bản</a:t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E40AF"/>
                </a:solidFill>
                <a:latin typeface="Calibri"/>
              </a:rPr>
              <a:t>Năng lực</a:t>
            </a:r>
          </a:p>
          <a:p>
            <a:pPr algn="l">
              <a:spcBef>
                <a:spcPts val="300"/>
              </a:spcBef>
            </a:pPr>
            <a:r>
              <a:rPr sz="1900" b="0" i="0">
                <a:solidFill>
                  <a:srgbClr val="1E293B"/>
                </a:solidFill>
                <a:latin typeface="Calibri"/>
              </a:rPr>
              <a:t>  ✔  Suy luận logic từ mô hình PT; vận dụng bảo toàn năng lượng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3  –  NỘI NĂNG &amp; CÁCH THAY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Khái niệm nội năng; thực hiện công; truyền nhiệt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Hoạt động 1 –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Thí nghiệm: bơm lốp xe đạp thật nhanh bằng bơm tay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→ đáy bơm và van lốp nóng lên rõ rệt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Năng lượng từ đâu làm không khí nóng lên?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❓  Có cách nào khác làm không khí nóng lên không?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(Thảo luận: thực hiện công ≈ truyền nhiệt?)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Gợi ý: bàn tay xoa vào nhau cũng nóng lên – năng lượng cơ → nhiệt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I. Nội năng của hệ nhiệt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Nội năng U = Tổng (động năng + thế năng) của mọi phân tử trong vật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U phụ thuộc vào: nhiệt độ T và thể tích V (cấu hình phân tử)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Độ biến thiên nội năng ΔU: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ΔU &gt; 0: vật nhận năng lượng  ↑  (nội năng tăng)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ΔU &lt; 0: vật mất năng lượng   ↓  (nội năng giảm)</a:t>
            </a:r>
          </a:p>
          <a:p>
            <a:pPr algn="l">
              <a:spcBef>
                <a:spcPts val="50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Đơn vị nội năng: Joule (J)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II. Hai cách thay đổi nội năng (SGK tr.11–12)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11521440" cy="25400"/>
          </a:xfrm>
          <a:prstGeom prst="rect">
            <a:avLst/>
          </a:prstGeom>
          <a:solidFill>
            <a:srgbClr val="BFD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115214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Cách 1: Thực hiện công (A)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Nén khí → phân tử bị dồn gần hơn → U tăng (Hình 2.2)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A &gt; 0: hệ nhận công (ngoại lực tác dụng lên hệ)</a:t>
            </a:r>
          </a:p>
          <a:p>
            <a:pPr algn="l">
              <a:spcBef>
                <a:spcPts val="800"/>
              </a:spcBef>
            </a:pPr>
            <a:r>
              <a:rPr sz="2100" b="1" i="0">
                <a:solidFill>
                  <a:srgbClr val="1E40AF"/>
                </a:solidFill>
                <a:latin typeface="Calibri"/>
              </a:rPr>
              <a:t>Cách 2: Truyền nhiệt (Q)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Đốt nóng → phân tử nhận NL → dao động mạnh hơn → U tăng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▸  Q &gt; 0: hệ nhận nhiệt  |  Q &lt; 0: hệ toả nhiệt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"/>
            <a:ext cx="9966960" cy="6583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D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III. Định luật I Nhiệt động lực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097280"/>
            <a:ext cx="9601200" cy="254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Độ biến thiên nội năng của hệ bằng tổng công và nhiệt lượng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488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mà hệ nhận được: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3200" b="1" i="0">
                <a:solidFill>
                  <a:srgbClr val="991B1B"/>
                </a:solidFill>
                <a:latin typeface="Calibri"/>
              </a:rPr>
              <a:t>          ΔU  =  A  + 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A &gt; 0: hệ nhận công  |  A &lt; 0: hệ thực hiện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4805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Q &gt; 0: hệ nhận nhiệt  |  Q &lt; 0: hệ toả nhiệt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4406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64748B"/>
                </a:solidFill>
                <a:latin typeface="Calibri"/>
              </a:rPr>
              <a:t>📌  Bảo toàn năng lượng áp dụng cho hệ nhiệt động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2834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286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TIẾT 4  –  ÁP DỤNG ĐỊNH LUẬT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749039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1">
                <a:solidFill>
                  <a:srgbClr val="BFDBF7"/>
                </a:solidFill>
                <a:latin typeface="Calibri"/>
              </a:rPr>
              <a:t>Bài toán đơn giản + luyện tập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1 – Áp dụng Định luật I NĐLH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Người ta thực hiện công 200 J lên một lượng khí đồng thời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khí toả ra nhiệt lượng 50 J.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Tính độ biến thiên nội năng của khí.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Nội năng của khí tăng hay giảm?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Xác định dấu A, Q trước khi tính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1 – Áp dụng Định luật I NĐLH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Tóm tắt:  A = +200 J (hệ nhận công)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Q = −50 J (hệ toả nhiệt)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Áp dụng:  ΔU = A + Q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       ΔU = 200 + (−50) = 150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ΔU = +150 J &gt; 0  →  nội năng khí TĂNG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ΔU = +150 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91440"/>
            <a:ext cx="210312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09728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ĐỀ BÀI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Ví dụ 2 – Phân tích dấu A,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Phân tích các quá trình sau và xác định dấu A, Q, ΔU: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Bơm tay nén không khí nhanh (lốp xe nóng lên)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Nước đá tan chảy trong bình cách nhiệt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Động cơ đốt trong: khí giãn nở đẩy pít-tông ra ngoài</a:t>
            </a:r>
          </a:p>
          <a:p>
            <a:pPr algn="l">
              <a:spcBef>
                <a:spcPts val="4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đồng thời toả nhiệt ra thành xi-lanh (Q = −300 J, A = −500 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943600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5897880"/>
            <a:ext cx="11521440" cy="7315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800" b="0" i="1">
                <a:solidFill>
                  <a:srgbClr val="1E40AF"/>
                </a:solidFill>
                <a:latin typeface="Calibri"/>
              </a:rPr>
              <a:t>💡  Dùng bảng: viết A, Q rồi tính ΔU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01200" y="91440"/>
            <a:ext cx="237744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46920" y="10972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991B1B"/>
                </a:solidFill>
                <a:latin typeface="Arial"/>
              </a:rPr>
              <a:t>Ví dụ 2 – Phân tích dấu A, Q – Lời giải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a) Bơm nhanh: A &gt; 0 (nhận công), Q ≈ 0 → ΔU &gt; 0 (nóng lên)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b) Tan trong bình cách nhiệt: Q = 0, A = 0 → ΔU = 0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(nhiệt độ giảm, nhưng thế năng PT tăng → U không đổi)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c) ΔU = A + Q = (−500) + (−300) = −800 J</a:t>
            </a:r>
          </a:p>
          <a:p>
            <a:pPr algn="l">
              <a:spcBef>
                <a:spcPts val="300"/>
              </a:spcBef>
            </a:pPr>
            <a:r>
              <a:rPr sz="2100" b="0" i="0">
                <a:solidFill>
                  <a:srgbClr val="1E293B"/>
                </a:solidFill>
                <a:latin typeface="Calibri"/>
              </a:rPr>
              <a:t>   ΔU &lt; 0: nội năng khí giảm (khí đã sinh công và toả nhiệt)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760720"/>
            <a:ext cx="1152144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991B1B"/>
                </a:solidFill>
                <a:latin typeface="Calibri"/>
              </a:rPr>
              <a:t>✅  ĐÁP SỐ:  (c) ΔU = −800 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000" b="1">
                <a:solidFill>
                  <a:srgbClr val="1E40AF"/>
                </a:solidFill>
                <a:latin typeface="Arial"/>
              </a:rPr>
              <a:t>SƠ ĐỒ TƯ DUY – BÀI 2. NỘI NĂNG. ĐỊNH LUẬT I NĐLH</a:t>
            </a:r>
          </a:p>
        </p:txBody>
      </p:sp>
      <p:pic>
        <p:nvPicPr>
          <p:cNvPr id="3" name="Picture 2" descr="SoDoTuDuy_VATLY12_Bai2_NoiNang_DinhLuatI_NDLH_T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40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200" b="0" i="0">
                <a:solidFill>
                  <a:srgbClr val="1E293B"/>
                </a:solidFill>
                <a:latin typeface="Calibri"/>
              </a:rPr>
              <a:t>Bài 2. Nội năng. Định luật I NĐLH</a:t>
            </a:r>
          </a:p>
        </p:txBody>
      </p:sp>
      <p:pic>
        <p:nvPicPr>
          <p:cNvPr id="4" name="Picture 3" descr="QR_ly_cc_bai2_k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9319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Bef>
                <a:spcPts val="0"/>
              </a:spcBef>
            </a:pPr>
            <a:r>
              <a:rPr sz="1800" b="0" i="0">
                <a:solidFill>
                  <a:srgbClr val="1E40AF"/>
                </a:solidFill>
                <a:latin typeface="Calibri"/>
              </a:rPr>
              <a:t>https://trangtu66.github.io/Taode_thi_online/ly_cc_bai2_k12.html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