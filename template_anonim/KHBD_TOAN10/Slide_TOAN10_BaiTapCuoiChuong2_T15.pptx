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9" r:id="rId30"/>
    <p:sldId id="267" r:id="rId18"/>
    <p:sldId id="278" r:id="rId29"/>
    <p:sldId id="268" r:id="rId19"/>
    <p:sldId id="277" r:id="rId28"/>
    <p:sldId id="269" r:id="rId20"/>
    <p:sldId id="276" r:id="rId27"/>
    <p:sldId id="270" r:id="rId21"/>
    <p:sldId id="275" r:id="rId26"/>
    <p:sldId id="271" r:id="rId22"/>
    <p:sldId id="274" r:id="rId25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1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2.xml"/><Relationship Id="rId26" Type="http://schemas.openxmlformats.org/officeDocument/2006/relationships/slide" Target="slides/slide20.xml"/><Relationship Id="rId27" Type="http://schemas.openxmlformats.org/officeDocument/2006/relationships/slide" Target="slides/slide18.xml"/><Relationship Id="rId28" Type="http://schemas.openxmlformats.org/officeDocument/2006/relationships/slide" Target="slides/slide16.xml"/><Relationship Id="rId29" Type="http://schemas.openxmlformats.org/officeDocument/2006/relationships/slide" Target="slides/slide14.xml"/><Relationship Id="rId30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chuong2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Bất phương trình và hệ bất phương trình bậc nhất hai ẩn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2044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15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 thống kiến thức Chương II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nghiệm của BPT, hệ BPT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chính xác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của F = ax + by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tối ưu thực tiễn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lời giải do AI tạo 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QUẢNG CÁO THẾ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583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Ngân sách tối đa: 160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Truyền hình hiệu quả gấp 8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Nhưng giá mỗi giây đắt gấp 5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Truyền hình nhận tối đa 360 giây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920240"/>
            <a:ext cx="4023360" cy="21945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657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Có nên dồn hết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tiền cho truyền hình?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CHƯƠNG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4</a:t>
            </a:r>
          </a:p>
        </p:txBody>
      </p:sp>
      <p:pic>
        <p:nvPicPr>
          <p:cNvPr id="6" name="Picture 5" descr="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875709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DIỄN MIỀN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B1. Vẽ đường thẳng d: ax + by =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B2. Thay điểm M(x₀; y₀) ∉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B3. Đúng: giữ nửa chứa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Hệ: gạch bỏ phần không thuộc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60350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&lt;, &gt; : bờ vẽ nét đứt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≤, ≥ : bờ vẽ nét liền</a:t>
            </a:r>
          </a:p>
        </p:txBody>
      </p:sp>
      <p:pic>
        <p:nvPicPr>
          <p:cNvPr id="9" name="Picture 8" descr="fig_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4297680" cy="33051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TÌM GTLN, GTNN CỦA BIỂU THỨC 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miền nghiệm (đa giác)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tọa độ các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F tại từng đỉnh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So sánh, kết luận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400800" cy="12801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6035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991B1B"/>
                </a:solidFill>
                <a:latin typeface="Calibri"/>
              </a:rPr>
              <a:t>GTLN, GTNN đạt tại một đỉnh</a:t>
            </a:r>
          </a:p>
        </p:txBody>
      </p:sp>
      <p:pic>
        <p:nvPicPr>
          <p:cNvPr id="9" name="Picture 8" descr="fig_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480560" cy="34212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2.7 – 2.8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2.7. Bất phương trình bậc nhất hai ẩn là: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A. x + y &gt; 3      B. x² + y² ≤ 4      C. (x − y)(3x + y) ≥ 1      D. y³ − 2 ≤ 0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2.8. Với bất phương trình 2x + y &gt; 3: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A. Có nghiệm duy nhất           B. Vô nghiệm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C. Có vô số nghiệm                D. Tập nghiệm là [3; +∞)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931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Hình nào biểu diễn miền nghiệm của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 − y &lt; 3 ?</a:t>
            </a:r>
          </a:p>
          <a:p>
            <a:pPr algn="l">
              <a:spcAft>
                <a:spcPts val="10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(Miền nghiệm là phần không bị gạch)</a:t>
            </a:r>
          </a:p>
        </p:txBody>
      </p:sp>
      <p:pic>
        <p:nvPicPr>
          <p:cNvPr id="7" name="Picture 6" descr="fig_2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559191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2.10 – 2.11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2.10. Hệ bất phương trình bậc nhất hai ẩn là: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2070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x−y&lt;0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2y≥0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12070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x−y&lt;0 ; 2y≥0</a:t>
                </a:r>
                <a:endParaRPr lang="vi-VN" sz="2200"/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5661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9502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3x+</m:t>
                              </m:r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x+y&gt;3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39502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3x+y^3&lt;0 ; x+y&gt;3</a:t>
                </a:r>
                <a:endParaRPr lang="vi-VN" sz="2200"/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3093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6934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x+2y&lt;0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+3&lt;0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66934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x+2y&lt;0 ; y^2+3&lt;0</a:t>
                </a:r>
                <a:endParaRPr lang="vi-VN" sz="2200"/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4366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vi-VN" sz="22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+y&lt;4</m:t>
                              </m:r>
                            </m:e>
                            <m:e>
                              <m:r>
                                <a:rPr lang="vi-VN" sz="22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x+2y&lt;1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200"/>
              </a:p>
            </p:txBody>
          </p:sp>
        </mc:Choice>
        <mc:Fallback>
          <p:sp>
            <p:nvSpPr>
              <p:cNvPr id="19" name="TextBox 18"/>
              <p:cNvSpPr txBox="1"/>
              <p:nvPr/>
            </p:nvSpPr>
            <p:spPr>
              <a:xfrm>
                <a:off x="9436608" y="2011680"/>
                <a:ext cx="2267712" cy="1188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 xmlns:a14="http://schemas.microsoft.com/office/drawing/2010/main" xmlns:m="http://schemas.openxmlformats.org/officeDocument/2006/math">
                <a:pPr marL="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−x^3+y&lt;4 ; x+2y&lt;1</a:t>
                </a:r>
                <a:endParaRPr lang="vi-VN" sz="220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31520" y="3566160"/>
                <a:ext cx="10789920" cy="237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2.11. Điểm thuộc miền nghiệm của hệ: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991B1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x−y&amp;&lt;−3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991B1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2y&amp;≥−4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>
                  <a:spcAft>
                    <a:spcPts val="800"/>
                  </a:spcAft>
                </a:pPr>
                <a:r>
                  <a:rPr sz="2400" b="0">
                    <a:solidFill>
                      <a:srgbClr val="1E293B"/>
                    </a:solidFill>
                    <a:latin typeface="Calibri"/>
                  </a:rPr>
                  <a:t>A. (0; 0)          B. (−2; 1)          C. (3; −1)          D. (−3; 1)</a:t>
                </a:r>
              </a:p>
            </p:txBody>
          </p:sp>
        </mc:Choice>
        <mc:Fallback>
          <p:sp>
            <p:nvSpPr>
              <p:cNvPr id="20" name="TextBox 19"/>
              <p:cNvSpPr txBox="1"/>
              <p:nvPr/>
            </p:nvSpPr>
            <p:spPr>
              <a:xfrm>
                <a:off x="731520" y="3566160"/>
                <a:ext cx="10789920" cy="237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2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2.11. Điểm thuộc miền nghiệm của hệ: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x−y&lt;−3 ; 2y≥−4</a:t>
                </a:r>
                <a:endParaRPr lang="vi-VN" sz="2400"/>
              </a:p>
              <a:p>
                <a:pPr>
                  <a:spcAft>
                    <a:spcPts val="800"/>
                  </a:spcAft>
                </a:pPr>
                <a:r>
                  <a:rPr sz="2400" b="0">
                    <a:solidFill>
                      <a:srgbClr val="1E293B"/>
                    </a:solidFill>
                    <a:latin typeface="Calibri"/>
                  </a:rPr>
                  <a:t>A. (0; 0)          B. (−2; 1)          C. (3; −1)          D. (−3; 1)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ĐÁP ÁN TRẮC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554480"/>
          <a:ext cx="9966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68580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Câu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Đáp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Lí do chính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Chỉ x + y &gt; 3 là bậc nhất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Miền nghiệm là nửa mặt phẳng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O thỏa mãn; bờ x − y = 3 nét đứt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Không chứa x³, y², y³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2.11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−3 − 1 = −4 &lt; −3; 2 ≥ −4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x+y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2x−y+1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Quy đồng, đưa về ax + by ≤ c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\frac{x+y}{2}\ge\frac{2x−y+1}{3}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Quy đồng, đưa về ax + by ≤ c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Quy đồng: 3(x + y) ≥ 2(2x − y + 1)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qua (−2; 0) và (3; 1),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Thay O(0; 0): 2 ≤ 0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Giữ nửa mặt phẳng không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5669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991B1B"/>
                </a:solidFill>
                <a:latin typeface="Calibri"/>
              </a:rPr>
              <a:t>⇔  x − 5y + 2 ≤ 0</a:t>
            </a:r>
          </a:p>
        </p:txBody>
      </p:sp>
      <p:pic>
        <p:nvPicPr>
          <p:cNvPr id="9" name="Picture 8" descr="fig_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37360"/>
            <a:ext cx="4663440" cy="3586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21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 của hệ: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x+y&lt;1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2x−y≥3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(4/3; −1/3) có thuộc miền nghiệm?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21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Biểu diễn miền nghiệm của hệ: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\begin{cases}x+y&lt;1\\2x−y\ge 3\end{cases}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(4/3; −1/3) có thuộc miền nghiệm?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d₁: x + y = 1, nét đứt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 thỏa mãn → giữ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d₂: 2x − y = 3,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 không thỏa mãn → bỏ phía chứa 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5669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Điểm (4/3; −1/3) nằm trên d₁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→ không thuộc miền nghiệm</a:t>
            </a:r>
          </a:p>
        </p:txBody>
      </p:sp>
      <p:pic>
        <p:nvPicPr>
          <p:cNvPr id="9" name="Picture 8" descr="fig_2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17320"/>
            <a:ext cx="4785055" cy="39991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diễn miền nghiệm hệ (SGK)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GTLN, GTNN của F = −x − 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trên miền nghiệm đó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Tính F tại các đỉnh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Đỉnh: A(−1; 0), B(1; 4), C(5; 4), D(5; −6)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 = −x − 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F(A) = 1; F(B) = −5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F(C) = −9; F(D)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6035040" cy="15544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56692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max F = 1 (trên cạnh AD)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min F = −9 tại C(5; 4)</a:t>
            </a:r>
          </a:p>
        </p:txBody>
      </p:sp>
      <p:pic>
        <p:nvPicPr>
          <p:cNvPr id="9" name="Picture 8" descr="fig_2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0"/>
            <a:ext cx="4677063" cy="4892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2.15 – ĐẦU TƯ TRÁI PHIẾU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Đầu tư 1 200 triệu vào 3 loại trái phiếu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Lãi: chính phủ 7%, ngân hàng 8%, DN 12%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Chính phủ ≥ 3 lần ngân hàng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Doanh nghiệp tối đa 200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Đầu tư thế nào lãi lớn nhất?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2.15 – ĐẦU TƯ TRÁI PHIẾU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6217920" cy="1645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5852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Đầu tư 750 – 250 – 200 (triệu)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Lợi nhuận lớn nhất: 96,5 triệu</a:t>
            </a:r>
          </a:p>
        </p:txBody>
      </p:sp>
      <p:pic>
        <p:nvPicPr>
          <p:cNvPr id="9" name="Picture 8" descr="fig_2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63040"/>
            <a:ext cx="4572000" cy="36931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x: chính phủ, y: ngân hàng (triệu đồng)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Doanh nghiệp: 1200 − x − y (triệu đồng)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&amp;x≥3y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&amp;1000≤x+y≤1200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&amp;y≥0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Lợi nhuận: L = 144 − 0,05x − 0,04y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x: chính phủ, y: ngân hàng (triệu đồng)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Doanh nghiệp: 1200 − x − y (triệu đồng)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x≥3y ; 1000≤x+y≤1200 ; y≥0</a:t>
                </a:r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Lợi nhuận: L = 144 − 0,05x − 0,04y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2.16 – QUẢNG CÁO HIỆU QUẢ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Ngân sách tối đa 160 triệu đồng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Phát thanh 80 nghìn/giây, tối đa 900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Truyền hình 400 nghìn/giây, tối đa 360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Truyền hình hiệu quả gấp 8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Phân bổ thế nào hiệu quả nhất?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2.16 – QUẢNG CÁO HIỆU QUẢ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6217920" cy="16459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5852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max F = 3080 tại C(200; 360)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dồn hết cho truyền hình!</a:t>
            </a:r>
          </a:p>
        </p:txBody>
      </p:sp>
      <p:pic>
        <p:nvPicPr>
          <p:cNvPr id="9" name="Picture 8" descr="fig_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663440" cy="35609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 giây phát thanh, y giây truyền hình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Chi phí: 80x + 400y ≤ 160 000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14:m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"/>
                        </m:dPr>
                        <m:e>
                          <m:eqArr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0≤x&amp;≤900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0≤y&amp;≤360</m:t>
                              </m:r>
                            </m:e>
                            <m:e>
                              <m:r>
                                <a:rPr lang="vi-VN" sz="2400" b="0">
                                  <a:solidFill>
                                    <a:srgbClr val="1E293B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  <m:t>x+5y&amp;≤2000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Hiệu quả: F = x + 8y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31520" y="1463040"/>
                <a:ext cx="6400800" cy="288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x giây phát thanh, y giây truyền hình</a:t>
                </a:r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Chi phí: 80x + 400y ≤ 160 000</a:t>
                </a:r>
              </a:p>
              <a:p>
                <a:pPr marL="365760" indent="-365760">
                  <a:spcAft>
                    <a:spcPts val="2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Ta có hệ bất phương trình:</a:t>
                </a:r>
              </a:p>
              <a:p xmlns:a14="http://schemas.microsoft.com/office/drawing/2010/main" xmlns:m="http://schemas.openxmlformats.org/officeDocument/2006/math">
                <a:pPr marL="457200" indent="0">
                  <a:spcBef>
                    <a:spcPts val="200"/>
                  </a:spcBef>
                  <a:spcAft>
                    <a:spcPts val="800"/>
                  </a:spcAft>
                  <a:buNone/>
                </a:pPr>
                <a:r>
                  <a:rPr lang="vi-VN"/>
                  <a:t>{ 0≤x≤900 ; 0≤y≤360 ; x+5y≤2000</a:t>
                </a:r>
                <a:endParaRPr lang="vi-VN" sz="2400"/>
              </a:p>
              <a:p>
                <a:pPr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 b="0">
                    <a:solidFill>
                      <a:srgbClr val="1E293B"/>
                    </a:solidFill>
                    <a:latin typeface="Calibri"/>
                  </a:rPr>
                  <a:t>Hiệu quả: F = x + 8y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 trả lời Bài 2.13: vẽ d₁, d₂ nét đứt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0 ≥ 3 sai, nhưng vẫn giữ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Điểm (4/3; −1/3) thuộc miền nghiệm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1: d₂ (2x − y ≥ 3) phải nét liền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2: O không thỏa mãn ⇒ bỏ phía chứa 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Lỗi 3: (4/3; −1/3) nằm trên d₁ (bỏ bờ)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3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3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(4/3; −1/3) không thuộc miền nghiệm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Hoàn thiện Bài 2.15 (nếu chưa xong)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số liệu thật ở Gia Lai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Tự đặt bài toán tối ưu (≥ 3 BPT)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tra miền nghiệm bằng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Ghi Nhật ký AI, nộp sau 1 tuần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Đọc trước Bài 5 (Chương III)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2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trangtu66.github.io/Taode_thi_online/cc_chuong2_t10.html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