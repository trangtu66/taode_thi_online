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notesMaster" Target="notesMasters/notesMaster1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giỏi – mức 3. GV có thể vẽ sơ đồ hướng đi lên bảng.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giỏi – mức 3. GV có thể vẽ sơ đồ hướng đi lên bảng.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giỏi – mức 3. GV có thể vẽ sơ đồ hướng đi lên bảng.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Nhóm 4 HS, 8 phút. Nộp bảng phụ hoặc Padlet kèm Nhật ký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Nhóm 4 HS, 8 phút. Nộp bảng phụ hoặc Padlet kèm Nhật ký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Nhóm 4 HS, 8 phút. Nộp bảng phụ hoặc Padlet kèm Nhật ký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Nhóm 4 HS, 8 phút. Nộp bảng phụ hoặc Padlet kèm Nhật ký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trangtu66.github.io/Taode_thi_online/cc_chuong3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TẬP CUỐI CHƯƠNG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Hệ thức lượng trong tam giác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474720"/>
            <a:ext cx="2286000" cy="36576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22 theo PPCT · Năm học 2026 – 2027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HĐ 1. MỞ ĐẦU – ÔN NHANH CÔNG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Tiết 1 (T22) · 5 phút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– CHƯƠNG III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3</a:t>
            </a:r>
          </a:p>
        </p:txBody>
      </p:sp>
      <p:pic>
        <p:nvPicPr>
          <p:cNvPr id="6" name="Picture 5" descr="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266" y="1417320"/>
            <a:ext cx="7774988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40AF"/>
                </a:solidFill>
                <a:latin typeface="Calibri"/>
              </a:rPr>
              <a:t>Nêu nội dung từng nhánh trước khi GV hiện đáp án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CÂU HỎI NHANH: ÔN CÔNG THỨC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52984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Đã biết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nửa chu vi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tính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bằng công thức nào?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Đã biết 3 cạnh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a,b,c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dùng định lí nào để tính góc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Gợi ý: dùng GTLG góc đặc biệt và các hệ thức đã học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52984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 135^\circ = ?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 120^\circ = ?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Đã biết </a:t>
                </a:r>
                <a:r>
                  <a:rPr lang="vi-VN"/>
                  <a:t>S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và nửa chu vi </a:t>
                </a:r>
                <a:r>
                  <a:rPr lang="vi-VN"/>
                  <a:t>p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tính </a:t>
                </a:r>
                <a:r>
                  <a:rPr lang="vi-VN"/>
                  <a:t>r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bằng công thức nào?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Đã biết 3 cạnh </a:t>
                </a:r>
                <a:r>
                  <a:rPr lang="vi-VN"/>
                  <a:t>a, b, c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dùng định lí nào để tính góc </a:t>
                </a:r>
                <a:r>
                  <a:rPr lang="vi-VN"/>
                  <a:t>A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Gợi ý: dùng GTLG góc đặc biệt và các hệ thức đã học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CÂU HỎI NHANH: ÔN CÔNG THỨC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90919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(bán kính đường tròn nội tiếp)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90919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 135^\circ = \sin(180^\circ - 45^\circ) = \dfrac{\sqrt{2}}{2}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 120^\circ = -\cos 60^\circ = -\dfrac{1}{2}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r = \dfrac{S}{p}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(bán kính đường tròn nội tiếp)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CÂU HỎI NHANH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Định lí cosin: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2bc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Định lí cosin: </a:t>
                </a:r>
                <a:r>
                  <a:rPr lang="vi-VN"/>
                  <a:t>\cos A = \dfrac{b^2 + c^2 - a^2}{2bc}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236597"/>
            <a:ext cx="9601200" cy="1678305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236597"/>
                <a:ext cx="9235440" cy="167830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den>
                    </m:f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định lí cosin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236597"/>
                <a:ext cx="9235440" cy="167830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 </a:t>
                </a:r>
                <a:r>
                  <a:rPr lang="vi-VN"/>
                  <a:t>\sin 135^\circ = \dfrac{\sqrt{2}}{2}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:r>
                  <a:rPr lang="vi-VN"/>
                  <a:t>\cos 120^\circ = -\dfrac{1}{2}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:r>
                  <a:rPr lang="vi-VN"/>
                  <a:t>r = \dfrac{S}{p}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định lí cosin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HĐ 2. LUYỆN TẬP – PHIẾU PHÂN HÓA 3 MỨC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25 phút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3.12: MỨC 1 – TRẮC NGHIỆM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39953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Cho tam giác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có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limUp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^</m:t>
                        </m:r>
                      </m:lim>
                    </m:limUp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=135°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Tìm khẳng định đúng: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A.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ca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B.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ac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C.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bc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D.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ca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A.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B.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C.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D.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39953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Cho tam giác </a:t>
                </a:r>
                <a:r>
                  <a:rPr lang="vi-VN"/>
                  <a:t>ABC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có </a:t>
                </a:r>
                <a:r>
                  <a:rPr lang="vi-VN"/>
                  <a:t>B_^=135°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Tìm khẳng định đúng: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A. </a:t>
                </a:r>
                <a:r>
                  <a:rPr lang="vi-VN"/>
                  <a:t>S=1/2ca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B. </a:t>
                </a:r>
                <a:r>
                  <a:rPr lang="vi-VN"/>
                  <a:t>S=−(√(2))/4ac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C. </a:t>
                </a:r>
                <a:r>
                  <a:rPr lang="vi-VN"/>
                  <a:t>S=(√(2))/4bc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D. </a:t>
                </a:r>
                <a:r>
                  <a:rPr lang="vi-VN"/>
                  <a:t>S=(√(2))/4ca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A. </a:t>
                </a:r>
                <a:r>
                  <a:rPr lang="vi-VN"/>
                  <a:t>R=a/sinA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B. </a:t>
                </a:r>
                <a:r>
                  <a:rPr lang="vi-VN"/>
                  <a:t>R=(√(2))/2b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C. </a:t>
                </a:r>
                <a:r>
                  <a:rPr lang="vi-VN"/>
                  <a:t>R=(√(2))/2c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D. </a:t>
                </a:r>
                <a:r>
                  <a:rPr lang="vi-VN"/>
                  <a:t>R=(√(2))/2a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3.12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9946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A.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B.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C.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D.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−2ca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135°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Tính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từ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B=</m:t>
                    </m:r>
                    <m:sSu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; áp dụng công thức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và định lí cosin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9946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A. </a:t>
                </a:r>
                <a:r>
                  <a:rPr lang="vi-VN"/>
                  <a:t>a^2=b^2+c^2+√(2)ab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B. </a:t>
                </a:r>
                <a:r>
                  <a:rPr lang="vi-VN"/>
                  <a:t>b/sinA=a/sinB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C. </a:t>
                </a:r>
                <a:r>
                  <a:rPr lang="vi-VN"/>
                  <a:t>sinB=−(√(2))/2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  D. </a:t>
                </a:r>
                <a:r>
                  <a:rPr lang="vi-VN"/>
                  <a:t>b^2=c^2+a^2−2cacos135°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Tính </a:t>
                </a:r>
                <a:r>
                  <a:rPr lang="vi-VN"/>
                  <a:t>\sin B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, </a:t>
                </a:r>
                <a:r>
                  <a:rPr lang="vi-VN"/>
                  <a:t>\cos B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từ </a:t>
                </a:r>
                <a:r>
                  <a:rPr lang="vi-VN"/>
                  <a:t>B = 135^\circ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; áp dụng công thức </a:t>
                </a:r>
                <a:r>
                  <a:rPr lang="vi-VN"/>
                  <a:t>S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, </a:t>
                </a:r>
                <a:r>
                  <a:rPr lang="vi-VN"/>
                  <a:t>R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và định lí cosin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3.12: MỨC 1 – TRẮC NGHIỆM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4094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ac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ac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→ Đáp án D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135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→ Đáp án B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−2ac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ac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→ Đáp án D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40944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S = \dfrac{1}{2}ac \sin 135^\circ = \dfrac{\sqrt{2}}{4}ac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→ Đáp án D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R = \dfrac{b}{2\sin 135^\circ} = \dfrac{b}{\sqrt{2}} = \dfrac{\sqrt{2}}{2}b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→ Đáp án B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</a:t>
                </a:r>
                <a:r>
                  <a:rPr lang="vi-VN"/>
                  <a:t>b^2 = a^2 + c^2 - 2ac\cos 135^\circ = a^2 + c^2 + \sqrt{2}\,ac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→ Đáp án D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4009644"/>
            <a:ext cx="960120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09644"/>
            <a:ext cx="92354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a) D; b) B; c) 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3.13: MỨC 1 – TRẮC NGHIỆM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73710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tam giác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 Tìm khẳng định đúng: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A.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abc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4r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B.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2S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a+b+c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C.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+2bc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D.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S=r(a+b+c)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A.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(B+C)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B.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(B+C)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C.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A&gt;0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D.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A≤0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Nhớ: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den>
                    </m:f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2S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a+b+c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A=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−(B+C)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73710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tam giác </a:t>
                </a:r>
                <a:r>
                  <a:rPr lang="vi-VN"/>
                  <a:t>ABC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 Tìm khẳng định đúng: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A. </a:t>
                </a:r>
                <a:r>
                  <a:rPr lang="vi-VN"/>
                  <a:t>S=abc/4r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B. </a:t>
                </a:r>
                <a:r>
                  <a:rPr lang="vi-VN"/>
                  <a:t>r=2S/(a+b+c)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C. </a:t>
                </a:r>
                <a:r>
                  <a:rPr lang="vi-VN"/>
                  <a:t>a^2=b^2+c^2+2bccosA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D. </a:t>
                </a:r>
                <a:r>
                  <a:rPr lang="vi-VN"/>
                  <a:t>S=r(a+b+c)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A. </a:t>
                </a:r>
                <a:r>
                  <a:rPr lang="vi-VN"/>
                  <a:t>sinA=sin(B+C)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B. </a:t>
                </a:r>
                <a:r>
                  <a:rPr lang="vi-VN"/>
                  <a:t>cosA=cos(B+C)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C. </a:t>
                </a:r>
                <a:r>
                  <a:rPr lang="vi-VN"/>
                  <a:t>cosA&gt;0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D. </a:t>
                </a:r>
                <a:r>
                  <a:rPr lang="vi-VN"/>
                  <a:t>sinA≤0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Nhớ: </a:t>
                </a:r>
                <a:r>
                  <a:rPr lang="vi-VN"/>
                  <a:t>r = \dfrac{S}{p} = \dfrac{2S}{a+b+c}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</a:t>
                </a:r>
                <a:r>
                  <a:rPr lang="vi-VN"/>
                  <a:t>A = 180^\circ - (B+C)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3.13: MỨC 1 – TRẮC NGHIỆM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5468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(a+b+c)/2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2S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a+b+c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→ Đáp án B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−(B+C)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nên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(B+C)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→ Đáp án A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5468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r = \dfrac{S}{p} = \dfrac{S}{(a+b+c)/2} = \dfrac{2S}{a+b+c}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→ Đáp án B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A = 180^\circ - (B+C)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nên </a:t>
                </a:r>
                <a:r>
                  <a:rPr lang="vi-VN"/>
                  <a:t>\sin A = \sin(B+C)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→ Đáp án A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3147060"/>
            <a:ext cx="960120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47060"/>
            <a:ext cx="92354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a) B; b) 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3.14: TÍNH $M$, $N$, $P$, $Q$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055241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Tính: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45°·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45°+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60°·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30°+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rgPr>
                          <m:scrLvl m:val="0"/>
                        </m:argP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45°·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45°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P=1+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60°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055241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Tính: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M=sin45°·cos45°+sin30°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N=sin60°·cos30°+1/2sin45°·cos45°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</a:t>
                </a:r>
                <a:r>
                  <a:rPr lang="vi-VN"/>
                  <a:t>P=1+tan^260°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3.14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9946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d)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Q=</m:t>
                    </m:r>
                    <m:f>
                      <m:fPr>
                        <m:type m:val="bar"/>
                      </m:fPr>
                      <m:num>
                        <m:argPr>
                          <m:scrLvl m:val="0"/>
                        </m:argP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rgPr>
                          <m:scrLvl m:val="0"/>
                        </m:argPr>
                        <m:sSup>
                          <m:e>
                            <m:argPr>
                              <m:scrLvl m:val="0"/>
                            </m:argPr>
                            <m:r>
                              <m:rPr>
                                <m:sty m:val="p"/>
                              </m:rP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argPr>
                              <m:scrLvl m:val="0"/>
                            </m:argP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120°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120°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Thay: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9946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d) </a:t>
                </a:r>
                <a:r>
                  <a:rPr lang="vi-VN"/>
                  <a:t>Q=1/(sin^2120°)−cot^2120°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Thay: </a:t>
                </a:r>
                <a:r>
                  <a:rPr lang="vi-VN"/>
                  <a:t>\sin 45^\circ = \cos 45^\circ = \dfrac{\sqrt{2}}{2}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; </a:t>
                </a:r>
                <a:r>
                  <a:rPr lang="vi-VN"/>
                  <a:t>\sin 60^\circ = \dfrac{\sqrt{3}}{2}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; </a:t>
                </a:r>
                <a:r>
                  <a:rPr lang="vi-VN"/>
                  <a:t>\tan 60^\circ = \sqrt{3}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3.14: TÍNH $M$, $N$, $P$, $Q$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39953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P=1+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=1+3=4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39953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M = \dfrac{\sqrt{2}}{2} \cdot \dfrac{\sqrt{2}}{2} + \dfrac{1}{2} = \dfrac{1}{2} + \dfrac{1}{2} = 1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N = \dfrac{3}{4} + \dfrac{1}{2} \cdot \dfrac{1}{2} = \dfrac{3}{4} + \dfrac{1}{4} = 1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</a:t>
                </a:r>
                <a:r>
                  <a:rPr lang="vi-VN"/>
                  <a:t>P = 1 + \tan^2 60^\circ = 1 + 3 = 4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3.14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9632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d)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Q=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120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9632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d) </a:t>
                </a:r>
                <a:r>
                  <a:rPr lang="vi-VN"/>
                  <a:t>Q = \dfrac{1}{\sin^2 120^\circ} - \cot^2 120^\circ = \dfrac{4}{3} - \dfrac{1}{3} = 1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563495"/>
            <a:ext cx="9601200" cy="6934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563495"/>
                <a:ext cx="9235440" cy="6934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M=1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N=1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P=4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Q=1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563495"/>
                <a:ext cx="9235440" cy="6934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 </a:t>
                </a:r>
                <a:r>
                  <a:rPr lang="vi-VN"/>
                  <a:t>M = 1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:r>
                  <a:rPr lang="vi-VN"/>
                  <a:t>N = 1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:r>
                  <a:rPr lang="vi-VN"/>
                  <a:t>P = 4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:r>
                  <a:rPr lang="vi-VN"/>
                  <a:t>Q = 1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3.15: TÍNH $A$, $R$, $S$, $R$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6479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tam giác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^</m:t>
                        </m:r>
                      </m:lim>
                    </m:limUp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=60°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^</m:t>
                        </m:r>
                      </m:lim>
                    </m:limUp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=45°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AC=10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 Tính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Suy ra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từ tổng ba góc; dùng định lí sin tính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bc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6479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tam giác </a:t>
                </a:r>
                <a:r>
                  <a:rPr lang="vi-VN"/>
                  <a:t>ABC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</a:t>
                </a:r>
                <a:r>
                  <a:rPr lang="vi-VN"/>
                  <a:t>B_^=60°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C_^=45°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AC=10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 Tính </a:t>
                </a:r>
                <a:r>
                  <a:rPr lang="vi-VN"/>
                  <a:t>a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R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S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r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Suy ra </a:t>
                </a:r>
                <a:r>
                  <a:rPr lang="vi-VN"/>
                  <a:t>A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từ tổng ba góc; dùng định lí sin tính </a:t>
                </a:r>
                <a:r>
                  <a:rPr lang="vi-VN"/>
                  <a:t>a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</a:t>
                </a:r>
                <a:r>
                  <a:rPr lang="vi-VN"/>
                  <a:t>c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</a:t>
                </a:r>
                <a:r>
                  <a:rPr lang="vi-VN"/>
                  <a:t>S = \dfrac{1}{2}bc\sin A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</a:t>
                </a:r>
                <a:r>
                  <a:rPr lang="vi-VN"/>
                  <a:t>r = \dfrac{S}{p}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3.15: TÍNH $A$, $R$, $S$, $R$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9946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75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5(3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≈11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9946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A = 180^\circ - 60^\circ - 45^\circ = 75^\circ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a = \dfrac{b\sin A}{\sin B} = \dfrac{10\sin 75^\circ}{\sin 60^\circ} = \dfrac{5(3\sqrt{2}+\sqrt{6})}{3} \approx 11{,}15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3.15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59969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≈8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≈5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77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59969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c = \dfrac{10\sin 45^\circ}{\sin 60^\circ} = \dfrac{10\sqrt{6}}{3} \approx 8{,}17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R = \dfrac{b}{2\sin B} = \dfrac{10\sqrt{3}}{3} \approx 5{,}77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3.15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99961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·10·8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17·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≈39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43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p≈14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r≈2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69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99961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S = \dfrac{1}{2}\cdot 10 \cdot 8{,}17 \cdot \sin 75^\circ \approx 39{,}43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p \approx 14{,}66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r \approx 2{,}69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599817"/>
            <a:ext cx="9601200" cy="1112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599817"/>
                <a:ext cx="9235440" cy="1112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A=</m:t>
                    </m:r>
                    <m:sSup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a≈11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R≈5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77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S≈39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43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r≈2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69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599817"/>
                <a:ext cx="9235440" cy="1112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 </a:t>
                </a:r>
                <a:r>
                  <a:rPr lang="vi-VN"/>
                  <a:t>A = 75^\circ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:r>
                  <a:rPr lang="vi-VN"/>
                  <a:t>a \approx 11{,}15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:r>
                  <a:rPr lang="vi-VN"/>
                  <a:t>R \approx 5{,}77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:r>
                  <a:rPr lang="vi-VN"/>
                  <a:t>S \approx 39{,}43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; </a:t>
                </a:r>
                <a:r>
                  <a:rPr lang="vi-VN"/>
                  <a:t>r \approx 2{,}69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3.16C: ĐƯỜNG TRUNG TUYẾN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2707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tam giác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trung tuyến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AM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 Chứng minh: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Chứng minh: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2A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+2A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−B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Áp dụng định lí cosin trong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△ABM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△ACM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dùng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MB=MC=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AMC</m:t>
                        </m:r>
                      </m:e>
                      <m:li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^</m:t>
                        </m:r>
                      </m:lim>
                    </m:limUp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limUp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AMB</m:t>
                        </m:r>
                      </m:e>
                      <m:li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^</m:t>
                        </m:r>
                      </m:lim>
                    </m:limUpp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2707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tam giác </a:t>
                </a:r>
                <a:r>
                  <a:rPr lang="vi-VN"/>
                  <a:t>ABC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trung tuyến </a:t>
                </a:r>
                <a:r>
                  <a:rPr lang="vi-VN"/>
                  <a:t>AM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 Chứng minh: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Chứng minh: </a:t>
                </a:r>
                <a:r>
                  <a:rPr lang="vi-VN"/>
                  <a:t>MA^2 = \dfrac{2AB^2 + 2AC^2 - BC^2}{4}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Áp dụng định lí cosin trong </a:t>
                </a:r>
                <a:r>
                  <a:rPr lang="vi-VN"/>
                  <a:t>\triangle ABM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và </a:t>
                </a:r>
                <a:r>
                  <a:rPr lang="vi-VN"/>
                  <a:t>\triangle ACM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dùng </a:t>
                </a:r>
                <a:r>
                  <a:rPr lang="vi-VN"/>
                  <a:t>MB = MC = \dfrac{a}{2}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và </a:t>
                </a:r>
                <a:r>
                  <a:rPr lang="vi-VN"/>
                  <a:t>\widehat{AMC} = 180^\circ - \widehat{AMB}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3.16C: ĐƯỜNG TRUNG TUYẾN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21869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Trong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△ABM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=M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+M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−2MA·MB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limUp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AMB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^</m:t>
                        </m:r>
                      </m:lim>
                    </m:limUpp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Trong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△ACM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=M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+M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−2MA·MC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limUp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AMC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^</m:t>
                        </m:r>
                      </m:lim>
                    </m:limUpp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MB=MC=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limUp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AMC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^</m:t>
                        </m:r>
                      </m:lim>
                    </m:limUp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limUp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AMB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^</m:t>
                        </m:r>
                      </m:lim>
                    </m:limUpp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Cộng hai hệ thức: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+A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=2M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21869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Trong </a:t>
                </a:r>
                <a:r>
                  <a:rPr lang="vi-VN"/>
                  <a:t>\triangle ABM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AB^2 = MA^2 + MB^2 - 2 MA\cdot MB\cos\widehat{AMB}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Trong </a:t>
                </a:r>
                <a:r>
                  <a:rPr lang="vi-VN"/>
                  <a:t>\triangle ACM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AC^2 = MA^2 + MC^2 - 2 MA\cdot MC\cos\widehat{AMC}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MB = MC = \dfrac{a}{2}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\cos\widehat{AMC} = -\cos\widehat{AMB}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Cộng hai hệ thức: </a:t>
                </a:r>
                <a:r>
                  <a:rPr lang="vi-VN"/>
                  <a:t>AB^2 + AC^2 = 2MA^2 + \dfrac{a^2}{2}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3.16C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23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Suy ra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2A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+2A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−B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(đpcm)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Suy ra </a:t>
                </a:r>
                <a:r>
                  <a:rPr lang="vi-VN"/>
                  <a:t>MA^2 = \dfrac{2AB^2 + 2AC^2 - BC^2}{4}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(đpcm)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236597"/>
            <a:ext cx="9601200" cy="882015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236597"/>
                <a:ext cx="9235440" cy="88201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M</m:t>
                    </m:r>
                    <m:sSup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2A</m:t>
                        </m:r>
                        <m:sSup>
                          <m:e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+2A</m:t>
                        </m:r>
                        <m:sSup>
                          <m:e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p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−B</m:t>
                        </m:r>
                        <m:sSup>
                          <m:e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p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236597"/>
                <a:ext cx="9235440" cy="882015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 </a:t>
                </a:r>
                <a:r>
                  <a:rPr lang="vi-VN"/>
                  <a:t>MA^2 = \dfrac{2AB^2 + 2AC^2 - BC^2}{4}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3.17: QUAN HỆ GÓC VÀ CẠNH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24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9260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tam giác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 Chứng minh: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Góc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nhọn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Góc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tù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Góc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vuông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Xuất phát từ định lí cosin: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−2bc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xét dấu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9260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tam giác </a:t>
                </a:r>
                <a:r>
                  <a:rPr lang="vi-VN"/>
                  <a:t>ABC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 Chứng minh: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Góc </a:t>
                </a:r>
                <a:r>
                  <a:rPr lang="vi-VN"/>
                  <a:t>A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nhọn </a:t>
                </a:r>
                <a:r>
                  <a:rPr lang="vi-VN"/>
                  <a:t>⇒b^2+c^2&gt;a^2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Góc </a:t>
                </a:r>
                <a:r>
                  <a:rPr lang="vi-VN"/>
                  <a:t>A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tù </a:t>
                </a:r>
                <a:r>
                  <a:rPr lang="vi-VN"/>
                  <a:t>⇒b^2+c^2&lt;a^2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Góc </a:t>
                </a:r>
                <a:r>
                  <a:rPr lang="vi-VN"/>
                  <a:t>A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vuông </a:t>
                </a:r>
                <a:r>
                  <a:rPr lang="vi-VN"/>
                  <a:t>⇒b^2+c^2=a^2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Xuất phát từ định lí cosin: </a:t>
                </a:r>
                <a:r>
                  <a:rPr lang="vi-VN"/>
                  <a:t>a^2 = b^2 + c^2 - 2bc\cos A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xét dấu </a:t>
                </a:r>
                <a:r>
                  <a:rPr lang="vi-VN"/>
                  <a:t>\cos A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3.17: QUAN HỆ GÓC VÀ CẠNH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02387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Từ định lí cosin: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−2bc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Góc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nhọn: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A&gt;0⇒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(đpcm)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Góc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tù: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A&lt;0⇒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(đpcm)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A=0⇒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(đpcm)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02387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Từ định lí cosin: </a:t>
                </a:r>
                <a:r>
                  <a:rPr lang="vi-VN"/>
                  <a:t>a^2 = b^2 + c^2 - 2bc\cos A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Góc </a:t>
                </a:r>
                <a:r>
                  <a:rPr lang="vi-VN"/>
                  <a:t>A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nhọn: </a:t>
                </a:r>
                <a:r>
                  <a:rPr lang="vi-VN"/>
                  <a:t>\cos A &gt; 0 \Rightarrow a^2 &lt; b^2 + c^2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(đpcm)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Góc </a:t>
                </a:r>
                <a:r>
                  <a:rPr lang="vi-VN"/>
                  <a:t>A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tù: </a:t>
                </a:r>
                <a:r>
                  <a:rPr lang="vi-VN"/>
                  <a:t>\cos A &lt; 0 \Rightarrow a^2 &gt; b^2 + c^2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(đpcm)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</a:t>
                </a:r>
                <a:r>
                  <a:rPr lang="vi-VN"/>
                  <a:t>A = 90^\circ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\cos A = 0 \Rightarrow a^2 = b^2 + c^2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(đpcm)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3624072"/>
            <a:ext cx="960120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3624072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Cả ba suy trực tiếp từ định lí cosin và dấu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3624072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Cả ba suy trực tiếp từ định lí cosin và dấu </a:t>
                </a:r>
                <a:r>
                  <a:rPr lang="vi-VN"/>
                  <a:t>\cos A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3.18: BÀI TOÁN TÀU BIỂN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26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70662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Tàu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ở vị trí cách tàu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53 km về hướng N34°E.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Tàu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chuyển động thẳng đều 30 km/h về hướng đông, đồng thời tàu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chuyển động thẳng đều 50 km/h để gặp tàu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 a) Tàu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cần đi theo hướng nào?   b) Sau bao lâu gặp nhau?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Đặt tàu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tại gốc; xác định toạ độ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từ hướng N34°E; gọi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là góc hướng đi của tàu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lập hệ PT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70662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Tàu </a:t>
                </a:r>
                <a:r>
                  <a:rPr lang="vi-VN"/>
                  <a:t>B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ở vị trí cách tàu </a:t>
                </a:r>
                <a:r>
                  <a:rPr lang="vi-VN"/>
                  <a:t>A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53 km về hướng N34°E.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Tàu </a:t>
                </a:r>
                <a:r>
                  <a:rPr lang="vi-VN"/>
                  <a:t>B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chuyển động thẳng đều 30 km/h về hướng đông, đồng thời tàu </a:t>
                </a:r>
                <a:r>
                  <a:rPr lang="vi-VN"/>
                  <a:t>A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chuyển động thẳng đều 50 km/h để gặp tàu </a:t>
                </a:r>
                <a:r>
                  <a:rPr lang="vi-VN"/>
                  <a:t>B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 a) Tàu </a:t>
                </a:r>
                <a:r>
                  <a:rPr lang="vi-VN"/>
                  <a:t>A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cần đi theo hướng nào?   b) Sau bao lâu gặp nhau?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Đặt tàu </a:t>
                </a:r>
                <a:r>
                  <a:rPr lang="vi-VN"/>
                  <a:t>A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tại gốc; xác định toạ độ </a:t>
                </a:r>
                <a:r>
                  <a:rPr lang="vi-VN"/>
                  <a:t>B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từ hướng N34°E; gọi </a:t>
                </a:r>
                <a:r>
                  <a:rPr lang="vi-VN"/>
                  <a:t>\theta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là góc hướng đi của tàu </a:t>
                </a:r>
                <a:r>
                  <a:rPr lang="vi-VN"/>
                  <a:t>A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lập hệ PT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3.18: BÀI TOÁN TÀU BIỂN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27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89179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B=(53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53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)≈(29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64;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94)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km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Sau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giờ: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=(50t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θ;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50t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θ)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=(29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64+30t;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94)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Hệ: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50t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θ=29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64+30t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  và  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50t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θ=43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94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Giải hệ: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θ≈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so với trục đông → lệch Bắc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→ hướng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N64°E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89179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B = (53\sin 34^\circ;\; 53\cos 34^\circ) \approx (29{,}64;\; 43{,}94)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km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Sau </a:t>
                </a:r>
                <a:r>
                  <a:rPr lang="vi-VN"/>
                  <a:t>t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giờ: </a:t>
                </a:r>
                <a:r>
                  <a:rPr lang="vi-VN"/>
                  <a:t>A' = (50t\cos\theta;\; 50t\sin\theta)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B' = (29{,}64+30t;\; 43{,}94)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Hệ: </a:t>
                </a:r>
                <a:r>
                  <a:rPr lang="vi-VN"/>
                  <a:t>50t\cos\theta = 29{,}64 + 30t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  và   </a:t>
                </a:r>
                <a:r>
                  <a:rPr lang="vi-VN"/>
                  <a:t>50t\sin\theta = 43{,}94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Giải hệ: </a:t>
                </a:r>
                <a:r>
                  <a:rPr lang="vi-VN"/>
                  <a:t>\theta \approx 26^\circ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so với trục đông → lệch Bắc </a:t>
                </a:r>
                <a:r>
                  <a:rPr lang="vi-VN"/>
                  <a:t>64^\circ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→ hướng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N64°E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3.18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28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Thời gian: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43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94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26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≈2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giờ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Thời gian: </a:t>
                </a:r>
                <a:r>
                  <a:rPr lang="vi-VN"/>
                  <a:t>t = \dfrac{43{,}94}{50\sin 26^\circ} \approx 2{,}0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giờ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236597"/>
            <a:ext cx="9601200" cy="6934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236597"/>
                <a:ext cx="9235440" cy="6934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Tàu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đi hướng N64°E; gặp nhau sau khoảng 2 giờ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236597"/>
                <a:ext cx="9235440" cy="6934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Tàu </a:t>
                </a:r>
                <a:r>
                  <a:rPr lang="vi-VN"/>
                  <a:t>A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đi hướng N64°E; gặp nhau sau khoảng 2 giờ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3.19: SÂN BÓNG CHÀY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29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6182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Trên sân bóng chày, gôn Nhà, gôn 1, gôn 2, gôn 3 là 4 đỉnh hình vuông cạnh 27,4 m.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Vị trí ném bóng nằm trên đường nối gôn Nhà với gôn 2, cách gôn Nhà 18,44 m.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Tính khoảng cách từ vị trí ném bóng tới gôn 1 và gôn 3.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Tam giác gôn Nhà (H) – vị trí ném bóng (P) – gôn 1 (F):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HP=18</m:t>
                    </m:r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m,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HF=27</m:t>
                    </m:r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m, 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PHF</m:t>
                        </m:r>
                      </m:e>
                      <m:lim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^</m:t>
                        </m:r>
                      </m:lim>
                    </m:limUpp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6182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Trên sân bóng chày, gôn Nhà, gôn 1, gôn 2, gôn 3 là 4 đỉnh hình vuông cạnh 27,4 m.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Vị trí ném bóng nằm trên đường nối gôn Nhà với gôn 2, cách gôn Nhà 18,44 m.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Tính khoảng cách từ vị trí ném bóng tới gôn 1 và gôn 3.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Tam giác gôn Nhà (H) – vị trí ném bóng (P) – gôn 1 (F): </a:t>
                </a:r>
                <a:r>
                  <a:rPr lang="vi-VN"/>
                  <a:t>HP = 18{,}44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m, </a:t>
                </a:r>
                <a:r>
                  <a:rPr lang="vi-VN"/>
                  <a:t>HF = 27{,}4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m, </a:t>
                </a:r>
                <a:r>
                  <a:rPr lang="vi-VN"/>
                  <a:t>\widehat{PHF} = 45^\circ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3.19: SÂN BÓNG CHÀY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30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90830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Hình vuông cạnh 27,4 m; góc tại gôn Nhà giữa cạnh đi gôn 1 và đường chéo là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=18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+27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−2·18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44·27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4·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=339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83+750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76−1010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51·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≈376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PF≈19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m; theo đối xứng hình vuông, khoảng cách đến gôn 3 cũng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≈19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m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90830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Hình vuông cạnh 27,4 m; góc tại gôn Nhà giữa cạnh đi gôn 1 và đường chéo là </a:t>
                </a:r>
                <a:r>
                  <a:rPr lang="vi-VN"/>
                  <a:t>45^\circ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PF^2 = 18{,}44^2 + 27{,}4^2 - 2 \cdot 18{,}44 \cdot 27{,}4 \cdot \cos 45^\circ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= 339{,}83 + 750{,}76 - 1010{,}51 \cdot \dfrac{\sqrt{2}}{2} \approx 376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PF \approx 19{,}4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m; theo đối xứng hình vuông, khoảng cách đến gôn 3 cũng </a:t>
                </a:r>
                <a:r>
                  <a:rPr lang="vi-VN"/>
                  <a:t>\approx 19{,}4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m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3508502"/>
            <a:ext cx="9601200" cy="655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3508502"/>
                <a:ext cx="9235440" cy="6553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Khoảng cách tới gôn 1 và gôn 3 đều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≈19</m:t>
                    </m:r>
                    <m:r>
                      <a:rPr lang="vi-VN" sz="20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 m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3508502"/>
                <a:ext cx="9235440" cy="6553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Khoảng cách tới gôn 1 và gôn 3 đều </a:t>
                </a:r>
                <a:r>
                  <a:rPr lang="vi-VN"/>
                  <a:t>\approx 19{,}4</a:t>
                </a:r>
                <a:r>
                  <a:rPr sz="2000" b="1">
                    <a:solidFill>
                      <a:srgbClr val="991B1B"/>
                    </a:solidFill>
                    <a:latin typeface="Calibri"/>
                  </a:rPr>
                  <a:t> m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HĐ 3. VẬN DỤNG – ĐO ĐẠC THỰC TẾ VĨNH THẠNH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10 phút · Nhiệm vụ nhóm 4 HS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ĐO DIỆN TÍCH – VĨNH THẠNH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17820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Người dân xã Vĩnh Thạnh cần đo diện tích thửa đất tam giác có hai cạnh 80 m và 60 m, góc kẹp 75°.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a) Tính diện tích thửa đất.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b) Tính cạnh còn lại và bán kính đường tròn ngoại tiếp.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33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6723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Dùng chatbot AI hỏi gợi ý cách tính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không hỏi đáp số; ghi Nhật ký AI.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Câu lệnh mẫu cho AI: ‘Tính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bằng công thức cộng góc. Chỉ gợi ý một bước, không giải hoàn toàn.’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6723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Dùng chatbot AI hỏi gợi ý cách tính </a:t>
                </a:r>
                <a:r>
                  <a:rPr lang="vi-VN"/>
                  <a:t>\sin 75^\circ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không hỏi đáp số; ghi Nhật ký AI.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Câu lệnh mẫu cho AI: ‘Tính </a:t>
                </a:r>
                <a:r>
                  <a:rPr lang="vi-VN"/>
                  <a:t>\sin(45^\circ + 30^\circ)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bằng công thức cộng góc. Chỉ gợi ý một bước, không giải hoàn toàn.’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ĐO DIỆN TÍCH – VĨNH THẠNH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34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4574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≈0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9659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·80·60·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≈2318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m²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−2·80·60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≈7517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c≈86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m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74574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 75^\circ = \dfrac{\sqrt{6}+\sqrt{2}}{4} \approx 0{,}9659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S = \dfrac{1}{2} \cdot 80 \cdot 60 \cdot \sin 75^\circ \approx 2318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m²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c^2 = 80^2 + 60^2 - 2\cdot 80\cdot 60 \cos 75^\circ \approx 7517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c \approx 86{,}7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m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35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abc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4S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≈44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m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63639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R = \dfrac{abc}{4S} \approx 44{,}8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m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236597"/>
            <a:ext cx="9601200" cy="6934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236597"/>
                <a:ext cx="9235440" cy="6934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S≈2318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m²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≈0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ha;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c≈86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m;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R≈44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m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236597"/>
                <a:ext cx="9235440" cy="6934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 </a:t>
                </a:r>
                <a:r>
                  <a:rPr lang="vi-VN"/>
                  <a:t>S \approx 2318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m² </a:t>
                </a:r>
                <a:r>
                  <a:rPr lang="vi-VN"/>
                  <a:t>\approx 0{,}23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ha; </a:t>
                </a:r>
                <a:r>
                  <a:rPr lang="vi-VN"/>
                  <a:t>c \approx 86{,}7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m; </a:t>
                </a:r>
                <a:r>
                  <a:rPr lang="vi-VN"/>
                  <a:t>R \approx 44{,}8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m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HĐ 4. 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5 phút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– CHƯƠNG III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37</a:t>
            </a:r>
          </a:p>
        </p:txBody>
      </p:sp>
      <p:pic>
        <p:nvPicPr>
          <p:cNvPr id="6" name="Picture 5" descr="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266" y="1417320"/>
            <a:ext cx="7774988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40AF"/>
                </a:solidFill>
                <a:latin typeface="Calibri"/>
              </a:rPr>
              <a:t>Điền nội dung từng nhánh – GV hiện đáp án từng bước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III. Hệ thức lượng trong tam giác         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huong3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trangtu66.github.io/Taode_thi_online/cc_chuong3_t10.html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