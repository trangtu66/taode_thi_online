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640312" cy="402336"/>
          </a:xfrm>
          <a:prstGeom prst="rect">
            <a:avLst/>
          </a:prstGeom>
          <a:noFill/>
        </p:spPr>
        <p:txBody>
          <a:bodyPr wrap="square">
            <a:spAutoFit/>
          </a:bodyPr>
          <a:lstStyle/>
          <a:p>
            <a:pPr algn="ctr"/>
            <a:r>
              <a:rPr sz="1400" b="1">
                <a:solidFill>
                  <a:srgbClr val="FFFFFF"/>
                </a:solidFill>
                <a:latin typeface="Arial"/>
              </a:rPr>
              <a:t>TRƯỜNG TRƯỜNG THPT  |  ĐỊA LÍ 12  |  NĂM HỌC 2026–2027</a:t>
            </a:r>
          </a:p>
        </p:txBody>
      </p:sp>
      <p:sp>
        <p:nvSpPr>
          <p:cNvPr id="4" name="TextBox 3"/>
          <p:cNvSpPr txBox="1"/>
          <p:nvPr/>
        </p:nvSpPr>
        <p:spPr>
          <a:xfrm>
            <a:off x="914400" y="1371600"/>
            <a:ext cx="10360152" cy="2286000"/>
          </a:xfrm>
          <a:prstGeom prst="rect">
            <a:avLst/>
          </a:prstGeom>
          <a:noFill/>
        </p:spPr>
        <p:txBody>
          <a:bodyPr wrap="square">
            <a:spAutoFit/>
          </a:bodyPr>
          <a:lstStyle/>
          <a:p>
            <a:pPr algn="ctr"/>
            <a:r>
              <a:rPr sz="4000" b="1">
                <a:solidFill>
                  <a:srgbClr val="1E40AF"/>
                </a:solidFill>
                <a:latin typeface="Arial"/>
              </a:rPr>
              <a:t>Bài 19 (TH). Vẽ biểu đồ CN</a:t>
            </a:r>
          </a:p>
        </p:txBody>
      </p:sp>
      <p:sp>
        <p:nvSpPr>
          <p:cNvPr id="5" name="TextBox 4"/>
          <p:cNvSpPr txBox="1"/>
          <p:nvPr/>
        </p:nvSpPr>
        <p:spPr>
          <a:xfrm>
            <a:off x="914400" y="3840480"/>
            <a:ext cx="10360152" cy="548640"/>
          </a:xfrm>
          <a:prstGeom prst="rect">
            <a:avLst/>
          </a:prstGeom>
          <a:noFill/>
        </p:spPr>
        <p:txBody>
          <a:bodyPr wrap="square">
            <a:spAutoFit/>
          </a:bodyPr>
          <a:lstStyle/>
          <a:p>
            <a:pPr algn="ctr"/>
            <a:r>
              <a:rPr sz="2200" b="0">
                <a:solidFill>
                  <a:srgbClr val="1E293B"/>
                </a:solidFill>
                <a:latin typeface="Calibri"/>
              </a:rPr>
              <a:t>Thời gian thực hiện: Tiết T34</a:t>
            </a:r>
          </a:p>
        </p:txBody>
      </p:sp>
      <p:sp>
        <p:nvSpPr>
          <p:cNvPr id="6" name="TextBox 5"/>
          <p:cNvSpPr txBox="1"/>
          <p:nvPr/>
        </p:nvSpPr>
        <p:spPr>
          <a:xfrm>
            <a:off x="914400" y="4480560"/>
            <a:ext cx="10360152" cy="457200"/>
          </a:xfrm>
          <a:prstGeom prst="rect">
            <a:avLst/>
          </a:prstGeom>
          <a:noFill/>
        </p:spPr>
        <p:txBody>
          <a:bodyPr wrap="square">
            <a:spAutoFit/>
          </a:bodyPr>
          <a:lstStyle/>
          <a:p>
            <a:pPr algn="ctr"/>
            <a:r>
              <a:rPr sz="2000" b="0">
                <a:solidFill>
                  <a:srgbClr val="1E293B"/>
                </a:solidFill>
                <a:latin typeface="Calibri"/>
              </a:rPr>
              <a:t>Giáo viên: TTT</a:t>
            </a:r>
          </a:p>
        </p:txBody>
      </p:sp>
      <p:sp>
        <p:nvSpPr>
          <p:cNvPr id="7" name="Rectangle 6"/>
          <p:cNvSpPr/>
          <p:nvPr/>
        </p:nvSpPr>
        <p:spPr>
          <a:xfrm>
            <a:off x="0" y="6492240"/>
            <a:ext cx="12188952" cy="3657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11640312" cy="329184"/>
          </a:xfrm>
          <a:prstGeom prst="rect">
            <a:avLst/>
          </a:prstGeom>
          <a:noFill/>
        </p:spPr>
        <p:txBody>
          <a:bodyPr wrap="square">
            <a:spAutoFit/>
          </a:bodyPr>
          <a:lstStyle/>
          <a:p>
            <a:pPr algn="ctr"/>
            <a:r>
              <a:rPr sz="1300" b="0">
                <a:solidFill>
                  <a:srgbClr val="FFFFFF"/>
                </a:solidFill>
                <a:latin typeface="Calibri"/>
              </a:rPr>
              <a:t>Trường Trường THPT – Bình Định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182880"/>
            <a:ext cx="11640312" cy="640080"/>
          </a:xfrm>
          <a:prstGeom prst="rect">
            <a:avLst/>
          </a:prstGeom>
          <a:noFill/>
        </p:spPr>
        <p:txBody>
          <a:bodyPr wrap="square">
            <a:spAutoFit/>
          </a:bodyPr>
          <a:lstStyle/>
          <a:p>
            <a:pPr algn="l"/>
            <a:r>
              <a:rPr sz="3200" b="1">
                <a:solidFill>
                  <a:srgbClr val="1E40AF"/>
                </a:solidFill>
                <a:latin typeface="Arial"/>
              </a:rPr>
              <a:t>MỤC TIÊU BÀI HỌC</a:t>
            </a:r>
          </a:p>
        </p:txBody>
      </p:sp>
      <p:sp>
        <p:nvSpPr>
          <p:cNvPr id="3" name="Rectangle 2"/>
          <p:cNvSpPr/>
          <p:nvPr/>
        </p:nvSpPr>
        <p:spPr>
          <a:xfrm>
            <a:off x="274320" y="86868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100584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005840"/>
            <a:ext cx="411480" cy="411480"/>
          </a:xfrm>
          <a:prstGeom prst="rect">
            <a:avLst/>
          </a:prstGeom>
          <a:noFill/>
        </p:spPr>
        <p:txBody>
          <a:bodyPr wrap="square">
            <a:spAutoFit/>
          </a:bodyPr>
          <a:lstStyle/>
          <a:p>
            <a:pPr algn="ctr"/>
            <a:r>
              <a:rPr sz="1800" b="1">
                <a:solidFill>
                  <a:srgbClr val="FFFFFF"/>
                </a:solidFill>
                <a:latin typeface="Arial"/>
              </a:rPr>
              <a:t>1</a:t>
            </a:r>
          </a:p>
        </p:txBody>
      </p:sp>
      <p:sp>
        <p:nvSpPr>
          <p:cNvPr id="6" name="TextBox 5"/>
          <p:cNvSpPr txBox="1"/>
          <p:nvPr/>
        </p:nvSpPr>
        <p:spPr>
          <a:xfrm>
            <a:off x="777240" y="978408"/>
            <a:ext cx="11091672" cy="502920"/>
          </a:xfrm>
          <a:prstGeom prst="rect">
            <a:avLst/>
          </a:prstGeom>
          <a:noFill/>
        </p:spPr>
        <p:txBody>
          <a:bodyPr wrap="square">
            <a:spAutoFit/>
          </a:bodyPr>
          <a:lstStyle/>
          <a:p>
            <a:pPr algn="l"/>
            <a:r>
              <a:rPr sz="2000" b="0">
                <a:solidFill>
                  <a:srgbClr val="1E293B"/>
                </a:solidFill>
                <a:latin typeface="Calibri"/>
              </a:rPr>
              <a:t>Vẽ và phân tích biểu đồ CN VN</a:t>
            </a:r>
          </a:p>
        </p:txBody>
      </p:sp>
      <p:sp>
        <p:nvSpPr>
          <p:cNvPr id="7" name="Rectangle 6"/>
          <p:cNvSpPr/>
          <p:nvPr/>
        </p:nvSpPr>
        <p:spPr>
          <a:xfrm>
            <a:off x="274320" y="1600200"/>
            <a:ext cx="411480" cy="4114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600200"/>
            <a:ext cx="411480" cy="411480"/>
          </a:xfrm>
          <a:prstGeom prst="rect">
            <a:avLst/>
          </a:prstGeom>
          <a:noFill/>
        </p:spPr>
        <p:txBody>
          <a:bodyPr wrap="square">
            <a:spAutoFit/>
          </a:bodyPr>
          <a:lstStyle/>
          <a:p>
            <a:pPr algn="ctr"/>
            <a:r>
              <a:rPr sz="1800" b="1">
                <a:solidFill>
                  <a:srgbClr val="FFFFFF"/>
                </a:solidFill>
                <a:latin typeface="Arial"/>
              </a:rPr>
              <a:t>2</a:t>
            </a:r>
          </a:p>
        </p:txBody>
      </p:sp>
      <p:sp>
        <p:nvSpPr>
          <p:cNvPr id="9" name="TextBox 8"/>
          <p:cNvSpPr txBox="1"/>
          <p:nvPr/>
        </p:nvSpPr>
        <p:spPr>
          <a:xfrm>
            <a:off x="777240" y="1572768"/>
            <a:ext cx="11091672" cy="502920"/>
          </a:xfrm>
          <a:prstGeom prst="rect">
            <a:avLst/>
          </a:prstGeom>
          <a:noFill/>
        </p:spPr>
        <p:txBody>
          <a:bodyPr wrap="square">
            <a:spAutoFit/>
          </a:bodyPr>
          <a:lstStyle/>
          <a:p>
            <a:pPr algn="l"/>
            <a:r>
              <a:rPr sz="2000" b="0">
                <a:solidFill>
                  <a:srgbClr val="1E293B"/>
                </a:solidFill>
                <a:latin typeface="Calibri"/>
              </a:rPr>
              <a:t>Nhận xét xu hướng phát triển CN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621792"/>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4114800" cy="347472"/>
          </a:xfrm>
          <a:prstGeom prst="rect">
            <a:avLst/>
          </a:prstGeom>
          <a:noFill/>
        </p:spPr>
        <p:txBody>
          <a:bodyPr wrap="square">
            <a:spAutoFit/>
          </a:bodyPr>
          <a:lstStyle/>
          <a:p>
            <a:pPr algn="l"/>
            <a:r>
              <a:rPr sz="2000" b="1">
                <a:solidFill>
                  <a:srgbClr val="FFFFFF"/>
                </a:solidFill>
                <a:latin typeface="Arial"/>
              </a:rPr>
              <a:t>SO DO TU DUY</a:t>
            </a:r>
          </a:p>
        </p:txBody>
      </p:sp>
      <p:sp>
        <p:nvSpPr>
          <p:cNvPr id="4" name="TextBox 3"/>
          <p:cNvSpPr txBox="1"/>
          <p:nvPr/>
        </p:nvSpPr>
        <p:spPr>
          <a:xfrm>
            <a:off x="4572000" y="64008"/>
            <a:ext cx="7342632" cy="347472"/>
          </a:xfrm>
          <a:prstGeom prst="rect">
            <a:avLst/>
          </a:prstGeom>
          <a:noFill/>
        </p:spPr>
        <p:txBody>
          <a:bodyPr wrap="square">
            <a:spAutoFit/>
          </a:bodyPr>
          <a:lstStyle/>
          <a:p>
            <a:pPr algn="l"/>
            <a:r>
              <a:rPr sz="1300" b="0">
                <a:solidFill>
                  <a:srgbClr val="FFFFFF"/>
                </a:solidFill>
                <a:latin typeface="Calibri"/>
              </a:rPr>
              <a:t>ĐỊA LÍ 12  |  Bài 19 (TH). Vẽ biểu đồ CN</a:t>
            </a:r>
          </a:p>
        </p:txBody>
      </p:sp>
      <p:sp>
        <p:nvSpPr>
          <p:cNvPr id="5" name="Rounded Rectangle 4"/>
          <p:cNvSpPr/>
          <p:nvPr/>
        </p:nvSpPr>
        <p:spPr>
          <a:xfrm>
            <a:off x="3808476" y="804672"/>
            <a:ext cx="4572000" cy="640080"/>
          </a:xfrm>
          <a:prstGeom prst="roundRect">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latin typeface="Arial"/>
              </a:rPr>
              <a:t>Bài 19 (TH). Vẽ biểu đồ CN</a:t>
            </a:r>
          </a:p>
        </p:txBody>
      </p:sp>
      <p:cxnSp>
        <p:nvCxnSpPr>
          <p:cNvPr id="6" name="Connector 5"/>
          <p:cNvCxnSpPr/>
          <p:nvPr/>
        </p:nvCxnSpPr>
        <p:spPr>
          <a:xfrm flipH="1">
            <a:off x="1412748.0" y="1124712.0"/>
            <a:ext cx="4681728.0" cy="864108.0"/>
          </a:xfrm>
          <a:prstGeom prst="line">
            <a:avLst/>
          </a:prstGeom>
          <a:ln w="22860">
            <a:solidFill>
              <a:srgbClr val="7C3AED"/>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09728" y="1691640"/>
            <a:ext cx="2606040" cy="594360"/>
          </a:xfrm>
          <a:prstGeom prst="ellipse">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Chọn BD phù hợp</a:t>
            </a:r>
          </a:p>
        </p:txBody>
      </p:sp>
      <p:cxnSp>
        <p:nvCxnSpPr>
          <p:cNvPr id="8" name="Connector 7"/>
          <p:cNvCxnSpPr/>
          <p:nvPr/>
        </p:nvCxnSpPr>
        <p:spPr>
          <a:xfrm flipV="1">
            <a:off x="1412748.0" y="1568196.0"/>
            <a:ext cx="2839212.0" cy="420624.0"/>
          </a:xfrm>
          <a:prstGeom prst="line">
            <a:avLst/>
          </a:prstGeom>
          <a:ln w="12700">
            <a:solidFill>
              <a:srgbClr val="7C3AE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80360" y="1399032"/>
            <a:ext cx="2743200" cy="338328"/>
          </a:xfrm>
          <a:prstGeom prst="roundRect">
            <a:avLst/>
          </a:prstGeom>
          <a:solidFill>
            <a:srgbClr val="EDE9FE"/>
          </a:solidFill>
          <a:ln>
            <a:solidFill>
              <a:srgbClr val="EDE9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C1D95"/>
                </a:solidFill>
                <a:latin typeface="Calibri"/>
              </a:rPr>
              <a:t>Tròn: cơ cấu 1 năm</a:t>
            </a:r>
          </a:p>
        </p:txBody>
      </p:sp>
      <p:cxnSp>
        <p:nvCxnSpPr>
          <p:cNvPr id="10" name="Connector 9"/>
          <p:cNvCxnSpPr/>
          <p:nvPr/>
        </p:nvCxnSpPr>
        <p:spPr>
          <a:xfrm>
            <a:off x="1412748.0" y="1988820.0"/>
            <a:ext cx="2839212.0" cy="0.0"/>
          </a:xfrm>
          <a:prstGeom prst="line">
            <a:avLst/>
          </a:prstGeom>
          <a:ln w="12700">
            <a:solidFill>
              <a:srgbClr val="7C3AE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80360" y="1819656"/>
            <a:ext cx="2743200" cy="338328"/>
          </a:xfrm>
          <a:prstGeom prst="roundRect">
            <a:avLst/>
          </a:prstGeom>
          <a:solidFill>
            <a:srgbClr val="EDE9FE"/>
          </a:solidFill>
          <a:ln>
            <a:solidFill>
              <a:srgbClr val="EDE9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C1D95"/>
                </a:solidFill>
                <a:latin typeface="Calibri"/>
              </a:rPr>
              <a:t>Cột nhóm: so sánh vùng</a:t>
            </a:r>
          </a:p>
        </p:txBody>
      </p:sp>
      <p:cxnSp>
        <p:nvCxnSpPr>
          <p:cNvPr id="12" name="Connector 11"/>
          <p:cNvCxnSpPr/>
          <p:nvPr/>
        </p:nvCxnSpPr>
        <p:spPr>
          <a:xfrm>
            <a:off x="1412748.0" y="1988820.0"/>
            <a:ext cx="2839212.0" cy="420624.0"/>
          </a:xfrm>
          <a:prstGeom prst="line">
            <a:avLst/>
          </a:prstGeom>
          <a:ln w="12700">
            <a:solidFill>
              <a:srgbClr val="7C3AE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80360" y="2240280"/>
            <a:ext cx="2743200" cy="338328"/>
          </a:xfrm>
          <a:prstGeom prst="roundRect">
            <a:avLst/>
          </a:prstGeom>
          <a:solidFill>
            <a:srgbClr val="EDE9FE"/>
          </a:solidFill>
          <a:ln>
            <a:solidFill>
              <a:srgbClr val="EDE9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C1D95"/>
                </a:solidFill>
                <a:latin typeface="Calibri"/>
              </a:rPr>
              <a:t>Miền: xu hướng</a:t>
            </a:r>
          </a:p>
        </p:txBody>
      </p:sp>
      <p:cxnSp>
        <p:nvCxnSpPr>
          <p:cNvPr id="14" name="Connector 13"/>
          <p:cNvCxnSpPr/>
          <p:nvPr/>
        </p:nvCxnSpPr>
        <p:spPr>
          <a:xfrm flipH="1">
            <a:off x="1412748.0" y="1124712.0"/>
            <a:ext cx="4681728.0" cy="3058668.0"/>
          </a:xfrm>
          <a:prstGeom prst="line">
            <a:avLst/>
          </a:prstGeom>
          <a:ln w="22860">
            <a:solidFill>
              <a:srgbClr val="065F4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9728" y="3886200"/>
            <a:ext cx="2606040" cy="594360"/>
          </a:xfrm>
          <a:prstGeom prst="ellipse">
            <a:avLst/>
          </a:prstGeom>
          <a:solidFill>
            <a:srgbClr val="065F46"/>
          </a:solidFill>
          <a:ln>
            <a:solidFill>
              <a:srgbClr val="065F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Kĩ thuật vẽ BD CN</a:t>
            </a:r>
          </a:p>
        </p:txBody>
      </p:sp>
      <p:cxnSp>
        <p:nvCxnSpPr>
          <p:cNvPr id="16" name="Connector 15"/>
          <p:cNvCxnSpPr/>
          <p:nvPr/>
        </p:nvCxnSpPr>
        <p:spPr>
          <a:xfrm flipV="1">
            <a:off x="1412748.0" y="3762756.0"/>
            <a:ext cx="2839212.0" cy="420624.0"/>
          </a:xfrm>
          <a:prstGeom prst="line">
            <a:avLst/>
          </a:prstGeom>
          <a:ln w="12700">
            <a:solidFill>
              <a:srgbClr val="065F4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80360" y="3593592"/>
            <a:ext cx="2743200" cy="338328"/>
          </a:xfrm>
          <a:prstGeom prst="roundRect">
            <a:avLst/>
          </a:prstGeom>
          <a:solidFill>
            <a:srgbClr val="D1FAE5"/>
          </a:solidFill>
          <a:ln>
            <a:solidFill>
              <a:srgbClr val="D1FAE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022C22"/>
                </a:solidFill>
                <a:latin typeface="Calibri"/>
              </a:rPr>
              <a:t>Tên biểu đồ đầy đủ</a:t>
            </a:r>
          </a:p>
        </p:txBody>
      </p:sp>
      <p:cxnSp>
        <p:nvCxnSpPr>
          <p:cNvPr id="18" name="Connector 17"/>
          <p:cNvCxnSpPr/>
          <p:nvPr/>
        </p:nvCxnSpPr>
        <p:spPr>
          <a:xfrm>
            <a:off x="1412748.0" y="4183380.0"/>
            <a:ext cx="2839212.0" cy="0.0"/>
          </a:xfrm>
          <a:prstGeom prst="line">
            <a:avLst/>
          </a:prstGeom>
          <a:ln w="12700">
            <a:solidFill>
              <a:srgbClr val="065F4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880360" y="4014216"/>
            <a:ext cx="2743200" cy="338328"/>
          </a:xfrm>
          <a:prstGeom prst="roundRect">
            <a:avLst/>
          </a:prstGeom>
          <a:solidFill>
            <a:srgbClr val="D1FAE5"/>
          </a:solidFill>
          <a:ln>
            <a:solidFill>
              <a:srgbClr val="D1FAE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022C22"/>
                </a:solidFill>
                <a:latin typeface="Calibri"/>
              </a:rPr>
              <a:t>Đơn vị trục tung</a:t>
            </a:r>
          </a:p>
        </p:txBody>
      </p:sp>
      <p:cxnSp>
        <p:nvCxnSpPr>
          <p:cNvPr id="20" name="Connector 19"/>
          <p:cNvCxnSpPr/>
          <p:nvPr/>
        </p:nvCxnSpPr>
        <p:spPr>
          <a:xfrm>
            <a:off x="1412748.0" y="4183380.0"/>
            <a:ext cx="2839212.0" cy="420624.0"/>
          </a:xfrm>
          <a:prstGeom prst="line">
            <a:avLst/>
          </a:prstGeom>
          <a:ln w="12700">
            <a:solidFill>
              <a:srgbClr val="065F4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880360" y="4434840"/>
            <a:ext cx="2743200" cy="338328"/>
          </a:xfrm>
          <a:prstGeom prst="roundRect">
            <a:avLst/>
          </a:prstGeom>
          <a:solidFill>
            <a:srgbClr val="D1FAE5"/>
          </a:solidFill>
          <a:ln>
            <a:solidFill>
              <a:srgbClr val="D1FAE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022C22"/>
                </a:solidFill>
                <a:latin typeface="Calibri"/>
              </a:rPr>
              <a:t>Chú giải màu</a:t>
            </a:r>
          </a:p>
        </p:txBody>
      </p:sp>
      <p:cxnSp>
        <p:nvCxnSpPr>
          <p:cNvPr id="22" name="Connector 21"/>
          <p:cNvCxnSpPr/>
          <p:nvPr/>
        </p:nvCxnSpPr>
        <p:spPr>
          <a:xfrm>
            <a:off x="6094476.0" y="1124712.0"/>
            <a:ext cx="4681728.0" cy="864108.0"/>
          </a:xfrm>
          <a:prstGeom prst="line">
            <a:avLst/>
          </a:prstGeom>
          <a:ln w="22860">
            <a:solidFill>
              <a:srgbClr val="B91C1C"/>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473184" y="1691640"/>
            <a:ext cx="2606040" cy="594360"/>
          </a:xfrm>
          <a:prstGeom prst="ellipse">
            <a:avLst/>
          </a:prstGeom>
          <a:solidFill>
            <a:srgbClr val="B91C1C"/>
          </a:solidFill>
          <a:ln>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Nhận xét 5 bước</a:t>
            </a:r>
          </a:p>
        </p:txBody>
      </p:sp>
      <p:cxnSp>
        <p:nvCxnSpPr>
          <p:cNvPr id="24" name="Connector 23"/>
          <p:cNvCxnSpPr/>
          <p:nvPr/>
        </p:nvCxnSpPr>
        <p:spPr>
          <a:xfrm flipH="1" flipV="1">
            <a:off x="7936992.0" y="1568196.0"/>
            <a:ext cx="2839212.0" cy="420624.0"/>
          </a:xfrm>
          <a:prstGeom prst="line">
            <a:avLst/>
          </a:prstGeom>
          <a:ln w="12700">
            <a:solidFill>
              <a:srgbClr val="B91C1C"/>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565392" y="1399032"/>
            <a:ext cx="2743200" cy="338328"/>
          </a:xfrm>
          <a:prstGeom prst="roundRect">
            <a:avLst/>
          </a:prstGeom>
          <a:solidFill>
            <a:srgbClr val="FEE2E2"/>
          </a:solidFill>
          <a:ln>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0A0A"/>
                </a:solidFill>
                <a:latin typeface="Calibri"/>
              </a:rPr>
              <a:t>Xu hướng chung</a:t>
            </a:r>
          </a:p>
        </p:txBody>
      </p:sp>
      <p:cxnSp>
        <p:nvCxnSpPr>
          <p:cNvPr id="26" name="Connector 25"/>
          <p:cNvCxnSpPr/>
          <p:nvPr/>
        </p:nvCxnSpPr>
        <p:spPr>
          <a:xfrm flipH="1">
            <a:off x="7936992.0" y="1988820.0"/>
            <a:ext cx="2839212.0" cy="0.0"/>
          </a:xfrm>
          <a:prstGeom prst="line">
            <a:avLst/>
          </a:prstGeom>
          <a:ln w="12700">
            <a:solidFill>
              <a:srgbClr val="B91C1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65392" y="1819656"/>
            <a:ext cx="2743200" cy="338328"/>
          </a:xfrm>
          <a:prstGeom prst="roundRect">
            <a:avLst/>
          </a:prstGeom>
          <a:solidFill>
            <a:srgbClr val="FEE2E2"/>
          </a:solidFill>
          <a:ln>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0A0A"/>
                </a:solidFill>
                <a:latin typeface="Calibri"/>
              </a:rPr>
              <a:t>Cực trị–So sánh</a:t>
            </a:r>
          </a:p>
        </p:txBody>
      </p:sp>
      <p:cxnSp>
        <p:nvCxnSpPr>
          <p:cNvPr id="28" name="Connector 27"/>
          <p:cNvCxnSpPr/>
          <p:nvPr/>
        </p:nvCxnSpPr>
        <p:spPr>
          <a:xfrm flipH="1">
            <a:off x="7936992.0" y="1988820.0"/>
            <a:ext cx="2839212.0" cy="420624.0"/>
          </a:xfrm>
          <a:prstGeom prst="line">
            <a:avLst/>
          </a:prstGeom>
          <a:ln w="12700">
            <a:solidFill>
              <a:srgbClr val="B91C1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565392" y="2240280"/>
            <a:ext cx="2743200" cy="338328"/>
          </a:xfrm>
          <a:prstGeom prst="roundRect">
            <a:avLst/>
          </a:prstGeom>
          <a:solidFill>
            <a:srgbClr val="FEE2E2"/>
          </a:solidFill>
          <a:ln>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0A0A"/>
                </a:solidFill>
                <a:latin typeface="Calibri"/>
              </a:rPr>
              <a:t>Giải thích nguyên nhân</a:t>
            </a:r>
          </a:p>
        </p:txBody>
      </p:sp>
      <p:cxnSp>
        <p:nvCxnSpPr>
          <p:cNvPr id="30" name="Connector 29"/>
          <p:cNvCxnSpPr/>
          <p:nvPr/>
        </p:nvCxnSpPr>
        <p:spPr>
          <a:xfrm>
            <a:off x="6094476.0" y="1124712.0"/>
            <a:ext cx="4681728.0" cy="3058668.0"/>
          </a:xfrm>
          <a:prstGeom prst="line">
            <a:avLst/>
          </a:prstGeom>
          <a:ln w="22860">
            <a:solidFill>
              <a:srgbClr val="B45309"/>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9473184" y="3886200"/>
            <a:ext cx="2606040" cy="594360"/>
          </a:xfrm>
          <a:prstGeom prst="ellipse">
            <a:avLst/>
          </a:prstGeom>
          <a:solidFill>
            <a:srgbClr val="B45309"/>
          </a:solidFill>
          <a:ln>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Arial"/>
              </a:rPr>
              <a:t>Số liệu Bình Định</a:t>
            </a:r>
          </a:p>
        </p:txBody>
      </p:sp>
      <p:cxnSp>
        <p:nvCxnSpPr>
          <p:cNvPr id="32" name="Connector 31"/>
          <p:cNvCxnSpPr/>
          <p:nvPr/>
        </p:nvCxnSpPr>
        <p:spPr>
          <a:xfrm flipH="1" flipV="1">
            <a:off x="7936992.0" y="3762756.0"/>
            <a:ext cx="2839212.0" cy="420624.0"/>
          </a:xfrm>
          <a:prstGeom prst="line">
            <a:avLst/>
          </a:prstGeom>
          <a:ln w="12700">
            <a:solidFill>
              <a:srgbClr val="B4530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565392" y="3593592"/>
            <a:ext cx="2743200" cy="338328"/>
          </a:xfrm>
          <a:prstGeom prst="roundRect">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1A03"/>
                </a:solidFill>
                <a:latin typeface="Calibri"/>
              </a:rPr>
              <a:t>GTSX CN theo ngành</a:t>
            </a:r>
          </a:p>
        </p:txBody>
      </p:sp>
      <p:cxnSp>
        <p:nvCxnSpPr>
          <p:cNvPr id="34" name="Connector 33"/>
          <p:cNvCxnSpPr/>
          <p:nvPr/>
        </p:nvCxnSpPr>
        <p:spPr>
          <a:xfrm flipH="1">
            <a:off x="7936992.0" y="4183380.0"/>
            <a:ext cx="2839212.0" cy="0.0"/>
          </a:xfrm>
          <a:prstGeom prst="line">
            <a:avLst/>
          </a:prstGeom>
          <a:ln w="12700">
            <a:solidFill>
              <a:srgbClr val="B45309"/>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565392" y="4014216"/>
            <a:ext cx="2743200" cy="338328"/>
          </a:xfrm>
          <a:prstGeom prst="roundRect">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1A03"/>
                </a:solidFill>
                <a:latin typeface="Calibri"/>
              </a:rPr>
              <a:t>Tỉ lệ FDI tại KKT</a:t>
            </a:r>
          </a:p>
        </p:txBody>
      </p:sp>
      <p:cxnSp>
        <p:nvCxnSpPr>
          <p:cNvPr id="36" name="Connector 35"/>
          <p:cNvCxnSpPr/>
          <p:nvPr/>
        </p:nvCxnSpPr>
        <p:spPr>
          <a:xfrm flipH="1">
            <a:off x="7936992.0" y="4183380.0"/>
            <a:ext cx="2839212.0" cy="420624.0"/>
          </a:xfrm>
          <a:prstGeom prst="line">
            <a:avLst/>
          </a:prstGeom>
          <a:ln w="12700">
            <a:solidFill>
              <a:srgbClr val="B45309"/>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565392" y="4434840"/>
            <a:ext cx="2743200" cy="338328"/>
          </a:xfrm>
          <a:prstGeom prst="roundRect">
            <a:avLst/>
          </a:prstGeom>
          <a:solidFill>
            <a:srgbClr val="FEF3C7"/>
          </a:solidFill>
          <a:ln>
            <a:solidFill>
              <a:srgbClr val="FEF3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200" b="0">
                <a:solidFill>
                  <a:srgbClr val="451A03"/>
                </a:solidFill>
                <a:latin typeface="Calibri"/>
              </a:rPr>
              <a:t>Điện tái tạo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Thực hành vẽ BD CN</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Cơ cấu tại 1 năm → tròn
Nhiều năm nhiều chỉ tiêu → miền 100%
So sánh nhiều vùng → cột nhóm
Số liệu: GT SX CN theo ngành, cơ cấu theo loại hình</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1</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Thực hành vẽ BD CN</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Cơ cấu tại 1 năm → tròn
Nhiều năm nhiều chỉ tiêu → miền 100%
So sánh nhiều vùng → cột nhóm
Số liệu: GT SX CN theo ngành, cơ cấu theo loại hình</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Ưu tiên BD phù hợp mục tiêu phân tích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011680" cy="50292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011680" cy="502920"/>
          </a:xfrm>
          <a:prstGeom prst="rect">
            <a:avLst/>
          </a:prstGeom>
          <a:noFill/>
        </p:spPr>
        <p:txBody>
          <a:bodyPr wrap="square">
            <a:spAutoFit/>
          </a:bodyPr>
          <a:lstStyle/>
          <a:p>
            <a:pPr algn="ctr"/>
            <a:r>
              <a:rPr sz="1600" b="1">
                <a:solidFill>
                  <a:srgbClr val="FFFFFF"/>
                </a:solidFill>
                <a:latin typeface="Arial"/>
              </a:rPr>
              <a:t>ĐỀ BÀI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600" b="1">
                <a:solidFill>
                  <a:srgbClr val="1E40AF"/>
                </a:solidFill>
                <a:latin typeface="Arial"/>
              </a:rPr>
              <a:t>Nhận xét biểu đồ CN 5 bước</a:t>
            </a:r>
          </a:p>
        </p:txBody>
      </p:sp>
      <p:sp>
        <p:nvSpPr>
          <p:cNvPr id="5" name="Rectangle 4"/>
          <p:cNvSpPr/>
          <p:nvPr/>
        </p:nvSpPr>
        <p:spPr>
          <a:xfrm>
            <a:off x="274320" y="1417320"/>
            <a:ext cx="11640312" cy="36576"/>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840480"/>
          </a:xfrm>
          <a:prstGeom prst="rect">
            <a:avLst/>
          </a:prstGeom>
          <a:noFill/>
        </p:spPr>
        <p:txBody>
          <a:bodyPr wrap="square">
            <a:spAutoFit/>
          </a:bodyPr>
          <a:lstStyle/>
          <a:p>
            <a:pPr algn="l"/>
            <a:r>
              <a:rPr sz="2200" b="0">
                <a:solidFill>
                  <a:srgbClr val="1E293B"/>
                </a:solidFill>
                <a:latin typeface="Calibri"/>
              </a:rPr>
              <a:t>1. Mô tả tổng quát
2. Nhận xét cụ thể (cực trị, tốc độ)
3. So sánh (giữa năm, vùng, ngành)
4. Giải thích (FDI, chính sách, TN)
5. Kết luận (xu hướng, triển vọng)
Bình Định: phân tích CN theo Niên giám TK tỉnh</a:t>
            </a:r>
          </a:p>
        </p:txBody>
      </p:sp>
      <p:sp>
        <p:nvSpPr>
          <p:cNvPr id="7" name="Rectangle 6"/>
          <p:cNvSpPr/>
          <p:nvPr/>
        </p:nvSpPr>
        <p:spPr>
          <a:xfrm>
            <a:off x="274320" y="5760720"/>
            <a:ext cx="11640312" cy="685800"/>
          </a:xfrm>
          <a:prstGeom prst="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806440"/>
            <a:ext cx="11457432" cy="594360"/>
          </a:xfrm>
          <a:prstGeom prst="rect">
            <a:avLst/>
          </a:prstGeom>
          <a:noFill/>
        </p:spPr>
        <p:txBody>
          <a:bodyPr wrap="square">
            <a:spAutoFit/>
          </a:bodyPr>
          <a:lstStyle/>
          <a:p>
            <a:pPr algn="l"/>
            <a:r>
              <a:rPr sz="1800" b="0">
                <a:solidFill>
                  <a:srgbClr val="1E40AF"/>
                </a:solidFill>
                <a:latin typeface="Calibri"/>
              </a:rPr>
              <a:t>💡 Suy nghĩ và thảo luận nhóm.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274320" y="182880"/>
            <a:ext cx="2286000" cy="502920"/>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2286000" cy="502920"/>
          </a:xfrm>
          <a:prstGeom prst="rect">
            <a:avLst/>
          </a:prstGeom>
          <a:noFill/>
        </p:spPr>
        <p:txBody>
          <a:bodyPr wrap="square">
            <a:spAutoFit/>
          </a:bodyPr>
          <a:lstStyle/>
          <a:p>
            <a:pPr algn="ctr"/>
            <a:r>
              <a:rPr sz="1600" b="1">
                <a:solidFill>
                  <a:srgbClr val="FFFFFF"/>
                </a:solidFill>
                <a:latin typeface="Arial"/>
              </a:rPr>
              <a:t>LỜI GIẢI – NỘI DUNG 2</a:t>
            </a:r>
          </a:p>
        </p:txBody>
      </p:sp>
      <p:sp>
        <p:nvSpPr>
          <p:cNvPr id="4" name="TextBox 3"/>
          <p:cNvSpPr txBox="1"/>
          <p:nvPr/>
        </p:nvSpPr>
        <p:spPr>
          <a:xfrm>
            <a:off x="274320" y="777240"/>
            <a:ext cx="11640312" cy="594360"/>
          </a:xfrm>
          <a:prstGeom prst="rect">
            <a:avLst/>
          </a:prstGeom>
          <a:noFill/>
        </p:spPr>
        <p:txBody>
          <a:bodyPr wrap="square">
            <a:spAutoFit/>
          </a:bodyPr>
          <a:lstStyle/>
          <a:p>
            <a:pPr algn="l"/>
            <a:r>
              <a:rPr sz="2400" b="1">
                <a:solidFill>
                  <a:srgbClr val="991B1B"/>
                </a:solidFill>
                <a:latin typeface="Arial"/>
              </a:rPr>
              <a:t>Nhận xét biểu đồ CN 5 bước</a:t>
            </a:r>
          </a:p>
        </p:txBody>
      </p:sp>
      <p:sp>
        <p:nvSpPr>
          <p:cNvPr id="5" name="Rectangle 4"/>
          <p:cNvSpPr/>
          <p:nvPr/>
        </p:nvSpPr>
        <p:spPr>
          <a:xfrm>
            <a:off x="274320" y="1417320"/>
            <a:ext cx="11640312" cy="36576"/>
          </a:xfrm>
          <a:prstGeom prst="rect">
            <a:avLst/>
          </a:prstGeom>
          <a:solidFill>
            <a:srgbClr val="991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08760"/>
            <a:ext cx="11640312" cy="3474720"/>
          </a:xfrm>
          <a:prstGeom prst="rect">
            <a:avLst/>
          </a:prstGeom>
          <a:noFill/>
        </p:spPr>
        <p:txBody>
          <a:bodyPr wrap="square">
            <a:spAutoFit/>
          </a:bodyPr>
          <a:lstStyle/>
          <a:p>
            <a:pPr algn="l"/>
            <a:r>
              <a:rPr sz="2100" b="0">
                <a:solidFill>
                  <a:srgbClr val="1E293B"/>
                </a:solidFill>
                <a:latin typeface="Calibri"/>
              </a:rPr>
              <a:t>1. Mô tả tổng quát
2. Nhận xét cụ thể (cực trị, tốc độ)
3. So sánh (giữa năm, vùng, ngành)
4. Giải thích (FDI, chính sách, TN)
5. Kết luận (xu hướng, triển vọng)
Bình Định: phân tích CN theo Niên giám TK tỉnh</a:t>
            </a:r>
          </a:p>
        </p:txBody>
      </p:sp>
      <p:sp>
        <p:nvSpPr>
          <p:cNvPr id="7" name="Rectangle 6"/>
          <p:cNvSpPr/>
          <p:nvPr/>
        </p:nvSpPr>
        <p:spPr>
          <a:xfrm>
            <a:off x="274320" y="5120640"/>
            <a:ext cx="11640312" cy="914400"/>
          </a:xfrm>
          <a:prstGeom prst="rect">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166360"/>
            <a:ext cx="11457432" cy="822960"/>
          </a:xfrm>
          <a:prstGeom prst="rect">
            <a:avLst/>
          </a:prstGeom>
          <a:noFill/>
        </p:spPr>
        <p:txBody>
          <a:bodyPr wrap="square">
            <a:spAutoFit/>
          </a:bodyPr>
          <a:lstStyle/>
          <a:p>
            <a:pPr algn="l"/>
            <a:r>
              <a:rPr sz="2200" b="1">
                <a:solidFill>
                  <a:srgbClr val="991B1B"/>
                </a:solidFill>
                <a:latin typeface="Arial"/>
              </a:rPr>
              <a:t>✦ Thực hành với số liệu thực tế tỉnh Bình Định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40312" cy="1005840"/>
          </a:xfrm>
          <a:prstGeom prst="rect">
            <a:avLst/>
          </a:prstGeom>
          <a:noFill/>
        </p:spPr>
        <p:txBody>
          <a:bodyPr wrap="square">
            <a:spAutoFit/>
          </a:bodyPr>
          <a:lstStyle/>
          <a:p>
            <a:pPr algn="ctr"/>
            <a:r>
              <a:rPr sz="4200" b="1">
                <a:solidFill>
                  <a:srgbClr val="FFFFFF"/>
                </a:solidFill>
                <a:latin typeface="Arial"/>
              </a:rPr>
              <a:t>BÀI TẬP CỦA BẠN</a:t>
            </a:r>
          </a:p>
        </p:txBody>
      </p:sp>
      <p:sp>
        <p:nvSpPr>
          <p:cNvPr id="4" name="TextBox 3"/>
          <p:cNvSpPr txBox="1"/>
          <p:nvPr/>
        </p:nvSpPr>
        <p:spPr>
          <a:xfrm>
            <a:off x="365760" y="1417320"/>
            <a:ext cx="6858000" cy="640080"/>
          </a:xfrm>
          <a:prstGeom prst="rect">
            <a:avLst/>
          </a:prstGeom>
          <a:noFill/>
        </p:spPr>
        <p:txBody>
          <a:bodyPr wrap="square">
            <a:spAutoFit/>
          </a:bodyPr>
          <a:lstStyle/>
          <a:p>
            <a:pPr algn="l"/>
            <a:r>
              <a:rPr sz="2200" b="0">
                <a:solidFill>
                  <a:srgbClr val="1E40AF"/>
                </a:solidFill>
                <a:latin typeface="Calibri"/>
              </a:rPr>
              <a:t>Địa lí 12 – Bài 19 (TH). Vẽ biểu đồ CN</a:t>
            </a:r>
          </a:p>
        </p:txBody>
      </p:sp>
      <p:sp>
        <p:nvSpPr>
          <p:cNvPr id="5" name="Rectangle 4"/>
          <p:cNvSpPr/>
          <p:nvPr/>
        </p:nvSpPr>
        <p:spPr>
          <a:xfrm>
            <a:off x="365760" y="2103120"/>
            <a:ext cx="6858000" cy="685800"/>
          </a:xfrm>
          <a:prstGeom prst="rect">
            <a:avLst/>
          </a:prstGeom>
          <a:solidFill>
            <a:srgbClr val="DCF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76272"/>
            <a:ext cx="6675120" cy="548640"/>
          </a:xfrm>
          <a:prstGeom prst="rect">
            <a:avLst/>
          </a:prstGeom>
          <a:noFill/>
        </p:spPr>
        <p:txBody>
          <a:bodyPr wrap="square">
            <a:spAutoFit/>
          </a:bodyPr>
          <a:lstStyle/>
          <a:p>
            <a:pPr algn="l"/>
            <a:r>
              <a:rPr sz="1700" b="0">
                <a:solidFill>
                  <a:srgbClr val="15783A"/>
                </a:solidFill>
                <a:latin typeface="Calibri"/>
              </a:rPr>
              <a:t>🔗  https://trangtu66.github.io/Taode_thi_online/dia_cc_bai19_k12.html</a:t>
            </a:r>
          </a:p>
        </p:txBody>
      </p:sp>
      <p:sp>
        <p:nvSpPr>
          <p:cNvPr id="7" name="TextBox 6"/>
          <p:cNvSpPr txBox="1"/>
          <p:nvPr/>
        </p:nvSpPr>
        <p:spPr>
          <a:xfrm>
            <a:off x="365760" y="2926080"/>
            <a:ext cx="6858000" cy="822960"/>
          </a:xfrm>
          <a:prstGeom prst="rect">
            <a:avLst/>
          </a:prstGeom>
          <a:noFill/>
        </p:spPr>
        <p:txBody>
          <a:bodyPr wrap="square">
            <a:spAutoFit/>
          </a:bodyPr>
          <a:lstStyle/>
          <a:p>
            <a:pPr algn="l"/>
            <a:r>
              <a:rPr sz="2000" b="0">
                <a:solidFill>
                  <a:srgbClr val="1E293B"/>
                </a:solidFill>
                <a:latin typeface="Calibri"/>
              </a:rPr>
              <a:t>6 câu trắc nghiệm + 1 câu đúng/sai
Kết quả ngay lập tức – Xếp hạng lớp</a:t>
            </a:r>
          </a:p>
        </p:txBody>
      </p:sp>
      <p:sp>
        <p:nvSpPr>
          <p:cNvPr id="8" name="TextBox 7"/>
          <p:cNvSpPr txBox="1"/>
          <p:nvPr/>
        </p:nvSpPr>
        <p:spPr>
          <a:xfrm>
            <a:off x="365760" y="3840480"/>
            <a:ext cx="6858000" cy="548640"/>
          </a:xfrm>
          <a:prstGeom prst="rect">
            <a:avLst/>
          </a:prstGeom>
          <a:noFill/>
        </p:spPr>
        <p:txBody>
          <a:bodyPr wrap="square">
            <a:spAutoFit/>
          </a:bodyPr>
          <a:lstStyle/>
          <a:p>
            <a:pPr algn="l"/>
            <a:r>
              <a:rPr sz="2200" b="1">
                <a:solidFill>
                  <a:srgbClr val="1E40AF"/>
                </a:solidFill>
                <a:latin typeface="Arial"/>
              </a:rPr>
              <a:t>📱  Quét mã QR để làm bài ngay →</a:t>
            </a:r>
          </a:p>
        </p:txBody>
      </p:sp>
      <p:pic>
        <p:nvPicPr>
          <p:cNvPr id="9" name="Picture 8" descr="QR_CungCo_DIA12_Bai19.png"/>
          <p:cNvPicPr>
            <a:picLocks noChangeAspect="1"/>
          </p:cNvPicPr>
          <p:nvPr/>
        </p:nvPicPr>
        <p:blipFill>
          <a:blip r:embed="rId2"/>
          <a:stretch>
            <a:fillRect/>
          </a:stretch>
        </p:blipFill>
        <p:spPr>
          <a:xfrm>
            <a:off x="7589520" y="1280160"/>
            <a:ext cx="4114800" cy="4114800"/>
          </a:xfrm>
          <a:prstGeom prst="rect">
            <a:avLst/>
          </a:prstGeom>
        </p:spPr>
      </p:pic>
      <p:sp>
        <p:nvSpPr>
          <p:cNvPr id="10" name="Rectangle 9"/>
          <p:cNvSpPr/>
          <p:nvPr/>
        </p:nvSpPr>
        <p:spPr>
          <a:xfrm>
            <a:off x="0" y="6400800"/>
            <a:ext cx="12188952" cy="4572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19088"/>
            <a:ext cx="11640312" cy="420624"/>
          </a:xfrm>
          <a:prstGeom prst="rect">
            <a:avLst/>
          </a:prstGeom>
          <a:noFill/>
        </p:spPr>
        <p:txBody>
          <a:bodyPr wrap="square">
            <a:spAutoFit/>
          </a:bodyPr>
          <a:lstStyle/>
          <a:p>
            <a:pPr algn="ctr"/>
            <a:r>
              <a:rPr sz="1600" b="0">
                <a:solidFill>
                  <a:srgbClr val="FFFFFF"/>
                </a:solidFill>
                <a:latin typeface="Calibri"/>
              </a:rPr>
              <a:t>Chúc các em học tốt! – Trường THPT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