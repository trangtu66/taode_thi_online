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ghi dự đoán của HS lên bảng; chưa công bố đáp án; quay lại ở Luyện tập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5 phút; GV quan sát; sau đó trình bày bảng biến thiên và sơ đồ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5 phút; GV nhấn mạnh cách tìm tâm đối xứng từ $y''=0$.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kết hợp slide giải. So sánh VD1 và VD2: dấu hiệu $\Delta'&lt;0 \Rightarrow$ không cực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phút; nhấn mạnh: $a&lt;0$ và $\Delta'&lt;0 \Rightarrow y'&lt;0$ mọi nơi.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không nói 'NB trên $\mathbb{R}\setminus\{2\}$' vì $y(0)=-1/2 &lt; y(3)=4$.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giải đáp tình huống mở đầu; GV nhắc lại dự đoán HS đã ghi ở đầu Tiết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đôi làm câu a, b trong 5 phút; GV hỏi 'tại sao tăng mãi mà không vượt 0,5?'.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8 phút; GV hỗ trợ bước chia đa thức; kiểm chứng GeoGebra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tự đọc 3 phút; so sánh VD4 và VD5: tại sao VD4 có cực trị, VD5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 phút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Lưu ý: y'=1/(x+1)^2 &gt; 0 nên ĐB (không phải NB). Cần sửa lại đáp án trong phiếu HT nếu ghi 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số 3; nhóm lẻ làm AI1, nhóm chẵn làm AI2; đáp án ở Phụ lục KHBD.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số 3; nhóm lẻ làm AI1, nhóm chẵn làm AI2; đáp án ở Phụ lục KHBD.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nộp cuối tuần trên Classroom/Padlet; kèm đồ thị GeoGebra +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Hạn nộp cuối tuần trên Classroom/Padlet; kèm đồ thị GeoGebra +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4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KHẢO SÁT SỰ BIẾN THIÊN VÀ VẼ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0624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5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14–18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4968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Mô tả và vận dụng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sơ đồ 3 bước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hàm số (tập XĐ → biến thiên → đồ thị)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bậc ba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+b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+cx+d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ngang)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xiên)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Nhận biết tâm đối xứng, trục đối xứng của đồ thị các hàm số trên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4968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Mô tả và vận dụng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sơ đồ 3 bước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khảo sát hàm số (tập XĐ → biến thiên → đồ thị)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bậc ba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y=ax^3+bx^2+cx+d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y=\frac{ax+b}{cx+d}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ngang)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Khảo sát và vẽ đồ thị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phân thức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y=\frac{ax^2+bx+c}{px+q}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(tiệm cận xiên)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Nhận biết tâm đối xứng, trục đối xứng của đồ thị các hàm số trên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8927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đơn vị sản xuất hàng tiêu dùng ước tính chi phí để sản xuất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đơn vị sản phẩm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C(x)=2x+45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(triệu đồng). Khi đó, chi phí trung bình cho mỗi đơn vị sản phẩm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C(x)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Hãy giải thích tại sao chi phí trung bình giảm theo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luôn lớn hơn 2 triệu đồng/sản phẩm. Điều này thể hiện trên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Hình 1.27 như thế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8927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đơn vị sản xuất hàng tiêu dùng ước tính chi phí để sản xuất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đơn vị sản phẩm là </a:t>
                </a:r>
                <a:r>
                  <a:rPr lang="vi-VN"/>
                  <a:t>C(x)=2x+45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(triệu đồng). Khi đó, chi phí trung bình cho mỗi đơn vị sản phẩm là </a:t>
                </a:r>
                <a:r>
                  <a:rPr lang="vi-VN"/>
                  <a:t>y=f(x)=(C(x))/x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Hãy giải thích tại sao chi phí trung bình giảm theo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luôn lớn hơn 2 triệu đồng/sản phẩm. Điều này thể hiện trên đồ thị của hàm số </a:t>
                </a:r>
                <a:r>
                  <a:rPr lang="vi-VN"/>
                  <a:t>y=f(x)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Hình 1.27 như thế nào?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7256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Câu hỏi: tập xác định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gì?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hay nghịch biến? Đường thẳng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 đối với đồ thị?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rồi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tính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7256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Câu hỏi: tập xác định của </a:t>
                </a:r>
                <a:r>
                  <a:rPr lang="vi-VN"/>
                  <a:t>f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gì? </a:t>
                </a:r>
                <a:r>
                  <a:rPr lang="vi-VN"/>
                  <a:t>f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hay nghịch biến? Đường thẳng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gì đối với đồ thị?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f(x)=2+\frac{45}{x}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rồi xét dấu </a:t>
                </a:r>
                <a:r>
                  <a:rPr lang="vi-VN"/>
                  <a:t>f'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tính </a:t>
                </a:r>
                <a:r>
                  <a:rPr lang="vi-VN"/>
                  <a:t>\lim_{x\to+\infty}f(x)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Giải đáp đầy đủ tại Luyện tập 2 (Tiết 2). Dự đoán của HS được kiểm chứng sau khi học xong Mục 2.3.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1. SƠ ĐỒ KHẢO SÁT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TR.26): HÀM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550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Thực hiện lần lượt các yêu cầu sau: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tìm các điểm tại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Xét dấu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tìm các khoảng đồng biến, khoảng nghịch biến và cực trị của hàm số.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lập bảng biến thiên của hàm số.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550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y=x^2−4x+3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Thực hiện lần lượt các yêu cầu sau: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</a:t>
                </a:r>
                <a:r>
                  <a:rPr lang="vi-VN"/>
                  <a:t>y^′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tìm các điểm tại đó </a:t>
                </a:r>
                <a:r>
                  <a:rPr lang="vi-VN"/>
                  <a:t>y^′=0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Xét dấu </a:t>
                </a:r>
                <a:r>
                  <a:rPr lang="vi-VN"/>
                  <a:t>y^′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tìm các khoảng đồng biến, khoảng nghịch biến và cực trị của hàm số.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Tính </a:t>
                </a:r>
                <a:r>
                  <a:rPr lang="vi-VN"/>
                  <a:t>lim_(x→−∞)y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lim_(x→+∞)y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lập bảng biến thiên của hàm số.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Vẽ đồ thị của hàm số và nhận xét về tính đối xứng của đồ thị.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Dùng quy tắc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như đã học ở Bài 2–3; sau đó lập bảng biến thiên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Vẽ đồ thị của hàm số và nhận xét về tính đối xứng của đồ thị.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Dùng quy tắc xét dấu </a:t>
                </a:r>
                <a:r>
                  <a:rPr lang="vi-VN"/>
                  <a:t>y'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như đã học ở Bài 2–3; sau đó lập bảng biến thiên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 (SGK TR.26): HÀM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201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x=2,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là Parabol, trục đối xứng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giao điểm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201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y'=2x-4;\quad y'=0\Leftrightarrow x=2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ĐB trên </a:t>
                </a:r>
                <a:r>
                  <a:rPr lang="vi-VN"/>
                  <a:t>(2;+\infty)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:r>
                  <a:rPr lang="vi-VN"/>
                  <a:t>x=2,\; y_{CT}=-1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\lim_{x\to\pm\infty}y=+\infty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là Parabol, trục đối xứng </a:t>
                </a:r>
                <a:r>
                  <a:rPr lang="vi-VN"/>
                  <a:t>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giao điểm trục hoành: </a:t>
                </a:r>
                <a:r>
                  <a:rPr lang="vi-VN"/>
                  <a:t>(1;0)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(3;0)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402031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40203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tại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trục đối xứng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40203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y_{\min}=-1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tại </a:t>
                </a:r>
                <a:r>
                  <a:rPr lang="vi-VN"/>
                  <a:t>x=2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trục đối xứng </a:t>
                </a:r>
                <a:r>
                  <a:rPr lang="vi-VN"/>
                  <a:t>x=2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788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889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Sơ đồ khảo sát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1. Tìm tập xác định của hàm số.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2. Khảo sát sự biến thiên của hàm số: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Tính đạo hàm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Tìm các điểm tại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bằng 0 hoặc đạo hàm không tồn tại.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Xét dấu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để chỉ ra các khoảng đơn điệu của hàm số.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889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Sơ đồ khảo sát hàm số </a:t>
                </a:r>
                <a:r>
                  <a:rPr lang="vi-VN"/>
                  <a:t>y=f(x)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1. Tìm tập xác định của hàm số.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2. Khảo sát sự biến thiên của hàm số: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Tính đạo hàm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Tìm các điểm tại đó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bằng 0 hoặc đạo hàm không tồn tại.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Xét dấu </a:t>
                </a:r>
                <a:r>
                  <a:rPr lang="vi-VN"/>
                  <a:t>y^′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để chỉ ra các khoảng đơn điệu của hàm số.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3698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236981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Tìm cực trị của hàm số.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Tìm các giới hạn tại vô cực, giới hạn vô cực và tìm tiệm cận của đồ thị hàm số (nếu có).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• Lập bảng biến thiên của hàm số.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3. Vẽ đồ thị của hàm số dựa vào bảng biến thiên.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KHẢO SÁT HÀM SỐ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5316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15316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Chú ý:</a:t>
            </a:r>
            <a:r>
              <a:rPr sz="2200" b="1">
                <a:solidFill>
                  <a:srgbClr val="991B1B"/>
                </a:solidFill>
                <a:latin typeface="Calibri"/>
              </a:rPr>
              <a:t> Khi vẽ đồ thị, nên xác định thêm: giao điểm của đồ thị với các trục tọa độ (khi có và việc tìm không quá phức tạp); tính đối xứng của đồ thị (tâm đối xứng, trục đối xứng).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2. HÀM SỐ ĐA THỨC BẬC BA $Y=AX^3+BX^2+CX+D$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HĐ2.2 – Tiết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TR.27): CÓ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864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xét dấu; dùng công thức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tìm tâm đối xứng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864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y=−x^3+3x^2−4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xét dấu; dùng công thức </a:t>
                </a:r>
                <a:r>
                  <a:rPr lang="vi-VN"/>
                  <a:t>x_I=-\frac{b}{3a}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tìm tâm đối xứng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TR.27): CÓ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+6x=−3x(x−2)=0⇔x=0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/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CĐ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y'=-3x^2+6x=-3x(x-2)=0\Leftrightarrow 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ĐB trên </a:t>
                </a:r>
                <a:r>
                  <a:rPr lang="vi-VN"/>
                  <a:t>(0;2)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:r>
                  <a:rPr lang="vi-VN"/>
                  <a:t>(2;+\infty)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</a:t>
                </a:r>
                <a:r>
                  <a:rPr lang="vi-VN"/>
                  <a:t>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y_{CT}=-4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\quad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CĐ tại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y_{CD}=0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  <p:pic>
        <p:nvPicPr>
          <p:cNvPr id="8" name="Picture 7" descr="t12_b4_v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(SGK TR.27)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(nhân bội 2). 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(nhân bội 2). Giao trục tung: </a:t>
                </a:r>
                <a:r>
                  <a:rPr lang="vi-VN"/>
                  <a:t>(0;-4)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436368"/>
            <a:ext cx="6400800" cy="13011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13011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I(1;−2)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vì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không có tiệm cận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13011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I(1;-2)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vì </a:t>
                </a:r>
                <a:r>
                  <a:rPr lang="vi-VN"/>
                  <a:t>x_I=-\frac{b}{3a}=1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không có tiệm cận</a:t>
                </a:r>
              </a:p>
            </p:txBody>
          </p:sp>
        </mc:Fallback>
      </mc:AlternateContent>
      <p:pic>
        <p:nvPicPr>
          <p:cNvPr id="10" name="Picture 9" descr="t12_b4_v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HÀM BẬC BA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3088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3088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Đồ thị của hàm số bậc ba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+b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+cx+d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Có tâm đối xứng là điểm có hoành độ thỏa mãn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hay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3a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Không có tiệm cận.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3088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Đồ thị của hàm số bậc ba </a:t>
                </a:r>
                <a:r>
                  <a:rPr lang="vi-VN"/>
                  <a:t>y=ax^3+bx^2+cx+d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a≠0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Có tâm đối xứng là điểm có hoành độ thỏa mãn </a:t>
                </a:r>
                <a:r>
                  <a:rPr lang="vi-VN"/>
                  <a:t>y^″=0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hay </a:t>
                </a:r>
                <a:r>
                  <a:rPr lang="vi-VN"/>
                  <a:t>x=−b/3a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• Không có tiệm cận.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VÍ DỤ 2 – HÀM BẬC BA KHÔNG CÓ CỰC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2 (T15)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TR.28): KHÔNG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+2x−1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của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kiểm tra xem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y=x^3−2x^2+2x−1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\Delta'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của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kiểm tra xem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TR.28): KHÔNG CỰC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78206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=4−6=−2&lt;0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a=3&gt;0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x∈ℝ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78206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y'=3x^2-4x+2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\Delta'=4-6=-2&lt;0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a=3&gt;0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y'&gt;0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x\in\mathbb{R}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\lim_{x\to+\infty}y=+\infty</a:t>
                </a:r>
              </a:p>
            </p:txBody>
          </p:sp>
        </mc:Fallback>
      </mc:AlternateContent>
      <p:pic>
        <p:nvPicPr>
          <p:cNvPr id="8" name="Picture 7" descr="t12_b4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3010"/>
            <a:ext cx="4389120" cy="3089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(SGK TR.28)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Giao trục tung: </a:t>
                </a:r>
                <a:r>
                  <a:rPr lang="vi-VN"/>
                  <a:t>(0;-1)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6400800" cy="19088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đồ thị hình chữ S không có điểm cực trị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I\!\left(\frac{2}{3};-\frac{7}{27}\right)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đồ thị hình chữ S không có điểm cực trị</a:t>
                </a:r>
              </a:p>
            </p:txBody>
          </p:sp>
        </mc:Fallback>
      </mc:AlternateContent>
      <p:pic>
        <p:nvPicPr>
          <p:cNvPr id="10" name="Picture 9" descr="t12_b4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3010"/>
            <a:ext cx="4389120" cy="30892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kiểm tra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hệ số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y=−2x^3+3x^2−5x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kiểm tra dấu </a:t>
                </a:r>
                <a:r>
                  <a:rPr lang="vi-VN"/>
                  <a:t>\Delta'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hệ số </a:t>
                </a:r>
                <a:r>
                  <a:rPr lang="vi-VN"/>
                  <a:t>a&lt;0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188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=−6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+6x−5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=9−30=−21&lt;0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a=−6&lt;0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188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y'=-6x^2+6x-5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\Delta'=9-30=-21&lt;0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a=-6&lt;0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y'&lt;0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</a:t>
                </a:r>
                <a:r>
                  <a:rPr lang="vi-VN"/>
                  <a:t>(-\infty;+\infty)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(SGK TR.28)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 và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 và hoành: </a:t>
                </a:r>
                <a:r>
                  <a:rPr lang="vi-VN"/>
                  <a:t>(0;0)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y(0)=0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14897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nên đồ thị giảm từ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về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I\!\left(\frac{1}{2};-\frac{11}{8}\right)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a&lt;0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nên đồ thị giảm từ </a:t>
                </a:r>
                <a:r>
                  <a:rPr lang="vi-VN"/>
                  <a:t>+\infty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về </a:t>
                </a:r>
                <a:r>
                  <a:rPr lang="vi-VN"/>
                  <a:t>-\infty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3. HÀM PHÂN THỨC $Y=\FRAC{AX+B}{CX+D}$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HĐ2.3 – Tiết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lấy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lim>
                    </m:limLow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tìm tiệm cận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y=(x+1)/(x−2)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lấy </a:t>
                </a:r>
                <a:r>
                  <a:rPr lang="vi-VN"/>
                  <a:t>\lim_{x\to 2^\pm}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\lim_{x\to\pm\infty}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để tìm tiệm cận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30873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 trên từng khoảng,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30873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y'=\frac{-3}{(x-2)^2}&lt;0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 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 trên từng khoảng,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cực trị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 2^-}y=-\infty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 2^+}y=+\infty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:r>
                  <a:rPr lang="vi-VN"/>
                  <a:t>y=1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\lim_{x\to\pm\infty}y=1</a:t>
                </a:r>
              </a:p>
            </p:txBody>
          </p:sp>
        </mc:Fallback>
      </mc:AlternateContent>
      <p:pic>
        <p:nvPicPr>
          <p:cNvPr id="8" name="Picture 7" descr="t12_b4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(SGK TR.29)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giao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tung: </a:t>
                </a:r>
                <a:r>
                  <a:rPr lang="vi-VN"/>
                  <a:t>\left(0;-\frac{1}{2}\right)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giao trục hoành: </a:t>
                </a:r>
                <a:r>
                  <a:rPr lang="vi-VN"/>
                  <a:t>(-1;0)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99817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điểm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điểm tiệm cận đứng </a:t>
                </a:r>
                <a:r>
                  <a:rPr lang="vi-VN"/>
                  <a:t>x=2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ngang </a:t>
                </a:r>
                <a:r>
                  <a:rPr lang="vi-VN"/>
                  <a:t>y=1</a:t>
                </a:r>
              </a:p>
            </p:txBody>
          </p:sp>
        </mc:Fallback>
      </mc:AlternateContent>
      <p:pic>
        <p:nvPicPr>
          <p:cNvPr id="10" name="Picture 9" descr="t12_b4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ĐƠN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5584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584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ad−bc≠0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ngang làm tâm đối xứng;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584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:r>
                  <a:rPr lang="vi-VN"/>
                  <a:t>y=(ax+b)/(cx+d)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c≠0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ad−bc≠0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ngang làm tâm đối xứng;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214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Giải bài toán ở tình huống mở đầu.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Coi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C(x)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214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Giải bài toán ở tình huống mở đầu.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Coi </a:t>
                </a:r>
                <a:r>
                  <a:rPr lang="vi-VN"/>
                  <a:t>f(x)=(C(x))/x=(2x+45)/x=2+45/x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:r>
                  <a:rPr lang="vi-VN"/>
                  <a:t>x≥1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f(x)=2+\frac{45}{x}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</a:t>
                </a:r>
                <a:r>
                  <a:rPr lang="vi-VN"/>
                  <a:t>f'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\lim_{x\to+\infty}f(x)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với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NB: chi phí giảm khi SX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f(x)=\frac{2x+45}{x}=2+\frac{45}{x}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với </a:t>
                </a:r>
                <a:r>
                  <a:rPr lang="vi-VN"/>
                  <a:t>x\ge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f'(x)=-\frac{45}{x^2}&lt;0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x\ge 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NB: chi phí giảm khi SX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ngang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\lim_{x\to+\infty}f(x)=2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(SGK TR.29)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đồ thị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luôn trên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đường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f(x)=2+\frac{45}{x}&gt;2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đồ thị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luôn trên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đường </a:t>
                </a:r>
                <a:r>
                  <a:rPr lang="vi-VN"/>
                  <a:t>y=2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Chi phí trung bình nghịch biến, tiệm cận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(2 triệu/SP = chi phí biến đổi tối thiểu)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Chi phí trung bình nghịch biến, tiệm cận ngang </a:t>
                </a:r>
                <a:r>
                  <a:rPr lang="vi-VN"/>
                  <a:t>y=2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(2 triệu/SP = chi phí biến đổi tối thiểu)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VẬN DỤNG – BÀI TOÁN NỒNG ĐỘ CHẤT KHỬ TRÙNG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3 (T16)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085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bể chứa ban đầu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nước. Sau đó, cứ mỗi phút người ta bơm thêm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 đồng thời cho vào bể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 chất khử trùng (hòa tan).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thể tích nước và khối lượng chất khử trùng có trong bể sau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 Từ đó tính nồng độ chất khử trùng (gam/lít) trong bể sau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Coi nồng độ chất khử trùng là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sự biến thiên và vẽ đồ thị của hàm số này.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085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bể chứa ban đầu có </a:t>
                </a:r>
                <a:r>
                  <a:rPr lang="vi-VN"/>
                  <a:t>200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nước. Sau đó, cứ mỗi phút người ta bơm thêm </a:t>
                </a:r>
                <a:r>
                  <a:rPr lang="vi-VN"/>
                  <a:t>40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nước đồng thời cho vào bể </a:t>
                </a:r>
                <a:r>
                  <a:rPr lang="vi-VN"/>
                  <a:t>20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 chất khử trùng (hòa tan).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Tính thể tích nước và khối lượng chất khử trùng có trong bể 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 Từ đó tính nồng độ chất khử trùng (gam/lít) trong bể 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phút.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Coi nồng độ chất khử trùng là hàm số </a:t>
                </a:r>
                <a:r>
                  <a:rPr lang="vi-VN"/>
                  <a:t>f(t)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t≥0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sự biến thiên và vẽ đồ thị của hàm số này.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357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Hãy giải thích tại sao nồng độ chất khử trùng tăng theo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không vượt ngưỡng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gam/lít.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a) Tính tổng lượng chất khử trùng và thể tích nước sau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phút; b)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c) so sánh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f(t)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357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Hãy giải thích tại sao nồng độ chất khử trùng tăng theo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nhưng không vượt ngưỡng </a:t>
                </a:r>
                <a:r>
                  <a:rPr lang="vi-VN"/>
                  <a:t>0,5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gam/lít.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a) Tính tổng lượng chất khử trùng và thể tích nước sau </a:t>
                </a:r>
                <a:r>
                  <a:rPr lang="vi-VN"/>
                  <a:t>t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phút; b) xét dấu </a:t>
                </a:r>
                <a:r>
                  <a:rPr lang="vi-VN"/>
                  <a:t>f'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c) so sánh </a:t>
                </a:r>
                <a:r>
                  <a:rPr lang="vi-VN"/>
                  <a:t>f(t)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với </a:t>
                </a:r>
                <a:r>
                  <a:rPr lang="vi-VN"/>
                  <a:t>\frac{1}{2}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200+40t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10+2t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(gam/lít),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ĐB; không cực trị; 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f(t)=\frac{20t}{200+40t}=\frac{t}{10+2t}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(gam/lít), </a:t>
                </a:r>
                <a:r>
                  <a:rPr lang="vi-VN"/>
                  <a:t>t\ge 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f'(t)=\frac{10}{(10+2t)^2}&gt;0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ĐB; không cực trị; TC ngang </a:t>
                </a:r>
                <a:r>
                  <a:rPr lang="vi-VN"/>
                  <a:t>y=0{,}5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10+2t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f(t)=\frac{1}{2}-\frac{5}{10+2t}&lt;\frac{1}{2}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t\ge 0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63495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Nồng độ tăng dần nhưng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luôn nhỏ hơn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gam/lít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(tiệm cận ngang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Nồng độ tăng dần nhưng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luôn nhỏ hơn </a:t>
                </a:r>
                <a:r>
                  <a:rPr lang="vi-VN"/>
                  <a:t>0{,}5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gam/lít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(tiệm cận ngang </a:t>
                </a:r>
                <a:r>
                  <a:rPr lang="vi-VN"/>
                  <a:t>y=0{,}5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4. HÀM PHÂN THỨC $Y=\FRAC{AX^2+BX+C}{PX+Q}$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HĐ2.4 – Tiết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−x−1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mẫu trước để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rồi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y=(x^2−x−1)/(x−2)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mẫu trước để viết </a:t>
                </a:r>
                <a:r>
                  <a:rPr lang="vi-VN"/>
                  <a:t>y=x+1+\frac{1}{x-2}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rồi tính </a:t>
                </a:r>
                <a:r>
                  <a:rPr lang="vi-VN"/>
                  <a:t>y'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47218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sepChr m:val="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/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CT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47218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y=x+1+\frac{1}{x-2}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y'=\frac{(x-1)(x-3)}{(x-2)^2}=0\Leftrightarrow 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(3;+\infty)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NB trên </a:t>
                </a:r>
                <a:r>
                  <a:rPr lang="vi-VN"/>
                  <a:t>(1;2)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(2;3)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:r>
                  <a:rPr lang="vi-VN"/>
                  <a:t>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y_{CD}=1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\quad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CT tại </a:t>
                </a:r>
                <a:r>
                  <a:rPr lang="vi-VN"/>
                  <a:t>x=3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y_{CT}=5</a:t>
                </a:r>
              </a:p>
            </p:txBody>
          </p:sp>
        </mc:Fallback>
      </mc:AlternateContent>
      <p:pic>
        <p:nvPicPr>
          <p:cNvPr id="8" name="Picture 7" descr="t12_b4_v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(SGK TR.30)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lim[y−(x+1)]=0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y=x+1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\lim[y-(x+1)]=0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I(2;3)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I(2;3)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:r>
                  <a:rPr lang="vi-VN"/>
                  <a:t>x=2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:r>
                  <a:rPr lang="vi-VN"/>
                  <a:t>y=x+1</a:t>
                </a:r>
              </a:p>
            </p:txBody>
          </p:sp>
        </mc:Fallback>
      </mc:AlternateContent>
      <p:pic>
        <p:nvPicPr>
          <p:cNvPr id="10" name="Picture 9" descr="t12_b4_v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018"/>
            <a:ext cx="4389120" cy="31172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BẬC 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1393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393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p≠0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tử không chia hết cho mẫu):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xiên làm tâm đối xứng;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393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Chú ý.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Đồ thị của hàm số phân thức </a:t>
                </a:r>
                <a:r>
                  <a:rPr lang="vi-VN"/>
                  <a:t>y=(ax^2+bx+c)/(px+q)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</a:t>
                </a:r>
                <a:r>
                  <a:rPr lang="vi-VN"/>
                  <a:t>a≠0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p≠0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tử không chia hết cho mẫu):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giao điểm của tiệm cận đứng và tiệm cận xiên làm tâm đối xứng;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 – PHÂN THỨC BẬC HAI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950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Cách tìm tiệm cận xiên: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chia đa thức tử cho mẫu, lấy phần thương bậc nhất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y=mx+n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• Nhận hai đường phân giác của các góc tạo bởi hai đường tiệm cận này làm các trục đối xứng.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Cách tìm tiệm cận xiên: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chia đa thức tử cho mẫu, lấy phần thương bậc nhất </a:t>
                </a:r>
                <a:r>
                  <a:rPr lang="vi-VN"/>
                  <a:t>y=mx+n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+x−2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=(x+1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+2)/(x+1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y=(x^2+x−2)/(x+1)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thức: </a:t>
                </a:r>
                <a:r>
                  <a:rPr lang="vi-VN"/>
                  <a:t>y=x-\frac{2}{x+1}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:r>
                  <a:rPr lang="vi-VN"/>
                  <a:t>y'=(x+1)^2+2)/(x+1)^2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TR.31):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626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sepChr m:val="+"/>
                            <m:endChr m:val="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626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y=x-\frac{2}{x+1}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y'=1+\frac{2}{(x+1)^2}=\frac{(x+1)^2+2}{(x+1)^2}&gt;0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(-\infty;-1)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(-1;+\infty)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không có cực trị</a:t>
                </a:r>
              </a:p>
            </p:txBody>
          </p:sp>
        </mc:Fallback>
      </mc:AlternateContent>
      <p:pic>
        <p:nvPicPr>
          <p:cNvPr id="8" name="Picture 7" descr="t12_b4_v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(SGK TR.31)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lim[y−x]=0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trục tung: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13091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\lim[y-x]=0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 hoành: </a:t>
                </a:r>
                <a:r>
                  <a:rPr lang="vi-VN"/>
                  <a:t>(-2;0)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(1;0)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trục tung: </a:t>
                </a:r>
                <a:r>
                  <a:rPr lang="vi-VN"/>
                  <a:t>(0;-2)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909316"/>
            <a:ext cx="64008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909316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I(−1;−1)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909316"/>
                <a:ext cx="60350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I(-1;-1)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= giao tiệm cận đứng </a:t>
                </a:r>
                <a:r>
                  <a:rPr lang="vi-VN"/>
                  <a:t>x=-1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và xiên </a:t>
                </a:r>
                <a:r>
                  <a:rPr lang="vi-VN"/>
                  <a:t>y=x</a:t>
                </a:r>
              </a:p>
            </p:txBody>
          </p:sp>
        </mc:Fallback>
      </mc:AlternateContent>
      <p:pic>
        <p:nvPicPr>
          <p:cNvPr id="10" name="Picture 9" descr="t12_b4_v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24697"/>
            <a:ext cx="4389120" cy="318584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+3x−1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trước; xét dấu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–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của hàm số </a:t>
                </a:r>
                <a:r>
                  <a:rPr lang="vi-VN"/>
                  <a:t>y=(−x^2+3x−1)/(x−2)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trước; xét dấu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–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có đổi dấu không?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+3x−1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chia: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−(x−2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từng khoảng; không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y=\frac{-x^2+3x-1}{x-2}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chia: </a:t>
                </a:r>
                <a:r>
                  <a:rPr lang="vi-VN"/>
                  <a:t>y=-x+1+\frac{1}{x-2}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y'=-1-\frac{1}{(x-2)^2}=\frac{-(x-2)^2-1}{(x-2)^2}&lt;0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 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NB trên từng khoảng; không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 (SGK TR.32)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49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xiên </a:t>
                </a:r>
                <a:r>
                  <a:rPr lang="vi-VN"/>
                  <a:t>y=-x+1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14897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I(2;−1)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tung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3±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14897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I(2;-1)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tung </a:t>
                </a:r>
                <a:r>
                  <a:rPr lang="vi-VN"/>
                  <a:t>(0;\frac{1}{2})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:r>
                  <a:rPr lang="vi-VN"/>
                  <a:t>x=\frac{3\pm\sqrt{5}}{2}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LUYỆN TẬP – BÀI TẬP SGK TR.32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4 (T17)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1.21A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tìm nghiệm;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a&lt;0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nên CĐ ở bên trái, CT ở bên phải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y=-x^3+3x+1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tìm nghiệm; </a:t>
                </a:r>
                <a:r>
                  <a:rPr lang="vi-VN"/>
                  <a:t>a&lt;0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nên CĐ ở bên trái, CT ở bên phải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1.21A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+3=−3(x−1)(x+1)=0⇔x=±1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y(−1)=3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y'=-3x^2+3=-3(x-1)(x+1)=0\Leftrightarrow x=\pm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CĐ tại </a:t>
                </a:r>
                <a:r>
                  <a:rPr lang="vi-VN"/>
                  <a:t>x=-1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y(-1)=3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CT tại </a:t>
                </a:r>
                <a:r>
                  <a:rPr lang="vi-VN"/>
                  <a:t>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y(1)=-1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\lim_{x\to-\infty}y=+\infty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\lim_{x\to+\infty}y=-\infty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118104"/>
            <a:ext cx="960120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118104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I(0;1)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≈−1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88;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35;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118104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I(0;1)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giao trục hoành </a:t>
                </a:r>
                <a:r>
                  <a:rPr lang="vi-VN"/>
                  <a:t>\approx -1{,}88;\; 0{,}35;\; 1{,}53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so sánh với 0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y=\frac{2x+1}{x+1}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Viết </a:t>
                </a:r>
                <a:r>
                  <a:rPr lang="vi-VN"/>
                  <a:t>y=2-\frac{1}{x+1}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tính </a:t>
                </a:r>
                <a:r>
                  <a:rPr lang="vi-VN"/>
                  <a:t>y'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so sánh với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2(x+1)−(2x+1)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x≠−1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y=\frac{2x+1}{x+1}=2-\frac{1}{x+1}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y'=\frac{2(x+1)-(2x+1)}{(x+1)^2}=\frac{1}{(x+1)^2}&gt;0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x\ne-1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ĐB trên </a:t>
                </a:r>
                <a:r>
                  <a:rPr lang="vi-VN"/>
                  <a:t>(-\infty;-1)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(-1;+\infty)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có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1.22A (MỨC 1)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 đứng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TC ngang </a:t>
                </a:r>
                <a:r>
                  <a:rPr lang="vi-VN"/>
                  <a:t>y=2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I(−1;2)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hàm số đồng biến (vì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ad−bc=2−1=1&gt;0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Tâm đối xứng </a:t>
                </a:r>
                <a:r>
                  <a:rPr lang="vi-VN"/>
                  <a:t>I(-1;2)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hàm số đồng biến (vì </a:t>
                </a:r>
                <a:r>
                  <a:rPr lang="vi-VN"/>
                  <a:t>ad-bc=2-1=1&gt;0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x−1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tìm tiệm cận xiên từ phần thương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sự biến thiên và vẽ đồ thị hàm số </a:t>
                </a:r>
                <a:r>
                  <a:rPr lang="vi-VN"/>
                  <a:t>y=\frac{2x^2-x+4}{x-1}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đa thức tử cho </a:t>
                </a:r>
                <a:r>
                  <a:rPr lang="vi-VN"/>
                  <a:t>x-1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tìm tiệm cận xiên từ phần thương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3608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(chia đa thức)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=0⇔(x−1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⇔x=1±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≈−0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(CĐ,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y≈−2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3608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y=2x+1+\frac{5}{x-1}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(chia đa thức)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y'=2-\frac{5}{(x-1)^2}=0\Leftrightarrow (x-1)^2=\frac{5}{2}\Leftrightarrow x=1\pm\frac{\sqrt{10}}{2}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x_1=1-\frac{\sqrt{10}}{2}\approx-0{,}58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(CĐ, </a:t>
                </a:r>
                <a:r>
                  <a:rPr lang="vi-VN"/>
                  <a:t>y\approx-2{,}32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1.23A (MỨC 2)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(CT,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y≈4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x_2=1+\frac{\sqrt{10}}{2}\approx2{,}58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(CT, </a:t>
                </a:r>
                <a:r>
                  <a:rPr lang="vi-VN"/>
                  <a:t>y\approx4{,}32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TC đứng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TC xiên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y=2x+1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tâm đối xứng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I(1;3)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TC đứng </a:t>
                </a:r>
                <a:r>
                  <a:rPr lang="vi-VN"/>
                  <a:t>x=1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TC xiên </a:t>
                </a:r>
                <a:r>
                  <a:rPr lang="vi-VN"/>
                  <a:t>y=2x+1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tâm đối xứng </a:t>
                </a:r>
                <a:r>
                  <a:rPr lang="vi-VN"/>
                  <a:t>I(1;3)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76711" y="457200"/>
            <a:ext cx="46634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064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59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LẺ – Lời giải AI số 1: Khảo sát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kết luận: "NB trên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ℝ⧵{1}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"TC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"tâm ĐX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→ Hãy chỉ ra bước sai và sửa lại.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CHẴN – Lời giải AI số 2: Khảo sát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tiệm cận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TC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LẺ – Lời giải AI số 1: Khảo sát </a:t>
                </a:r>
                <a:r>
                  <a:rPr lang="vi-VN"/>
                  <a:t>y=\frac{x+2}{x-1}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kết luận: "NB trên </a:t>
                </a:r>
                <a:r>
                  <a:rPr lang="vi-VN"/>
                  <a:t>\mathbb{R}\setminus\{1\}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"TC ngang </a:t>
                </a:r>
                <a:r>
                  <a:rPr lang="vi-VN"/>
                  <a:t>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"; "tâm ĐX </a:t>
                </a:r>
                <a:r>
                  <a:rPr lang="vi-VN"/>
                  <a:t>(1;2)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→ Hãy chỉ ra bước sai và sửa lại.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CHẴN – Lời giải AI số 2: Khảo sát </a:t>
                </a:r>
                <a:r>
                  <a:rPr lang="vi-VN"/>
                  <a:t>y=\frac{x^2-4}{x-2}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AI tính </a:t>
                </a:r>
                <a:r>
                  <a:rPr lang="vi-VN"/>
                  <a:t>y'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xác định tiệm cận đứng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TC xiên </a:t>
                </a:r>
                <a:r>
                  <a:rPr lang="vi-VN"/>
                  <a:t>y=x+2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76711" y="457200"/>
            <a:ext cx="46634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0645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29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→ AI đã quên đơn giản biểu thức. Đây là lỗi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73148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3148"/>
            <a:ext cx="923544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Câu lệnh: "Chỉ ra bước sai, không giải lại toàn bộ"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VẬN DỤNG – MÔ HÌNH HÓA TẠI VĨNH THẠNH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5 (T18)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A – Điện trở tưới nhỏ giọt (Bài 1.25 SGK)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Điện trở cố định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// biến trở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8x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8+x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khi tăng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thay đổi thế nào? Tại sao không vượt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B – Nồng độ phân bón lá (Câu 7 trắc nghiệm)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Thùng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(30 g/lít) + thêm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(5 g/lít). Khảo sát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300+5x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10+x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916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A – Điện trở tưới nhỏ giọt (Bài 1.25 SGK)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Điện trở cố định </a:t>
                </a:r>
                <a:r>
                  <a:rPr lang="vi-VN"/>
                  <a:t>8\,\Omega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// biến trở </a:t>
                </a:r>
                <a:r>
                  <a:rPr lang="vi-VN"/>
                  <a:t>x\,\Omega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Khảo sát </a:t>
                </a:r>
                <a:r>
                  <a:rPr lang="vi-VN"/>
                  <a:t>R(x)=\frac{8x}{8+x}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khi tăng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thay đổi thế nào? Tại sao không vượt </a:t>
                </a:r>
                <a:r>
                  <a:rPr lang="vi-VN"/>
                  <a:t>8\,\Omega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Nhóm B – Nồng độ phân bón lá (Câu 7 trắc nghiệm)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Thùng </a:t>
                </a:r>
                <a:r>
                  <a:rPr lang="vi-VN"/>
                  <a:t>10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(30 g/lít) + thêm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(5 g/lít). Khảo sát </a:t>
                </a:r>
                <a:r>
                  <a:rPr lang="vi-VN"/>
                  <a:t>C(x)=\frac{300+5x}{10+x}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cần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x=?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để nồng độ đạt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g/lít? Nồng độ xuống đến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 được không?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Hỏi: cần </a:t>
                </a:r>
                <a:r>
                  <a:rPr lang="vi-VN"/>
                  <a:t>x=?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lít để nồng độ đạt </a:t>
                </a:r>
                <a:r>
                  <a:rPr lang="vi-VN"/>
                  <a:t>10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g/lít? Nồng độ xuống đến </a:t>
                </a:r>
                <a:r>
                  <a:rPr lang="vi-VN"/>
                  <a:t>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g/lít được không?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BÀI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64</a:t>
            </a:r>
          </a:p>
        </p:txBody>
      </p:sp>
      <p:pic>
        <p:nvPicPr>
          <p:cNvPr id="6" name="Picture 5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66" y="1417320"/>
            <a:ext cx="777498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Nêu nội dung từng nhánh trước khi GV hiện đáp án đầy đủ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hàm số          65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