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73152"/>
            <a:ext cx="11640312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Arial"/>
              </a:rPr>
              <a:t>TRƯỜNG TRƯỜNG THPT  |  LỊCH SỬ 12  |  NĂM HỌC 2026–2027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3716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>
                <a:solidFill>
                  <a:srgbClr val="1E40AF"/>
                </a:solidFill>
                <a:latin typeface="Arial"/>
              </a:rPr>
              <a:t>TH2. ASEAN – Những chặng đường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840480"/>
            <a:ext cx="1036015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0">
                <a:solidFill>
                  <a:srgbClr val="1E293B"/>
                </a:solidFill>
                <a:latin typeface="Calibri"/>
              </a:rPr>
              <a:t>Thời gian thực hiện: Tiết T14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480560"/>
            <a:ext cx="103601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1E293B"/>
                </a:solidFill>
                <a:latin typeface="Calibri"/>
              </a:rPr>
              <a:t>Giáo viên: TTT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6492240"/>
            <a:ext cx="12188952" cy="3657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6510528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Trường Trường THPT – Bình Định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74320" y="182880"/>
            <a:ext cx="116403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1E40AF"/>
                </a:solidFill>
                <a:latin typeface="Arial"/>
              </a:rPr>
              <a:t>MỤC TIÊU BÀI HỌC</a:t>
            </a:r>
          </a:p>
        </p:txBody>
      </p:sp>
      <p:sp>
        <p:nvSpPr>
          <p:cNvPr id="3" name="Rectangle 2"/>
          <p:cNvSpPr/>
          <p:nvPr/>
        </p:nvSpPr>
        <p:spPr>
          <a:xfrm>
            <a:off x="274320" y="86868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00584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97840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Lập niên biểu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74320" y="160020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157276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Phân tích bản đồ ĐNA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2194560"/>
            <a:ext cx="4114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167128"/>
            <a:ext cx="11091672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Đánh giá vai trò Việt Nam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21792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6400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  <a:latin typeface="Arial"/>
              </a:rPr>
              <a:t>SO DO TU DUY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0" y="64008"/>
            <a:ext cx="7342632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alibri"/>
              </a:rPr>
              <a:t>LỊCH SỬ 12  |  TH2. ASEAN – Những chặng đường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08476" y="804672"/>
            <a:ext cx="4572000" cy="640080"/>
          </a:xfrm>
          <a:prstGeom prst="roundRect">
            <a:avLst/>
          </a:prstGeom>
          <a:solidFill>
            <a:srgbClr val="1E40AF"/>
          </a:solidFill>
          <a:ln>
            <a:solidFill>
              <a:srgbClr val="1E40A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/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TH2. ASEAN – Những chặng đường</a:t>
            </a:r>
          </a:p>
        </p:txBody>
      </p:sp>
      <p:cxnSp>
        <p:nvCxnSpPr>
          <p:cNvPr id="6" name="Connector 5"/>
          <p:cNvCxnSpPr/>
          <p:nvPr/>
        </p:nvCxnSpPr>
        <p:spPr>
          <a:xfrm flipH="1">
            <a:off x="1412748.0" y="1124712.0"/>
            <a:ext cx="4681728.0" cy="864108.0"/>
          </a:xfrm>
          <a:prstGeom prst="line">
            <a:avLst/>
          </a:prstGeom>
          <a:ln w="2286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109728" y="1691640"/>
            <a:ext cx="2606040" cy="594360"/>
          </a:xfrm>
          <a:prstGeom prst="ellipse">
            <a:avLst/>
          </a:prstGeom>
          <a:solidFill>
            <a:srgbClr val="7C3AED"/>
          </a:solidFill>
          <a:ln>
            <a:solidFill>
              <a:srgbClr val="7C3AE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Giai đoạn 1 (1967-1975)</a:t>
            </a:r>
          </a:p>
        </p:txBody>
      </p:sp>
      <p:cxnSp>
        <p:nvCxnSpPr>
          <p:cNvPr id="8" name="Connector 7"/>
          <p:cNvCxnSpPr/>
          <p:nvPr/>
        </p:nvCxnSpPr>
        <p:spPr>
          <a:xfrm flipV="1">
            <a:off x="1412748.0" y="1568196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880360" y="1399032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5 thành viên sáng lập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412748.0" y="1988820.0"/>
            <a:ext cx="2839212.0" cy="0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880360" y="1819656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Hợp tác lỏng lẻo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412748.0" y="1988820.0"/>
            <a:ext cx="2839212.0" cy="420624.0"/>
          </a:xfrm>
          <a:prstGeom prst="line">
            <a:avLst/>
          </a:prstGeom>
          <a:ln w="12700">
            <a:solidFill>
              <a:srgbClr val="7C3AE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880360" y="2240280"/>
            <a:ext cx="2743200" cy="338328"/>
          </a:xfrm>
          <a:prstGeom prst="roundRect">
            <a:avLst/>
          </a:prstGeom>
          <a:solidFill>
            <a:srgbClr val="EDE9FE"/>
          </a:solidFill>
          <a:ln>
            <a:solidFill>
              <a:srgbClr val="EDE9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C1D95"/>
                </a:solidFill>
                <a:latin typeface="Calibri"/>
              </a:rPr>
              <a:t>Bối cảnh CTL</a:t>
            </a:r>
          </a:p>
        </p:txBody>
      </p:sp>
      <p:cxnSp>
        <p:nvCxnSpPr>
          <p:cNvPr id="14" name="Connector 13"/>
          <p:cNvCxnSpPr/>
          <p:nvPr/>
        </p:nvCxnSpPr>
        <p:spPr>
          <a:xfrm flipH="1">
            <a:off x="1412748.0" y="1124712.0"/>
            <a:ext cx="4681728.0" cy="3058668.0"/>
          </a:xfrm>
          <a:prstGeom prst="line">
            <a:avLst/>
          </a:prstGeom>
          <a:ln w="2286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9728" y="3886200"/>
            <a:ext cx="2606040" cy="594360"/>
          </a:xfrm>
          <a:prstGeom prst="ellipse">
            <a:avLst/>
          </a:prstGeom>
          <a:solidFill>
            <a:srgbClr val="065F46"/>
          </a:solidFill>
          <a:ln>
            <a:solidFill>
              <a:srgbClr val="065F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Giai đoạn 2 (1976-1991)</a:t>
            </a:r>
          </a:p>
        </p:txBody>
      </p:sp>
      <p:cxnSp>
        <p:nvCxnSpPr>
          <p:cNvPr id="16" name="Connector 15"/>
          <p:cNvCxnSpPr/>
          <p:nvPr/>
        </p:nvCxnSpPr>
        <p:spPr>
          <a:xfrm flipV="1">
            <a:off x="1412748.0" y="3762756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880360" y="3593592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TAC + ZOPFAN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1412748.0" y="4183380.0"/>
            <a:ext cx="2839212.0" cy="0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2880360" y="4014216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Hội nghị Bali I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412748.0" y="4183380.0"/>
            <a:ext cx="2839212.0" cy="420624.0"/>
          </a:xfrm>
          <a:prstGeom prst="line">
            <a:avLst/>
          </a:prstGeom>
          <a:ln w="12700">
            <a:solidFill>
              <a:srgbClr val="065F4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2880360" y="4434840"/>
            <a:ext cx="2743200" cy="338328"/>
          </a:xfrm>
          <a:prstGeom prst="roundRect">
            <a:avLst/>
          </a:prstGeom>
          <a:solidFill>
            <a:srgbClr val="D1FAE5"/>
          </a:solidFill>
          <a:ln>
            <a:solidFill>
              <a:srgbClr val="D1FA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022C22"/>
                </a:solidFill>
                <a:latin typeface="Calibri"/>
              </a:rPr>
              <a:t>ASEAN mở rộng dần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094476.0" y="1124712.0"/>
            <a:ext cx="4681728.0" cy="864108.0"/>
          </a:xfrm>
          <a:prstGeom prst="line">
            <a:avLst/>
          </a:prstGeom>
          <a:ln w="2286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9473184" y="1691640"/>
            <a:ext cx="2606040" cy="594360"/>
          </a:xfrm>
          <a:prstGeom prst="ellipse">
            <a:avLst/>
          </a:prstGeom>
          <a:solidFill>
            <a:srgbClr val="B91C1C"/>
          </a:solidFill>
          <a:ln>
            <a:solidFill>
              <a:srgbClr val="B91C1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Giai đoạn 3 (1992-2015)</a:t>
            </a:r>
          </a:p>
        </p:txBody>
      </p:sp>
      <p:cxnSp>
        <p:nvCxnSpPr>
          <p:cNvPr id="24" name="Connector 23"/>
          <p:cNvCxnSpPr/>
          <p:nvPr/>
        </p:nvCxnSpPr>
        <p:spPr>
          <a:xfrm flipH="1" flipV="1">
            <a:off x="7936992.0" y="1568196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565392" y="1399032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AFTA, ARF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936992.0" y="1988820.0"/>
            <a:ext cx="2839212.0" cy="0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Rounded Rectangle 26"/>
          <p:cNvSpPr/>
          <p:nvPr/>
        </p:nvSpPr>
        <p:spPr>
          <a:xfrm>
            <a:off x="6565392" y="1819656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ASEAN-10</a:t>
            </a:r>
          </a:p>
        </p:txBody>
      </p:sp>
      <p:cxnSp>
        <p:nvCxnSpPr>
          <p:cNvPr id="28" name="Connector 27"/>
          <p:cNvCxnSpPr/>
          <p:nvPr/>
        </p:nvCxnSpPr>
        <p:spPr>
          <a:xfrm flipH="1">
            <a:off x="7936992.0" y="1988820.0"/>
            <a:ext cx="2839212.0" cy="420624.0"/>
          </a:xfrm>
          <a:prstGeom prst="line">
            <a:avLst/>
          </a:prstGeom>
          <a:ln w="12700">
            <a:solidFill>
              <a:srgbClr val="B91C1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6565392" y="2240280"/>
            <a:ext cx="2743200" cy="338328"/>
          </a:xfrm>
          <a:prstGeom prst="roundRect">
            <a:avLst/>
          </a:prstGeom>
          <a:solidFill>
            <a:srgbClr val="FEE2E2"/>
          </a:solidFill>
          <a:ln>
            <a:solidFill>
              <a:srgbClr val="FEE2E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0A0A"/>
                </a:solidFill>
                <a:latin typeface="Calibri"/>
              </a:rPr>
              <a:t>Hiến chương + Cộng đồng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6094476.0" y="1124712.0"/>
            <a:ext cx="4681728.0" cy="3058668.0"/>
          </a:xfrm>
          <a:prstGeom prst="line">
            <a:avLst/>
          </a:prstGeom>
          <a:ln w="2286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9473184" y="3886200"/>
            <a:ext cx="2606040" cy="594360"/>
          </a:xfrm>
          <a:prstGeom prst="ellipse">
            <a:avLst/>
          </a:prstGeom>
          <a:solidFill>
            <a:srgbClr val="B45309"/>
          </a:solidFill>
          <a:ln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Arial"/>
              </a:rPr>
              <a:t>Hiện tại–Tương lai</a:t>
            </a:r>
          </a:p>
        </p:txBody>
      </p:sp>
      <p:cxnSp>
        <p:nvCxnSpPr>
          <p:cNvPr id="32" name="Connector 31"/>
          <p:cNvCxnSpPr/>
          <p:nvPr/>
        </p:nvCxnSpPr>
        <p:spPr>
          <a:xfrm flipH="1" flipV="1">
            <a:off x="7936992.0" y="3762756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6565392" y="3593592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ASEAN+3, EAS</a:t>
            </a:r>
          </a:p>
        </p:txBody>
      </p:sp>
      <p:cxnSp>
        <p:nvCxnSpPr>
          <p:cNvPr id="34" name="Connector 33"/>
          <p:cNvCxnSpPr/>
          <p:nvPr/>
        </p:nvCxnSpPr>
        <p:spPr>
          <a:xfrm flipH="1">
            <a:off x="7936992.0" y="4183380.0"/>
            <a:ext cx="2839212.0" cy="0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6565392" y="4014216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Tầm nhìn 2025</a:t>
            </a:r>
          </a:p>
        </p:txBody>
      </p:sp>
      <p:cxnSp>
        <p:nvCxnSpPr>
          <p:cNvPr id="36" name="Connector 35"/>
          <p:cNvCxnSpPr/>
          <p:nvPr/>
        </p:nvCxnSpPr>
        <p:spPr>
          <a:xfrm flipH="1">
            <a:off x="7936992.0" y="4183380.0"/>
            <a:ext cx="2839212.0" cy="420624.0"/>
          </a:xfrm>
          <a:prstGeom prst="line">
            <a:avLst/>
          </a:prstGeom>
          <a:ln w="12700">
            <a:solidFill>
              <a:srgbClr val="B45309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565392" y="4434840"/>
            <a:ext cx="2743200" cy="338328"/>
          </a:xfrm>
          <a:prstGeom prst="roundRect">
            <a:avLst/>
          </a:prstGeom>
          <a:solidFill>
            <a:srgbClr val="FEF3C7"/>
          </a:solidFill>
          <a:ln>
            <a:solidFill>
              <a:srgbClr val="FEF3C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/>
            <a:r>
              <a:rPr sz="1200" b="0">
                <a:solidFill>
                  <a:srgbClr val="451A03"/>
                </a:solidFill>
                <a:latin typeface="Calibri"/>
              </a:rPr>
              <a:t>Củng cố 3 trụ cột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1967→5 thành viên; 1976→TAC; 1984→Brunei; 1992→AFTA
1995→VN; 1999→Campuchia; 2007→Hiến chương; 2015→CĐ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Niên biểu ASEAN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1967→5 thành viên; 1976→TAC; 1984→Brunei; 1992→AFTA
1995→VN; 1999→Campuchia; 2007→Hiến chương; 2015→CĐ ASEAN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32 năm từ 5 → 10 thành viên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ĐỀ BÀI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1E40AF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293B"/>
                </a:solidFill>
                <a:latin typeface="Calibri"/>
              </a:rPr>
              <a:t>1. Bản đồ ĐNA 10 thành viên
2. Phân tích 3 giai đoạn ASEAN
3. Quan hệ VN–ASEAN
4. Triển vọng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760720"/>
            <a:ext cx="11640312" cy="685800"/>
          </a:xfrm>
          <a:prstGeom prst="rect">
            <a:avLst/>
          </a:prstGeom>
          <a:solidFill>
            <a:srgbClr val="E0F2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806440"/>
            <a:ext cx="1145743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1E40AF"/>
                </a:solidFill>
                <a:latin typeface="Calibri"/>
              </a:rPr>
              <a:t>💡 Suy nghĩ và thảo luận nhóm.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Arial"/>
              </a:rPr>
              <a:t>LỜI GIẢI – NỘI DUNG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777240"/>
            <a:ext cx="1164031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991B1B"/>
                </a:solidFill>
                <a:latin typeface="Arial"/>
              </a:rPr>
              <a:t>Thực hành phân tích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417320"/>
            <a:ext cx="11640312" cy="36576"/>
          </a:xfrm>
          <a:prstGeom prst="rect">
            <a:avLst/>
          </a:prstGeom>
          <a:solidFill>
            <a:srgbClr val="991B1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508760"/>
            <a:ext cx="11640312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100" b="0">
                <a:solidFill>
                  <a:srgbClr val="1E293B"/>
                </a:solidFill>
                <a:latin typeface="Calibri"/>
              </a:rPr>
              <a:t>1. Bản đồ ĐNA 10 thành viên
2. Phân tích 3 giai đoạn ASEAN
3. Quan hệ VN–ASEAN
4. Triển vọng đến 2025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5120640"/>
            <a:ext cx="11640312" cy="914400"/>
          </a:xfrm>
          <a:prstGeom prst="rect">
            <a:avLst/>
          </a:prstGeom>
          <a:solidFill>
            <a:srgbClr val="FE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5166360"/>
            <a:ext cx="11457432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991B1B"/>
                </a:solidFill>
                <a:latin typeface="Arial"/>
              </a:rPr>
              <a:t>✦ ASEAN+3 là cơ chế liên khu vực quan trọng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28016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640312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Arial"/>
              </a:rPr>
              <a:t>BÀI TẬP CỦA BẠN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417320"/>
            <a:ext cx="6858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1E40AF"/>
                </a:solidFill>
                <a:latin typeface="Calibri"/>
              </a:rPr>
              <a:t>Lịch sử 12 – TH2. ASEAN – Những chặng đường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2103120"/>
            <a:ext cx="6858000" cy="685800"/>
          </a:xfrm>
          <a:prstGeom prst="rect">
            <a:avLst/>
          </a:prstGeom>
          <a:solidFill>
            <a:srgbClr val="DCF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2176272"/>
            <a:ext cx="6675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15783A"/>
                </a:solidFill>
                <a:latin typeface="Calibri"/>
              </a:rPr>
              <a:t>🔗  https://trangtu66.github.io/Taode_thi_online/su_cc_th2_k12.html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2926080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1E293B"/>
                </a:solidFill>
                <a:latin typeface="Calibri"/>
              </a:rPr>
              <a:t>6 câu trắc nghiệm + 1 câu đúng/sai
Kết quả ngay lập tức – Xếp hạng lớp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3840480"/>
            <a:ext cx="6858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1E40AF"/>
                </a:solidFill>
                <a:latin typeface="Arial"/>
              </a:rPr>
              <a:t>📱  Quét mã QR để làm bài ngay →</a:t>
            </a:r>
          </a:p>
        </p:txBody>
      </p:sp>
      <p:pic>
        <p:nvPicPr>
          <p:cNvPr id="9" name="Picture 8" descr="QR_CungCo_SU12_TH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80160"/>
            <a:ext cx="4114800" cy="411480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400800"/>
            <a:ext cx="12188952" cy="457200"/>
          </a:xfrm>
          <a:prstGeom prst="rect">
            <a:avLst/>
          </a:prstGeom>
          <a:solidFill>
            <a:srgbClr val="1E40A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419088"/>
            <a:ext cx="11640312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  <a:latin typeface="Calibri"/>
              </a:rPr>
              <a:t>Chúc các em học tốt! – Trường THPT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