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6403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TRƯỜNG TRƯỜNG THPT  |  LỊCH SỬ 12  |  NĂM HỌC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01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E40AF"/>
                </a:solidFill>
                <a:latin typeface="Arial"/>
              </a:rPr>
              <a:t>Bài 11. Thành tựu công cuộc Đổi mới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E293B"/>
                </a:solidFill>
                <a:latin typeface="Calibri"/>
              </a:rPr>
              <a:t>Thời gian thực hiện: Tiết T30-32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48056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1E293B"/>
                </a:solidFill>
                <a:latin typeface="Calibri"/>
              </a:rPr>
              <a:t>Giáo viên: TTT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Trường Trường THPT – Bình Định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403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86868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7840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Trình bày thành tựu KT, đối ngoại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0020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6002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57276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Đánh giá vị thế VN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19456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21945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6712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Nhận xét hạn chế và thách thức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2179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SO DO TU DUY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64008"/>
            <a:ext cx="7342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LỊCH SỬ 12  |  Bài 11. Thành tựu công cuộc Đổi mới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08476" y="804672"/>
            <a:ext cx="4572000" cy="640080"/>
          </a:xfrm>
          <a:prstGeom prst="round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Bài 11. Thành tựu công cuộc Đổi mới</a:t>
            </a:r>
          </a:p>
        </p:txBody>
      </p:sp>
      <p:cxnSp>
        <p:nvCxnSpPr>
          <p:cNvPr id="6" name="Connector 5"/>
          <p:cNvCxnSpPr/>
          <p:nvPr/>
        </p:nvCxnSpPr>
        <p:spPr>
          <a:xfrm flipH="1">
            <a:off x="1412748.0" y="1124712.0"/>
            <a:ext cx="4681728.0" cy="864108.0"/>
          </a:xfrm>
          <a:prstGeom prst="line">
            <a:avLst/>
          </a:prstGeom>
          <a:ln w="2286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9728" y="1691640"/>
            <a:ext cx="2606040" cy="59436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Thành tựu kinh tế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1412748.0" y="1568196.0"/>
            <a:ext cx="2839212.0" cy="420624.0"/>
          </a:xfrm>
          <a:prstGeom prst="line">
            <a:avLst/>
          </a:prstGeom>
          <a:ln w="127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880360" y="1399032"/>
            <a:ext cx="2743200" cy="338328"/>
          </a:xfrm>
          <a:prstGeom prst="roundRect">
            <a:avLst/>
          </a:prstGeom>
          <a:solidFill>
            <a:srgbClr val="EDE9FE"/>
          </a:solidFill>
          <a:ln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C1D95"/>
                </a:solidFill>
                <a:latin typeface="Calibri"/>
              </a:rPr>
              <a:t>GDP 6-7%/năm bền vững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412748.0" y="1988820.0"/>
            <a:ext cx="2839212.0" cy="0.0"/>
          </a:xfrm>
          <a:prstGeom prst="line">
            <a:avLst/>
          </a:prstGeom>
          <a:ln w="127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880360" y="1819656"/>
            <a:ext cx="2743200" cy="338328"/>
          </a:xfrm>
          <a:prstGeom prst="roundRect">
            <a:avLst/>
          </a:prstGeom>
          <a:solidFill>
            <a:srgbClr val="EDE9FE"/>
          </a:solidFill>
          <a:ln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C1D95"/>
                </a:solidFill>
                <a:latin typeface="Calibri"/>
              </a:rPr>
              <a:t>Thoát bẫy nghèo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412748.0" y="1988820.0"/>
            <a:ext cx="2839212.0" cy="420624.0"/>
          </a:xfrm>
          <a:prstGeom prst="line">
            <a:avLst/>
          </a:prstGeom>
          <a:ln w="127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880360" y="2240280"/>
            <a:ext cx="2743200" cy="338328"/>
          </a:xfrm>
          <a:prstGeom prst="roundRect">
            <a:avLst/>
          </a:prstGeom>
          <a:solidFill>
            <a:srgbClr val="EDE9FE"/>
          </a:solidFill>
          <a:ln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C1D95"/>
                </a:solidFill>
                <a:latin typeface="Calibri"/>
              </a:rPr>
              <a:t>Xuất khẩu top 20 TG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1412748.0" y="1124712.0"/>
            <a:ext cx="4681728.0" cy="3058668.0"/>
          </a:xfrm>
          <a:prstGeom prst="line">
            <a:avLst/>
          </a:prstGeom>
          <a:ln w="22860">
            <a:solidFill>
              <a:srgbClr val="065F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09728" y="3886200"/>
            <a:ext cx="2606040" cy="594360"/>
          </a:xfrm>
          <a:prstGeom prst="ellipse">
            <a:avLst/>
          </a:prstGeom>
          <a:solidFill>
            <a:srgbClr val="065F46"/>
          </a:solidFill>
          <a:ln>
            <a:solidFill>
              <a:srgbClr val="065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Thành tựu đối ngoại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1412748.0" y="3762756.0"/>
            <a:ext cx="2839212.0" cy="420624.0"/>
          </a:xfrm>
          <a:prstGeom prst="line">
            <a:avLst/>
          </a:prstGeom>
          <a:ln w="12700">
            <a:solidFill>
              <a:srgbClr val="065F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880360" y="3593592"/>
            <a:ext cx="2743200" cy="338328"/>
          </a:xfrm>
          <a:prstGeom prst="round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022C22"/>
                </a:solidFill>
                <a:latin typeface="Calibri"/>
              </a:rPr>
              <a:t>ASEAN, APEC, WTO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412748.0" y="4183380.0"/>
            <a:ext cx="2839212.0" cy="0.0"/>
          </a:xfrm>
          <a:prstGeom prst="line">
            <a:avLst/>
          </a:prstGeom>
          <a:ln w="12700">
            <a:solidFill>
              <a:srgbClr val="065F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2880360" y="4014216"/>
            <a:ext cx="2743200" cy="338328"/>
          </a:xfrm>
          <a:prstGeom prst="round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022C22"/>
                </a:solidFill>
                <a:latin typeface="Calibri"/>
              </a:rPr>
              <a:t>HĐBA LHQ 2 nhiệm kỳ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412748.0" y="4183380.0"/>
            <a:ext cx="2839212.0" cy="420624.0"/>
          </a:xfrm>
          <a:prstGeom prst="line">
            <a:avLst/>
          </a:prstGeom>
          <a:ln w="12700">
            <a:solidFill>
              <a:srgbClr val="065F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2880360" y="4434840"/>
            <a:ext cx="2743200" cy="338328"/>
          </a:xfrm>
          <a:prstGeom prst="round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022C22"/>
                </a:solidFill>
                <a:latin typeface="Calibri"/>
              </a:rPr>
              <a:t>160+ đối tác chiến lược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094476.0" y="1124712.0"/>
            <a:ext cx="4681728.0" cy="864108.0"/>
          </a:xfrm>
          <a:prstGeom prst="line">
            <a:avLst/>
          </a:prstGeom>
          <a:ln w="2286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9473184" y="1691640"/>
            <a:ext cx="2606040" cy="594360"/>
          </a:xfrm>
          <a:prstGeom prst="ellipse">
            <a:avLst/>
          </a:prstGeom>
          <a:solidFill>
            <a:srgbClr val="B91C1C"/>
          </a:solidFill>
          <a:ln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Vị thế quốc tế</a:t>
            </a:r>
          </a:p>
        </p:txBody>
      </p:sp>
      <p:cxnSp>
        <p:nvCxnSpPr>
          <p:cNvPr id="24" name="Connector 23"/>
          <p:cNvCxnSpPr/>
          <p:nvPr/>
        </p:nvCxnSpPr>
        <p:spPr>
          <a:xfrm flipH="1" flipV="1">
            <a:off x="7936992.0" y="1568196.0"/>
            <a:ext cx="2839212.0" cy="420624.0"/>
          </a:xfrm>
          <a:prstGeom prst="line">
            <a:avLst/>
          </a:prstGeom>
          <a:ln w="127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565392" y="1399032"/>
            <a:ext cx="2743200" cy="338328"/>
          </a:xfrm>
          <a:prstGeom prst="round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0A0A"/>
                </a:solidFill>
                <a:latin typeface="Calibri"/>
              </a:rPr>
              <a:t>Top 20 nền KT thương mại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7936992.0" y="1988820.0"/>
            <a:ext cx="2839212.0" cy="0.0"/>
          </a:xfrm>
          <a:prstGeom prst="line">
            <a:avLst/>
          </a:prstGeom>
          <a:ln w="127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565392" y="1819656"/>
            <a:ext cx="2743200" cy="338328"/>
          </a:xfrm>
          <a:prstGeom prst="round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0A0A"/>
                </a:solidFill>
                <a:latin typeface="Calibri"/>
              </a:rPr>
              <a:t>Đối tác tin cậy–có trách nhiệm</a:t>
            </a:r>
          </a:p>
        </p:txBody>
      </p:sp>
      <p:cxnSp>
        <p:nvCxnSpPr>
          <p:cNvPr id="28" name="Connector 27"/>
          <p:cNvCxnSpPr/>
          <p:nvPr/>
        </p:nvCxnSpPr>
        <p:spPr>
          <a:xfrm flipH="1">
            <a:off x="7936992.0" y="1988820.0"/>
            <a:ext cx="2839212.0" cy="420624.0"/>
          </a:xfrm>
          <a:prstGeom prst="line">
            <a:avLst/>
          </a:prstGeom>
          <a:ln w="127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6565392" y="2240280"/>
            <a:ext cx="2743200" cy="338328"/>
          </a:xfrm>
          <a:prstGeom prst="round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0A0A"/>
                </a:solidFill>
                <a:latin typeface="Calibri"/>
              </a:rPr>
              <a:t>Chủ tịch ASEAN 3 lần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094476.0" y="1124712.0"/>
            <a:ext cx="4681728.0" cy="3058668.0"/>
          </a:xfrm>
          <a:prstGeom prst="line">
            <a:avLst/>
          </a:prstGeom>
          <a:ln w="2286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9473184" y="3886200"/>
            <a:ext cx="2606040" cy="594360"/>
          </a:xfrm>
          <a:prstGeom prst="ellipse">
            <a:avLst/>
          </a:prstGeom>
          <a:solidFill>
            <a:srgbClr val="B45309"/>
          </a:solidFill>
          <a:ln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Thách thức còn lại</a:t>
            </a:r>
          </a:p>
        </p:txBody>
      </p:sp>
      <p:cxnSp>
        <p:nvCxnSpPr>
          <p:cNvPr id="32" name="Connector 31"/>
          <p:cNvCxnSpPr/>
          <p:nvPr/>
        </p:nvCxnSpPr>
        <p:spPr>
          <a:xfrm flipH="1" flipV="1">
            <a:off x="7936992.0" y="3762756.0"/>
            <a:ext cx="2839212.0" cy="420624.0"/>
          </a:xfrm>
          <a:prstGeom prst="line">
            <a:avLst/>
          </a:prstGeom>
          <a:ln w="1270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565392" y="3593592"/>
            <a:ext cx="2743200" cy="338328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1A03"/>
                </a:solidFill>
                <a:latin typeface="Calibri"/>
              </a:rPr>
              <a:t>Ô nhiễm môi trường</a:t>
            </a:r>
          </a:p>
        </p:txBody>
      </p:sp>
      <p:cxnSp>
        <p:nvCxnSpPr>
          <p:cNvPr id="34" name="Connector 33"/>
          <p:cNvCxnSpPr/>
          <p:nvPr/>
        </p:nvCxnSpPr>
        <p:spPr>
          <a:xfrm flipH="1">
            <a:off x="7936992.0" y="4183380.0"/>
            <a:ext cx="2839212.0" cy="0.0"/>
          </a:xfrm>
          <a:prstGeom prst="line">
            <a:avLst/>
          </a:prstGeom>
          <a:ln w="1270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6565392" y="4014216"/>
            <a:ext cx="2743200" cy="338328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1A03"/>
                </a:solidFill>
                <a:latin typeface="Calibri"/>
              </a:rPr>
              <a:t>Bất bình đẳng thu nhập</a:t>
            </a:r>
          </a:p>
        </p:txBody>
      </p:sp>
      <p:cxnSp>
        <p:nvCxnSpPr>
          <p:cNvPr id="36" name="Connector 35"/>
          <p:cNvCxnSpPr/>
          <p:nvPr/>
        </p:nvCxnSpPr>
        <p:spPr>
          <a:xfrm flipH="1">
            <a:off x="7936992.0" y="4183380.0"/>
            <a:ext cx="2839212.0" cy="420624.0"/>
          </a:xfrm>
          <a:prstGeom prst="line">
            <a:avLst/>
          </a:prstGeom>
          <a:ln w="1270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6565392" y="4434840"/>
            <a:ext cx="2743200" cy="338328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1A03"/>
                </a:solidFill>
                <a:latin typeface="Calibri"/>
              </a:rPr>
              <a:t>Chuyển đổi số, kinh tế xanh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ĐỀ BÀI – NỘI DUNG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40AF"/>
                </a:solidFill>
                <a:latin typeface="Arial"/>
              </a:rPr>
              <a:t>Thành tựu kinh tế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293B"/>
                </a:solidFill>
                <a:latin typeface="Calibri"/>
              </a:rPr>
              <a:t>GDP tăng 6-7%/năm liên tục
Từ thiếu gạo → xuất khẩu gạo top 3 TG
FDI tăng mạnh; điện thoại, điện tử xuất khẩu #1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760720"/>
            <a:ext cx="11640312" cy="6858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806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40AF"/>
                </a:solidFill>
                <a:latin typeface="Calibri"/>
              </a:rPr>
              <a:t>💡 Suy nghĩ và thảo luận nhóm.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LỜI GIẢI – NỘI DUNG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991B1B"/>
                </a:solidFill>
                <a:latin typeface="Arial"/>
              </a:rPr>
              <a:t>Thành tựu kinh tế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E293B"/>
                </a:solidFill>
                <a:latin typeface="Calibri"/>
              </a:rPr>
              <a:t>GDP tăng 6-7%/năm liên tục
Từ thiếu gạo → xuất khẩu gạo top 3 TG
FDI tăng mạnh; điện thoại, điện tử xuất khẩu #1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120640"/>
            <a:ext cx="11640312" cy="9144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16636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91B1B"/>
                </a:solidFill>
                <a:latin typeface="Arial"/>
              </a:rPr>
              <a:t>✦ Từ nhóm nghèo nhất → thu nhập trung bình thấp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ĐỀ BÀI – NỘI DUNG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40AF"/>
                </a:solidFill>
                <a:latin typeface="Arial"/>
              </a:rPr>
              <a:t>Thành tựu đối ngoại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293B"/>
                </a:solidFill>
                <a:latin typeface="Calibri"/>
              </a:rPr>
              <a:t>ASEAN (1995), APEC (1998), WTO (2007)
HĐBA: 2008-2009, 2020-2021
Chủ tịch ASEAN: 1998, 2010, 2020
Mục tiêu 2045: nước phát triển thu nhập cao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760720"/>
            <a:ext cx="11640312" cy="6858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806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40AF"/>
                </a:solidFill>
                <a:latin typeface="Calibri"/>
              </a:rPr>
              <a:t>💡 Suy nghĩ và thảo luận nhóm.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LỜI GIẢI – NỘI DUNG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991B1B"/>
                </a:solidFill>
                <a:latin typeface="Arial"/>
              </a:rPr>
              <a:t>Thành tựu đối ngoại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E293B"/>
                </a:solidFill>
                <a:latin typeface="Calibri"/>
              </a:rPr>
              <a:t>ASEAN (1995), APEC (1998), WTO (2007)
HĐBA: 2008-2009, 2020-2021
Chủ tịch ASEAN: 1998, 2010, 2020
Mục tiêu 2045: nước phát triển thu nhập cao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120640"/>
            <a:ext cx="11640312" cy="9144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16636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91B1B"/>
                </a:solidFill>
                <a:latin typeface="Arial"/>
              </a:rPr>
              <a:t>✦ Thách thức: ô nhiễm, bất bình đẳng, tham nhũng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4031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Arial"/>
              </a:rPr>
              <a:t>BÀI TẬP CỦA BẠN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41732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40AF"/>
                </a:solidFill>
                <a:latin typeface="Calibri"/>
              </a:rPr>
              <a:t>Lịch sử 12 – Bài 11. Thành tựu công cuộc Đổi mới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2103120"/>
            <a:ext cx="6858000" cy="68580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176272"/>
            <a:ext cx="6675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5783A"/>
                </a:solidFill>
                <a:latin typeface="Calibri"/>
              </a:rPr>
              <a:t>🔗  https://trangtu66.github.io/Taode_thi_online/su_cc_bai11_k12.html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92608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6 câu trắc nghiệm + 1 câu đúng/sai
Kết quả ngay lập tức – Xếp hạng lớp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84048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E40AF"/>
                </a:solidFill>
                <a:latin typeface="Arial"/>
              </a:rPr>
              <a:t>📱  Quét mã QR để làm bài ngay →</a:t>
            </a:r>
          </a:p>
        </p:txBody>
      </p:sp>
      <p:pic>
        <p:nvPicPr>
          <p:cNvPr id="9" name="Picture 8" descr="QR_CungCo_SU12_Bai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280160"/>
            <a:ext cx="4114800" cy="41148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419088"/>
            <a:ext cx="116403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Chúc các em học tốt! – Trường THPT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