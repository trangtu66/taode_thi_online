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40312" cy="402336"/>
          </a:xfrm>
          <a:prstGeom prst="rect">
            <a:avLst/>
          </a:prstGeom>
          <a:noFill/>
        </p:spPr>
        <p:txBody>
          <a:bodyPr wrap="square">
            <a:spAutoFit/>
          </a:bodyPr>
          <a:lstStyle/>
          <a:p>
            <a:pPr algn="ctr"/>
            <a:r>
              <a:rPr sz="1400" b="1">
                <a:solidFill>
                  <a:srgbClr val="FFFFFF"/>
                </a:solidFill>
                <a:latin typeface="Arial"/>
              </a:rPr>
              <a:t>TRƯỜNG TRƯỜNG THPT  |  LỊCH SỬ 12  |  NĂM HỌC 2026–2027</a:t>
            </a:r>
          </a:p>
        </p:txBody>
      </p:sp>
      <p:sp>
        <p:nvSpPr>
          <p:cNvPr id="4" name="TextBox 3"/>
          <p:cNvSpPr txBox="1"/>
          <p:nvPr/>
        </p:nvSpPr>
        <p:spPr>
          <a:xfrm>
            <a:off x="914400" y="1371600"/>
            <a:ext cx="10360152" cy="2286000"/>
          </a:xfrm>
          <a:prstGeom prst="rect">
            <a:avLst/>
          </a:prstGeom>
          <a:noFill/>
        </p:spPr>
        <p:txBody>
          <a:bodyPr wrap="square">
            <a:spAutoFit/>
          </a:bodyPr>
          <a:lstStyle/>
          <a:p>
            <a:pPr algn="ctr"/>
            <a:r>
              <a:rPr sz="4000" b="1">
                <a:solidFill>
                  <a:srgbClr val="1E40AF"/>
                </a:solidFill>
                <a:latin typeface="Arial"/>
              </a:rPr>
              <a:t>TH3. CM tháng Tám và hai KC</a:t>
            </a:r>
          </a:p>
        </p:txBody>
      </p:sp>
      <p:sp>
        <p:nvSpPr>
          <p:cNvPr id="5" name="TextBox 4"/>
          <p:cNvSpPr txBox="1"/>
          <p:nvPr/>
        </p:nvSpPr>
        <p:spPr>
          <a:xfrm>
            <a:off x="914400" y="3840480"/>
            <a:ext cx="10360152" cy="548640"/>
          </a:xfrm>
          <a:prstGeom prst="rect">
            <a:avLst/>
          </a:prstGeom>
          <a:noFill/>
        </p:spPr>
        <p:txBody>
          <a:bodyPr wrap="square">
            <a:spAutoFit/>
          </a:bodyPr>
          <a:lstStyle/>
          <a:p>
            <a:pPr algn="ctr"/>
            <a:r>
              <a:rPr sz="2200" b="0">
                <a:solidFill>
                  <a:srgbClr val="1E293B"/>
                </a:solidFill>
                <a:latin typeface="Calibri"/>
              </a:rPr>
              <a:t>Thời gian thực hiện: Tiết T26-27</a:t>
            </a:r>
          </a:p>
        </p:txBody>
      </p:sp>
      <p:sp>
        <p:nvSpPr>
          <p:cNvPr id="6" name="TextBox 5"/>
          <p:cNvSpPr txBox="1"/>
          <p:nvPr/>
        </p:nvSpPr>
        <p:spPr>
          <a:xfrm>
            <a:off x="914400" y="4480560"/>
            <a:ext cx="10360152" cy="457200"/>
          </a:xfrm>
          <a:prstGeom prst="rect">
            <a:avLst/>
          </a:prstGeom>
          <a:noFill/>
        </p:spPr>
        <p:txBody>
          <a:bodyPr wrap="square">
            <a:spAutoFit/>
          </a:bodyPr>
          <a:lstStyle/>
          <a:p>
            <a:pPr algn="ctr"/>
            <a:r>
              <a:rPr sz="2000" b="0">
                <a:solidFill>
                  <a:srgbClr val="1E293B"/>
                </a:solidFill>
                <a:latin typeface="Calibri"/>
              </a:rPr>
              <a:t>Giáo viên: TTT</a:t>
            </a:r>
          </a:p>
        </p:txBody>
      </p:sp>
      <p:sp>
        <p:nvSpPr>
          <p:cNvPr id="7" name="Rectangle 6"/>
          <p:cNvSpPr/>
          <p:nvPr/>
        </p:nvSpPr>
        <p:spPr>
          <a:xfrm>
            <a:off x="0" y="6492240"/>
            <a:ext cx="12188952" cy="3657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9184"/>
          </a:xfrm>
          <a:prstGeom prst="rect">
            <a:avLst/>
          </a:prstGeom>
          <a:noFill/>
        </p:spPr>
        <p:txBody>
          <a:bodyPr wrap="square">
            <a:spAutoFit/>
          </a:bodyPr>
          <a:lstStyle/>
          <a:p>
            <a:pPr algn="ctr"/>
            <a:r>
              <a:rPr sz="1300" b="0">
                <a:solidFill>
                  <a:srgbClr val="FFFFFF"/>
                </a:solidFill>
                <a:latin typeface="Calibri"/>
              </a:rPr>
              <a:t>Trường Trường THPT – Bình Định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82880"/>
            <a:ext cx="11640312" cy="640080"/>
          </a:xfrm>
          <a:prstGeom prst="rect">
            <a:avLst/>
          </a:prstGeom>
          <a:noFill/>
        </p:spPr>
        <p:txBody>
          <a:bodyPr wrap="square">
            <a:spAutoFit/>
          </a:bodyPr>
          <a:lstStyle/>
          <a:p>
            <a:pPr algn="l"/>
            <a:r>
              <a:rPr sz="3200" b="1">
                <a:solidFill>
                  <a:srgbClr val="1E40AF"/>
                </a:solidFill>
                <a:latin typeface="Arial"/>
              </a:rPr>
              <a:t>MỤC TIÊU BÀI HỌC</a:t>
            </a:r>
          </a:p>
        </p:txBody>
      </p:sp>
      <p:sp>
        <p:nvSpPr>
          <p:cNvPr id="3" name="Rectangle 2"/>
          <p:cNvSpPr/>
          <p:nvPr/>
        </p:nvSpPr>
        <p:spPr>
          <a:xfrm>
            <a:off x="274320" y="86868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005840"/>
            <a:ext cx="41148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05840"/>
            <a:ext cx="411480" cy="411480"/>
          </a:xfrm>
          <a:prstGeom prst="rect">
            <a:avLst/>
          </a:prstGeom>
          <a:noFill/>
        </p:spPr>
        <p:txBody>
          <a:bodyPr wrap="square">
            <a:spAutoFit/>
          </a:bodyPr>
          <a:lstStyle/>
          <a:p>
            <a:pPr algn="ctr"/>
            <a:r>
              <a:rPr sz="1800" b="1">
                <a:solidFill>
                  <a:srgbClr val="FFFFFF"/>
                </a:solidFill>
                <a:latin typeface="Arial"/>
              </a:rPr>
              <a:t>1</a:t>
            </a:r>
          </a:p>
        </p:txBody>
      </p:sp>
      <p:sp>
        <p:nvSpPr>
          <p:cNvPr id="6" name="TextBox 5"/>
          <p:cNvSpPr txBox="1"/>
          <p:nvPr/>
        </p:nvSpPr>
        <p:spPr>
          <a:xfrm>
            <a:off x="777240" y="978408"/>
            <a:ext cx="11091672" cy="502920"/>
          </a:xfrm>
          <a:prstGeom prst="rect">
            <a:avLst/>
          </a:prstGeom>
          <a:noFill/>
        </p:spPr>
        <p:txBody>
          <a:bodyPr wrap="square">
            <a:spAutoFit/>
          </a:bodyPr>
          <a:lstStyle/>
          <a:p>
            <a:pPr algn="l"/>
            <a:r>
              <a:rPr sz="2000" b="0">
                <a:solidFill>
                  <a:srgbClr val="1E293B"/>
                </a:solidFill>
                <a:latin typeface="Calibri"/>
              </a:rPr>
              <a:t>Tổng hợp bài học kinh nghiệm từ CM tháng Tám và hai cuộc kháng chiến</a:t>
            </a:r>
          </a:p>
        </p:txBody>
      </p:sp>
      <p:sp>
        <p:nvSpPr>
          <p:cNvPr id="7" name="Rectangle 6"/>
          <p:cNvSpPr/>
          <p:nvPr/>
        </p:nvSpPr>
        <p:spPr>
          <a:xfrm>
            <a:off x="274320" y="1600200"/>
            <a:ext cx="41148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600200"/>
            <a:ext cx="411480" cy="411480"/>
          </a:xfrm>
          <a:prstGeom prst="rect">
            <a:avLst/>
          </a:prstGeom>
          <a:noFill/>
        </p:spPr>
        <p:txBody>
          <a:bodyPr wrap="square">
            <a:spAutoFit/>
          </a:bodyPr>
          <a:lstStyle/>
          <a:p>
            <a:pPr algn="ctr"/>
            <a:r>
              <a:rPr sz="1800" b="1">
                <a:solidFill>
                  <a:srgbClr val="FFFFFF"/>
                </a:solidFill>
                <a:latin typeface="Arial"/>
              </a:rPr>
              <a:t>2</a:t>
            </a:r>
          </a:p>
        </p:txBody>
      </p:sp>
      <p:sp>
        <p:nvSpPr>
          <p:cNvPr id="9" name="TextBox 8"/>
          <p:cNvSpPr txBox="1"/>
          <p:nvPr/>
        </p:nvSpPr>
        <p:spPr>
          <a:xfrm>
            <a:off x="777240" y="1572768"/>
            <a:ext cx="11091672" cy="502920"/>
          </a:xfrm>
          <a:prstGeom prst="rect">
            <a:avLst/>
          </a:prstGeom>
          <a:noFill/>
        </p:spPr>
        <p:txBody>
          <a:bodyPr wrap="square">
            <a:spAutoFit/>
          </a:bodyPr>
          <a:lstStyle/>
          <a:p>
            <a:pPr algn="l"/>
            <a:r>
              <a:rPr sz="2000" b="0">
                <a:solidFill>
                  <a:srgbClr val="1E293B"/>
                </a:solidFill>
                <a:latin typeface="Calibri"/>
              </a:rPr>
              <a:t>So sánh đặc điểm của ba sự kiện lịch sử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011680" cy="502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011680" cy="502920"/>
          </a:xfrm>
          <a:prstGeom prst="rect">
            <a:avLst/>
          </a:prstGeom>
          <a:noFill/>
        </p:spPr>
        <p:txBody>
          <a:bodyPr wrap="square">
            <a:spAutoFit/>
          </a:bodyPr>
          <a:lstStyle/>
          <a:p>
            <a:pPr algn="ctr"/>
            <a:r>
              <a:rPr sz="1600" b="1">
                <a:solidFill>
                  <a:srgbClr val="FFFFFF"/>
                </a:solidFill>
                <a:latin typeface="Arial"/>
              </a:rPr>
              <a:t>ĐỀ BÀI – NỘI DUNG 1</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600" b="1">
                <a:solidFill>
                  <a:srgbClr val="1E40AF"/>
                </a:solidFill>
                <a:latin typeface="Arial"/>
              </a:rPr>
              <a:t>Bài học lịch sử chung</a:t>
            </a:r>
          </a:p>
        </p:txBody>
      </p:sp>
      <p:sp>
        <p:nvSpPr>
          <p:cNvPr id="5" name="Rectangle 4"/>
          <p:cNvSpPr/>
          <p:nvPr/>
        </p:nvSpPr>
        <p:spPr>
          <a:xfrm>
            <a:off x="274320" y="141732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840480"/>
          </a:xfrm>
          <a:prstGeom prst="rect">
            <a:avLst/>
          </a:prstGeom>
          <a:noFill/>
        </p:spPr>
        <p:txBody>
          <a:bodyPr wrap="square">
            <a:spAutoFit/>
          </a:bodyPr>
          <a:lstStyle/>
          <a:p>
            <a:pPr algn="l"/>
            <a:r>
              <a:rPr sz="2200" b="0">
                <a:solidFill>
                  <a:srgbClr val="1E293B"/>
                </a:solidFill>
                <a:latin typeface="Calibri"/>
              </a:rPr>
              <a:t>1. Đại đoàn kết toàn dân tộc là nhân tố quyết định
2. Lãnh đạo đúng đắn của Đảng, tư tưởng Hồ Chí Minh
3. Kết hợp sức mạnh dân tộc với sức mạnh thời đại
4. Chiến tranh nhân dân: toàn dân, toàn diện
5. Kết hợp đấu tranh quân sự + chính trị + ngoại giao</a:t>
            </a:r>
          </a:p>
        </p:txBody>
      </p:sp>
      <p:sp>
        <p:nvSpPr>
          <p:cNvPr id="7" name="Rectangle 6"/>
          <p:cNvSpPr/>
          <p:nvPr/>
        </p:nvSpPr>
        <p:spPr>
          <a:xfrm>
            <a:off x="274320" y="5760720"/>
            <a:ext cx="11640312" cy="685800"/>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806440"/>
            <a:ext cx="11457432" cy="594360"/>
          </a:xfrm>
          <a:prstGeom prst="rect">
            <a:avLst/>
          </a:prstGeom>
          <a:noFill/>
        </p:spPr>
        <p:txBody>
          <a:bodyPr wrap="square">
            <a:spAutoFit/>
          </a:bodyPr>
          <a:lstStyle/>
          <a:p>
            <a:pPr algn="l"/>
            <a:r>
              <a:rPr sz="1800" b="0">
                <a:solidFill>
                  <a:srgbClr val="1E40AF"/>
                </a:solidFill>
                <a:latin typeface="Calibri"/>
              </a:rPr>
              <a:t>💡 Suy nghĩ và thảo luận nhóm.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50292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286000" cy="502920"/>
          </a:xfrm>
          <a:prstGeom prst="rect">
            <a:avLst/>
          </a:prstGeom>
          <a:noFill/>
        </p:spPr>
        <p:txBody>
          <a:bodyPr wrap="square">
            <a:spAutoFit/>
          </a:bodyPr>
          <a:lstStyle/>
          <a:p>
            <a:pPr algn="ctr"/>
            <a:r>
              <a:rPr sz="1600" b="1">
                <a:solidFill>
                  <a:srgbClr val="FFFFFF"/>
                </a:solidFill>
                <a:latin typeface="Arial"/>
              </a:rPr>
              <a:t>LỜI GIẢI – NỘI DUNG 1</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400" b="1">
                <a:solidFill>
                  <a:srgbClr val="991B1B"/>
                </a:solidFill>
                <a:latin typeface="Arial"/>
              </a:rPr>
              <a:t>Bài học lịch sử chung</a:t>
            </a:r>
          </a:p>
        </p:txBody>
      </p:sp>
      <p:sp>
        <p:nvSpPr>
          <p:cNvPr id="5" name="Rectangle 4"/>
          <p:cNvSpPr/>
          <p:nvPr/>
        </p:nvSpPr>
        <p:spPr>
          <a:xfrm>
            <a:off x="274320" y="1417320"/>
            <a:ext cx="11640312" cy="36576"/>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474720"/>
          </a:xfrm>
          <a:prstGeom prst="rect">
            <a:avLst/>
          </a:prstGeom>
          <a:noFill/>
        </p:spPr>
        <p:txBody>
          <a:bodyPr wrap="square">
            <a:spAutoFit/>
          </a:bodyPr>
          <a:lstStyle/>
          <a:p>
            <a:pPr algn="l"/>
            <a:r>
              <a:rPr sz="2100" b="0">
                <a:solidFill>
                  <a:srgbClr val="1E293B"/>
                </a:solidFill>
                <a:latin typeface="Calibri"/>
              </a:rPr>
              <a:t>1. Đại đoàn kết toàn dân tộc là nhân tố quyết định
2. Lãnh đạo đúng đắn của Đảng, tư tưởng Hồ Chí Minh
3. Kết hợp sức mạnh dân tộc với sức mạnh thời đại
4. Chiến tranh nhân dân: toàn dân, toàn diện
5. Kết hợp đấu tranh quân sự + chính trị + ngoại giao</a:t>
            </a:r>
          </a:p>
        </p:txBody>
      </p:sp>
      <p:sp>
        <p:nvSpPr>
          <p:cNvPr id="7" name="Rectangle 6"/>
          <p:cNvSpPr/>
          <p:nvPr/>
        </p:nvSpPr>
        <p:spPr>
          <a:xfrm>
            <a:off x="274320" y="5120640"/>
            <a:ext cx="11640312"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166360"/>
            <a:ext cx="11457432" cy="822960"/>
          </a:xfrm>
          <a:prstGeom prst="rect">
            <a:avLst/>
          </a:prstGeom>
          <a:noFill/>
        </p:spPr>
        <p:txBody>
          <a:bodyPr wrap="square">
            <a:spAutoFit/>
          </a:bodyPr>
          <a:lstStyle/>
          <a:p>
            <a:pPr algn="l"/>
            <a:r>
              <a:rPr sz="2200" b="1">
                <a:solidFill>
                  <a:srgbClr val="991B1B"/>
                </a:solidFill>
                <a:latin typeface="Arial"/>
              </a:rPr>
              <a:t>✦ Ba cuộc kháng chiến: đều thắng lợi nhờ sức mạnh toàn dân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011680" cy="502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011680" cy="502920"/>
          </a:xfrm>
          <a:prstGeom prst="rect">
            <a:avLst/>
          </a:prstGeom>
          <a:noFill/>
        </p:spPr>
        <p:txBody>
          <a:bodyPr wrap="square">
            <a:spAutoFit/>
          </a:bodyPr>
          <a:lstStyle/>
          <a:p>
            <a:pPr algn="ctr"/>
            <a:r>
              <a:rPr sz="1600" b="1">
                <a:solidFill>
                  <a:srgbClr val="FFFFFF"/>
                </a:solidFill>
                <a:latin typeface="Arial"/>
              </a:rPr>
              <a:t>ĐỀ BÀI – NỘI DUNG 2</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600" b="1">
                <a:solidFill>
                  <a:srgbClr val="1E40AF"/>
                </a:solidFill>
                <a:latin typeface="Arial"/>
              </a:rPr>
              <a:t>Thực hành: So sánh ba sự kiện</a:t>
            </a:r>
          </a:p>
        </p:txBody>
      </p:sp>
      <p:sp>
        <p:nvSpPr>
          <p:cNvPr id="5" name="Rectangle 4"/>
          <p:cNvSpPr/>
          <p:nvPr/>
        </p:nvSpPr>
        <p:spPr>
          <a:xfrm>
            <a:off x="274320" y="141732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840480"/>
          </a:xfrm>
          <a:prstGeom prst="rect">
            <a:avLst/>
          </a:prstGeom>
          <a:noFill/>
        </p:spPr>
        <p:txBody>
          <a:bodyPr wrap="square">
            <a:spAutoFit/>
          </a:bodyPr>
          <a:lstStyle/>
          <a:p>
            <a:pPr algn="l"/>
            <a:r>
              <a:rPr sz="2200" b="0">
                <a:solidFill>
                  <a:srgbClr val="1E293B"/>
                </a:solidFill>
                <a:latin typeface="Calibri"/>
              </a:rPr>
              <a:t>Lập bảng so sánh:
| Tiêu chí | CMTT1945 | KC chống Pháp | KC chống Mỹ |
|---|---|---|---|
| Kẻ thù | Nhật→Pháp | Pháp | Mỹ–ngụy |
| Thời gian | 1945 | 1945–1954 | 1954–1975 |
| Kết quả | Độc lập | Genève | Thống nhất |</a:t>
            </a:r>
          </a:p>
        </p:txBody>
      </p:sp>
      <p:sp>
        <p:nvSpPr>
          <p:cNvPr id="7" name="Rectangle 6"/>
          <p:cNvSpPr/>
          <p:nvPr/>
        </p:nvSpPr>
        <p:spPr>
          <a:xfrm>
            <a:off x="274320" y="5760720"/>
            <a:ext cx="11640312" cy="685800"/>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806440"/>
            <a:ext cx="11457432" cy="594360"/>
          </a:xfrm>
          <a:prstGeom prst="rect">
            <a:avLst/>
          </a:prstGeom>
          <a:noFill/>
        </p:spPr>
        <p:txBody>
          <a:bodyPr wrap="square">
            <a:spAutoFit/>
          </a:bodyPr>
          <a:lstStyle/>
          <a:p>
            <a:pPr algn="l"/>
            <a:r>
              <a:rPr sz="1800" b="0">
                <a:solidFill>
                  <a:srgbClr val="1E40AF"/>
                </a:solidFill>
                <a:latin typeface="Calibri"/>
              </a:rPr>
              <a:t>💡 Suy nghĩ và thảo luận nhóm.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50292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286000" cy="502920"/>
          </a:xfrm>
          <a:prstGeom prst="rect">
            <a:avLst/>
          </a:prstGeom>
          <a:noFill/>
        </p:spPr>
        <p:txBody>
          <a:bodyPr wrap="square">
            <a:spAutoFit/>
          </a:bodyPr>
          <a:lstStyle/>
          <a:p>
            <a:pPr algn="ctr"/>
            <a:r>
              <a:rPr sz="1600" b="1">
                <a:solidFill>
                  <a:srgbClr val="FFFFFF"/>
                </a:solidFill>
                <a:latin typeface="Arial"/>
              </a:rPr>
              <a:t>LỜI GIẢI – NỘI DUNG 2</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400" b="1">
                <a:solidFill>
                  <a:srgbClr val="991B1B"/>
                </a:solidFill>
                <a:latin typeface="Arial"/>
              </a:rPr>
              <a:t>Thực hành: So sánh ba sự kiện</a:t>
            </a:r>
          </a:p>
        </p:txBody>
      </p:sp>
      <p:sp>
        <p:nvSpPr>
          <p:cNvPr id="5" name="Rectangle 4"/>
          <p:cNvSpPr/>
          <p:nvPr/>
        </p:nvSpPr>
        <p:spPr>
          <a:xfrm>
            <a:off x="274320" y="1417320"/>
            <a:ext cx="11640312" cy="36576"/>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474720"/>
          </a:xfrm>
          <a:prstGeom prst="rect">
            <a:avLst/>
          </a:prstGeom>
          <a:noFill/>
        </p:spPr>
        <p:txBody>
          <a:bodyPr wrap="square">
            <a:spAutoFit/>
          </a:bodyPr>
          <a:lstStyle/>
          <a:p>
            <a:pPr algn="l"/>
            <a:r>
              <a:rPr sz="2100" b="0">
                <a:solidFill>
                  <a:srgbClr val="1E293B"/>
                </a:solidFill>
                <a:latin typeface="Calibri"/>
              </a:rPr>
              <a:t>Lập bảng so sánh:
| Tiêu chí | CMTT1945 | KC chống Pháp | KC chống Mỹ |
|---|---|---|---|
| Kẻ thù | Nhật→Pháp | Pháp | Mỹ–ngụy |
| Thời gian | 1945 | 1945–1954 | 1954–1975 |
| Kết quả | Độc lập | Genève | Thống nhất |</a:t>
            </a:r>
          </a:p>
        </p:txBody>
      </p:sp>
      <p:sp>
        <p:nvSpPr>
          <p:cNvPr id="7" name="Rectangle 6"/>
          <p:cNvSpPr/>
          <p:nvPr/>
        </p:nvSpPr>
        <p:spPr>
          <a:xfrm>
            <a:off x="274320" y="5120640"/>
            <a:ext cx="11640312"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166360"/>
            <a:ext cx="11457432" cy="822960"/>
          </a:xfrm>
          <a:prstGeom prst="rect">
            <a:avLst/>
          </a:prstGeom>
          <a:noFill/>
        </p:spPr>
        <p:txBody>
          <a:bodyPr wrap="square">
            <a:spAutoFit/>
          </a:bodyPr>
          <a:lstStyle/>
          <a:p>
            <a:pPr algn="l"/>
            <a:r>
              <a:rPr sz="2200" b="1">
                <a:solidFill>
                  <a:srgbClr val="991B1B"/>
                </a:solidFill>
                <a:latin typeface="Arial"/>
              </a:rPr>
              <a:t>✦ Bài học chung: phát huy sức mạnh toàn dân tộc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1005840"/>
          </a:xfrm>
          <a:prstGeom prst="rect">
            <a:avLst/>
          </a:prstGeom>
          <a:noFill/>
        </p:spPr>
        <p:txBody>
          <a:bodyPr wrap="square">
            <a:spAutoFit/>
          </a:bodyPr>
          <a:lstStyle/>
          <a:p>
            <a:pPr algn="ctr"/>
            <a:r>
              <a:rPr sz="4200" b="1">
                <a:solidFill>
                  <a:srgbClr val="FFFFFF"/>
                </a:solidFill>
                <a:latin typeface="Arial"/>
              </a:rPr>
              <a:t>BÀI TẬP CỦA BẠN</a:t>
            </a:r>
          </a:p>
        </p:txBody>
      </p:sp>
      <p:sp>
        <p:nvSpPr>
          <p:cNvPr id="4" name="TextBox 3"/>
          <p:cNvSpPr txBox="1"/>
          <p:nvPr/>
        </p:nvSpPr>
        <p:spPr>
          <a:xfrm>
            <a:off x="457200" y="1463040"/>
            <a:ext cx="11274552" cy="640080"/>
          </a:xfrm>
          <a:prstGeom prst="rect">
            <a:avLst/>
          </a:prstGeom>
          <a:noFill/>
        </p:spPr>
        <p:txBody>
          <a:bodyPr wrap="square">
            <a:spAutoFit/>
          </a:bodyPr>
          <a:lstStyle/>
          <a:p>
            <a:pPr algn="ctr"/>
            <a:r>
              <a:rPr sz="2400" b="0">
                <a:solidFill>
                  <a:srgbClr val="1E40AF"/>
                </a:solidFill>
                <a:latin typeface="Calibri"/>
              </a:rPr>
              <a:t>Lịch sử 12 – TH3. CM tháng Tám và hai KC</a:t>
            </a:r>
          </a:p>
        </p:txBody>
      </p:sp>
      <p:sp>
        <p:nvSpPr>
          <p:cNvPr id="5" name="Rectangle 4"/>
          <p:cNvSpPr/>
          <p:nvPr/>
        </p:nvSpPr>
        <p:spPr>
          <a:xfrm>
            <a:off x="457200" y="2194560"/>
            <a:ext cx="11274552" cy="731520"/>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40280"/>
            <a:ext cx="11091672" cy="640080"/>
          </a:xfrm>
          <a:prstGeom prst="rect">
            <a:avLst/>
          </a:prstGeom>
          <a:noFill/>
        </p:spPr>
        <p:txBody>
          <a:bodyPr wrap="square">
            <a:spAutoFit/>
          </a:bodyPr>
          <a:lstStyle/>
          <a:p>
            <a:pPr algn="l"/>
            <a:r>
              <a:rPr sz="2000" b="0">
                <a:solidFill>
                  <a:srgbClr val="15783A"/>
                </a:solidFill>
                <a:latin typeface="Calibri"/>
              </a:rPr>
              <a:t>🔗 https://trangtu66.github.io/Taode_thi_online/su_cc_th3_k12.html</a:t>
            </a:r>
          </a:p>
        </p:txBody>
      </p:sp>
      <p:sp>
        <p:nvSpPr>
          <p:cNvPr id="7" name="TextBox 6"/>
          <p:cNvSpPr txBox="1"/>
          <p:nvPr/>
        </p:nvSpPr>
        <p:spPr>
          <a:xfrm>
            <a:off x="457200" y="3108960"/>
            <a:ext cx="11274552" cy="594360"/>
          </a:xfrm>
          <a:prstGeom prst="rect">
            <a:avLst/>
          </a:prstGeom>
          <a:noFill/>
        </p:spPr>
        <p:txBody>
          <a:bodyPr wrap="square">
            <a:spAutoFit/>
          </a:bodyPr>
          <a:lstStyle/>
          <a:p>
            <a:pPr algn="ctr"/>
            <a:r>
              <a:rPr sz="2200" b="0">
                <a:solidFill>
                  <a:srgbClr val="1E293B"/>
                </a:solidFill>
                <a:latin typeface="Calibri"/>
              </a:rPr>
              <a:t>Quét mã QR hoặc truy cập đường link để làm bài củng cố trực tuyến</a:t>
            </a:r>
          </a:p>
        </p:txBody>
      </p:sp>
      <p:sp>
        <p:nvSpPr>
          <p:cNvPr id="8" name="TextBox 7"/>
          <p:cNvSpPr txBox="1"/>
          <p:nvPr/>
        </p:nvSpPr>
        <p:spPr>
          <a:xfrm>
            <a:off x="457200" y="3749039"/>
            <a:ext cx="11274552" cy="548640"/>
          </a:xfrm>
          <a:prstGeom prst="rect">
            <a:avLst/>
          </a:prstGeom>
          <a:noFill/>
        </p:spPr>
        <p:txBody>
          <a:bodyPr wrap="square">
            <a:spAutoFit/>
          </a:bodyPr>
          <a:lstStyle/>
          <a:p>
            <a:pPr algn="ctr"/>
            <a:r>
              <a:rPr sz="2000" b="0">
                <a:solidFill>
                  <a:srgbClr val="1E293B"/>
                </a:solidFill>
                <a:latin typeface="Calibri"/>
              </a:rPr>
              <a:t>📱 Làm bài trực tuyến – Kết quả ngay lập tức – Theo dõi tiến độ</a:t>
            </a:r>
          </a:p>
        </p:txBody>
      </p:sp>
      <p:sp>
        <p:nvSpPr>
          <p:cNvPr id="9" name="Rectangle 8"/>
          <p:cNvSpPr/>
          <p:nvPr/>
        </p:nvSpPr>
        <p:spPr>
          <a:xfrm>
            <a:off x="0" y="6400800"/>
            <a:ext cx="12188952" cy="4572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419088"/>
            <a:ext cx="11640312" cy="420624"/>
          </a:xfrm>
          <a:prstGeom prst="rect">
            <a:avLst/>
          </a:prstGeom>
          <a:noFill/>
        </p:spPr>
        <p:txBody>
          <a:bodyPr wrap="square">
            <a:spAutoFit/>
          </a:bodyPr>
          <a:lstStyle/>
          <a:p>
            <a:pPr algn="ctr"/>
            <a:r>
              <a:rPr sz="1600" b="0">
                <a:solidFill>
                  <a:srgbClr val="FFFFFF"/>
                </a:solidFill>
                <a:latin typeface="Calibri"/>
              </a:rPr>
              <a:t>Chúc các em học tốt! – Trường THPT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