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6403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TRƯỜNG TRƯỜNG THPT  |  LỊCH SỬ 12  |  NĂM HỌC 2026–2027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6015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1E40AF"/>
                </a:solidFill>
                <a:latin typeface="Arial"/>
              </a:rPr>
              <a:t>Bài 2. Trật tự Chiến tranh lạnh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1E293B"/>
                </a:solidFill>
                <a:latin typeface="Calibri"/>
              </a:rPr>
              <a:t>Thời gian thực hiện: Tiết T3-4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48056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1E293B"/>
                </a:solidFill>
                <a:latin typeface="Calibri"/>
              </a:rPr>
              <a:t>Giáo viên: TTT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116403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Trường Trường THPT – Bình Định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16403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E40AF"/>
                </a:solidFill>
                <a:latin typeface="Arial"/>
              </a:rPr>
              <a:t>MỤC TIÊU BÀI HỌC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868680"/>
            <a:ext cx="11640312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005840"/>
            <a:ext cx="411480" cy="4114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0584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7840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Giải thích nguyên nhân Chiến tranh lạnh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600200"/>
            <a:ext cx="411480" cy="4114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60020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57276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Phân tích trật tự hai cực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194560"/>
            <a:ext cx="411480" cy="4114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219456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6712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Đánh giá hậu quả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2179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"/>
              </a:rPr>
              <a:t>SO DO TU DUY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64008"/>
            <a:ext cx="73426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LỊCH SỬ 12  |  Bài 2. Trật tự Chiến tranh lạnh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08476" y="804672"/>
            <a:ext cx="4572000" cy="640080"/>
          </a:xfrm>
          <a:prstGeom prst="round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Bài 2. Trật tự Chiến tranh lạnh</a:t>
            </a:r>
          </a:p>
        </p:txBody>
      </p:sp>
      <p:cxnSp>
        <p:nvCxnSpPr>
          <p:cNvPr id="6" name="Connector 5"/>
          <p:cNvCxnSpPr/>
          <p:nvPr/>
        </p:nvCxnSpPr>
        <p:spPr>
          <a:xfrm flipH="1">
            <a:off x="1412748.0" y="1124712.0"/>
            <a:ext cx="4681728.0" cy="864108.0"/>
          </a:xfrm>
          <a:prstGeom prst="line">
            <a:avLst/>
          </a:prstGeom>
          <a:ln w="2286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09728" y="1691640"/>
            <a:ext cx="2606040" cy="594360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Nguyên nhân CTL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1412748.0" y="1568196.0"/>
            <a:ext cx="2839212.0" cy="420624.0"/>
          </a:xfrm>
          <a:prstGeom prst="line">
            <a:avLst/>
          </a:prstGeom>
          <a:ln w="1270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880360" y="1399032"/>
            <a:ext cx="2743200" cy="338328"/>
          </a:xfrm>
          <a:prstGeom prst="roundRect">
            <a:avLst/>
          </a:prstGeom>
          <a:solidFill>
            <a:srgbClr val="EDE9FE"/>
          </a:solidFill>
          <a:ln>
            <a:solidFill>
              <a:srgbClr val="ED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C1D95"/>
                </a:solidFill>
                <a:latin typeface="Calibri"/>
              </a:rPr>
              <a:t>Mỹ–LX từ đồng minh → đối thủ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412748.0" y="1988820.0"/>
            <a:ext cx="2839212.0" cy="0.0"/>
          </a:xfrm>
          <a:prstGeom prst="line">
            <a:avLst/>
          </a:prstGeom>
          <a:ln w="1270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880360" y="1819656"/>
            <a:ext cx="2743200" cy="338328"/>
          </a:xfrm>
          <a:prstGeom prst="roundRect">
            <a:avLst/>
          </a:prstGeom>
          <a:solidFill>
            <a:srgbClr val="EDE9FE"/>
          </a:solidFill>
          <a:ln>
            <a:solidFill>
              <a:srgbClr val="ED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C1D95"/>
                </a:solidFill>
                <a:latin typeface="Calibri"/>
              </a:rPr>
              <a:t>Học thuyết Truman 1947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412748.0" y="1988820.0"/>
            <a:ext cx="2839212.0" cy="420624.0"/>
          </a:xfrm>
          <a:prstGeom prst="line">
            <a:avLst/>
          </a:prstGeom>
          <a:ln w="1270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880360" y="2240280"/>
            <a:ext cx="2743200" cy="338328"/>
          </a:xfrm>
          <a:prstGeom prst="roundRect">
            <a:avLst/>
          </a:prstGeom>
          <a:solidFill>
            <a:srgbClr val="EDE9FE"/>
          </a:solidFill>
          <a:ln>
            <a:solidFill>
              <a:srgbClr val="ED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C1D95"/>
                </a:solidFill>
                <a:latin typeface="Calibri"/>
              </a:rPr>
              <a:t>Kế hoạch Marshall 1947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1412748.0" y="1124712.0"/>
            <a:ext cx="4681728.0" cy="3058668.0"/>
          </a:xfrm>
          <a:prstGeom prst="line">
            <a:avLst/>
          </a:prstGeom>
          <a:ln w="22860">
            <a:solidFill>
              <a:srgbClr val="065F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09728" y="3886200"/>
            <a:ext cx="2606040" cy="594360"/>
          </a:xfrm>
          <a:prstGeom prst="ellipse">
            <a:avLst/>
          </a:prstGeom>
          <a:solidFill>
            <a:srgbClr val="065F46"/>
          </a:solidFill>
          <a:ln>
            <a:solidFill>
              <a:srgbClr val="065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Biểu hiện chính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1412748.0" y="3762756.0"/>
            <a:ext cx="2839212.0" cy="420624.0"/>
          </a:xfrm>
          <a:prstGeom prst="line">
            <a:avLst/>
          </a:prstGeom>
          <a:ln w="12700">
            <a:solidFill>
              <a:srgbClr val="065F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880360" y="3593592"/>
            <a:ext cx="2743200" cy="338328"/>
          </a:xfrm>
          <a:prstGeom prst="roundRect">
            <a:avLst/>
          </a:prstGeom>
          <a:solidFill>
            <a:srgbClr val="D1FAE5"/>
          </a:solidFill>
          <a:ln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022C22"/>
                </a:solidFill>
                <a:latin typeface="Calibri"/>
              </a:rPr>
              <a:t>NATO (1949) ↔ SEV–Warsaw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412748.0" y="4183380.0"/>
            <a:ext cx="2839212.0" cy="0.0"/>
          </a:xfrm>
          <a:prstGeom prst="line">
            <a:avLst/>
          </a:prstGeom>
          <a:ln w="12700">
            <a:solidFill>
              <a:srgbClr val="065F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2880360" y="4014216"/>
            <a:ext cx="2743200" cy="338328"/>
          </a:xfrm>
          <a:prstGeom prst="roundRect">
            <a:avLst/>
          </a:prstGeom>
          <a:solidFill>
            <a:srgbClr val="D1FAE5"/>
          </a:solidFill>
          <a:ln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022C22"/>
                </a:solidFill>
                <a:latin typeface="Calibri"/>
              </a:rPr>
              <a:t>Chạy đua vũ trang hạt nhân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412748.0" y="4183380.0"/>
            <a:ext cx="2839212.0" cy="420624.0"/>
          </a:xfrm>
          <a:prstGeom prst="line">
            <a:avLst/>
          </a:prstGeom>
          <a:ln w="12700">
            <a:solidFill>
              <a:srgbClr val="065F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2880360" y="4434840"/>
            <a:ext cx="2743200" cy="338328"/>
          </a:xfrm>
          <a:prstGeom prst="roundRect">
            <a:avLst/>
          </a:prstGeom>
          <a:solidFill>
            <a:srgbClr val="D1FAE5"/>
          </a:solidFill>
          <a:ln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022C22"/>
                </a:solidFill>
                <a:latin typeface="Calibri"/>
              </a:rPr>
              <a:t>Khủng hoảng Cuba 1962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094476.0" y="1124712.0"/>
            <a:ext cx="4681728.0" cy="864108.0"/>
          </a:xfrm>
          <a:prstGeom prst="line">
            <a:avLst/>
          </a:prstGeom>
          <a:ln w="2286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9473184" y="1691640"/>
            <a:ext cx="2606040" cy="594360"/>
          </a:xfrm>
          <a:prstGeom prst="ellipse">
            <a:avLst/>
          </a:prstGeom>
          <a:solidFill>
            <a:srgbClr val="B91C1C"/>
          </a:solidFill>
          <a:ln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Chiến tranh cục bộ</a:t>
            </a:r>
          </a:p>
        </p:txBody>
      </p:sp>
      <p:cxnSp>
        <p:nvCxnSpPr>
          <p:cNvPr id="24" name="Connector 23"/>
          <p:cNvCxnSpPr/>
          <p:nvPr/>
        </p:nvCxnSpPr>
        <p:spPr>
          <a:xfrm flipH="1" flipV="1">
            <a:off x="7936992.0" y="1568196.0"/>
            <a:ext cx="2839212.0" cy="420624.0"/>
          </a:xfrm>
          <a:prstGeom prst="line">
            <a:avLst/>
          </a:prstGeom>
          <a:ln w="1270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565392" y="1399032"/>
            <a:ext cx="2743200" cy="338328"/>
          </a:xfrm>
          <a:prstGeom prst="roundRect">
            <a:avLst/>
          </a:prstGeom>
          <a:solidFill>
            <a:srgbClr val="FEE2E2"/>
          </a:solidFill>
          <a:ln>
            <a:solidFill>
              <a:srgbClr val="FE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50A0A"/>
                </a:solidFill>
                <a:latin typeface="Calibri"/>
              </a:rPr>
              <a:t>Triều Tiên 1950-1953</a:t>
            </a:r>
          </a:p>
        </p:txBody>
      </p:sp>
      <p:cxnSp>
        <p:nvCxnSpPr>
          <p:cNvPr id="26" name="Connector 25"/>
          <p:cNvCxnSpPr/>
          <p:nvPr/>
        </p:nvCxnSpPr>
        <p:spPr>
          <a:xfrm flipH="1">
            <a:off x="7936992.0" y="1988820.0"/>
            <a:ext cx="2839212.0" cy="0.0"/>
          </a:xfrm>
          <a:prstGeom prst="line">
            <a:avLst/>
          </a:prstGeom>
          <a:ln w="1270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6565392" y="1819656"/>
            <a:ext cx="2743200" cy="338328"/>
          </a:xfrm>
          <a:prstGeom prst="roundRect">
            <a:avLst/>
          </a:prstGeom>
          <a:solidFill>
            <a:srgbClr val="FEE2E2"/>
          </a:solidFill>
          <a:ln>
            <a:solidFill>
              <a:srgbClr val="FE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50A0A"/>
                </a:solidFill>
                <a:latin typeface="Calibri"/>
              </a:rPr>
              <a:t>Việt Nam 1955-1975</a:t>
            </a:r>
          </a:p>
        </p:txBody>
      </p:sp>
      <p:cxnSp>
        <p:nvCxnSpPr>
          <p:cNvPr id="28" name="Connector 27"/>
          <p:cNvCxnSpPr/>
          <p:nvPr/>
        </p:nvCxnSpPr>
        <p:spPr>
          <a:xfrm flipH="1">
            <a:off x="7936992.0" y="1988820.0"/>
            <a:ext cx="2839212.0" cy="420624.0"/>
          </a:xfrm>
          <a:prstGeom prst="line">
            <a:avLst/>
          </a:prstGeom>
          <a:ln w="1270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6565392" y="2240280"/>
            <a:ext cx="2743200" cy="338328"/>
          </a:xfrm>
          <a:prstGeom prst="roundRect">
            <a:avLst/>
          </a:prstGeom>
          <a:solidFill>
            <a:srgbClr val="FEE2E2"/>
          </a:solidFill>
          <a:ln>
            <a:solidFill>
              <a:srgbClr val="FE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50A0A"/>
                </a:solidFill>
                <a:latin typeface="Calibri"/>
              </a:rPr>
              <a:t>Trung Đông nhiều cuộc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094476.0" y="1124712.0"/>
            <a:ext cx="4681728.0" cy="3058668.0"/>
          </a:xfrm>
          <a:prstGeom prst="line">
            <a:avLst/>
          </a:prstGeom>
          <a:ln w="22860">
            <a:solidFill>
              <a:srgbClr val="B453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9473184" y="3886200"/>
            <a:ext cx="2606040" cy="594360"/>
          </a:xfrm>
          <a:prstGeom prst="ellipse">
            <a:avLst/>
          </a:prstGeom>
          <a:solidFill>
            <a:srgbClr val="B45309"/>
          </a:solidFill>
          <a:ln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Hậu quả–Kết thúc</a:t>
            </a:r>
          </a:p>
        </p:txBody>
      </p:sp>
      <p:cxnSp>
        <p:nvCxnSpPr>
          <p:cNvPr id="32" name="Connector 31"/>
          <p:cNvCxnSpPr/>
          <p:nvPr/>
        </p:nvCxnSpPr>
        <p:spPr>
          <a:xfrm flipH="1" flipV="1">
            <a:off x="7936992.0" y="3762756.0"/>
            <a:ext cx="2839212.0" cy="420624.0"/>
          </a:xfrm>
          <a:prstGeom prst="line">
            <a:avLst/>
          </a:prstGeom>
          <a:ln w="12700">
            <a:solidFill>
              <a:srgbClr val="B453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6565392" y="3593592"/>
            <a:ext cx="2743200" cy="338328"/>
          </a:xfrm>
          <a:prstGeom prst="roundRect">
            <a:avLst/>
          </a:prstGeom>
          <a:solidFill>
            <a:srgbClr val="FEF3C7"/>
          </a:solidFill>
          <a:ln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51A03"/>
                </a:solidFill>
                <a:latin typeface="Calibri"/>
              </a:rPr>
              <a:t>Thế giới căng thẳng 45 năm</a:t>
            </a:r>
          </a:p>
        </p:txBody>
      </p:sp>
      <p:cxnSp>
        <p:nvCxnSpPr>
          <p:cNvPr id="34" name="Connector 33"/>
          <p:cNvCxnSpPr/>
          <p:nvPr/>
        </p:nvCxnSpPr>
        <p:spPr>
          <a:xfrm flipH="1">
            <a:off x="7936992.0" y="4183380.0"/>
            <a:ext cx="2839212.0" cy="0.0"/>
          </a:xfrm>
          <a:prstGeom prst="line">
            <a:avLst/>
          </a:prstGeom>
          <a:ln w="12700">
            <a:solidFill>
              <a:srgbClr val="B453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6565392" y="4014216"/>
            <a:ext cx="2743200" cy="338328"/>
          </a:xfrm>
          <a:prstGeom prst="roundRect">
            <a:avLst/>
          </a:prstGeom>
          <a:solidFill>
            <a:srgbClr val="FEF3C7"/>
          </a:solidFill>
          <a:ln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51A03"/>
                </a:solidFill>
                <a:latin typeface="Calibri"/>
              </a:rPr>
              <a:t>Hội nghị Malta 1989</a:t>
            </a:r>
          </a:p>
        </p:txBody>
      </p:sp>
      <p:cxnSp>
        <p:nvCxnSpPr>
          <p:cNvPr id="36" name="Connector 35"/>
          <p:cNvCxnSpPr/>
          <p:nvPr/>
        </p:nvCxnSpPr>
        <p:spPr>
          <a:xfrm flipH="1">
            <a:off x="7936992.0" y="4183380.0"/>
            <a:ext cx="2839212.0" cy="420624.0"/>
          </a:xfrm>
          <a:prstGeom prst="line">
            <a:avLst/>
          </a:prstGeom>
          <a:ln w="12700">
            <a:solidFill>
              <a:srgbClr val="B453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6565392" y="4434840"/>
            <a:ext cx="2743200" cy="338328"/>
          </a:xfrm>
          <a:prstGeom prst="roundRect">
            <a:avLst/>
          </a:prstGeom>
          <a:solidFill>
            <a:srgbClr val="FEF3C7"/>
          </a:solidFill>
          <a:ln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51A03"/>
                </a:solidFill>
                <a:latin typeface="Calibri"/>
              </a:rPr>
              <a:t>Liên Xô tan rã 1991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ĐỀ BÀI – NỘI DUNG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40AF"/>
                </a:solidFill>
                <a:latin typeface="Arial"/>
              </a:rPr>
              <a:t>Nguồn gốc Chiến tranh lạnh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E293B"/>
                </a:solidFill>
                <a:latin typeface="Calibri"/>
              </a:rPr>
              <a:t>Học thuyết Truman (1947), Kế hoạch Marshall
NATO (1949) ↔ Warsaw (1955)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760720"/>
            <a:ext cx="11640312" cy="68580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806440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40AF"/>
                </a:solidFill>
                <a:latin typeface="Calibri"/>
              </a:rPr>
              <a:t>💡 Suy nghĩ và thảo luận nhóm.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LỜI GIẢI – NỘI DUNG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991B1B"/>
                </a:solidFill>
                <a:latin typeface="Arial"/>
              </a:rPr>
              <a:t>Nguồn gốc Chiến tranh lạnh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1E293B"/>
                </a:solidFill>
                <a:latin typeface="Calibri"/>
              </a:rPr>
              <a:t>Học thuyết Truman (1947), Kế hoạch Marshall
NATO (1949) ↔ Warsaw (1955)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120640"/>
            <a:ext cx="11640312" cy="91440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166360"/>
            <a:ext cx="114574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991B1B"/>
                </a:solidFill>
                <a:latin typeface="Arial"/>
              </a:rPr>
              <a:t>✦ Hai cực: Mỹ (TBCN) – Liên Xô (XHCN)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ĐỀ BÀI – NỘI DUNG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40AF"/>
                </a:solidFill>
                <a:latin typeface="Arial"/>
              </a:rPr>
              <a:t>Biểu hiện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E293B"/>
                </a:solidFill>
                <a:latin typeface="Calibri"/>
              </a:rPr>
              <a:t>• Chạy đua vũ trang hạt nhân
• Khủng hoảng Cuba (1962)
• Chiến tranh cục bộ Triều Tiên, Việt Nam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760720"/>
            <a:ext cx="11640312" cy="68580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806440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40AF"/>
                </a:solidFill>
                <a:latin typeface="Calibri"/>
              </a:rPr>
              <a:t>💡 Suy nghĩ và thảo luận nhóm.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LỜI GIẢI – NỘI DUNG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991B1B"/>
                </a:solidFill>
                <a:latin typeface="Arial"/>
              </a:rPr>
              <a:t>Biểu hiện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1E293B"/>
                </a:solidFill>
                <a:latin typeface="Calibri"/>
              </a:rPr>
              <a:t>• Chạy đua vũ trang hạt nhân
• Khủng hoảng Cuba (1962)
• Chiến tranh cục bộ Triều Tiên, Việt Nam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120640"/>
            <a:ext cx="11640312" cy="91440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166360"/>
            <a:ext cx="114574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991B1B"/>
                </a:solidFill>
                <a:latin typeface="Arial"/>
              </a:rPr>
              <a:t>✦ Thế giới luôn trong tình trạng căng thẳng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4031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  <a:latin typeface="Arial"/>
              </a:rPr>
              <a:t>BÀI TẬP CỦA BẠN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417320"/>
            <a:ext cx="6858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E40AF"/>
                </a:solidFill>
                <a:latin typeface="Calibri"/>
              </a:rPr>
              <a:t>Lịch sử 12 – Bài 2. Trật tự Chiến tranh lạnh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2103120"/>
            <a:ext cx="6858000" cy="68580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176272"/>
            <a:ext cx="6675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5783A"/>
                </a:solidFill>
                <a:latin typeface="Calibri"/>
              </a:rPr>
              <a:t>🔗  https://trangtu66.github.io/Taode_thi_online/su_cc_bai2_k12.html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926080"/>
            <a:ext cx="6858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6 câu trắc nghiệm + 1 câu đúng/sai
Kết quả ngay lập tức – Xếp hạng lớp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84048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E40AF"/>
                </a:solidFill>
                <a:latin typeface="Arial"/>
              </a:rPr>
              <a:t>📱  Quét mã QR để làm bài ngay →</a:t>
            </a:r>
          </a:p>
        </p:txBody>
      </p:sp>
      <p:pic>
        <p:nvPicPr>
          <p:cNvPr id="9" name="Picture 8" descr="QR_CungCo_SU12_Bai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280160"/>
            <a:ext cx="4114800" cy="41148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419088"/>
            <a:ext cx="1164031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Calibri"/>
              </a:rPr>
              <a:t>Chúc các em học tốt! – Trường THPT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