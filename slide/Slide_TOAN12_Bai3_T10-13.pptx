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76" r:id="rId27"/>
    <p:sldId id="261" r:id="rId12"/>
    <p:sldId id="275" r:id="rId26"/>
    <p:sldId id="262" r:id="rId13"/>
    <p:sldId id="263" r:id="rId14"/>
    <p:sldId id="274" r:id="rId25"/>
    <p:sldId id="264" r:id="rId15"/>
    <p:sldId id="265" r:id="rId16"/>
    <p:sldId id="273" r:id="rId24"/>
    <p:sldId id="266" r:id="rId17"/>
    <p:sldId id="272" r:id="rId23"/>
    <p:sldId id="267" r:id="rId18"/>
    <p:sldId id="271" r:id="rId22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hyperlink" Target="https://trangtu66.github.io/Taode_thi_online/cc_bai3_t12.html" TargetMode="Externa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1E40AF"/>
                </a:solidFill>
                <a:latin typeface="Arial"/>
              </a:rPr>
              <a:t>BÀI 3. ĐƯỜNG TIỆM CẬN CỦA ĐỒ THỊ HÀM SỐ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200400"/>
            <a:ext cx="105156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>
                <a:solidFill>
                  <a:srgbClr val="1E293B"/>
                </a:solidFill>
                <a:latin typeface="Calibri"/>
              </a:rPr>
              <a:t>Chương I. Ứng dụng đạo hàm để khảo sát và vẽ đồ thị của hàm số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4251960"/>
            <a:ext cx="2286000" cy="30000"/>
          </a:xfrm>
          <a:prstGeom prst="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4526280"/>
            <a:ext cx="105156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200">
                <a:solidFill>
                  <a:srgbClr val="1E293B"/>
                </a:solidFill>
                <a:latin typeface="Calibri"/>
              </a:rPr>
              <a:t>Môn Toán – Lớp 12 (Kết nối tri thức với cuộc sống)</a:t>
            </a:r>
          </a:p>
          <a:p>
            <a:pPr algn="l">
              <a:spcAft>
                <a:spcPts val="1000"/>
              </a:spcAft>
            </a:pPr>
            <a:r>
              <a:rPr sz="2200">
                <a:solidFill>
                  <a:srgbClr val="1E293B"/>
                </a:solidFill>
                <a:latin typeface="Calibri"/>
              </a:rPr>
              <a:t>Tiết 10 – 13 theo PPCT (T10 – T13) · Năm học 2026 – 2027</a:t>
            </a:r>
          </a:p>
          <a:p>
            <a:pPr algn="l">
              <a:spcAft>
                <a:spcPts val="1000"/>
              </a:spcAft>
            </a:pPr>
            <a:r>
              <a:rPr sz="2200">
                <a:solidFill>
                  <a:srgbClr val="1E293B"/>
                </a:solidFill>
                <a:latin typeface="Calibri"/>
              </a:rPr>
              <a:t>GV soạn: Trương Tử Trang – Trường THPT Vĩnh Thạnh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MỤC TIÊU BÀI HỌC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Bài 3. Đường tiệm cận của đồ thị hàm số         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24566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Nhận biết tiệm cận ngang, đứng, xiên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Tìm tiệm cận bằng giới hạn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Tìm tiệm cận xiên của phân thức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Giải thích ý nghĩa thực tiễn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KHỞI ĐỘNG: CHẤT PHÓNG XẠ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Bài 3. Đường tiệm cận của đồ thị hàm số          3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6400800" cy="1700784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>
                  <a:spcAft>
                    <a:spcPts val="1000"/>
                  </a:spcAft>
                </a:pP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 </a:t>
                </a:r>
                <a14:m>
                  <m:oMath xmlns:m="http://schemas.openxmlformats.org/officeDocument/2006/math">
                    <m:r>
                      <a:rPr lang="vi-VN" sz="2400" b="1">
                        <a:solidFill>
                          <a:srgbClr val="1E40AF"/>
                        </a:solidFill>
                        <a:latin typeface="Cambria Math" panose="02040503050406030204" pitchFamily="18" charset="0"/>
                      </a:rPr>
                      <m:t>m(t)=15</m:t>
                    </m:r>
                    <m:sSup>
                      <m:e>
                        <m:r>
                          <a:rPr lang="vi-VN" sz="24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e</m:t>
                        </m:r>
                      </m:e>
                      <m:sup>
                        <m:r>
                          <a:rPr lang="vi-VN" sz="24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−0</m:t>
                        </m:r>
                        <m:r>
                          <a:rPr lang="vi-VN" sz="24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vi-VN" sz="24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012t</m:t>
                        </m:r>
                      </m:sup>
                    </m:sSup>
                  </m:oMath>
                </a14:m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 (gam)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Khối lượng thay đổi ra sao?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Khi t rất lớn thì sao?</a:t>
                </a:r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6400800" cy="1700784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>
                  <a:spcAft>
                    <a:spcPts val="1000"/>
                  </a:spcAft>
                </a:pP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 </a:t>
                </a:r>
                <a:r>
                  <a:rPr lang="vi-VN"/>
                  <a:t>m(t)=15e^{−0{,}012t}</a:t>
                </a: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 (gam)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Khối lượng thay đổi ra sao?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Khi t rất lớn thì sao?</a:t>
                </a: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3346704"/>
            <a:ext cx="6400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346704"/>
            <a:ext cx="6035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Đồ thị tiến sát một đường thẳng</a:t>
            </a:r>
          </a:p>
        </p:txBody>
      </p:sp>
      <p:pic>
        <p:nvPicPr>
          <p:cNvPr id="9" name="Picture 8" descr="rId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2662588"/>
            <a:ext cx="4389120" cy="231006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1. TIỆM CẬN NGANG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Bài 3. Đường tiệm cận của đồ thị hàm số          4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1408176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HĐ1: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MH=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den>
                    </m:f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→0</m:t>
                    </m:r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 khi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x→+∞</m:t>
                    </m:r>
                  </m:oMath>
                </a14:m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Đường thẳng y = y</a:t>
                </a:r>
                <a:r>
                  <a:rPr sz="2400" baseline="-25000">
                    <a:solidFill>
                      <a:srgbClr val="1E293B"/>
                    </a:solidFill>
                    <a:latin typeface="Calibri"/>
                  </a:rPr>
                  <a:t>0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: tiệm cận ngang</a:t>
                </a:r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1408176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HĐ1: </a:t>
                </a:r>
                <a:r>
                  <a:rPr lang="vi-VN"/>
                  <a:t>MH=\frac{1}{x}\to 0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khi </a:t>
                </a:r>
                <a:r>
                  <a:rPr lang="vi-VN"/>
                  <a:t>x\to+\infty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Đường thẳng y = y</a:t>
                </a:r>
                <a:r>
                  <a:rPr sz="2400" baseline="-25000">
                    <a:solidFill>
                      <a:srgbClr val="1E293B"/>
                    </a:solidFill>
                    <a:latin typeface="Calibri"/>
                  </a:rPr>
                  <a:t>0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: tiệm cận ngang</a:t>
                </a: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3054096"/>
            <a:ext cx="8686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914400" y="3054096"/>
                <a:ext cx="8321040" cy="685800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 </a:t>
                </a:r>
                <a14:m>
                  <m:oMath xmlns:m="http://schemas.openxmlformats.org/officeDocument/2006/math">
                    <m:limLow>
                      <m:e>
                        <m:r>
                          <m:rPr>
                            <m:sty m:val="p"/>
                          </m:rP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lim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x→+∞</m:t>
                        </m:r>
                      </m:lim>
                    </m:limLow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f(x)=</m:t>
                    </m:r>
                    <m:sSub>
                      <m:e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y</m:t>
                        </m:r>
                      </m:e>
                      <m:sub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 hoặc </a:t>
                </a:r>
                <a14:m>
                  <m:oMath xmlns:m="http://schemas.openxmlformats.org/officeDocument/2006/math">
                    <m:limLow>
                      <m:e>
                        <m:r>
                          <m:rPr>
                            <m:sty m:val="p"/>
                          </m:rP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lim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x→−∞</m:t>
                        </m:r>
                      </m:lim>
                    </m:limLow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f(x)=</m:t>
                    </m:r>
                    <m:sSub>
                      <m:e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y</m:t>
                        </m:r>
                      </m:e>
                      <m:sub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</a:p>
            </p:txBody>
          </p:sp>
        </mc:Choice>
        <mc:Fallback>
          <p:sp>
            <p:nvSpPr>
              <p:cNvPr id="8" name="TextBox 7"/>
              <p:cNvSpPr txBox="1"/>
              <p:nvPr/>
            </p:nvSpPr>
            <p:spPr>
              <a:xfrm>
                <a:off x="914400" y="3054096"/>
                <a:ext cx="8321040" cy="685800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 </a:t>
                </a:r>
                <a:r>
                  <a:rPr lang="vi-VN"/>
                  <a:t>\underset{x\to+\infty}{\mathrm{lim}}f(x)=y_0</a:t>
                </a: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 hoặc </a:t>
                </a:r>
                <a:r>
                  <a:rPr lang="vi-VN"/>
                  <a:t>\underset{x\to−\infty}{\mathrm{lim}}f(x)=y_0</a:t>
                </a:r>
              </a:p>
            </p:txBody>
          </p:sp>
        </mc:Fallback>
      </mc:AlternateContent>
      <p:pic>
        <p:nvPicPr>
          <p:cNvPr id="9" name="Picture 8" descr="rId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9277" y="3877056"/>
            <a:ext cx="6102966" cy="23408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VÍ DỤ 1 – VÍ DỤ 2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Bài 3. Đường tiệm cận của đồ thị hàm số          5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3657600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Tìm tiệm cận ngang: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a)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3x−2</m:t>
                        </m:r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x+1</m:t>
                        </m:r>
                      </m:den>
                    </m:f>
                  </m:oMath>
                </a14:m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b)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</m:t>
                    </m:r>
                    <m:f>
                      <m:fPr>
                        <m:type m:val="bar"/>
                      </m:fPr>
                      <m:num>
                        <m:rad>
                          <m:radPr>
                            <m:degHide m:val="on"/>
                          </m:radPr>
                          <m:deg/>
                          <m:e>
                            <m:sSup>
                              <m:e>
                                <m:r>
                                  <a:rPr lang="vi-VN" sz="2400" b="0">
                                    <a:solidFill>
                                      <a:srgbClr val="1E293B"/>
                                    </a:solidFill>
                                    <a:latin typeface="Cambria Math" panose="02040503050406030204" pitchFamily="18" charset="0"/>
                                  </a:rPr>
                                  <m:t>x</m:t>
                                </m:r>
                              </m:e>
                              <m:sup>
                                <m:r>
                                  <a:rPr lang="vi-VN" sz="2400" b="0">
                                    <a:solidFill>
                                      <a:srgbClr val="1E293B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+1</m:t>
                            </m:r>
                          </m:e>
                        </m:rad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den>
                    </m:f>
                  </m:oMath>
                </a14:m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Luyện tập 1: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2x−1</m:t>
                        </m:r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x−1</m:t>
                        </m:r>
                      </m:den>
                    </m:f>
                  </m:oMath>
                </a14:m>
              </a:p>
              <a:p>
                <a:pPr algn="l">
                  <a:spcAft>
                    <a:spcPts val="1000"/>
                  </a:spcAft>
                </a:pP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Gợi mở: Tính giới hạn khi x → ±∞</a:t>
                </a:r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3657600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Tìm tiệm cận ngang: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a) </a:t>
                </a:r>
                <a:r>
                  <a:rPr lang="vi-VN"/>
                  <a:t>y=\frac{3x−2}{x+1}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b) </a:t>
                </a:r>
                <a:r>
                  <a:rPr lang="vi-VN"/>
                  <a:t>y=\frac{\sqrt{x^2+1}}{x}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Luyện tập 1: </a:t>
                </a:r>
                <a:r>
                  <a:rPr lang="vi-VN"/>
                  <a:t>y=\frac{2x−1}{x−1}</a:t>
                </a:r>
              </a:p>
              <a:p>
                <a:pPr algn="l">
                  <a:spcAft>
                    <a:spcPts val="1000"/>
                  </a:spcAft>
                </a:pP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Gợi mở: Tính giới hạn khi x → ±∞</a:t>
                </a:r>
              </a:p>
            </p:txBody>
          </p:sp>
        </mc:Fallback>
      </mc:AlternateContent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GIẢI BÀI TOÁN MỞ ĐẦU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Bài 3. Đường tiệm cận của đồ thị hàm số          7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1700784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m(t)=15</m:t>
                    </m:r>
                    <m:sSup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e</m:t>
                        </m:r>
                      </m:e>
                      <m: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−0</m:t>
                        </m:r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012t</m:t>
                        </m:r>
                      </m:sup>
                    </m:sSup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 (gam)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Khi t rất lớn, m(t) thế nào?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Tìm tiệm cận ngang của đồ thị</a:t>
                </a:r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1700784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m(t)=15e^{−0{,}012t}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(gam)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Khi t rất lớn, m(t) thế nào?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Tìm tiệm cận ngang của đồ thị</a:t>
                </a:r>
              </a:p>
            </p:txBody>
          </p:sp>
        </mc:Fallback>
      </mc:AlternateContent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2. TIỆM CẬN ĐỨNG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Bài 3. Đường tiệm cận của đồ thị hàm số          9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6400800" cy="2523744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HĐ2: </a:t>
                </a:r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x−1</m:t>
                        </m:r>
                      </m:den>
                    </m:f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→+∞</m:t>
                    </m:r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 khi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x→</m:t>
                    </m:r>
                    <m:sSup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Ví dụ 3: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3−x</m:t>
                        </m:r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x+2</m:t>
                        </m:r>
                      </m:den>
                    </m:f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: TCĐ x = −2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Ví dụ 4: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</m:t>
                    </m:r>
                    <m:f>
                      <m:fPr>
                        <m:type m:val="bar"/>
                      </m:fPr>
                      <m:num>
                        <m:sSup>
                          <m:e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p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+2</m:t>
                        </m:r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den>
                    </m:f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: TCĐ x = 0</a:t>
                </a:r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6400800" cy="2523744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HĐ2: </a:t>
                </a:r>
                <a:r>
                  <a:rPr lang="vi-VN"/>
                  <a:t>\frac{x}{x−1}\to+\infty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khi </a:t>
                </a:r>
                <a:r>
                  <a:rPr lang="vi-VN"/>
                  <a:t>x\to 1^+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Ví dụ 3: </a:t>
                </a:r>
                <a:r>
                  <a:rPr lang="vi-VN"/>
                  <a:t>y=\frac{3−x}{x+2}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: TCĐ x = −2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Ví dụ 4: </a:t>
                </a:r>
                <a:r>
                  <a:rPr lang="vi-VN"/>
                  <a:t>y=\frac{x^2+2}{x}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: TCĐ x = 0</a:t>
                </a: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4169663"/>
            <a:ext cx="6400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914400" y="4169663"/>
                <a:ext cx="6035040" cy="685800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 </a:t>
                </a:r>
                <a14:m>
                  <m:oMath xmlns:m="http://schemas.openxmlformats.org/officeDocument/2006/math">
                    <m:limLow>
                      <m:e>
                        <m:r>
                          <m:rPr>
                            <m:sty m:val="p"/>
                          </m:rP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lim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x→</m:t>
                        </m:r>
                        <m:sSubSup>
                          <m:e>
                            <m:r>
                              <a:rPr lang="vi-VN" sz="2400" b="1">
                                <a:solidFill>
                                  <a:srgbClr val="991B1B"/>
                                </a:solidFill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b>
                            <m:r>
                              <a:rPr lang="vi-VN" sz="2400" b="1">
                                <a:solidFill>
                                  <a:srgbClr val="991B1B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  <m:sup>
                            <m:r>
                              <a:rPr lang="vi-VN" sz="2400" b="1">
                                <a:solidFill>
                                  <a:srgbClr val="991B1B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</m:sup>
                        </m:sSubSup>
                      </m:lim>
                    </m:limLow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f(x)=±∞</m:t>
                    </m:r>
                  </m:oMath>
                </a14:m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 hoặc </a:t>
                </a:r>
                <a14:m>
                  <m:oMath xmlns:m="http://schemas.openxmlformats.org/officeDocument/2006/math">
                    <m:limLow>
                      <m:e>
                        <m:r>
                          <m:rPr>
                            <m:sty m:val="p"/>
                          </m:rP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lim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x→</m:t>
                        </m:r>
                        <m:sSubSup>
                          <m:e>
                            <m:r>
                              <a:rPr lang="vi-VN" sz="2400" b="1">
                                <a:solidFill>
                                  <a:srgbClr val="991B1B"/>
                                </a:solidFill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b>
                            <m:r>
                              <a:rPr lang="vi-VN" sz="2400" b="1">
                                <a:solidFill>
                                  <a:srgbClr val="991B1B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  <m:sup>
                            <m:r>
                              <a:rPr lang="vi-VN" sz="2400" b="1">
                                <a:solidFill>
                                  <a:srgbClr val="991B1B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</m:sup>
                        </m:sSubSup>
                      </m:lim>
                    </m:limLow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f(x)=±∞</m:t>
                    </m:r>
                  </m:oMath>
                </a14:m>
              </a:p>
            </p:txBody>
          </p:sp>
        </mc:Choice>
        <mc:Fallback>
          <p:sp>
            <p:nvSpPr>
              <p:cNvPr id="8" name="TextBox 7"/>
              <p:cNvSpPr txBox="1"/>
              <p:nvPr/>
            </p:nvSpPr>
            <p:spPr>
              <a:xfrm>
                <a:off x="914400" y="4169663"/>
                <a:ext cx="6035040" cy="685800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 </a:t>
                </a:r>
                <a:r>
                  <a:rPr lang="vi-VN"/>
                  <a:t>\underset{x\to x_0^+}{\mathrm{lim}}f(x)=\pm\infty</a:t>
                </a: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 hoặc </a:t>
                </a:r>
                <a:r>
                  <a:rPr lang="vi-VN"/>
                  <a:t>\underset{x\to x_0^−}{\mathrm{lim}}f(x)=\pm\infty</a:t>
                </a:r>
              </a:p>
            </p:txBody>
          </p:sp>
        </mc:Fallback>
      </mc:AlternateContent>
      <p:pic>
        <p:nvPicPr>
          <p:cNvPr id="9" name="Picture 8" descr="rId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1974570"/>
            <a:ext cx="4389120" cy="36861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VẬN DỤNG: LOẠI BỎ TẢO ĐỘC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Bài 3. Đường tiệm cận của đồ thị hàm số          10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2542032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Chi phí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C(p)=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45p</m:t>
                        </m:r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100−p</m:t>
                        </m:r>
                      </m:den>
                    </m:f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 (triệu đồng)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0≤p&lt;100</m:t>
                    </m:r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 (% tảo loại bỏ)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Tìm tiệm cận đứng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Có loại bỏ được 100% tảo?</a:t>
                </a:r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2542032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Chi phí </a:t>
                </a:r>
                <a:r>
                  <a:rPr lang="vi-VN"/>
                  <a:t>C(p)=\frac{45p}{100−p}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(triệu đồng)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0\le p&lt;100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(% tảo loại bỏ)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Tìm tiệm cận đứng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Có loại bỏ được 100% tảo?</a:t>
                </a:r>
              </a:p>
            </p:txBody>
          </p:sp>
        </mc:Fallback>
      </mc:AlternateContent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3. TIỆM CẬN XIÊN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Bài 3. Đường tiệm cận của đồ thị hàm số          12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6400800" cy="1682495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HĐ3: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f(x)−(x−1)=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x+1</m:t>
                        </m:r>
                      </m:den>
                    </m:f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→0</m:t>
                    </m:r>
                  </m:oMath>
                </a14:m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Ví dụ 5: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y=x+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x+2</m:t>
                        </m:r>
                      </m:den>
                    </m:f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: TCX y = x</a:t>
                </a:r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6400800" cy="1682495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HĐ3: </a:t>
                </a:r>
                <a:r>
                  <a:rPr lang="vi-VN"/>
                  <a:t>f(x)−(x−1)=\frac{2}{x+1}\to 0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Ví dụ 5: </a:t>
                </a:r>
                <a:r>
                  <a:rPr lang="vi-VN"/>
                  <a:t>y=x+\frac{1}{x+2}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: TCX y = x</a:t>
                </a: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3328415"/>
            <a:ext cx="6400800" cy="141732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914400" y="3328415"/>
                <a:ext cx="6035040" cy="1417320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 </a:t>
                </a:r>
                <a14:m>
                  <m:oMath xmlns:m="http://schemas.openxmlformats.org/officeDocument/2006/math">
                    <m:limLow>
                      <m:e>
                        <m:r>
                          <m:rPr>
                            <m:sty m:val="p"/>
                          </m:rP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lim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x→±∞</m:t>
                        </m:r>
                      </m:lim>
                    </m:limLow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[f(x)−(ax+b)]=0</m:t>
                    </m:r>
                  </m:oMath>
                </a14:m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,  a ≠ 0</a:t>
                </a:r>
              </a:p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 </a:t>
                </a:r>
                <a14:m>
                  <m:oMath xmlns:m="http://schemas.openxmlformats.org/officeDocument/2006/math"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a=lim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f(x)</m:t>
                        </m:r>
                      </m:num>
                      <m:den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den>
                    </m:f>
                  </m:oMath>
                </a14:m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;   </a:t>
                </a:r>
                <a14:m>
                  <m:oMath xmlns:m="http://schemas.openxmlformats.org/officeDocument/2006/math"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b=lim[f(x)−ax]</m:t>
                    </m:r>
                  </m:oMath>
                </a14:m>
              </a:p>
            </p:txBody>
          </p:sp>
        </mc:Choice>
        <mc:Fallback>
          <p:sp>
            <p:nvSpPr>
              <p:cNvPr id="8" name="TextBox 7"/>
              <p:cNvSpPr txBox="1"/>
              <p:nvPr/>
            </p:nvSpPr>
            <p:spPr>
              <a:xfrm>
                <a:off x="914400" y="3328415"/>
                <a:ext cx="6035040" cy="1417320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 </a:t>
                </a:r>
                <a:r>
                  <a:rPr lang="vi-VN"/>
                  <a:t>\underset{x\to\pm\infty}{\mathrm{lim}}[f(x)−(ax+b)]=0</a:t>
                </a: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,  a ≠ 0</a:t>
                </a:r>
              </a:p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 </a:t>
                </a:r>
                <a:r>
                  <a:rPr lang="vi-VN"/>
                  <a:t>a=\lim\frac{f(x)}{x}</a:t>
                </a: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;   </a:t>
                </a:r>
                <a:r>
                  <a:rPr lang="vi-VN"/>
                  <a:t>b=\lim[f(x)−ax]</a:t>
                </a:r>
              </a:p>
            </p:txBody>
          </p:sp>
        </mc:Fallback>
      </mc:AlternateContent>
      <p:pic>
        <p:nvPicPr>
          <p:cNvPr id="9" name="Picture 8" descr="rId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56773" y="1463040"/>
            <a:ext cx="3888854" cy="47091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VÍ DỤ 6: CHIA ĐA THỨC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Bài 3. Đường tiệm cận của đồ thị hàm số          13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1975104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Tìm tiệm cận xiên của đồ thị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</m:t>
                    </m:r>
                    <m:f>
                      <m:fPr>
                        <m:type m:val="bar"/>
                      </m:fPr>
                      <m:num>
                        <m:sSup>
                          <m:e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p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−x+2</m:t>
                        </m:r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x+1</m:t>
                        </m:r>
                      </m:den>
                    </m:f>
                  </m:oMath>
                </a14:m>
              </a:p>
              <a:p>
                <a:pPr algn="l">
                  <a:spcAft>
                    <a:spcPts val="1000"/>
                  </a:spcAft>
                </a:pP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Gợi mở: Chia tử cho mẫu</a:t>
                </a:r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1975104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Tìm tiệm cận xiên của đồ thị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y=\frac{x^2−x+2}{x+1}</a:t>
                </a:r>
              </a:p>
              <a:p>
                <a:pPr algn="l">
                  <a:spcAft>
                    <a:spcPts val="1000"/>
                  </a:spcAft>
                </a:pP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Gợi mở: Chia tử cho mẫu</a:t>
                </a:r>
              </a:p>
            </p:txBody>
          </p:sp>
        </mc:Fallback>
      </mc:AlternateContent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LUYỆN TẬP 1.18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Bài 3. Đường tiệm cận của đồ thị hàm số          15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2249424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Tìm các đường tiệm cận: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a)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3−x</m:t>
                        </m:r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2x+1</m:t>
                        </m:r>
                      </m:den>
                    </m:f>
                  </m:oMath>
                </a14:m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b)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p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+x−1</m:t>
                        </m:r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x+2</m:t>
                        </m:r>
                      </m:den>
                    </m:f>
                  </m:oMath>
                </a14:m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2249424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Tìm các đường tiệm cận: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a) </a:t>
                </a:r>
                <a:r>
                  <a:rPr lang="vi-VN"/>
                  <a:t>y=\frac{3−x}{2x+1}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b) </a:t>
                </a:r>
                <a:r>
                  <a:rPr lang="vi-VN"/>
                  <a:t>y=\frac{2x^2+x−1}{x+2}</a:t>
                </a:r>
              </a:p>
            </p:txBody>
          </p:sp>
        </mc:Fallback>
      </mc:AlternateContent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TRẠM KIỂM CHỨNG AI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Bài 3. Đường tiệm cận của đồ thị hàm số          17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2249424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AI: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x−1</m:t>
                        </m:r>
                      </m:num>
                      <m:den>
                        <m:sSup>
                          <m:e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p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den>
                    </m:f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 có TCĐ x = ±1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AI: TCX của </a:t>
                </a:r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p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+x−1</m:t>
                        </m:r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x+2</m:t>
                        </m:r>
                      </m:den>
                    </m:f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 là y = 2x + 5</a:t>
                </a:r>
              </a:p>
              <a:p>
                <a:pPr algn="l">
                  <a:spcAft>
                    <a:spcPts val="1000"/>
                  </a:spcAft>
                </a:pP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Gợi mở: Tìm bước sai, giải thích, sửa lại</a:t>
                </a:r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2249424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AI: </a:t>
                </a:r>
                <a:r>
                  <a:rPr lang="vi-VN"/>
                  <a:t>y=\frac{x−1}{x^2−1}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có TCĐ x = ±1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AI: TCX của </a:t>
                </a:r>
                <a:r>
                  <a:rPr lang="vi-VN"/>
                  <a:t>\frac{2x^2+x−1}{x+2}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là y = 2x + 5</a:t>
                </a:r>
              </a:p>
              <a:p>
                <a:pPr algn="l">
                  <a:spcAft>
                    <a:spcPts val="1000"/>
                  </a:spcAft>
                </a:pP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Gợi mở: Tìm bước sai, giải thích, sửa lại</a:t>
                </a:r>
              </a:p>
            </p:txBody>
          </p:sp>
        </mc:Fallback>
      </mc:AlternateContent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NHIỆM VỤ NHÓM: LÒ SẤY CÀ PHÊ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Bài 3. Đường tiệm cận của đồ thị hàm số          19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3369564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Chi phí cố định 120 triệu đồng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Sấy mỗi tấn: 1,5 triệu đồng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f(x)=</m:t>
                    </m:r>
                    <m:f>
                      <m:fPr>
                        <m:type m:val="bar"/>
                      </m:fPr>
                      <m:num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5x+120</m:t>
                        </m:r>
                      </m:num>
                      <m:den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den>
                    </m:f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: tìm TCN, TCĐ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Thu số liệu cơ sở địa phương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Kiểm chứng bằng lệnh Asymptote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Nộp kèm Nhật ký sử dụng AI</a:t>
                </a:r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3369564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Chi phí cố định 120 triệu đồng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Sấy mỗi tấn: 1,5 triệu đồng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f(x)=\frac{1{,}5x+120}{x}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: tìm TCN, TCĐ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Thu số liệu cơ sở địa phương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Kiểm chứng bằng lệnh Asymptote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Nộp kèm Nhật ký sử dụng AI</a:t>
                </a:r>
              </a:p>
            </p:txBody>
          </p:sp>
        </mc:Fallback>
      </mc:AlternateContent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SƠ ĐỒ TƯ DUY BÀI HỌC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Bài 3. Đường tiệm cận của đồ thị hàm số          20</a:t>
            </a:r>
          </a:p>
        </p:txBody>
      </p:sp>
      <p:pic>
        <p:nvPicPr>
          <p:cNvPr id="6" name="Picture 5" descr="rId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2400" y="1417320"/>
            <a:ext cx="7256720" cy="48006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BÀI TẬP CỦA BẠN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Bài 3. Đường tiệm cận của đồ thị hàm số          21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63040"/>
            <a:ext cx="4572000" cy="4572000"/>
          </a:xfrm>
          <a:prstGeom prst="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QR_CungCo_Bai3_Toan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1691640"/>
            <a:ext cx="4114800" cy="41148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760720" y="1554480"/>
            <a:ext cx="6035040" cy="3108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Quét mã QR bằng điện thoại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Nhập họ tên và lớp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7 câu – làm trong 7 phút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Nộp bài, xem lời giải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0" y="4754880"/>
            <a:ext cx="603504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1">
                <a:solidFill>
                  <a:srgbClr val="1E40AF"/>
                </a:solidFill>
                <a:latin typeface="Calibri"/>
                <a:hlinkClick r:id="rId3"/>
              </a:rPr>
              <a:t>trangtu66.github.io/Taode_thi_online/cc_bai3_t12.html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TRẠM KIỂM CHỨNG AI – LỜI GIẢI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Bài 3. Đường tiệm cận của đồ thị hàm số          18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2249424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>
                  <a:spcAft>
                    <a:spcPts val="1000"/>
                  </a:spcAft>
                </a:pP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Tìm lỗi trong lời giải AI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AI: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x−1</m:t>
                        </m:r>
                      </m:num>
                      <m:den>
                        <m:sSup>
                          <m:e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p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den>
                    </m:f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 có TCĐ x = 1 và x = −1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AI: TCX của </a:t>
                </a:r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p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+x−1</m:t>
                        </m:r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x+2</m:t>
                        </m:r>
                      </m:den>
                    </m:f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 là y = 2x + 5</a:t>
                </a:r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2249424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>
                  <a:spcAft>
                    <a:spcPts val="1000"/>
                  </a:spcAft>
                </a:pP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Tìm lỗi trong lời giải AI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AI: </a:t>
                </a:r>
                <a:r>
                  <a:rPr lang="vi-VN"/>
                  <a:t>y=\frac{x−1}{x^2−1}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có TCĐ x = 1 và x = −1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AI: TCX của </a:t>
                </a:r>
                <a:r>
                  <a:rPr lang="vi-VN"/>
                  <a:t>\frac{2x^2+x−1}{x+2}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là y = 2x + 5</a:t>
                </a: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3895344"/>
            <a:ext cx="8686800" cy="141732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914400" y="3895344"/>
                <a:ext cx="8321040" cy="1417320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 </a:t>
                </a:r>
                <a14:m>
                  <m:oMath xmlns:m="http://schemas.openxmlformats.org/officeDocument/2006/math">
                    <m:limLow>
                      <m:e>
                        <m:r>
                          <m:rPr>
                            <m:sty m:val="p"/>
                          </m:rP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lim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x→1</m:t>
                        </m:r>
                      </m:lim>
                    </m:limLow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y=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 ⇒ x = 1 không là TCĐ</a:t>
                </a:r>
              </a:p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Tính lại b = −3:  TCX y = 2x − 3</a:t>
                </a:r>
              </a:p>
            </p:txBody>
          </p:sp>
        </mc:Choice>
        <mc:Fallback>
          <p:sp>
            <p:nvSpPr>
              <p:cNvPr id="8" name="TextBox 7"/>
              <p:cNvSpPr txBox="1"/>
              <p:nvPr/>
            </p:nvSpPr>
            <p:spPr>
              <a:xfrm>
                <a:off x="914400" y="3895344"/>
                <a:ext cx="8321040" cy="1417320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 </a:t>
                </a:r>
                <a:r>
                  <a:rPr lang="vi-VN"/>
                  <a:t>\underset{x\to 1}{\mathrm{lim}}y=\frac{1}{2}</a:t>
                </a: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 ⇒ x = 1 không là TCĐ</a:t>
                </a:r>
              </a:p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Tính lại b = −3:  TCX y = 2x − 3</a:t>
                </a:r>
              </a:p>
            </p:txBody>
          </p:sp>
        </mc:Fallback>
      </mc:AlternateContent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LUYỆN TẬP 1.18 – LỜI GIẢI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Bài 3. Đường tiệm cận của đồ thị hàm số          16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2249424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3−x</m:t>
                        </m:r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2x+1</m:t>
                        </m:r>
                      </m:den>
                    </m:f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: TCN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y=−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, TCĐ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x=−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p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+x−1</m:t>
                        </m:r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x+2</m:t>
                        </m:r>
                      </m:den>
                    </m:f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=2x−3+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x+2</m:t>
                        </m:r>
                      </m:den>
                    </m:f>
                  </m:oMath>
                </a14:m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⇒ TCĐ x = −2,  TCX y = 2x − 3</a:t>
                </a:r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2249424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y=\frac{3−x}{2x+1}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: TCN </a:t>
                </a:r>
                <a:r>
                  <a:rPr lang="vi-VN"/>
                  <a:t>y=−\frac{1}{2}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, TCĐ </a:t>
                </a:r>
                <a:r>
                  <a:rPr lang="vi-VN"/>
                  <a:t>x=−\frac{1}{2}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y=\frac{2x^2+x−1}{x+2}=2x−3+\frac{5}{x+2}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⇒ TCĐ x = −2,  TCX y = 2x − 3</a:t>
                </a:r>
              </a:p>
            </p:txBody>
          </p:sp>
        </mc:Fallback>
      </mc:AlternateContent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VÍ DỤ 6: CHIA ĐA THỨC – LỜI GIẢI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Bài 3. Đường tiệm cận của đồ thị hàm số          14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1408176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</m:t>
                    </m:r>
                    <m:f>
                      <m:fPr>
                        <m:type m:val="bar"/>
                      </m:fPr>
                      <m:num>
                        <m:sSup>
                          <m:e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p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−x+2</m:t>
                        </m:r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x+1</m:t>
                        </m:r>
                      </m:den>
                    </m:f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=x−2+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x+1</m:t>
                        </m:r>
                      </m:den>
                    </m:f>
                  </m:oMath>
                </a14:m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lim[f(x)−(x−2)]=0</m:t>
                    </m:r>
                  </m:oMath>
                </a14:m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1408176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y=\frac{x^2−x+2}{x+1}=x−2+\frac{4}{x+1}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\lim[f(x)−(x−2)]=0</a:t>
                </a: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3054096"/>
            <a:ext cx="8686800" cy="11430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054096"/>
            <a:ext cx="832104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TCX: y = x − 2</a:t>
            </a:r>
          </a:p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Mẹo: chia đa thức lấy phần nguyên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VẬN DỤNG – LỜI GIẢI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Bài 3. Đường tiệm cận của đồ thị hàm số          11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1408176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>
                  <a:spcAft>
                    <a:spcPts val="1000"/>
                  </a:spcAft>
                </a:pP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 </a:t>
                </a:r>
                <a14:m>
                  <m:oMath xmlns:m="http://schemas.openxmlformats.org/officeDocument/2006/math">
                    <m:r>
                      <a:rPr lang="vi-VN" sz="2400" b="1">
                        <a:solidFill>
                          <a:srgbClr val="1E40AF"/>
                        </a:solidFill>
                        <a:latin typeface="Cambria Math" panose="02040503050406030204" pitchFamily="18" charset="0"/>
                      </a:rPr>
                      <m:t>C(p)=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45p</m:t>
                        </m:r>
                      </m:num>
                      <m:den>
                        <m:r>
                          <a:rPr lang="vi-VN" sz="24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100−p</m:t>
                        </m:r>
                      </m:den>
                    </m:f>
                  </m:oMath>
                </a14:m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 (triệu đồng),  0 ≤ p &lt; 100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limLow>
                      <m:e>
                        <m:r>
                          <m:rPr>
                            <m:sty m:val="p"/>
                          </m:rP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li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p→</m:t>
                        </m:r>
                        <m:sSup>
                          <m:e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100</m:t>
                            </m:r>
                          </m:e>
                          <m:sup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</m:sup>
                        </m:sSup>
                      </m:lim>
                    </m:limLow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C(p)=+∞</m:t>
                    </m:r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: TCĐ p = 100</a:t>
                </a:r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1408176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>
                  <a:spcAft>
                    <a:spcPts val="1000"/>
                  </a:spcAft>
                </a:pP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 </a:t>
                </a:r>
                <a:r>
                  <a:rPr lang="vi-VN"/>
                  <a:t>C(p)=\frac{45p}{100−p}</a:t>
                </a: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 (triệu đồng),  0 ≤ p &lt; 100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\underset{p\to 100^−}{\mathrm{lim}}C(p)=+\infty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: TCĐ p = 100</a:t>
                </a: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3054096"/>
            <a:ext cx="8686800" cy="11430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054096"/>
            <a:ext cx="832104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Không thể loại bỏ hoàn toàn tảo</a:t>
            </a:r>
          </a:p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Càng gần 100%, chi phí càng lớn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GIẢI BÀI TOÁN MỞ ĐẦU – LỜI GIẢI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Bài 3. Đường tiệm cận của đồ thị hàm số          8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6400800" cy="1133856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limLow>
                      <m:e>
                        <m:r>
                          <m:rPr>
                            <m:sty m:val="p"/>
                          </m:rP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li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t→+∞</m:t>
                        </m:r>
                      </m:lim>
                    </m:limLow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m(t)=0</m:t>
                    </m:r>
                  </m:oMath>
                </a14:m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Khối lượng giảm dần về 0, luôn dương</a:t>
                </a:r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6400800" cy="1133856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\underset{t\to+\infty}{\mathrm{lim}}m(t)=0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Khối lượng giảm dần về 0, luôn dương</a:t>
                </a: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2779776"/>
            <a:ext cx="6400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779776"/>
            <a:ext cx="6035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TCN: trục Ot (y = 0)</a:t>
            </a:r>
          </a:p>
        </p:txBody>
      </p:sp>
      <p:pic>
        <p:nvPicPr>
          <p:cNvPr id="9" name="Picture 8" descr="rId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2662588"/>
            <a:ext cx="4389120" cy="2310063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VÍ DỤ 1 – VÍ DỤ 2 – LỜI GIẢI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Bài 3. Đường tiệm cận của đồ thị hàm số          6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6400800" cy="2523744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3x−2</m:t>
                        </m:r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x+1</m:t>
                        </m:r>
                      </m:den>
                    </m:f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: TCN y = 3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</m:t>
                    </m:r>
                    <m:f>
                      <m:fPr>
                        <m:type m:val="bar"/>
                      </m:fPr>
                      <m:num>
                        <m:rad>
                          <m:radPr>
                            <m:degHide m:val="on"/>
                          </m:radPr>
                          <m:deg/>
                          <m:e>
                            <m:sSup>
                              <m:e>
                                <m:r>
                                  <a:rPr lang="vi-VN" sz="2400" b="0">
                                    <a:solidFill>
                                      <a:srgbClr val="1E293B"/>
                                    </a:solidFill>
                                    <a:latin typeface="Cambria Math" panose="02040503050406030204" pitchFamily="18" charset="0"/>
                                  </a:rPr>
                                  <m:t>x</m:t>
                                </m:r>
                              </m:e>
                              <m:sup>
                                <m:r>
                                  <a:rPr lang="vi-VN" sz="2400" b="0">
                                    <a:solidFill>
                                      <a:srgbClr val="1E293B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+1</m:t>
                            </m:r>
                          </m:e>
                        </m:rad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den>
                    </m:f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: hai TCN y = 1, y = −1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Luyện tập 1: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2x−1</m:t>
                        </m:r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x−1</m:t>
                        </m:r>
                      </m:den>
                    </m:f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: TCN y = 2</a:t>
                </a:r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6400800" cy="2523744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y=\frac{3x−2}{x+1}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: TCN y = 3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y=\frac{\sqrt{x^2+1}}{x}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: hai TCN y = 1, y = −1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Luyện tập 1: </a:t>
                </a:r>
                <a:r>
                  <a:rPr lang="vi-VN"/>
                  <a:t>y=\frac{2x−1}{x−1}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: TCN y = 2</a:t>
                </a: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4169663"/>
            <a:ext cx="6400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169663"/>
            <a:ext cx="6035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Chia tử, mẫu cho x, lấy giới hạn</a:t>
            </a:r>
          </a:p>
        </p:txBody>
      </p:sp>
      <p:pic>
        <p:nvPicPr>
          <p:cNvPr id="9" name="Picture 8" descr="rId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8340" y="1463040"/>
            <a:ext cx="4285720" cy="47091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