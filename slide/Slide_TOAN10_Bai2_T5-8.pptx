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81" r:id="rId32"/>
    <p:sldId id="261" r:id="rId12"/>
    <p:sldId id="262" r:id="rId13"/>
    <p:sldId id="280" r:id="rId31"/>
    <p:sldId id="263" r:id="rId14"/>
    <p:sldId id="264" r:id="rId15"/>
    <p:sldId id="265" r:id="rId16"/>
    <p:sldId id="266" r:id="rId17"/>
    <p:sldId id="279" r:id="rId30"/>
    <p:sldId id="267" r:id="rId18"/>
    <p:sldId id="268" r:id="rId19"/>
    <p:sldId id="269" r:id="rId20"/>
    <p:sldId id="278" r:id="rId29"/>
    <p:sldId id="270" r:id="rId21"/>
    <p:sldId id="271" r:id="rId22"/>
    <p:sldId id="277" r:id="rId28"/>
    <p:sldId id="272" r:id="rId23"/>
    <p:sldId id="276" r:id="rId27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hyperlink" Target="https://trangtu66.github.io/Taode_thi_online/cc_bai2_t10.html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2. TẬP HỢP VÀ CÁC PHÉP TOÁN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Mệnh đề và tập hợp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5 – 8 theo PPCT (T5, T6, T7, T8)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Mô tả tập hợp theo hai cách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tập con, tập rỗng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quan hệ ℕ ⊂ ℤ ⊂ ℚ ⊂ 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Viết, biểu diễn khoảng, đoạn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giao, hợp, hiệu, phần bù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Dùng biểu đồ Ven giải toán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AI VẮNG MẶT?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CLB Lịch sử có 12 thành viên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Họp trực tuyến hai chuyên đề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Bao nhiêu bạn vắng cả hai?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814" y="3602736"/>
            <a:ext cx="5253892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TẬP HỢP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Cách 1: liệt kê các phần tử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Cách 2: nêu tính chất đặc trưng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∈ S: a thuộc S;  a ∉ S: a không thuộc 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n(S): số phần tử của 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Tập rỗng ∅: không có phần tử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 = {n ∈ ℕ | n nguyên tố, 5 &lt; n &lt; 20}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Liệt kê các phần tử của D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Tính n(D)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c) Điền ∈, ∉: 17, 5, 12, 18 … 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TẬP CON – BIỂU ĐỒ 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Mọi phần tử của T thuộc 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Quy ước: ∅ ⊂ S với mọi 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Biểu đồ Ven: đường cong kín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 ⊂ S ⇔ ∀x, x ∈ T ⇒ x ∈ S</a:t>
            </a:r>
          </a:p>
        </p:txBody>
      </p:sp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050" y="1463040"/>
            <a:ext cx="313630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2: TẬP CON CỦA S = {2; 3; 5}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Cho S = {2; 3; 5}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S₁ = {3};  S₂ = {0; 2};  S₃ = {3; 5}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Tập nào là tập con của S?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Mọi phần tử có thuộc 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HAI TẬP HỢP BẰNG NHAU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Hai tập có cùng các phần tử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C: bội chung của 2 và 3, nhỏ hơn 30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D: bội của 6, nhỏ hơn 30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 = D = {0; 6; 12; 18; 24}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⊂ T và T ⊂ S  ⇒  S = 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CÁC TẬP HỢP SỐ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ℕ: số tự nhiên;  ℤ: số nguyên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ℚ: số viết được dạng a/b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ℝ: gồm số hữu tỉ và vô tỉ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√2 ∈ ℝ nhưng √2 ∉ 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ℕ ⊂ ℤ ⊂ ℚ ⊂ ℝ</a:t>
            </a:r>
          </a:p>
        </p:txBody>
      </p:sp>
      <p:pic>
        <p:nvPicPr>
          <p:cNvPr id="9" name="Picture 8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70380"/>
            <a:ext cx="4389120" cy="4094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TẬP CON THƯỜNG DÙNG CỦA 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12</a:t>
            </a:r>
          </a:p>
        </p:txBody>
      </p:sp>
      <p:pic>
        <p:nvPicPr>
          <p:cNvPr id="6" name="Picture 5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849" y="1417320"/>
            <a:ext cx="4437821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( ): không lấy đầu mút;   [ ]: lấy đầu mút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5: KHOẢNG, ĐOẠN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Viết dạng khoảng, đoạn; biểu diễn trục số: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 = {x ∈ ℝ | 2 ≤ x ≤ 7}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 = {x ∈ ℝ | x &lt; 2}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GIAO CỦA HAI TẬP HỢP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Phần tử thuộc cả S và 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{4; 7; 27} ∩ {2; 4; 9; 27; 36} = {4; 27}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[1; +∞) ∩ (−∞; 3] = [1; 3]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∩ T = {x | x ∈ S và x ∈ T}</a:t>
            </a:r>
          </a:p>
        </p:txBody>
      </p:sp>
      <p:pic>
        <p:nvPicPr>
          <p:cNvPr id="9" name="Picture 8" descr="rId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56536"/>
            <a:ext cx="4389120" cy="29221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HỢP CỦA HAI TẬP HỢP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Phần tử thuộc S hoặc thuộc 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{2; 3; 4; 7} ∪ {−1; 2; 3; 4; 6}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= {−1; 2; 3; 4; 6; 7}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(−1; 2] ∪ [0; 3] = (−1; 3]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∪ T = {x | x ∈ S hoặc x ∈ T}</a:t>
            </a:r>
          </a:p>
        </p:txBody>
      </p:sp>
      <p:pic>
        <p:nvPicPr>
          <p:cNvPr id="9" name="Picture 8" descr="rId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44641"/>
            <a:ext cx="4389120" cy="29459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TRỞ LẠI KHỞI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17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291" y="4169664"/>
            <a:ext cx="4114937" cy="20482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CLB Lịch sử có 12 thành viên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7 bạn dự Chuyên đề 1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8 bạn dự Chuyên đề 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∪ B có 10 phần tử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Bao nhiêu bạn vắng cả hai?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HIỆU VÀ PHẦN BÙ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 \ T: thuộc S nhưng không thuộc 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ℝ</a:t>
            </a:r>
            <a:r>
              <a:rPr sz="2400">
                <a:solidFill>
                  <a:srgbClr val="1E293B"/>
                </a:solidFill>
                <a:latin typeface="Calibri"/>
              </a:rPr>
              <a:t>(−∞; −2) = [−2; +∞)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ℝ</a:t>
            </a:r>
            <a:r>
              <a:rPr sz="2400">
                <a:solidFill>
                  <a:srgbClr val="1E293B"/>
                </a:solidFill>
                <a:latin typeface="Calibri"/>
              </a:rPr>
              <a:t>[−5; +∞) = (−∞; −5)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\ T = {x | x ∈ S và x ∉ T}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 ⊂ S:  C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S</a:t>
            </a:r>
            <a:r>
              <a:rPr sz="2400" b="1">
                <a:solidFill>
                  <a:srgbClr val="991B1B"/>
                </a:solidFill>
                <a:latin typeface="Calibri"/>
              </a:rPr>
              <a:t>T = S \ T</a:t>
            </a:r>
          </a:p>
        </p:txBody>
      </p:sp>
      <p:pic>
        <p:nvPicPr>
          <p:cNvPr id="9" name="Picture 8" descr="rId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893" y="1463040"/>
            <a:ext cx="3520614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ĐẾM SỐ PHẦN TỬ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Lớp 10A: 24 bạn thi đấu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Bóng đá 16 bạn, cầu lông 11 bạn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bạn thi ít nhất một môn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Bao nhiêu bạn thi cả hai môn?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Vẽ biểu đồ Ven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Hỏi AI: (−2; 1] ∩ (1; +∞) = 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Đối chiếu câu trả lời của AI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NHÀ: LỚP MÌNH QUA BIỂU ĐỒ 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Tạo Google Forms 2 câu Có/Không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Không thu họ tên, số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Lọc, đếm bằng Google Sheets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Vẽ biểu đồ Ven, thử công thức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3–5 slide trên Padlet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25</a:t>
            </a:r>
          </a:p>
        </p:txBody>
      </p:sp>
      <p:pic>
        <p:nvPicPr>
          <p:cNvPr id="6" name="Picture 5" descr="rId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2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trangtu66.github.io/Taode_thi_online/cc_bai2_t10.html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Nhầm ∈ với ⊂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Sai đầu mút khi lấy giao, hợp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Đếm trùng khi tính n(A ∪ B)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Hỏi AI: (−2; 1] ∩ (1; +∞) =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Kiểm chứng bằng trục số, Ven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ĐẾM SỐ PHẦN TỬ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Lớp 10A: 24 bạn thi đấu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Bóng đá 16 bạn, cầu lông 11 bạn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24 = 16 + 11 − x  ⇒  x =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n(A ∪ B) = n(A) + n(B) − n(A ∩ B)</a:t>
            </a:r>
          </a:p>
        </p:txBody>
      </p:sp>
      <p:pic>
        <p:nvPicPr>
          <p:cNvPr id="9" name="Picture 8" descr="rId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164" y="4169664"/>
            <a:ext cx="7007191" cy="20482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A: 7 bạn dự Chuyên đề 1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B: 8 bạn dự Chuyên đề 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∪ B có 10 phần tử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Vắng cả hai: 12 − 10 = 2 bạn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291" y="4169664"/>
            <a:ext cx="4114937" cy="204825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5: KHOẢNG, ĐOẠN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 = {x ∈ ℝ | 2 ≤ x ≤ 7} = [2; 7]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 = {x ∈ ℝ | x &lt; 2} = (−∞; 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Phần bị gạch là phần bỏ đi</a:t>
            </a:r>
          </a:p>
        </p:txBody>
      </p:sp>
      <p:pic>
        <p:nvPicPr>
          <p:cNvPr id="9" name="Picture 8" descr="rI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47875"/>
            <a:ext cx="10698480" cy="252490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1</a:t>
            </a:r>
            <a:r>
              <a:rPr sz="2400">
                <a:solidFill>
                  <a:srgbClr val="1E293B"/>
                </a:solidFill>
                <a:latin typeface="Calibri"/>
              </a:rPr>
              <a:t> = {3} ⊂ S;   S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3</a:t>
            </a:r>
            <a:r>
              <a:rPr sz="2400">
                <a:solidFill>
                  <a:srgbClr val="1E293B"/>
                </a:solidFill>
                <a:latin typeface="Calibri"/>
              </a:rPr>
              <a:t> = {3; 5} ⊂ 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2</a:t>
            </a:r>
            <a:r>
              <a:rPr sz="2400">
                <a:solidFill>
                  <a:srgbClr val="1E293B"/>
                </a:solidFill>
                <a:latin typeface="Calibri"/>
              </a:rPr>
              <a:t> = {0; 2} ⊄ S vì 0 ∉ S</a:t>
            </a:r>
          </a:p>
        </p:txBody>
      </p:sp>
      <p:pic>
        <p:nvPicPr>
          <p:cNvPr id="7" name="Picture 6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76" y="2779776"/>
            <a:ext cx="10030368" cy="343814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D = {n ∈ ℕ | n nguyên tố, 5 &lt; n &lt; 20}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 = {7; 11; 13; 17; 19}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n(D) = 5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17 ∈ D;   5 ∉ D;   12 ∉ D;   18 ∉ 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