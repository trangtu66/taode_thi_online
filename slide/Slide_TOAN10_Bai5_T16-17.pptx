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79" r:id="rId30"/>
    <p:sldId id="263" r:id="rId14"/>
    <p:sldId id="278" r:id="rId29"/>
    <p:sldId id="264" r:id="rId15"/>
    <p:sldId id="265" r:id="rId16"/>
    <p:sldId id="266" r:id="rId17"/>
    <p:sldId id="277" r:id="rId28"/>
    <p:sldId id="267" r:id="rId18"/>
    <p:sldId id="268" r:id="rId19"/>
    <p:sldId id="276" r:id="rId27"/>
    <p:sldId id="269" r:id="rId20"/>
    <p:sldId id="275" r:id="rId26"/>
    <p:sldId id="270" r:id="rId21"/>
    <p:sldId id="274" r:id="rId25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hyperlink" Target="https://trangtu66.github.io/Taode_thi_online/cc_bai5_t10.html" TargetMode="Externa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E40AF"/>
                </a:solidFill>
                <a:latin typeface="Arial"/>
              </a:rPr>
              <a:t>BÀI 5. GIÁ TRỊ LƯỢNG GIÁC CỦA MỘT GÓC TỪ 0° ĐẾN 180°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E293B"/>
                </a:solidFill>
                <a:latin typeface="Calibri"/>
              </a:rPr>
              <a:t>Chương III. Hệ thức lượng trong tam giác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4251960"/>
            <a:ext cx="2286000" cy="3000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52628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Môn Toán – Lớp 10 (Kết nối tri thức với cuộc sống)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Tiết 16 – 17 theo PPCT (T16, T17) · Năm học 2026 – 2027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GV soạn: Trương Tử Trang – Trường THPT Vĩnh Thạnh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5. Giá trị lượng giác của một góc từ 0° đến 180°         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3685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Hiểu giá trị lượng giác góc 0°–180°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Xác định dấu của sin, cos, tan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Nhớ bảng giá trị góc đặc biệt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Dùng quan hệ góc bù, góc phụ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Tính bằng máy tính cầm tay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Giải bài toán đu quay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KHỞI ĐỘNG: GÓC TÙ THÌ SAO?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5. Giá trị lượng giác của một góc từ 0° đến 180°        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Máy tính: sin 120° ≈ 0,866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Máy tính: cos 120° = −0,5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Tam giác vuông không có góc tù!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sin 120° được hiểu thế nào?</a:t>
            </a:r>
          </a:p>
        </p:txBody>
      </p:sp>
      <p:pic>
        <p:nvPicPr>
          <p:cNvPr id="9" name="Picture 8" descr="b5_h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983324"/>
            <a:ext cx="4389120" cy="166859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1. NỬA ĐƯỜNG TRÒN ĐƠN VỊ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5. Giá trị lượng giác của một góc từ 0° đến 180°        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Tâm O, bán kính 1, trên trục Ox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M(x</a:t>
            </a:r>
            <a:r>
              <a:rPr sz="2400" baseline="-25000">
                <a:solidFill>
                  <a:srgbClr val="1E293B"/>
                </a:solidFill>
                <a:latin typeface="Calibri"/>
              </a:rPr>
              <a:t>0</a:t>
            </a:r>
            <a:r>
              <a:rPr sz="2400">
                <a:solidFill>
                  <a:srgbClr val="1E293B"/>
                </a:solidFill>
                <a:latin typeface="Calibri"/>
              </a:rPr>
              <a:t>; y</a:t>
            </a:r>
            <a:r>
              <a:rPr sz="2400" baseline="-25000">
                <a:solidFill>
                  <a:srgbClr val="1E293B"/>
                </a:solidFill>
                <a:latin typeface="Calibri"/>
              </a:rPr>
              <a:t>0</a:t>
            </a:r>
            <a:r>
              <a:rPr sz="2400">
                <a:solidFill>
                  <a:srgbClr val="1E293B"/>
                </a:solidFill>
                <a:latin typeface="Calibri"/>
              </a:rPr>
              <a:t>) với góc xOM = α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α &lt; 90°: M bên phải trục tung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α &gt; 90°: M bên trái trục tung</a:t>
            </a:r>
          </a:p>
        </p:txBody>
      </p:sp>
      <p:pic>
        <p:nvPicPr>
          <p:cNvPr id="7" name="Picture 6" descr="b5_h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7970" y="3913632"/>
            <a:ext cx="5105579" cy="230428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ĐỊNH NGHĨA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5. Giá trị lượng giác của một góc từ 0° đến 180°         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0° &lt; α &lt; 90°: các giá trị đều dương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90° &lt; α &lt; 180°: sin &gt; 0; cos, tan, cot &lt; 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79776"/>
            <a:ext cx="8686800" cy="214884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2779776"/>
                <a:ext cx="8321040" cy="214884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sin α = y</a:t>
                </a:r>
                <a:r>
                  <a:rPr sz="2400" b="1" baseline="-25000">
                    <a:solidFill>
                      <a:srgbClr val="991B1B"/>
                    </a:solidFill>
                    <a:latin typeface="Calibri"/>
                  </a:rPr>
                  <a:t>0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;   cos α = x</a:t>
                </a:r>
                <a:r>
                  <a:rPr sz="2400" b="1" baseline="-25000">
                    <a:solidFill>
                      <a:srgbClr val="991B1B"/>
                    </a:solidFill>
                    <a:latin typeface="Calibri"/>
                  </a:rPr>
                  <a:t>0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α=</m:t>
                    </m:r>
                    <m:f>
                      <m:fPr>
                        <m:type m:val="bar"/>
                      </m:fPr>
                      <m:num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 (α ≠ 90°)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α=</m:t>
                    </m:r>
                    <m:f>
                      <m:fPr>
                        <m:type m:val="bar"/>
                      </m:fPr>
                      <m:num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 (α ≠ 0°, α ≠ 180°)</a:t>
                </a:r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2779776"/>
                <a:ext cx="8321040" cy="214884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sin α = y</a:t>
                </a:r>
                <a:r>
                  <a:rPr sz="2400" b="1" baseline="-25000">
                    <a:solidFill>
                      <a:srgbClr val="991B1B"/>
                    </a:solidFill>
                    <a:latin typeface="Calibri"/>
                  </a:rPr>
                  <a:t>0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;   cos α = x</a:t>
                </a:r>
                <a:r>
                  <a:rPr sz="2400" b="1" baseline="-25000">
                    <a:solidFill>
                      <a:srgbClr val="991B1B"/>
                    </a:solidFill>
                    <a:latin typeface="Calibri"/>
                  </a:rPr>
                  <a:t>0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\tan\ \alpha=\frac{\sin\ \alpha}{\cos\ \alpha}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 (α ≠ 90°)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\cot\ \alpha=\frac{\cos\ \alpha}{\sin\ \alpha}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 (α ≠ 0°, α ≠ 180°)</a:t>
                </a: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BẢNG GIÁ TRỊ LƯỢNG GIÁC ĐẶC BIỆT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5. Giá trị lượng giác của một góc từ 0° đến 180°          6</a:t>
            </a:r>
          </a:p>
        </p:txBody>
      </p:sp>
      <p:pic>
        <p:nvPicPr>
          <p:cNvPr id="6" name="Picture 5" descr="b5_bang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7846" y="1417320"/>
            <a:ext cx="7445828" cy="4343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580644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10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Kí hiệu || : giá trị không xác định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1: GÓC 135°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5. Giá trị lượng giác của một góc từ 0° đến 180°          7</a:t>
            </a:r>
          </a:p>
        </p:txBody>
      </p:sp>
      <p:pic>
        <p:nvPicPr>
          <p:cNvPr id="9" name="Picture 8" descr="b5_h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205990"/>
            <a:ext cx="4389120" cy="32232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1508760"/>
            <a:ext cx="640080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Tìm các giá trị lượng giác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của góc 135° (Hình 3.3)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Gợi mở: Tam giác MON có gì đặc biệt?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LUYỆN TẬP 1: GÓC 120°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5. Giá trị lượng giác của một góc từ 0° đến 180°          9</a:t>
            </a:r>
          </a:p>
        </p:txBody>
      </p:sp>
      <p:pic>
        <p:nvPicPr>
          <p:cNvPr id="7" name="Picture 6" descr="b5_h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274570"/>
            <a:ext cx="4389120" cy="30861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1508760"/>
            <a:ext cx="6400800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Tìm các giá trị lượng giác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của góc 120° (Hình 3.4)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2. DÙNG MÁY TÍNH CẦM TAY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5. Giá trị lượng giác của một góc từ 0° đến 180°         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SHIFT MODE 3: chọn đơn vị độ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sin x = 0,5: máy chỉ cho x = 30°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79776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79776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Góc bù 180° − x cũng có cùng sin</a:t>
            </a:r>
          </a:p>
        </p:txBody>
      </p:sp>
      <p:pic>
        <p:nvPicPr>
          <p:cNvPr id="9" name="Picture 8" descr="b5_m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6191" y="3602736"/>
            <a:ext cx="7889138" cy="261518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3. HAI GÓC BÙ NHAU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5. Giá trị lượng giác của một góc từ 0° đến 180°         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M, M′ đối xứng qua trục Oy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sin bằng nhau; cos, tan đối nhau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79776"/>
            <a:ext cx="6400800" cy="16002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79776"/>
            <a:ext cx="6035040" cy="1600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sin(180° − α) = sin α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cos(180° − α) = −cos α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tan(180° − α) = −tan α</a:t>
            </a:r>
          </a:p>
        </p:txBody>
      </p:sp>
      <p:pic>
        <p:nvPicPr>
          <p:cNvPr id="9" name="Picture 8" descr="b5_h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400879"/>
            <a:ext cx="4389120" cy="283348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2: GÓC 120°, 135°, 150°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5. Giá trị lượng giác của một góc từ 0° đến 180°         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Tính các giá trị lượng giác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của các góc 120°, 135°, 150°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Gợi mở: Dùng góc bù: 60°, 45°, 30°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HAI GÓC PHỤ NHAU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5. Giá trị lượng giác của một góc từ 0° đến 180°         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ΔMOP = ΔNOQ (cạnh huyền – góc nhọn)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Suy ra OP = OQ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79776"/>
            <a:ext cx="6400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79776"/>
            <a:ext cx="60350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cos α = sin(90° − α)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tan α = cot(90° − α)</a:t>
            </a:r>
          </a:p>
        </p:txBody>
      </p:sp>
      <p:pic>
        <p:nvPicPr>
          <p:cNvPr id="9" name="Picture 8" descr="b5_h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707466"/>
            <a:ext cx="4389120" cy="422030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LUYỆN TẬP: BÀI 3.1 – 3.4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5. Giá trị lượng giác của một góc từ 0° đến 180°          16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97510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3.1c)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3.2a) sin 100° + sin 80° + cos 16° + cos 164°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3.4)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α=3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: tính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P=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α−3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α+2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97510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3.1c) </a:t>
                </a:r>
                <a:r>
                  <a:rPr lang="vi-VN"/>
                  <a:t>\cos\ 60^\circ\sin\ 30^\circ+\cos^2 30^\circ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3.2a) sin 100° + sin 80° + cos 16° + cos 164°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3.4) </a:t>
                </a:r>
                <a:r>
                  <a:rPr lang="vi-VN"/>
                  <a:t>\tan\ \alpha=3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: tính </a:t>
                </a:r>
                <a:r>
                  <a:rPr lang="vi-VN"/>
                  <a:t>P=\frac{2\tan\ \alpha−3}{3\tan\ \alpha+2}</a:t>
                </a: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TRẠM KIỂM CHỨNG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5. Giá trị lượng giác của một góc từ 0° đến 180°         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AI: sin 120° = −sin 60°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AI: sin x = 1/2 ⇒ chỉ x = 30°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Gợi mở: Tìm bước sai, giải thích, sửa lại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VẬN DỤNG: ĐU QUAY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5. Giá trị lượng giác của một góc từ 0° đến 180°          20</a:t>
            </a:r>
          </a:p>
        </p:txBody>
      </p:sp>
      <p:pic>
        <p:nvPicPr>
          <p:cNvPr id="9" name="Picture 8" descr="b5_h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255" y="1463040"/>
            <a:ext cx="4205890" cy="47091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1508760"/>
            <a:ext cx="640080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Bán kính 75 m, tâm cao 90 m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30 phút quay một vòng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Xuất phát từ điểm thấp nhất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Sau 20 phút cabin cao bao nhiêu?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Gợi mở: Sau 20 phút quay được bao nhiêu độ?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NHIỆM VỤ NHÓM: VẬT QUAY QUANH TRỤC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5. Giá trị lượng giác của một góc từ 0° đến 180°         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3401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Thanh chắn barie, cần kéo nước…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Đo chiều dài L, độ cao trục h</a:t>
            </a:r>
            <a:r>
              <a:rPr sz="2400" baseline="-25000">
                <a:solidFill>
                  <a:srgbClr val="1E293B"/>
                </a:solidFill>
                <a:latin typeface="Calibri"/>
              </a:rPr>
              <a:t>0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Mở ở hai góc bù nhau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So sánh với h = h</a:t>
            </a:r>
            <a:r>
              <a:rPr sz="2400" baseline="-25000">
                <a:solidFill>
                  <a:srgbClr val="1E293B"/>
                </a:solidFill>
                <a:latin typeface="Calibri"/>
              </a:rPr>
              <a:t>0</a:t>
            </a:r>
            <a:r>
              <a:rPr sz="2400">
                <a:solidFill>
                  <a:srgbClr val="1E293B"/>
                </a:solidFill>
                <a:latin typeface="Calibri"/>
              </a:rPr>
              <a:t> + L·sin α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Mô phỏng GeoGebra, nộp 3–5 slide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Kèm Nhật ký sử dụng AI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SƠ ĐỒ TƯ DUY BÀI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5. Giá trị lượng giác của một góc từ 0° đến 180°          23</a:t>
            </a:r>
          </a:p>
        </p:txBody>
      </p:sp>
      <p:pic>
        <p:nvPicPr>
          <p:cNvPr id="6" name="Picture 5" descr="b5_min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4056" y="1417320"/>
            <a:ext cx="8593408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5. Giá trị lượng giác của một góc từ 0° đến 180°          24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4572000" cy="4572000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QR_CungCo_Bai5_Toan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691640"/>
            <a:ext cx="411480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60720" y="1554480"/>
            <a:ext cx="603504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Quét mã QR bằng điện thoại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Nhập họ tên và lớp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7 câu – làm trong 7 phút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Nộp bài, xem lời giải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4754880"/>
            <a:ext cx="60350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1E40AF"/>
                </a:solidFill>
                <a:latin typeface="Calibri"/>
                <a:hlinkClick r:id="rId3"/>
              </a:rPr>
              <a:t>trangtu66.github.io/Taode_thi_online/cc_bai5_t10.html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VẬN DỤNG: ĐU QUAY –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5. Giá trị lượng giác của một góc từ 0° đến 180°         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Bán kính 75 m, tâm cao 90 m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30 phút một vòng; sau 20 phút?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Quay 240° từ điểm thấp nhất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h = 90 + 75·sin 150° = 127,5 m</a:t>
            </a:r>
          </a:p>
        </p:txBody>
      </p:sp>
      <p:pic>
        <p:nvPicPr>
          <p:cNvPr id="9" name="Picture 8" descr="b5_h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255" y="1463040"/>
            <a:ext cx="4205890" cy="470916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TRẠM KIỂM CHỨNG AI –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5. Giá trị lượng giác của một góc từ 0° đến 180°          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Tìm lỗi trong lời giải AI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AI: sin 120° = −sin 60°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AI: sin x = 1/2 ⇒ chỉ x = 30°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8686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83210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Góc bù: sin bằng, cos đối nhau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Thiếu nghiệm x = 150°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3.1 – 3.4 –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5. Giá trị lượng giác của một góc từ 0° đến 180°          17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542032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3.1c)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3.2a) sin 100° + sin 80° + cos 16° + cos 164°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= 2 sin 80°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3.4) tan α = 3: 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P=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α−3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α+2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542032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3.1c) </a:t>
                </a:r>
                <a:r>
                  <a:rPr lang="vi-VN"/>
                  <a:t>\cos\ 60^\circ\sin\ 30^\circ+\cos^2 30^\circ=1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3.2a) sin 100° + sin 80° + cos 16° + cos 164°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= 2 sin 80°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3.4) tan α = 3:  </a:t>
                </a:r>
                <a:r>
                  <a:rPr lang="vi-VN"/>
                  <a:t>P=\frac{2\tan\ \alpha−3}{3\tan\ \alpha+2}=\frac{3}{11}</a:t>
                </a: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2 –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5. Giá trị lượng giác của một góc từ 0° đến 180°          14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463040"/>
          <a:ext cx="877824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Calibri"/>
                        </a:rPr>
                        <a:t>α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Calibri"/>
                        </a:rPr>
                        <a:t>120°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Calibri"/>
                        </a:rPr>
                        <a:t>135°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Calibri"/>
                        </a:rPr>
                        <a:t>150°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E293B"/>
                          </a:solidFill>
                          <a:latin typeface="Calibri"/>
                        </a:rPr>
                        <a:t>sin α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√3/2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√2/2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1/2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E293B"/>
                          </a:solidFill>
                          <a:latin typeface="Calibri"/>
                        </a:rPr>
                        <a:t>cos 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−1/2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−√2/2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−√3/2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E293B"/>
                          </a:solidFill>
                          <a:latin typeface="Calibri"/>
                        </a:rPr>
                        <a:t>tan α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−√3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−1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−√3/3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E293B"/>
                          </a:solidFill>
                          <a:latin typeface="Calibri"/>
                        </a:rPr>
                        <a:t>cot 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−√3/3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−1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−√3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LUYỆN TẬP 1: GÓC 120° –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5. Giá trị lượng giác của một góc từ 0° đến 180°          10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252374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M</m:t>
                    </m:r>
                    <m:d>
                      <m:dPr>
                        <m:sepChr m:val=""/>
                      </m:d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f>
                          <m:fPr>
                            <m:type m:val="bar"/>
                          </m:fPr>
                          <m:num>
                            <m:rad>
                              <m:radPr>
                                <m:degHide m:val="on"/>
                              </m:radPr>
                              <m:deg/>
                              <m:e>
                                <m:r>
                                  <a:rPr lang="vi-VN" sz="24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num>
                          <m:den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120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;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120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120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;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120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type m:val="bar"/>
                      </m:fPr>
                      <m:num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252374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M\left(−\frac{1}{2};\frac{\sqrt{3}}{2}\right)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\sin\ 120^\circ=\frac{\sqrt{3}}{2}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;  </a:t>
                </a:r>
                <a:r>
                  <a:rPr lang="vi-VN"/>
                  <a:t>\cos\ 120^\circ=−\frac{1}{2}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\tan\ 120^\circ=−\sqrt{3}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;  </a:t>
                </a:r>
                <a:r>
                  <a:rPr lang="vi-VN"/>
                  <a:t>\cot\ 120^\circ=−\frac{\sqrt{3}}{3}</a:t>
                </a:r>
              </a:p>
            </p:txBody>
          </p:sp>
        </mc:Fallback>
      </mc:AlternateContent>
      <p:pic>
        <p:nvPicPr>
          <p:cNvPr id="7" name="Picture 6" descr="b5_h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274570"/>
            <a:ext cx="4389120" cy="30861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1: GÓC 135° –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5. Giá trị lượng giác của một góc từ 0° đến 180°          8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140817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Tam giác MON vuông cân, OM = 1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M</m:t>
                    </m:r>
                    <m:d>
                      <m:dPr>
                        <m:sepChr m:val=""/>
                      </m:d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</m:fPr>
                          <m:num>
                            <m:rad>
                              <m:radPr>
                                <m:degHide m:val="on"/>
                              </m:radPr>
                              <m:deg/>
                              <m:e>
                                <m:r>
                                  <a:rPr lang="vi-VN" sz="24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num>
                          <m:den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f>
                          <m:fPr>
                            <m:type m:val="bar"/>
                          </m:fPr>
                          <m:num>
                            <m:rad>
                              <m:radPr>
                                <m:degHide m:val="on"/>
                              </m:radPr>
                              <m:deg/>
                              <m:e>
                                <m:r>
                                  <a:rPr lang="vi-VN" sz="24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num>
                          <m:den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140817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Tam giác MON vuông cân, OM = 1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M\left(−\frac{\sqrt{2}}{2};\frac{\sqrt{2}}{2}\right)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054096"/>
            <a:ext cx="6400800" cy="14173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3054096"/>
                <a:ext cx="6035040" cy="141732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135</m:t>
                        </m:r>
                      </m:e>
                      <m:sup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;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135</m:t>
                        </m:r>
                      </m:e>
                      <m:sup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type m:val="bar"/>
                      </m:fPr>
                      <m:num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tan 135° = cot 135° = −1</a:t>
                </a:r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3054096"/>
                <a:ext cx="6035040" cy="141732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\sin\ 135^\circ=\frac{\sqrt{2}}{2}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;  </a:t>
                </a:r>
                <a:r>
                  <a:rPr lang="vi-VN"/>
                  <a:t>\cos\ 135^\circ=−\frac{\sqrt{2}}{2}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tan 135° = cot 135° = −1</a:t>
                </a:r>
              </a:p>
            </p:txBody>
          </p:sp>
        </mc:Fallback>
      </mc:AlternateContent>
      <p:pic>
        <p:nvPicPr>
          <p:cNvPr id="9" name="Picture 8" descr="b5_h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205990"/>
            <a:ext cx="4389120" cy="32232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