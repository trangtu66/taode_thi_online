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79" r:id="rId30"/>
    <p:sldId id="261" r:id="rId12"/>
    <p:sldId id="278" r:id="rId29"/>
    <p:sldId id="262" r:id="rId13"/>
    <p:sldId id="263" r:id="rId14"/>
    <p:sldId id="277" r:id="rId28"/>
    <p:sldId id="264" r:id="rId15"/>
    <p:sldId id="265" r:id="rId16"/>
    <p:sldId id="276" r:id="rId27"/>
    <p:sldId id="266" r:id="rId17"/>
    <p:sldId id="267" r:id="rId18"/>
    <p:sldId id="275" r:id="rId26"/>
    <p:sldId id="268" r:id="rId19"/>
    <p:sldId id="274" r:id="rId25"/>
    <p:sldId id="269" r:id="rId20"/>
    <p:sldId id="273" r:id="rId24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hyperlink" Target="https://trangtu66.github.io/Taode_thi_online/cc_bai4_t12.html" TargetMode="Externa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28600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15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E40AF"/>
                </a:solidFill>
                <a:latin typeface="Arial"/>
              </a:rPr>
              <a:t>BÀI 4. KHẢO SÁT VÀ VẼ ĐỒ THỊ HÀM SỐ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200400"/>
            <a:ext cx="10515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800" b="1">
                <a:solidFill>
                  <a:srgbClr val="1E293B"/>
                </a:solidFill>
                <a:latin typeface="Calibri"/>
              </a:rPr>
              <a:t>Chương I. Ứng dụng đạo hàm để khảo sát và vẽ đồ thị của hàm số</a:t>
            </a:r>
          </a:p>
        </p:txBody>
      </p:sp>
      <p:sp>
        <p:nvSpPr>
          <p:cNvPr id="5" name="Rectangle 4"/>
          <p:cNvSpPr/>
          <p:nvPr/>
        </p:nvSpPr>
        <p:spPr>
          <a:xfrm>
            <a:off x="868680" y="4251960"/>
            <a:ext cx="2286000" cy="30000"/>
          </a:xfrm>
          <a:prstGeom prst="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4526280"/>
            <a:ext cx="10515600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Môn Toán – Lớp 12 (Kết nối tri thức với cuộc sống)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Tiết 14 – 18 theo PPCT (T14 – T18) · Năm học 2026 – 2027</a:t>
            </a:r>
          </a:p>
          <a:p>
            <a:pPr algn="l">
              <a:spcAft>
                <a:spcPts val="10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GV soạn: Trương Tử Trang – Trường THPT Vĩnh Thạnh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9502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Nắm sơ đồ khảo sát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bậc ba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ax+b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cx+d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sSup>
                          <m:e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+bx+c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px+q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Nhận biết tâm, trục đối xứng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thích hiện tượng thực tiễn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3950208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Nắm sơ đồ khảo sát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bậc ba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:r>
                  <a:rPr lang="vi-VN"/>
                  <a:t>y=\frac{ax+b}{cx+d}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hàm </a:t>
                </a:r>
                <a:r>
                  <a:rPr lang="vi-VN"/>
                  <a:t>y=\frac{ax^2+bx+c}{px+q}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Nhận biết tâm, trục đối xứng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Giải thích hiện tượng thực tiễn</a:t>
                </a:r>
              </a:p>
            </p:txBody>
          </p:sp>
        </mc:Fallback>
      </mc:AlternateContent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KHỞI ĐỘNG: CHI PHÍ TRUNG BÌNH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Chi phí trung bình: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theo x?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Chi phí trung bình: </a:t>
                </a:r>
                <a:r>
                  <a:rPr lang="vi-VN"/>
                  <a:t>f(x)=\frac{2x+45}{x}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theo x?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Cần quy trình khảo sát đầy đủ</a:t>
            </a:r>
          </a:p>
        </p:txBody>
      </p:sp>
      <p:pic>
        <p:nvPicPr>
          <p:cNvPr id="9" name="Picture 8" descr="rId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08274"/>
            <a:ext cx="4389120" cy="3818692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1. SƠ ĐỒ KHẢO SÁT HÀM SỐ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1. Tìm tập xác định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2. Tính y′, xét dấu, tìm cực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Tìm giới hạn, tiệm cận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Lập bảng biến thiên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3. Vẽ đồ thị: giao trục, đối xứng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y = X² − 4X + 3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−4x+3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y=x^2−4x+3</a:t>
                </a: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2. HÀM BẬC BA – VÍ DỤ 1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13385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 hàm số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y=−x^3+3x^2−4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GHI NHỚ: HÀM SỐ BẬC BA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a &gt; 0: nhánh phải đi lên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y′ = 0 có 2 nghiệm: có 2 cực trị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y′ không đổi dấu: không có cực trị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xứng: hoành độ thỏa y″ = 0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Hàm bậc ba: không có tiệm cận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– BÀI 1.21A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−5x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+3x+1</m:t>
                    </m:r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70078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y=−2x^3+3x^2−5x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y=−x^3+3x+1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3. HÀM PHÂN THỨC BẬC NHẤT TRÊN BẬC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3: </a:t>
                </a:r>
                <a14:m>
                  <m:oMath xmlns:m="http://schemas.openxmlformats.org/officeDocument/2006/math">
                    <m:r>
                      <a:rPr lang="vi-VN" sz="24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num>
                      <m:den>
                        <m:r>
                          <a:rPr lang="vi-VN" sz="24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4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d>
                          </m:e>
                          <m:sup>
                            <m:r>
                              <a:rPr lang="vi-VN" sz="24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nghịch biến từng khoảng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TCĐ x = 2;  TCN y =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Ví dụ 3: </a:t>
                </a:r>
                <a:r>
                  <a:rPr lang="vi-VN"/>
                  <a:t>y=\frac{x+1}{x−2}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y'=−\frac{3}{(x−2)^2}&lt;0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nghịch biến từng khoảng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TCĐ x = 2;  TCN y =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895344"/>
            <a:ext cx="6400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895344"/>
            <a:ext cx="6035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 I(2; 1)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Trục đối xứng: hai phân giác</a:t>
            </a:r>
          </a:p>
        </p:txBody>
      </p:sp>
      <p:pic>
        <p:nvPicPr>
          <p:cNvPr id="9" name="Picture 8" descr="rId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18420"/>
            <a:ext cx="4389120" cy="379839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trung bình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2x+45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khi x tăng?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Chi phí trung bình </a:t>
                </a:r>
                <a:r>
                  <a:rPr lang="vi-VN"/>
                  <a:t>f(x)=\frac{2x+45}{x}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chi phí giảm khi x tăng?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Vì sao luôn lớn hơn 2 triệu?</a:t>
                </a:r>
              </a:p>
            </p:txBody>
          </p:sp>
        </mc:Fallback>
      </mc:AlternateContent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4. HÀM PHÂN THỨC BẬC HAI TRÊN BẬC NHẤT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8105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Ví dụ 4: 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1">
                                <a:solidFill>
                                  <a:srgbClr val="1E40A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−x−1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=x+1+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x = 1: y = 1;  CT tại x = 3: y = 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2;  TCX y = x + 1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81051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Ví dụ 4: </a:t>
                </a:r>
                <a:r>
                  <a:rPr lang="vi-VN"/>
                  <a:t>y=\frac{x^2−x−1}{x−2}=x+1+\frac{1}{x−2}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CĐ tại x = 1: y = 1;  CT tại x = 3: y = 5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2;  TCX y = x + 1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456432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 I(2; 3)</a:t>
            </a:r>
          </a:p>
        </p:txBody>
      </p:sp>
      <p:pic>
        <p:nvPicPr>
          <p:cNvPr id="9" name="Picture 8" descr="rId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95763" y="1463040"/>
            <a:ext cx="4210873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LUYỆN TẬP 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3: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224942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Khảo sát và vẽ đồ thị: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Ví dụ 5: </a:t>
                </a:r>
                <a:r>
                  <a:rPr lang="vi-VN"/>
                  <a:t>y=x−\frac{2}{x+1}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Luyện tập 3: </a:t>
                </a:r>
                <a:r>
                  <a:rPr lang="vi-VN"/>
                  <a:t>y=−x+1+\frac{1}{x−2}</a:t>
                </a: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CĐ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=0&lt;</m:t>
                    </m:r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CT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y=x^3−3x^2+4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y_{CĐ}=0&lt;y_{CT}=4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y=\frac{2x−1}{x+1}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Gợi mở: Tìm bước sai, giải thích, sửa lại</a:t>
                </a: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DỤNG: NỒNG ĐỘ KHỬ TRÙNG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2677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Bể có 200 lít nước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phút thêm 40 lít nước, 20 g chất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Nồng độ f(t) thay đổi thế nào?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Có vượt 0,5 g/lít không?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NHIỆM VỤ NHÓM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1078992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1: pha loãng dung dịch KOH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2: điện trở mắc song song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Đề 3: chi phí sơ chế cà phê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Khảo sát, vẽ đồ thị trên Desmos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Nộp poster/slide, Nhật ký AI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SƠ ĐỒ TƯ DUY BÀI HỌC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23</a:t>
            </a:r>
          </a:p>
        </p:txBody>
      </p:sp>
      <p:pic>
        <p:nvPicPr>
          <p:cNvPr id="6" name="Picture 5" descr="rId3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52400" y="1417320"/>
            <a:ext cx="7256720" cy="4800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24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4572000" cy="4572000"/>
          </a:xfrm>
          <a:prstGeom prst="rect">
            <a:avLst/>
          </a:prstGeom>
          <a:solidFill>
            <a:srgbClr val="F8FAFC"/>
          </a:solidFill>
          <a:ln w="190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QR_CungCo_Bai4_Toan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0120" y="1691640"/>
            <a:ext cx="411480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60720" y="1554480"/>
            <a:ext cx="603504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Quét mã QR bằng điện thoại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Nhập họ tên và lớp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7 câu – làm trong 7 phút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600">
                <a:solidFill>
                  <a:srgbClr val="1E293B"/>
                </a:solidFill>
                <a:latin typeface="Calibri"/>
              </a:rPr>
              <a:t>Nộp bài, xem lời giải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0" y="4754880"/>
            <a:ext cx="603504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000"/>
              </a:spcAft>
            </a:pPr>
            <a:r>
              <a:rPr sz="1800" b="1">
                <a:solidFill>
                  <a:srgbClr val="1E40AF"/>
                </a:solidFill>
                <a:latin typeface="Calibri"/>
                <a:hlinkClick r:id="rId3"/>
              </a:rPr>
              <a:t>trangtu66.github.io/Taode_thi_online/cc_bai4_t12.html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VẬN DỤNG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Bể 200 lít, mỗi phút thêm 40 lít, 20 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f(t)=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20t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200+40t</m:t>
                        </m:r>
                      </m:den>
                    </m:f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2t+10</m:t>
                        </m:r>
                      </m:den>
                    </m:f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f′(t) &gt; 0: nồng độ tăng dần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Bể 200 lít, mỗi phút thêm 40 lít, 20 g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f(t)=\frac{20t}{200+40t}=\frac{t}{2t+10}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f′(t) &gt; 0: nồng độ tăng dần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 y = 0,5: không vượt 0,5 g/lít</a:t>
            </a:r>
          </a:p>
        </p:txBody>
      </p:sp>
      <p:pic>
        <p:nvPicPr>
          <p:cNvPr id="9" name="Picture 8" descr="rId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2259924"/>
            <a:ext cx="4389120" cy="3115392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TRẠM KIỂM CHỨNG AI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CĐ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0 &lt;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CT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2x−1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1078992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400" b="1">
                    <a:solidFill>
                      <a:srgbClr val="1E40AF"/>
                    </a:solidFill>
                    <a:latin typeface="Calibri"/>
                  </a:rPr>
                  <a:t>Tìm lỗi trong lời giải AI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y=x^3−3x^2+4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CĐ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0 &lt; y</a:t>
                </a:r>
                <a:r>
                  <a:rPr sz="2400" baseline="-25000">
                    <a:solidFill>
                      <a:srgbClr val="1E293B"/>
                    </a:solidFill>
                    <a:latin typeface="Calibri"/>
                  </a:rPr>
                  <a:t>CT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= 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AI: </a:t>
                </a:r>
                <a:r>
                  <a:rPr lang="vi-VN"/>
                  <a:t>y=\frac{2x−1}{x+1}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có TCN y = −1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8686800" cy="11430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8321040" cy="1143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Xét lại dấu y′: CĐ (0; 4), CT (2; 0)</a:t>
            </a:r>
          </a:p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TCN y = 2;  tâm I(−1; 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VÍ DỤ 5 – LUYỆN TẬP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17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619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&gt; 0, không cực trị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−1;  TCX y = x;  tâm I(−1; −1)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LT3: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y=−x+1+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x−2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tâm I(2; −1)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61972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y=x−\frac{2}{x+1}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&gt; 0, không cực trị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TCĐ x = −1;  TCX y = x;  tâm I(−1; −1)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LT3: </a:t>
                </a:r>
                <a:r>
                  <a:rPr lang="vi-VN"/>
                  <a:t>y=−x+1+\frac{1}{x−2}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tâm I(2; −1)</a:t>
                </a:r>
              </a:p>
            </p:txBody>
          </p:sp>
        </mc:Fallback>
      </mc:AlternateContent>
      <p:pic>
        <p:nvPicPr>
          <p:cNvPr id="7" name="Picture 6" descr="rId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787748"/>
            <a:ext cx="4389120" cy="405974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GIẢI BÀI TOÁN MỞ ĐẦU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x ≥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f′(x) &lt; 0: chi phí giảm dần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limLow>
                      <m:e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1975104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f(x)=2+\frac{45}{x}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 x ≥ 1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f′(x) &lt; 0: chi phí giảm dần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\underset{x\to+\infty}{\mathrm{lim}}f(x)=2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TCN y = 2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62102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2102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f(x) &gt; 2: luôn trên 2 triệu đồng</a:t>
            </a:r>
          </a:p>
        </p:txBody>
      </p:sp>
      <p:pic>
        <p:nvPicPr>
          <p:cNvPr id="9" name="Picture 8" descr="rId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991162"/>
            <a:ext cx="4389120" cy="365291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LUYỆN TẬP 1 – BÀI 1.21A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11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y=−2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−5x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&lt; 0, nghịch biến trên 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I(1/2; −2)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+3x+1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CT (−1; −1), CĐ (1; 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I(0; 1)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y=−2x^3+3x^2−5x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y′ &lt; 0, nghịch biến trên ℝ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I(1/2; −2)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y=−x^3+3x+1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CT (−1; −1), CĐ (1; 3)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Tâm đối xứng I(0; 1)</a:t>
                </a:r>
              </a:p>
            </p:txBody>
          </p:sp>
        </mc:Fallback>
      </mc:AlternateContent>
      <p:pic>
        <p:nvPicPr>
          <p:cNvPr id="7" name="Picture 6" descr="rId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28912"/>
            <a:ext cx="4389120" cy="4377415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HÀM BẬC BA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 </a:t>
                </a:r>
                <a14:m>
                  <m:oMath xmlns:m="http://schemas.openxmlformats.org/officeDocument/2006/math"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1">
                            <a:solidFill>
                              <a:srgbClr val="1E40A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1">
                        <a:solidFill>
                          <a:srgbClr val="1E40AF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y′ = −3x² + 6x = 0 ⇔ x = 0 hoặc x =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x = 0: y = −4;  CĐ tại x = 2: y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trục: (0; −4), (−1; 0), (2; 0)</a:t>
                </a:r>
              </a:p>
            </p:txBody>
          </p:sp>
        </mc:Choice>
        <mc:Fallback>
          <p:sp>
            <p:nvSpPr>
              <p:cNvPr id="6" name="TextBox 5"/>
              <p:cNvSpPr txBox="1"/>
              <p:nvPr/>
            </p:nvSpPr>
            <p:spPr>
              <a:xfrm>
                <a:off x="731520" y="1508760"/>
                <a:ext cx="6400800" cy="2078736"/>
              </a:xfrm>
              <a:prstGeom prst="rect">
                <a:avLst/>
              </a:prstGeom>
              <a:noFill/>
            </p:spPr>
            <p:txBody>
              <a:bodyPr wrap="square" anchor="t">
                <a:spAutoFit/>
              </a:bodyPr>
              <a:lstStyle/>
              <a:p>
                <a:pPr algn="l">
                  <a:spcAft>
                    <a:spcPts val="1000"/>
                  </a:spcAft>
                </a:pPr>
                <a:r>
                  <a:rPr sz="2200" b="1">
                    <a:solidFill>
                      <a:srgbClr val="1E40AF"/>
                    </a:solidFill>
                    <a:latin typeface="Calibri"/>
                  </a:rPr>
                  <a:t> </a:t>
                </a:r>
                <a:r>
                  <a:rPr lang="vi-VN"/>
                  <a:t>y=−x^3+3x^2−4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y′ = −3x² + 6x = 0 ⇔ x = 0 hoặc x = 2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CT tại x = 0: y = −4;  CĐ tại x = 2: y = 0</a:t>
                </a:r>
              </a:p>
              <a:p>
                <a:pPr algn="l" marL="365760" indent="-365760">
                  <a:spcAft>
                    <a:spcPts val="10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Giao trục: (0; −4), (−1; 0), (2; 0)</a:t>
                </a:r>
              </a:p>
            </p:txBody>
          </p:sp>
        </mc:Fallback>
      </mc:AlternateContent>
      <p:sp>
        <p:nvSpPr>
          <p:cNvPr id="7" name="Rounded Rectangle 6"/>
          <p:cNvSpPr/>
          <p:nvPr/>
        </p:nvSpPr>
        <p:spPr>
          <a:xfrm>
            <a:off x="731520" y="3724656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24656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Tâm đối xứng I(1; −2)</a:t>
            </a:r>
          </a:p>
        </p:txBody>
      </p:sp>
      <p:pic>
        <p:nvPicPr>
          <p:cNvPr id="9" name="Picture 8" descr="rId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6766" y="1463040"/>
            <a:ext cx="3948867" cy="470916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600" b="1">
                <a:solidFill>
                  <a:srgbClr val="1E40AF"/>
                </a:solidFill>
                <a:latin typeface="Arial"/>
              </a:rPr>
              <a:t>HĐ1: y = X² − 4X + 3 – LỜI GIẢI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Toán 12 · Bài 4. Khảo sát sự biến thiên và vẽ đồ thị của hàm số         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508760"/>
            <a:ext cx="6400800" cy="17007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y′ = 2x − 4 = 0 ⇔ x = 2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Nghịch biến (−∞; 2), đồng biến (2; +∞)</a:t>
            </a:r>
          </a:p>
          <a:p>
            <a:pPr algn="l" marL="365760" indent="-365760">
              <a:spcAft>
                <a:spcPts val="10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Cực tiểu tại x = 2: y</a:t>
            </a:r>
            <a:r>
              <a:rPr sz="2400" baseline="-25000">
                <a:solidFill>
                  <a:srgbClr val="1E293B"/>
                </a:solidFill>
                <a:latin typeface="Calibri"/>
              </a:rPr>
              <a:t>CT</a:t>
            </a:r>
            <a:r>
              <a:rPr sz="2400">
                <a:solidFill>
                  <a:srgbClr val="1E293B"/>
                </a:solidFill>
                <a:latin typeface="Calibri"/>
              </a:rPr>
              <a:t> = −1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46704"/>
            <a:ext cx="6400800" cy="685800"/>
          </a:xfrm>
          <a:prstGeom prst="roundRect">
            <a:avLst>
              <a:gd name="adj" fmla="val 8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346704"/>
            <a:ext cx="6035040" cy="685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>
                <a:solidFill>
                  <a:srgbClr val="991B1B"/>
                </a:solidFill>
                <a:latin typeface="Calibri"/>
              </a:rPr>
              <a:t>Parabol nhận x = 2 làm trục đối xứng</a:t>
            </a:r>
          </a:p>
        </p:txBody>
      </p:sp>
      <p:pic>
        <p:nvPicPr>
          <p:cNvPr id="9" name="Picture 8" descr="rId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0" y="1636421"/>
            <a:ext cx="4389120" cy="436239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