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trangtu66.github.io/Taode_thi_online/cc_bai5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5. DÃY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II. Dãy số. Cấp số cộng và cấp số nhân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11, 12 theo PPCT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456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dãy số hữu hạn, vô hạn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Cho dãy số bằng bốn cách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dãy số tăng, giảm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dãy số bị chặn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DÂN SỐ NĂM 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8346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Năm 2020: khoảng 500 nghìn người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Tăng trưởng khoảng 2% mỗi năm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=500(1+0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02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(nghìn người)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Năm 2030 có bao nhiêu người?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n bằng mấy?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8346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Năm 2020: khoảng 500 nghìn người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Tăng trưởng khoảng 2% mỗi năm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P_n=500(1+0{,}02)^n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(nghìn người)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Năm 2030 có bao nhiêu người?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n bằng mấy?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DÂN SỐ NĂM 2030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Năm 2030 ứng với n = 10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=500·1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02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Năm 2030 ứng với n = 10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P_{10}=500\cdot 1{,}02^{10}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Khoảng 609 nghìn người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HĐ1. SỐ CHÍNH PHƯƠNG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Viết năm số chính phương đầu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Dự đoán số chính phương thứ 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HĐ1. SỐ CHÍNH PHƯƠNG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1, 4, 9, 16, 25, …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Số thứ 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1, 4, 9, 16, 25, …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Số thứ n: </a:t>
                </a:r>
                <a:r>
                  <a:rPr lang="vi-VN"/>
                  <a:t>u_n=n^2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Dãy số vô hạn: hàm số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Kí hiệu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sSub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Dãy số vô hạn: hàm số </a:t>
                </a:r>
                <a:r>
                  <a:rPr lang="vi-VN"/>
                  <a:t>u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trên </a:t>
                </a:r>
                <a:r>
                  <a:rPr lang="vi-VN"/>
                  <a:t>\mathbb{N}^*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Kí hiệu </a:t>
                </a:r>
                <a:r>
                  <a:rPr lang="vi-VN"/>
                  <a:t>(u_n)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: </a:t>
                </a:r>
                <a:r>
                  <a:rPr lang="vi-VN"/>
                  <a:t>u_1, u_2, \ldots, u_n, \ldots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ĐỊNH NGHĨA DÃY SỐ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số hạng đầu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số hạng tổng quát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=c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với mọi n: dãy không đổi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số hạng đầu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u_n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số hạng tổng quát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u_n=c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với mọi n: dãy không đổi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Dãy hữu hạn: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: số hạng đầu;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: số hạng cuối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Dãy hữu hạn: </a:t>
                </a:r>
                <a:r>
                  <a:rPr lang="vi-VN"/>
                  <a:t>u_1, u_2, \ldots, u_m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u_1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: số hạng đầu; </a:t>
                </a:r>
                <a:r>
                  <a:rPr lang="vi-VN"/>
                  <a:t>u_m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: số hạng cuối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số hạng đầu, số hạng tổng quát: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1, 3, 5, 7, …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5, 10, 15, 20, 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u_1=1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v_1=5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=2n−1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=5n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a) </a:t>
                </a:r>
                <a:r>
                  <a:rPr lang="vi-VN"/>
                  <a:t>u_n=2n−1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b) </a:t>
                </a:r>
                <a:r>
                  <a:rPr lang="vi-VN"/>
                  <a:t>v_n=5n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HĐ2. DÃY SỐ HỮU HẠN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Liệt kê số chính phương nhỏ hơn 50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Viết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nêu điều kiện của n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Liệt kê số chính phương nhỏ hơn 50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Viết </a:t>
                </a:r>
                <a:r>
                  <a:rPr lang="vi-VN"/>
                  <a:t>u_n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nêu điều kiện của n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HĐ2. DÃY SỐ HỮU HẠN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1, 4, 9, 16, 25, 36, 49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Dãy có 7 số hạng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n∈{1;2;…;7}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b) </a:t>
                </a:r>
                <a:r>
                  <a:rPr lang="vi-VN"/>
                  <a:t>u_n=n^2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</a:t>
                </a:r>
                <a:r>
                  <a:rPr lang="vi-VN"/>
                  <a:t>n\in\{1;2;\ldots;7\}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Các số tự nhiên lẻ nhỏ hơn 20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Liệt kê các số hạng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Tìm số hạng đầu, cuối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1, 3, 5, 7, 9, 11, 13, 15, 17,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12848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b) Số hạng đầu 1; số hạng cuối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Số tự nhiên chia 5 dư 1, tăng dần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Tìm số hạng tổng quát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Dãy năm số hạng đầu: đầu, cuối?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1, 6, 11, 16, …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1, 6, 11, 16,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=5n−4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đầu 1, cuối 21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u_n=5n−4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đầu 1, cuối 21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HĐ3. CÁCH CHO DÃY SỐ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Dãy 5, 10, 15, 20, 25, 30, …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Viết số hạng tổng quát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Viết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theo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Để ý hiệu hai số hạng liên tiếp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Dãy 5, 10, 15, 20, 25, 30, …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Viết số hạng tổng quát </a:t>
                </a:r>
                <a:r>
                  <a:rPr lang="vi-VN"/>
                  <a:t>u_n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Viết </a:t>
                </a:r>
                <a:r>
                  <a:rPr lang="vi-VN"/>
                  <a:t>u_n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theo </a:t>
                </a:r>
                <a:r>
                  <a:rPr lang="vi-VN"/>
                  <a:t>u_{n−1}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Để ý hiệu hai số hạng liên tiếp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HĐ3. CÁCH CHO DÃY SỐ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Công thức tổng quát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Hệ thức truy hồi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=5n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≥"/>
                      </m:dPr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u_n=5n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u_1=5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</a:t>
                </a:r>
                <a:r>
                  <a:rPr lang="vi-VN"/>
                  <a:t>u_n=u_{n−1}+5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</a:t>
                </a:r>
                <a:r>
                  <a:rPr lang="vi-VN"/>
                  <a:t>(n\ge 2)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BỐN CÁCH CHO MỘT DÃY SỐ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Liệt kê các số hạng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Công thức số hạng tổng quát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Phương pháp mô tả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Phương pháp truy hồi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Truy hồi: tính lần lượt từng số hạng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năm số hạng đầu và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=2n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</m:sSup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năm số hạng đầu và </a:t>
                </a:r>
                <a:r>
                  <a:rPr lang="vi-VN"/>
                  <a:t>u_{100}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u_n=2n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u_n=\frac{(−1)^n}{n}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2, 4, 6, 8, 10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−1,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2, 4, 6, 8, 10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−1, \frac{1}{2}, −\frac{1}{3}, \frac{1}{4}, −\frac{1}{5}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=200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a) </a:t>
                </a:r>
                <a:r>
                  <a:rPr lang="vi-VN"/>
                  <a:t>u_{100}=200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b) </a:t>
                </a:r>
                <a:r>
                  <a:rPr lang="vi-VN"/>
                  <a:t>u_{100}=\frac{1}{100}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Dãy các số nguyên tố tăng dần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Viết năm số hạng đầu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Cho bằng phương pháp mô tả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Chưa có công thức số nguyên tố thứ 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2, 3, 5, 7, 11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23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≥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Viết ba số hạng đầu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u_1=1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u_n=3u_{n−1}+2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(n\ge 2)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Viết ba số hạng đầu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24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=3·1+2=5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=3·5+2=17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u_2=3\cdot 1+2=5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u_3=3\cdot 5+2=17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Ba số hạng đầu: 1, 5, 17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6: 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 = 2030 − 2020 = 10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=500·(1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02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 = 2030 − 2020 = 10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P_{10}=500\cdot(1{,}02)^{10}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Khoảng 609 nghìn người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26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Năm số hạng đầu: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=n!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Fibonacci: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n−2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≥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Năm số hạng đầu: </a:t>
                </a:r>
                <a:r>
                  <a:rPr lang="vi-VN"/>
                  <a:t>u_n=n!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Fibonacci: </a:t>
                </a:r>
                <a:r>
                  <a:rPr lang="vi-VN"/>
                  <a:t>F_1=F_2=1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F_n=F_{n−1}+F_{n−2}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(n\ge 3)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27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56692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1!,2!,3!,4!,5!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56692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1!, 2!, 3!, 4!, 5!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212848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a) 1, 2, 6, 24, 120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b) 1, 1, 2, 3, 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BIỂU DIỄN DÃY SỐ TRÊN TRỤC SỐ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28</a:t>
            </a:r>
          </a:p>
        </p:txBody>
      </p:sp>
      <p:pic>
        <p:nvPicPr>
          <p:cNvPr id="6" name="Picture 5" descr="b5_truc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61313"/>
            <a:ext cx="10698480" cy="28554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Các số hạng đan dấu, dần về 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HĐ4. TĂNG HAY GIẢM?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29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=3n−1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so sánh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so sánh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u_n=3n−1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so sánh </a:t>
                </a:r>
                <a:r>
                  <a:rPr lang="vi-VN"/>
                  <a:t>u_{n+1}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v_n=\frac{1}{n^2}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so sánh </a:t>
                </a:r>
                <a:r>
                  <a:rPr lang="vi-VN"/>
                  <a:t>v_{n+1}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v_n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HĐ4. TĂNG HAY GIẢM?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30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=3n+2&gt;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u_{n+1}=3n+2&gt;u_n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v_{n+1}=\frac{1}{(n+1)^2}&lt;v_n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Tăng: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∀n∈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Giảm: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∀n∈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Tăng: </a:t>
                </a:r>
                <a:r>
                  <a:rPr lang="vi-VN"/>
                  <a:t>u_{n+1}&gt;u_n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</a:t>
                </a:r>
                <a:r>
                  <a:rPr lang="vi-VN"/>
                  <a:t>\forall n\in\mathbb{N}^*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Giảm: </a:t>
                </a:r>
                <a:r>
                  <a:rPr lang="vi-VN"/>
                  <a:t>u_{n+1}&lt;u_n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</a:t>
                </a:r>
                <a:r>
                  <a:rPr lang="vi-VN"/>
                  <a:t>\forall n\in\mathbb{N}^*</a:t>
                </a:r>
              </a:p>
            </p:txBody>
          </p:sp>
        </mc:Fallback>
      </mc:AlternateContent>
      <p:pic>
        <p:nvPicPr>
          <p:cNvPr id="9" name="Picture 8" descr="b5_tanggi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692" y="4334256"/>
            <a:ext cx="4338135" cy="18836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31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Xét tính tăng, giảm: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=−2n+5</m:t>
                    </m:r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Xét dấu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Xét tính tăng, giảm: </a:t>
                </a:r>
                <a:r>
                  <a:rPr lang="vi-VN"/>
                  <a:t>u_n=−2n+5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Xét dấu </a:t>
                </a:r>
                <a:r>
                  <a:rPr lang="vi-VN"/>
                  <a:t>u_{n+1}−u_n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7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32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56692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=−2&lt;0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∀n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56692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u_{n+1}−u_n=−2&lt;0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\forall n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212848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212848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sSub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là dãy số giảm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212848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(u_n)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là dãy số giảm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33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84124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Xét tính tăng, giảm: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84124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Xét tính tăng, giảm: </a:t>
                </a:r>
                <a:r>
                  <a:rPr lang="vi-VN"/>
                  <a:t>u_n=\frac{1}{n+1}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3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34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sepChr m:val=""/>
                          </m:dP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u_{n+1}−u_n=\frac{1}{n+2}−\frac{1}{n+1}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=−\frac{1}{(n+1)(n+2)}&lt;0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28415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sSub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là dãy số giảm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28415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(u_n)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là dãy số giảm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HĐ5. DÃY BỊ CHẶN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35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So sánh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So sánh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2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u_n=\frac{n+1}{n}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So sánh </a:t>
                </a:r>
                <a:r>
                  <a:rPr lang="vi-VN"/>
                  <a:t>u_n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So sánh </a:t>
                </a:r>
                <a:r>
                  <a:rPr lang="vi-VN"/>
                  <a:t>u_n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2</a:t>
                </a:r>
              </a:p>
            </p:txBody>
          </p:sp>
        </mc:Fallback>
      </mc:AlternateContent>
      <p:pic>
        <p:nvPicPr>
          <p:cNvPr id="7" name="Picture 6" descr="b5_bich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682784"/>
            <a:ext cx="4389120" cy="226967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HĐ5. DÃY BỊ CHẶN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36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u_n=1+\frac{1}{n}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u_n&gt;1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b) </a:t>
                </a:r>
                <a:r>
                  <a:rPr lang="vi-VN"/>
                  <a:t>u_n\le 2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Bị chặn: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m≤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≤M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∀n∈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Bị chặn: </a:t>
                </a:r>
                <a:r>
                  <a:rPr lang="vi-VN"/>
                  <a:t>m\le u_n\le M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</a:t>
                </a:r>
                <a:r>
                  <a:rPr lang="vi-VN"/>
                  <a:t>\forall n\in\mathbb{N}^*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DÃY SỐ BỊ CHẶN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37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Chặn trên: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≤M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∀n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Chặn dưới: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≥m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∀n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Chặn trên: </a:t>
                </a:r>
                <a:r>
                  <a:rPr lang="vi-VN"/>
                  <a:t>u_n\le M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\forall 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Chặn dưới: </a:t>
                </a:r>
                <a:r>
                  <a:rPr lang="vi-VN"/>
                  <a:t>u_n\ge m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\forall n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Bị chặn: vừa chặn trên, vừa chặn dưới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m, M là hằng số, không phụ thuộc 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38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84124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Xét tính bị chặn: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84124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Xét tính bị chặn: </a:t>
                </a:r>
                <a:r>
                  <a:rPr lang="vi-VN"/>
                  <a:t>u_n=\frac{n−1}{n}</a:t>
                </a: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8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39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chặn trên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chặn dưới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u_n=1−\frac{1}{n}&lt;1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chặn trên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u_n\ge 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chặn dưới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0≤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: dãy bị chặn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0\le u_n&lt;1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: dãy bị chặn</a:t>
                </a: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40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56692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Xét tính bị chặn: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=2n−1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56692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Xét tính bị chặn: </a:t>
                </a:r>
                <a:r>
                  <a:rPr lang="vi-VN"/>
                  <a:t>u_n=2n−1</a:t>
                </a: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4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41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bị chặn dưới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lớn tùy ý khi n lớn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u_n\ge 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bị chặn dưới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u_n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lớn tùy ý khi n lớn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bị chặn trên, nên không bị chặn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42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10896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Nhóm lẻ – AI viết: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</m:sSup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⇒ dãy tăng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Nhóm chẵn – AI viết: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1≤2n−1&lt;2n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⇒ dãy bị chặn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Tìm bước sai, sửa lại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10896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Nhóm lẻ – AI viết: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u_n=\frac{(−1)^n}{n}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u_1&lt;u_2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⇒ dãy tăng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Nhóm chẵn – AI viết: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1\le 2n−1&lt;2n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⇒ dãy bị chặn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Tìm bước sai, sửa lại</a:t>
                </a: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43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Lẻ: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Chẵn: 2n không phải hằng số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Lẻ: </a:t>
                </a:r>
                <a:r>
                  <a:rPr lang="vi-VN"/>
                  <a:t>u_3=−\frac{1}{3}&lt;u_2=\frac{1}{2}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Chẵn: 2n không phải hằng số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Lẻ: không tăng, không giảm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Chẵn: chỉ bị chặn dưới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LƯƠNG ANH THANH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44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=200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+25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≥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Lương năm thứ 5?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Chứng minh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sSub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tăng, nêu ý nghĩa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s_1=200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s_n=s_{n−1}+25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(n\ge 2)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Lương năm thứ 5?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Chứng minh </a:t>
                </a:r>
                <a:r>
                  <a:rPr lang="vi-VN"/>
                  <a:t>(s_n)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tăng, nêu ý nghĩa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LƯƠNG ANH THANH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45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=200+4·25=300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triệu đồng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=25&gt;0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s_5=200+4\cdot 25=300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triệu đồng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s_n−s_{n−1}=25&gt;0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Lương năm sau luôn cao hơn năm trước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GIÁ CÀ PHÊ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46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8346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Ghi giá cà phê 10 ngày liên tiếp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Lập dãy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sSub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vẽ biểu đồ điểm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Xét tăng, giảm; tìm m, 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Đề xuất thời điểm bán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Nộp 3–5 slide, Nhật ký AI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8346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Ghi giá cà phê 10 ngày liên tiếp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Lập dãy </a:t>
                </a:r>
                <a:r>
                  <a:rPr lang="vi-VN"/>
                  <a:t>(g_n)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vẽ biểu đồ điểm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Xét tăng, giảm; tìm m, 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Đề xuất thời điểm bán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Nộp 3–5 slide, Nhật ký AI</a:t>
                </a: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47</a:t>
            </a:r>
          </a:p>
        </p:txBody>
      </p:sp>
      <p:pic>
        <p:nvPicPr>
          <p:cNvPr id="6" name="Picture 5" descr="b5_min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056" y="1417320"/>
            <a:ext cx="8593408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5. Dãy số          48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5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trangtu66.github.io/Taode_thi_online/cc_bai5_t11.html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