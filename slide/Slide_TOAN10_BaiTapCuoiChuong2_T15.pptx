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79" r:id="rId30"/>
    <p:sldId id="267" r:id="rId18"/>
    <p:sldId id="278" r:id="rId29"/>
    <p:sldId id="268" r:id="rId19"/>
    <p:sldId id="277" r:id="rId28"/>
    <p:sldId id="269" r:id="rId20"/>
    <p:sldId id="276" r:id="rId27"/>
    <p:sldId id="270" r:id="rId21"/>
    <p:sldId id="275" r:id="rId26"/>
    <p:sldId id="271" r:id="rId22"/>
    <p:sldId id="274" r:id="rId25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trangtu66.github.io/Taode_thi_online/cc_chuong2_t10.html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TẬP CUỐI CHƯƠNG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Bất phương trình và hệ bất phương trình bậc nhất hai ẩn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2044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15 theo PPCT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Hệ thống kiến thức Chương II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Kiểm tra nghiệm của BPT, hệ BPT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Biểu diễn miền nghiệm chính xác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GTLN, GTNN của F = ax + by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tối ưu thực tiễn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Kiểm chứng lời giải do AI tạo 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QUẢNG CÁO THẾ NÀO?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5836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Ngân sách tối đa: 160 triệu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Truyền hình hiệu quả gấp 8 lần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Nhưng giá mỗi giây đắt gấp 5 lần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Truyền hình nhận tối đa 360 giây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920240"/>
            <a:ext cx="4023360" cy="219456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2011680"/>
            <a:ext cx="3657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991B1B"/>
                </a:solidFill>
                <a:latin typeface="Calibri"/>
              </a:rPr>
              <a:t>Có nên dồn hết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991B1B"/>
                </a:solidFill>
                <a:latin typeface="Calibri"/>
              </a:rPr>
              <a:t>tiền cho truyền hình?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CHƯƠNG II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4</a:t>
            </a:r>
          </a:p>
        </p:txBody>
      </p:sp>
      <p:pic>
        <p:nvPicPr>
          <p:cNvPr id="6" name="Picture 5" descr="min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8757093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BIỂU DIỄN MIỀN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B1. Vẽ đường thẳng d: ax + by = 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B2. Thay điểm M(x₀; y₀) ∉ d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B3. Đúng: giữ nửa chứa 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Hệ: gạch bỏ phần không thuộc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6400800" cy="13716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60350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&lt;, &gt; : bờ vẽ nét đứt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≤, ≥ : bờ vẽ nét liền</a:t>
            </a:r>
          </a:p>
        </p:txBody>
      </p:sp>
      <p:pic>
        <p:nvPicPr>
          <p:cNvPr id="9" name="Picture 8" descr="fig_2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737360"/>
            <a:ext cx="4297680" cy="33051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TÌM GTLN, GTNN CỦA BIỂU THỨC F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400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Biểu diễn miền nghiệm (đa giác)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tọa độ các đỉnh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Tính F tại từng đỉnh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So sánh, kết luận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6400800" cy="128016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60350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>
                <a:solidFill>
                  <a:srgbClr val="991B1B"/>
                </a:solidFill>
                <a:latin typeface="Calibri"/>
              </a:rPr>
              <a:t>GTLN, GTNN đạt tại một đỉnh</a:t>
            </a:r>
          </a:p>
        </p:txBody>
      </p:sp>
      <p:pic>
        <p:nvPicPr>
          <p:cNvPr id="9" name="Picture 8" descr="fig_2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45920"/>
            <a:ext cx="4480560" cy="34212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TRẮC NGHIỆM 2.7 – 2.8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2.7. Bất phương trình bậc nhất hai ẩn là: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A. x + y &gt; 3      B. x² + y² ≤ 4      C. (x − y)(3x + y) ≥ 1      D. y³ − 2 ≤ 0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2.8. Với bất phương trình 2x + y &gt; 3: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A. Có nghiệm duy nhất           B. Vô nghiệm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C. Có vô số nghiệm                D. Tập nghiệm là [3; +∞)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TRẮC NGHIỆM 2.9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9319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Hình nào biểu diễn miền nghiệm của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x − y &lt; 3 ?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(Miền nghiệm là phần không bị gạch)</a:t>
            </a:r>
          </a:p>
        </p:txBody>
      </p:sp>
      <p:pic>
        <p:nvPicPr>
          <p:cNvPr id="7" name="Picture 6" descr="fig_2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71600"/>
            <a:ext cx="5591918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TRẮC NGHIỆM 2.10 – 2.11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2.10. Hệ bất phương trình bậc nhất hai ẩn là: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6771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A.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1207008" y="2011680"/>
                <a:ext cx="2267712" cy="118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 xmlns:m="http://schemas.openxmlformats.org/officeDocument/2006/math">
                <a:pPr marL="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</m:dPr>
                        <m:e>
                          <m:eqArr>
                            <m:e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x−y&lt;0</m:t>
                              </m:r>
                            </m:e>
                            <m:e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2y≥0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vi-VN" sz="2200"/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1207008" y="2011680"/>
                <a:ext cx="2267712" cy="118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 xmlns:a14="http://schemas.microsoft.com/office/drawing/2010/main" xmlns:m="http://schemas.openxmlformats.org/officeDocument/2006/math">
                <a:pPr marL="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:r>
                  <a:rPr lang="vi-VN"/>
                  <a:t>{ x−y&lt;0 ; 2y≥0</a:t>
                </a:r>
                <a:endParaRPr lang="vi-VN" sz="2200"/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566160" y="226771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B.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950208" y="2011680"/>
                <a:ext cx="2267712" cy="118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 xmlns:m="http://schemas.openxmlformats.org/officeDocument/2006/math">
                <a:pPr marL="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</m:dPr>
                        <m:e>
                          <m:eqArr>
                            <m:e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3x+</m:t>
                              </m:r>
                              <m:sSup>
                                <m:e>
                                  <m:r>
                                    <a:rPr lang="vi-VN" sz="2200" b="0">
                                      <a:solidFill>
                                        <a:srgbClr val="1E293B"/>
                                      </a:solidFill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y</m:t>
                                  </m:r>
                                </m:e>
                                <m:sup>
                                  <m:r>
                                    <a:rPr lang="vi-VN" sz="2200" b="0">
                                      <a:solidFill>
                                        <a:srgbClr val="1E293B"/>
                                      </a:solidFill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&lt;0</m:t>
                              </m:r>
                            </m:e>
                            <m:e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x+y&gt;3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vi-VN" sz="2200"/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3950208" y="2011680"/>
                <a:ext cx="2267712" cy="118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 xmlns:a14="http://schemas.microsoft.com/office/drawing/2010/main" xmlns:m="http://schemas.openxmlformats.org/officeDocument/2006/math">
                <a:pPr marL="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:r>
                  <a:rPr lang="vi-VN"/>
                  <a:t>{ 3x+y^3&lt;0 ; x+y&gt;3</a:t>
                </a:r>
                <a:endParaRPr lang="vi-VN" sz="2200"/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6309360" y="226771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C.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6693408" y="2011680"/>
                <a:ext cx="2267712" cy="118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 xmlns:m="http://schemas.openxmlformats.org/officeDocument/2006/math">
                <a:pPr marL="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</m:dPr>
                        <m:e>
                          <m:eqArr>
                            <m:e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x+2y&lt;0</m:t>
                              </m:r>
                            </m:e>
                            <m:e>
                              <m:sSup>
                                <m:e>
                                  <m:r>
                                    <a:rPr lang="vi-VN" sz="2200" b="0">
                                      <a:solidFill>
                                        <a:srgbClr val="1E293B"/>
                                      </a:solidFill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y</m:t>
                                  </m:r>
                                </m:e>
                                <m:sup>
                                  <m:r>
                                    <a:rPr lang="vi-VN" sz="2200" b="0">
                                      <a:solidFill>
                                        <a:srgbClr val="1E293B"/>
                                      </a:solidFill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+3&lt;0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vi-VN" sz="2200"/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6693408" y="2011680"/>
                <a:ext cx="2267712" cy="118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 xmlns:a14="http://schemas.microsoft.com/office/drawing/2010/main" xmlns:m="http://schemas.openxmlformats.org/officeDocument/2006/math">
                <a:pPr marL="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:r>
                  <a:rPr lang="vi-VN"/>
                  <a:t>{ x+2y&lt;0 ; y^2+3&lt;0</a:t>
                </a:r>
                <a:endParaRPr lang="vi-VN" sz="2200"/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9052560" y="226771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9436608" y="2011680"/>
                <a:ext cx="2267712" cy="118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 xmlns:m="http://schemas.openxmlformats.org/officeDocument/2006/math">
                <a:pPr marL="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</m:dPr>
                        <m:e>
                          <m:eqArr>
                            <m:e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vi-VN" sz="2200" b="0">
                                      <a:solidFill>
                                        <a:srgbClr val="1E293B"/>
                                      </a:solidFill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a:rPr lang="vi-VN" sz="2200" b="0">
                                      <a:solidFill>
                                        <a:srgbClr val="1E293B"/>
                                      </a:solidFill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+y&lt;4</m:t>
                              </m:r>
                            </m:e>
                            <m:e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x+2y&lt;1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vi-VN" sz="2200"/>
              </a:p>
            </p:txBody>
          </p:sp>
        </mc:Choice>
        <mc:Fallback>
          <p:sp>
            <p:nvSpPr>
              <p:cNvPr id="19" name="TextBox 18"/>
              <p:cNvSpPr txBox="1"/>
              <p:nvPr/>
            </p:nvSpPr>
            <p:spPr>
              <a:xfrm>
                <a:off x="9436608" y="2011680"/>
                <a:ext cx="2267712" cy="118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 xmlns:a14="http://schemas.microsoft.com/office/drawing/2010/main" xmlns:m="http://schemas.openxmlformats.org/officeDocument/2006/math">
                <a:pPr marL="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:r>
                  <a:rPr lang="vi-VN"/>
                  <a:t>{ −x^3+y&lt;4 ; x+2y&lt;1</a:t>
                </a:r>
                <a:endParaRPr lang="vi-VN" sz="220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731520" y="3566160"/>
                <a:ext cx="10789920" cy="23774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2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2.11. Điểm thuộc miền nghiệm của hệ:</a:t>
                </a:r>
              </a:p>
              <a:p xmlns:m="http://schemas.openxmlformats.org/officeDocument/2006/math">
                <a:pPr marL="45720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</m:dPr>
                        <m:e>
                          <m:eqArr>
                            <m:e>
                              <m:r>
                                <a:rPr lang="vi-VN" sz="2400" b="0">
                                  <a:solidFill>
                                    <a:srgbClr val="991B1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x−y&amp;&lt;−3</m:t>
                              </m:r>
                            </m:e>
                            <m:e>
                              <m:r>
                                <a:rPr lang="vi-VN" sz="2400" b="0">
                                  <a:solidFill>
                                    <a:srgbClr val="991B1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2y&amp;≥−4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vi-VN" sz="2400"/>
              </a:p>
              <a:p>
                <a:pPr>
                  <a:spcAft>
                    <a:spcPts val="800"/>
                  </a:spcAft>
                </a:pPr>
                <a:r>
                  <a:rPr sz="2400" b="0">
                    <a:solidFill>
                      <a:srgbClr val="1E293B"/>
                    </a:solidFill>
                    <a:latin typeface="Calibri"/>
                  </a:rPr>
                  <a:t>A. (0; 0)          B. (−2; 1)          C. (3; −1)          D. (−3; 1)</a:t>
                </a:r>
              </a:p>
            </p:txBody>
          </p:sp>
        </mc:Choice>
        <mc:Fallback>
          <p:sp>
            <p:nvSpPr>
              <p:cNvPr id="20" name="TextBox 19"/>
              <p:cNvSpPr txBox="1"/>
              <p:nvPr/>
            </p:nvSpPr>
            <p:spPr>
              <a:xfrm>
                <a:off x="731520" y="3566160"/>
                <a:ext cx="10789920" cy="23774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2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2.11. Điểm thuộc miền nghiệm của hệ:</a:t>
                </a:r>
              </a:p>
              <a:p xmlns:a14="http://schemas.microsoft.com/office/drawing/2010/main" xmlns:m="http://schemas.openxmlformats.org/officeDocument/2006/math">
                <a:pPr marL="45720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:r>
                  <a:rPr lang="vi-VN"/>
                  <a:t>{ x−y&lt;−3 ; 2y≥−4</a:t>
                </a:r>
                <a:endParaRPr lang="vi-VN" sz="2400"/>
              </a:p>
              <a:p>
                <a:pPr>
                  <a:spcAft>
                    <a:spcPts val="800"/>
                  </a:spcAft>
                </a:pPr>
                <a:r>
                  <a:rPr sz="2400" b="0">
                    <a:solidFill>
                      <a:srgbClr val="1E293B"/>
                    </a:solidFill>
                    <a:latin typeface="Calibri"/>
                  </a:rPr>
                  <a:t>A. (0; 0)          B. (−2; 1)          C. (3; −1)          D. (−3; 1)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ĐÁP ÁN TRẮC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97280" y="1554480"/>
          <a:ext cx="99669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6858000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Câu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Đáp án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Lí do chính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2.7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Chỉ x + y &gt; 3 là bậc nhất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Miền nghiệm là nửa mặt phẳng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2.9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O thỏa mãn; bờ x − y = 3 nét đứt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Không chứa x³, y², y³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2.11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−3 − 1 = −4 &lt; −3; 2 ≥ −4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Biểu diễn miền nghiệm: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x+y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2x−y+1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Quy đồng, đưa về ax + by ≤ c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Biểu diễn miền nghiệm: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\frac{x+y}{2}\ge\frac{2x−y+1}{3}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Quy đồng, đưa về ax + by ≤ c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2199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Biểu diễn miền nghiệm của hệ: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x+y&lt;1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2x−y≥3</m:t>
                            </m:r>
                          </m:e>
                        </m:eqAr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(4/3; −1/3) có thuộc miền nghiệm?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2199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Biểu diễn miền nghiệm của hệ: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\begin{cases}x+y&lt;1\\2x−y\ge 3\end{cases}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(4/3; −1/3) có thuộc miền nghiệm?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Biểu diễn miền nghiệm hệ (SGK)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Tìm GTLN, GTNN của F = −x − 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trên miền nghiệm đó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Tính F tại các đỉnh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2.15 – ĐẦU TƯ TRÁI PHIẾU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Đầu tư 1 200 triệu vào 3 loại trái phiếu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Lãi: chính phủ 7%, ngân hàng 8%, DN 12%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Chính phủ ≥ 3 lần ngân hàng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Doanh nghiệp tối đa 200 triệu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Đầu tư thế nào lãi lớn nhất?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2.16 – QUẢNG CÁO HIỆU QUẢ NHẤT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Ngân sách tối đa 160 triệu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Phát thanh 80 nghìn/giây, tối đa 900 giây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Truyền hình 400 nghìn/giây, tối đa 360 giây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Truyền hình hiệu quả gấp 8 lần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Phân bổ thế nào hiệu quả nhất?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 trả lời Bài 2.13: vẽ d₁, d₂ nét đứt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0 ≥ 3 sai, nhưng vẫn giữ phía chứa O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Điểm (4/3; −1/3) thuộc miền nghiệm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Tìm bước sai, giải thích, sửa lại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VỀ NHÀ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Hoàn thiện Bài 2.15 (nếu chưa xong)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số liệu thật ở Gia Lai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Tự đặt bài toán tối ưu (≥ 3 BPT)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Kiểm tra miền nghiệm bằng GeoGebra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Ghi Nhật ký AI, nộp sau 1 tuần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Đọc trước Bài 5 (Chương III)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Chuong2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trangtu66.github.io/Taode_thi_online/cc_chuong2_t10.html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Lỗi 1: d₂ (2x − y ≥ 3) phải nét liền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Lỗi 2: O không thỏa mãn ⇒ bỏ phía chứa O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Lỗi 3: (4/3; −1/3) nằm trên d₁ (bỏ bờ)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3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3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(4/3; −1/3) không thuộc miền nghiệm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2.16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80"/>
            <a:ext cx="6217920" cy="16459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58521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max F = 3080 tại C(200; 360)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Không dồn hết cho truyền hình!</a:t>
            </a:r>
          </a:p>
        </p:txBody>
      </p:sp>
      <p:pic>
        <p:nvPicPr>
          <p:cNvPr id="9" name="Picture 8" descr="fig_2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4663440" cy="356090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731520" y="1463040"/>
                <a:ext cx="6400800" cy="2880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x giây phát thanh, y giây truyền hình</a:t>
                </a:r>
              </a:p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Chi phí: 80x + 400y ≤ 160 000</a:t>
                </a:r>
              </a:p>
              <a:p>
                <a:pPr marL="365760" indent="-365760">
                  <a:spcAft>
                    <a:spcPts val="2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Ta có hệ bất phương trình:</a:t>
                </a:r>
              </a:p>
              <a:p xmlns:m="http://schemas.openxmlformats.org/officeDocument/2006/math">
                <a:pPr marL="45720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</m:dPr>
                        <m:e>
                          <m:eqArr>
                            <m:e>
                              <m:r>
                                <a:rPr lang="vi-VN" sz="24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0≤x&amp;≤900</m:t>
                              </m:r>
                            </m:e>
                            <m:e>
                              <m:r>
                                <a:rPr lang="vi-VN" sz="24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0≤y&amp;≤360</m:t>
                              </m:r>
                            </m:e>
                            <m:e>
                              <m:r>
                                <a:rPr lang="vi-VN" sz="24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x+5y&amp;≤2000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vi-VN" sz="2400"/>
              </a:p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Hiệu quả: F = x + 8y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731520" y="1463040"/>
                <a:ext cx="6400800" cy="2880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x giây phát thanh, y giây truyền hình</a:t>
                </a:r>
              </a:p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Chi phí: 80x + 400y ≤ 160 000</a:t>
                </a:r>
              </a:p>
              <a:p>
                <a:pPr marL="365760" indent="-365760">
                  <a:spcAft>
                    <a:spcPts val="2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Ta có hệ bất phương trình:</a:t>
                </a:r>
              </a:p>
              <a:p xmlns:a14="http://schemas.microsoft.com/office/drawing/2010/main" xmlns:m="http://schemas.openxmlformats.org/officeDocument/2006/math">
                <a:pPr marL="45720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:r>
                  <a:rPr lang="vi-VN"/>
                  <a:t>{ 0≤x≤900 ; 0≤y≤360 ; x+5y≤2000</a:t>
                </a:r>
                <a:endParaRPr lang="vi-VN" sz="2400"/>
              </a:p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Hiệu quả: F = x + 8y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2.15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80"/>
            <a:ext cx="6217920" cy="16459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58521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Đầu tư 750 – 250 – 200 (triệu)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Lợi nhuận lớn nhất: 96,5 triệu</a:t>
            </a:r>
          </a:p>
        </p:txBody>
      </p:sp>
      <p:pic>
        <p:nvPicPr>
          <p:cNvPr id="9" name="Picture 8" descr="fig_2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463040"/>
            <a:ext cx="4572000" cy="36931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731520" y="1463040"/>
                <a:ext cx="6400800" cy="2880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x: chính phủ, y: ngân hàng (triệu đồng)</a:t>
                </a:r>
              </a:p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Doanh nghiệp: 1200 − x − y (triệu đồng)</a:t>
                </a:r>
              </a:p>
              <a:p>
                <a:pPr marL="365760" indent="-365760">
                  <a:spcAft>
                    <a:spcPts val="2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Ta có hệ bất phương trình:</a:t>
                </a:r>
              </a:p>
              <a:p xmlns:m="http://schemas.openxmlformats.org/officeDocument/2006/math">
                <a:pPr marL="45720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</m:dPr>
                        <m:e>
                          <m:eqArr>
                            <m:e>
                              <m:r>
                                <a:rPr lang="vi-VN" sz="24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&amp;x≥3y</m:t>
                              </m:r>
                            </m:e>
                            <m:e>
                              <m:r>
                                <a:rPr lang="vi-VN" sz="24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&amp;1000≤x+y≤1200</m:t>
                              </m:r>
                            </m:e>
                            <m:e>
                              <m:r>
                                <a:rPr lang="vi-VN" sz="24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&amp;y≥0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vi-VN" sz="2400"/>
              </a:p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Lợi nhuận: L = 144 − 0,05x − 0,04y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731520" y="1463040"/>
                <a:ext cx="6400800" cy="2880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x: chính phủ, y: ngân hàng (triệu đồng)</a:t>
                </a:r>
              </a:p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Doanh nghiệp: 1200 − x − y (triệu đồng)</a:t>
                </a:r>
              </a:p>
              <a:p>
                <a:pPr marL="365760" indent="-365760">
                  <a:spcAft>
                    <a:spcPts val="2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Ta có hệ bất phương trình:</a:t>
                </a:r>
              </a:p>
              <a:p xmlns:a14="http://schemas.microsoft.com/office/drawing/2010/main" xmlns:m="http://schemas.openxmlformats.org/officeDocument/2006/math">
                <a:pPr marL="45720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:r>
                  <a:rPr lang="vi-VN"/>
                  <a:t>{ x≥3y ; 1000≤x+y≤1200 ; y≥0</a:t>
                </a:r>
                <a:endParaRPr lang="vi-VN" sz="2400"/>
              </a:p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Lợi nhuận: L = 144 − 0,05x − 0,04y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2.14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64008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Đỉnh: A(−1; 0), B(1; 4), C(5; 4), D(5; −6)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F = −x − 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F(A) = 1; F(B) = −5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F(C) = −9; F(D) =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6035040" cy="155448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56692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max F = 1 (trên cạnh AD)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min F = −9 tại C(5; 4)</a:t>
            </a:r>
          </a:p>
        </p:txBody>
      </p:sp>
      <p:pic>
        <p:nvPicPr>
          <p:cNvPr id="9" name="Picture 8" descr="fig_2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371600"/>
            <a:ext cx="4677063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2.13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64008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d₁: x + y = 1, nét đứt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O thỏa mãn → giữ phía chứa O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d₂: 2x − y = 3, nét liền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O không thỏa mãn → bỏ phía chứa 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6035040" cy="13716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56692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Điểm (4/3; −1/3) nằm trên d₁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→ không thuộc miền nghiệm</a:t>
            </a:r>
          </a:p>
        </p:txBody>
      </p:sp>
      <p:pic>
        <p:nvPicPr>
          <p:cNvPr id="9" name="Picture 8" descr="fig_2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417320"/>
            <a:ext cx="5689328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2.12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64008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Quy đồng: 3(x + y) ≥ 2(2x − y + 1)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 qua (−2; 0) và (3; 1), nét liền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Thay O(0; 0): 2 ≤ 0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Giữ nửa mặt phẳng không chứa 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6035040" cy="109728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5669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991B1B"/>
                </a:solidFill>
                <a:latin typeface="Calibri"/>
              </a:rPr>
              <a:t>⇔  x − 5y + 2 ≤ 0</a:t>
            </a:r>
          </a:p>
        </p:txBody>
      </p:sp>
      <p:pic>
        <p:nvPicPr>
          <p:cNvPr id="9" name="Picture 8" descr="fig_2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737360"/>
            <a:ext cx="4663440" cy="35864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