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trangtu66.github.io/Taode_thi_online/cc_bai5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5. GIÁ TRỊ LƯỢNG GIÁC CỦA MỘT GÓC TỪ 0° ĐẾN 180°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III. Hệ thức lượng trong tam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16 – 17 theo PPCT (T16, T17)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giá trị lượng giác góc 0°–180°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Xác định dấu của sin, cos, tan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Nhớ bảng giá trị góc đặc biệt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quan hệ góc bù, góc phụ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bằng máy tính cầm tay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đu quay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GÓC TÙ THÌ SAO?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Máy tính: sin 120° ≈ 0,866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Máy tính: cos 120° = −0,5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vuông không có góc tù!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 120° được hiểu thế nào?</a:t>
            </a:r>
          </a:p>
        </p:txBody>
      </p:sp>
      <p:pic>
        <p:nvPicPr>
          <p:cNvPr id="9" name="Picture 8" descr="b5_h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83324"/>
            <a:ext cx="4389120" cy="166859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NỬA ĐƯỜNG TRÒN ĐƠN VỊ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Tâm O, bán kính 1, trên trục Ox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M(x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; y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) với góc xOM =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α &lt; 90°: M bên phải trục tung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α &gt; 90°: M bên trái trục tung</a:t>
            </a:r>
          </a:p>
        </p:txBody>
      </p:sp>
      <p:pic>
        <p:nvPicPr>
          <p:cNvPr id="7" name="Picture 6" descr="b5_h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970" y="3913632"/>
            <a:ext cx="5105579" cy="230428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ĐỊNH NGHĨA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0° &lt; α &lt; 90°: các giá trị đều dương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90° &lt; α &lt; 180°: sin &gt; 0; cos, tan, cot &lt; 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21488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2148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sin α = y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cos α =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90°)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0°, α ≠ 180°)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8321040" cy="21488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sin α = y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cos α = x</a:t>
                </a:r>
                <a:r>
                  <a:rPr sz="2400" b="1" baseline="-25000">
                    <a:solidFill>
                      <a:srgbClr val="991B1B"/>
                    </a:solidFill>
                    <a:latin typeface="Calibri"/>
                  </a:rPr>
                  <a:t>0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\alpha=\frac{\sin\ \alpha}{\cos\ \alpha}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90°)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\cot\ \alpha=\frac{\cos\ \alpha}{\sin\ \alpha}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(α ≠ 0°, α ≠ 180°)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GIÁ TRỊ LƯỢNG GIÁC ĐẶC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6</a:t>
            </a:r>
          </a:p>
        </p:txBody>
      </p:sp>
      <p:pic>
        <p:nvPicPr>
          <p:cNvPr id="6" name="Picture 5" descr="b5_bang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846" y="1417320"/>
            <a:ext cx="7445828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Kí hiệu || : giá trị không xác định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1: GÓC 135°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Tam giác MON vuông cân, OM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Tam giác MON vuông cân, OM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M\left(−\frac{\sqrt{2}}{2};\frac{\sqrt{2}}{2}\right)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135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tan 135° = cot 135° = −1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\sin\ 135^\circ=\frac{\sqrt{2}}{2}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</a:t>
                </a:r>
                <a:r>
                  <a:rPr lang="vi-VN"/>
                  <a:t>\cos\ 135^\circ=−\frac{\sqrt{2}}{2}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tan 135° = cot 135° = −1</a:t>
                </a:r>
              </a:p>
            </p:txBody>
          </p:sp>
        </mc:Fallback>
      </mc:AlternateContent>
      <p:pic>
        <p:nvPicPr>
          <p:cNvPr id="9" name="Picture 8" descr="b5_h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05990"/>
            <a:ext cx="4389120" cy="32232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 1: GÓC 120°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M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;</m:t>
                        </m:r>
                        <m:f>
                          <m:fPr>
                            <m:type m:val="bar"/>
                          </m:fPr>
                          <m:num>
                            <m:rad>
                              <m:radPr>
                                <m:degHide m:val="on"/>
                              </m:radPr>
                              <m:deg/>
                              <m:e>
                                <m:r>
                                  <a:rPr lang="vi-VN" sz="2400" b="0">
                                    <a:solidFill>
                                      <a:srgbClr val="1E293B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120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M\left(−\frac{1}{2};\frac{\sqrt{3}}{2}\right)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120^\circ=\frac{\sqrt{3}}{2}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:r>
                  <a:rPr lang="vi-VN"/>
                  <a:t>\cos\ 120^\circ=−\frac{1}{2}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120^\circ=−\sqrt{3}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</a:t>
                </a:r>
                <a:r>
                  <a:rPr lang="vi-VN"/>
                  <a:t>\cot\ 120^\circ=−\frac{\sqrt{3}}{3}</a:t>
                </a:r>
              </a:p>
            </p:txBody>
          </p:sp>
        </mc:Fallback>
      </mc:AlternateContent>
      <p:pic>
        <p:nvPicPr>
          <p:cNvPr id="7" name="Picture 6" descr="b5_h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274570"/>
            <a:ext cx="438912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SHIFT MODE 3: chọn đơn vị độ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sin x = 0,5: máy chỉ cho x = 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bù 180° − x cũng có cùng sin</a:t>
            </a:r>
          </a:p>
        </p:txBody>
      </p:sp>
      <p:pic>
        <p:nvPicPr>
          <p:cNvPr id="9" name="Picture 8" descr="b5_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6191" y="3602736"/>
            <a:ext cx="7889138" cy="26151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HAI GÓC BÙ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M, M′ đối xứng qua trục Oy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sin bằng nhau; cos, tan đối nhau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6002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sin(180° − α) = sin α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cos(180° − α) = −cos α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tan(180° − α) = −tan α</a:t>
            </a:r>
          </a:p>
        </p:txBody>
      </p:sp>
      <p:pic>
        <p:nvPicPr>
          <p:cNvPr id="9" name="Picture 8" descr="b5_h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400879"/>
            <a:ext cx="4389120" cy="283348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2: GÓC 120°, 135°, 150°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8778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120°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135°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150°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sin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√2/2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−√2/2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cot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−√3/3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−√3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HAI GÓC PHỤ NHAU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ΔMOP = ΔNOQ (cạnh huyền – góc nhọn)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Suy ra OP = OQ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cos α = sin(90° − α)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tan α = cot(90° − α)</a:t>
            </a:r>
          </a:p>
        </p:txBody>
      </p:sp>
      <p:pic>
        <p:nvPicPr>
          <p:cNvPr id="9" name="Picture 8" descr="b5_h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07466"/>
            <a:ext cx="4389120" cy="422030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3.1 – 3.4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= 2 sin 80°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tan α = 3: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P=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α−3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α+2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3.1c) </a:t>
                </a:r>
                <a:r>
                  <a:rPr lang="vi-VN"/>
                  <a:t>\cos\ 60^\circ\sin\ 30^\circ+\cos^2 30^\circ=1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3.2a) sin 100° + sin 80° + cos 16° + cos 164°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= 2 sin 80°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3.4) tan α = 3:  </a:t>
                </a:r>
                <a:r>
                  <a:rPr lang="vi-VN"/>
                  <a:t>P=\frac{2\tan\ \alpha−3}{3\tan\ \alpha+2}=\frac{3}{11}</a:t>
                </a:r>
              </a:p>
            </p:txBody>
          </p:sp>
        </mc:Fallback>
      </mc:AlternateContent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120° = −sin 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sin x = 1/2 ⇒ chỉ x = 30°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Góc bù: sin bằng, cos đối nhau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Thiếu nghiệm x = 150°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ĐU QUAY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kính 75 m, tâm cao 90 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30 phút một vòng; sau 20 phút?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Quay 240° từ điểm thấp nhất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 = 90 + 75·sin 150° = 127,5 m</a:t>
            </a:r>
          </a:p>
        </p:txBody>
      </p:sp>
      <p:pic>
        <p:nvPicPr>
          <p:cNvPr id="9" name="Picture 8" descr="b5_h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255" y="1463040"/>
            <a:ext cx="4205890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VẬT QUAY QUANH TRỤC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Thanh chắn barie, cần kéo nước…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chiều dài L, độ cao trục h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Mở ở hai góc bù nhau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So sánh với h = h</a:t>
            </a:r>
            <a:r>
              <a:rPr sz="2400" baseline="-25000">
                <a:solidFill>
                  <a:srgbClr val="1E293B"/>
                </a:solidFill>
                <a:latin typeface="Calibri"/>
              </a:rPr>
              <a:t>0</a:t>
            </a:r>
            <a:r>
              <a:rPr sz="2400">
                <a:solidFill>
                  <a:srgbClr val="1E293B"/>
                </a:solidFill>
                <a:latin typeface="Calibri"/>
              </a:rPr>
              <a:t> + L·sin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Mô phỏng GeoGebra, nộp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Kèm Nhật ký sử dụng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17</a:t>
            </a:r>
          </a:p>
        </p:txBody>
      </p:sp>
      <p:pic>
        <p:nvPicPr>
          <p:cNvPr id="6" name="Picture 5" descr="b5_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056" y="1417320"/>
            <a:ext cx="859340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5. Giá trị lượng giác của một góc từ 0° đến 180°         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5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trangtu66.github.io/Taode_thi_online/cc_bai5_t10.html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