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2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TẬP HỢP VÀ CÁC PHÉP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5 – 8 theo PPCT (T5, T6, T7, T8)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Mô tả tập hợp theo hai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tập con, tập rỗng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quan hệ ℕ ⊂ ℤ ⊂ ℚ ⊂ 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Viết, biểu diễn khoảng,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giao, hợp, hiệu, phần bù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biểu đồ Ven giải toán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AI VẮNG MẶT?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CLB Lịch sử có 12 thành viên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Họp trực tuyến hai chuyên đề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Bao nhiêu bạn vắng cả hai?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14" y="3602736"/>
            <a:ext cx="5253892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1: liệt kê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Cách 2: nêu tính chất đặc trưng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∈ S: a thuộc S;  a ∉ S: a không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n(S): số phần tử của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Tập rỗng ∅: không có phần tử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D = {n ∈ ℕ | n nguyên tố, 5 &lt; n &lt; 20}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{7; 11; 13; 17; 19}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n(D) = 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17 ∈ D;   5 ∉ D;   12 ∉ D;   18 ∉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TẬP CON –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Mọi phần tử của T thuộc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Quy ước: ∅ ⊂ S với mọi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Biểu đồ Ven: đường cong kín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 ⇔ ∀x, x ∈ T ⇒ x ∈ S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050" y="1463040"/>
            <a:ext cx="31363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TẬP CON CỦA S = {2; 3; 5}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1</a:t>
            </a:r>
            <a:r>
              <a:rPr sz="2400">
                <a:solidFill>
                  <a:srgbClr val="1E293B"/>
                </a:solidFill>
                <a:latin typeface="Calibri"/>
              </a:rPr>
              <a:t> = {3} ⊂ S;   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3</a:t>
            </a:r>
            <a:r>
              <a:rPr sz="2400">
                <a:solidFill>
                  <a:srgbClr val="1E293B"/>
                </a:solidFill>
                <a:latin typeface="Calibri"/>
              </a:rPr>
              <a:t> = {3; 5} ⊂ 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400">
                <a:solidFill>
                  <a:srgbClr val="1E293B"/>
                </a:solidFill>
                <a:latin typeface="Calibri"/>
              </a:rPr>
              <a:t> = {0; 2} ⊄ S vì 0 ∉ S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6" y="2779776"/>
            <a:ext cx="10030368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TẬP HỢP BẰNG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Hai tập có cùng các phần tử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C: bội chung của 2 và 3,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D: bội của 6, nhỏ hơn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D = {0; 6; 12; 18; 24}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⊂ T và T ⊂ S  ⇒  S = 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TẬP HỢP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ℕ: số tự nhiên;  ℤ: số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ℚ: số viết được dạng a/b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ℝ: gồm số hữu tỉ và vô tỉ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√2 ∈ ℝ nhưng √2 ∉ 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ℕ ⊂ ℤ ⊂ ℚ ⊂ ℝ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70380"/>
            <a:ext cx="4389120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TẬP CON THƯỜNG DÙNG CỦA 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10</a:t>
            </a:r>
          </a:p>
        </p:txBody>
      </p:sp>
      <p:pic>
        <p:nvPicPr>
          <p:cNvPr id="6" name="Picture 5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849" y="1417320"/>
            <a:ext cx="443782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( ): không lấy đầu mút;   [ ]: lấy đầu mút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5: KHOẢNG, ĐOẠN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{x ∈ ℝ | 2 ≤ x ≤ 7} = [2;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 = {x ∈ ℝ | x &lt; 2} = (−∞;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Phần bị gạch là phần bỏ đi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47875"/>
            <a:ext cx="10698480" cy="25249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GIAO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cả S và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{4; 7; 27} ∩ {2; 4; 9; 27; 36} = {4; 27}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[1; +∞) ∩ (−∞; 3] = [1;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</p:txBody>
      </p:sp>
      <p:pic>
        <p:nvPicPr>
          <p:cNvPr id="9" name="Picture 8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56536"/>
            <a:ext cx="4389120" cy="29221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HỢP CỦA HAI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tử thuộc S hoặc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{2; 3; 4; 7} ∪ {−1; 2; 3; 4;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= {−1; 2; 3; 4; 6;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(−1; 2] ∪ [0; 3] = (−1;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44641"/>
            <a:ext cx="4389120" cy="29459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TRỞ LẠI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A: 7 bạn dự Chuyên đề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B: 8 bạn dự Chuyên đề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có 10 phần tử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Vắng cả hai: 12 − 10 = 2 bạn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291" y="4169664"/>
            <a:ext cx="4114937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HIỆU VÀ PHẦN BÙ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 \ T: thuộc S nhưng không thuộc 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(−∞; −2) = [−2;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400">
                <a:solidFill>
                  <a:srgbClr val="1E293B"/>
                </a:solidFill>
                <a:latin typeface="Calibri"/>
              </a:rPr>
              <a:t>[−5; +∞) = (−∞; −5)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893" y="1463040"/>
            <a:ext cx="352061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ĐẾM SỐ PHẦN TỬ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Lớp 10A: 24 bạn thi đấu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Bóng đá 16 bạn, cầu lông 11 bạn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24 = 16 + 11 − x  ⇒  x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∪ B) = n(A) + n(B) − n(A ∩ B)</a:t>
            </a:r>
          </a:p>
        </p:txBody>
      </p:sp>
      <p:pic>
        <p:nvPicPr>
          <p:cNvPr id="9" name="Picture 8" descr="rI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164" y="4169664"/>
            <a:ext cx="7007191" cy="20482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Nhầm ∈ với ⊂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 đầu mút khi lấy giao,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Đếm trùng khi tính n(A ∪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Hỏi AI: (−2; 1] ∩ (1; +∞) =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trục số, Ven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LỚP MÌNH QUA BIỂU ĐỒ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Tạo Google Forms 2 câu Có/Không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thu họ tên, số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Lọc, đếm bằng Google Sheets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biểu đồ Ven, thử công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3–5 slide trên Padlet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19</a:t>
            </a:r>
          </a:p>
        </p:txBody>
      </p:sp>
      <p:pic>
        <p:nvPicPr>
          <p:cNvPr id="6" name="Picture 5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2. Tập hợp và các phép toán trên tập hợp        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