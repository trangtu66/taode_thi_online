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trangtu66.github.io/Taode_thi_online/cc_cd1bai1_t10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E40AF"/>
                </a:solidFill>
                <a:latin typeface="Arial"/>
              </a:rPr>
              <a:t>HỆ PHƯƠNG TRÌNH BẬC NHẤT BA ẨN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E293B"/>
                </a:solidFill>
                <a:latin typeface="Calibri"/>
              </a:rPr>
              <a:t>Chuyên đề 1 – Bài 1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566160"/>
            <a:ext cx="2286000" cy="3000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Chuyên đề học tập Toán 10 (Kết nối tri thức với cuộc sống)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Tiết 1 – 5 (chuyên đề) · Năm học 2026 – 2027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GV soạn: Trương Tử Trang – Trường THPT Vĩnh Thạnh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Chuyên đề 1 – Bài 1. Hệ phương trình bậc nhất ba ẩn         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3685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Nhận biết hệ bậc nhất ba ẩn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Giải hệ dạng tam giác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Giải hệ bằng phương pháp Gauss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Nhận biết số nghiệm của hệ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Giải hệ bằng máy tính cầm tay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Lập hệ giải bài toán thực tiễn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ĐỘNG: ÔNG AN ĐẦU TƯ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Chuyên đề 1 – Bài 1. Hệ phương trình bậc nhất ba ẩn         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Ông An đầu tư 240 triệu vào 3 quỹ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Lãi suất: 3%, 4%, 7% một năm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Ngân hàng hơn trái phiếu 80 triệu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Tổng lãi năm đầu: 13,4 triệu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13632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13632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Mỗi quỹ bao nhiêu tiền?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1. HỆ PHƯƠNG TRÌNH BẬC NHẤT BA ẨN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Chuyên đề 1 – Bài 1. Hệ phương trình bậc nhất ba ẩn         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Nghiệm: bộ ba số (x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0</a:t>
            </a:r>
            <a:r>
              <a:rPr sz="2400">
                <a:solidFill>
                  <a:srgbClr val="1E293B"/>
                </a:solidFill>
                <a:latin typeface="Calibri"/>
              </a:rPr>
              <a:t>; y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0</a:t>
            </a:r>
            <a:r>
              <a:rPr sz="2400">
                <a:solidFill>
                  <a:srgbClr val="1E293B"/>
                </a:solidFill>
                <a:latin typeface="Calibri"/>
              </a:rPr>
              <a:t>; z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0</a:t>
            </a:r>
            <a:r>
              <a:rPr sz="2400">
                <a:solidFill>
                  <a:srgbClr val="1E293B"/>
                </a:solidFill>
                <a:latin typeface="Calibri"/>
              </a:rPr>
              <a:t>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Hệ gồm các phương trình như trên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Nghiệm của hệ: nghiệm chung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3346704"/>
                <a:ext cx="8321040" cy="11430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ax+by+cz=d</m:t>
                    </m:r>
                  </m:oMath>
                </a14:m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a, b, c không đồng thời bằng 0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3346704"/>
                <a:ext cx="8321040" cy="11430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ax+by+cz=d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a, b, c không đồng thời bằng 0</a:t>
                </a:r>
              </a:p>
            </p:txBody>
          </p:sp>
        </mc:Fallback>
      </mc:AlternateContent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Chuyên đề 1 – Bài 1. Hệ phương trình bậc nhất ba ẩn          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039112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Đâu là hệ bậc nhất ba ẩn?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a)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sepChr m:val=""/>
                        <m:endChr m:val=""/>
                      </m:dPr>
                      <m:e>
                        <m:eqArr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2x+3y−5z=13</m:t>
                            </m:r>
                          </m:e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4x−2y−3z=3</m:t>
                            </m:r>
                          </m:e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−x+2y+4</m:t>
                            </m:r>
                            <m:sSup>
                              <m:e>
                                <m:r>
                                  <a:rPr lang="vi-VN" sz="24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p>
                                <m:r>
                                  <a:rPr lang="vi-VN" sz="24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=−1</m:t>
                            </m:r>
                          </m:e>
                        </m:eqArr>
                      </m:e>
                    </m:d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    b)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sepChr m:val=""/>
                        <m:endChr m:val=""/>
                      </m:dPr>
                      <m:e>
                        <m:eqArr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−2x+y+z=−3</m:t>
                            </m:r>
                          </m:e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5x+y−3z=16</m:t>
                            </m:r>
                          </m:e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x+2y=5</m:t>
                            </m:r>
                          </m:e>
                        </m:eqArr>
                      </m:e>
                    </m:d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039112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Đâu là hệ bậc nhất ba ẩn?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a) </a:t>
                </a:r>
                <a:r>
                  <a:rPr lang="vi-VN"/>
                  <a:t>\begin{cases}2x+3y-5z=13\\4x-2y-3z=3\\-x+2y+4z^2=-1\end{cases}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    b) </a:t>
                </a:r>
                <a:r>
                  <a:rPr lang="vi-VN"/>
                  <a:t>\begin{cases}-2x+y+z=-3\\5x+y-3z=16\\x+2y=5\end{cases}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685032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685032"/>
            <a:ext cx="8321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a) chứa z²: không;  b) là hệ bậc nhất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(1; 2; −3) là nghiệm của hệ b)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2. HỆ DẠNG TAM GIÁC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Chuyên đề 1 – Bài 1. Hệ phương trình bậc nhất ba ẩn          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606039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Ví dụ 2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d>
                      <m:dPr>
                        <m:begChr m:val="{"/>
                        <m:sepChr m:val=""/>
                        <m:endChr m:val=""/>
                      </m:dPr>
                      <m:e>
                        <m:eqArr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x+y−2z=4</m:t>
                            </m:r>
                          </m:e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3y+z=2</m:t>
                            </m:r>
                          </m:e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−z=1</m:t>
                            </m:r>
                          </m:e>
                        </m:eqArr>
                      </m:e>
                    </m:d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z = −1  ⇒  y = 1  ⇒  x = 1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606039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Ví dụ 2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\begin{cases}x+y-2z=4\\3y+z=2\\-z=1\end{cases}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z = −1  ⇒  y = 1  ⇒  x = 1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4251959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251959"/>
            <a:ext cx="8321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Giải từ dưới lên, thế ngược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Nghiệm: (1; 1; −1)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3. PHƯƠNG PHÁP GAUSS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Chuyên đề 1 – Bài 1. Hệ phương trình bậc nhất ba ẩn        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Nhân một phương trình với số ≠ 0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Đổi vị trí hai phương trình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Cộng hai phương trình để khử ẩn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Đưa hệ về dạng tam giác</a:t>
            </a:r>
          </a:p>
        </p:txBody>
      </p:sp>
      <p:pic>
        <p:nvPicPr>
          <p:cNvPr id="9" name="Picture 8" descr="rId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7472" y="1463040"/>
            <a:ext cx="3707456" cy="47091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3: GIẢI BẰNG GAUSS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Chuyên đề 1 – Bài 1. Hệ phương trình bậc nhất ba ẩn          8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606039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Khử x ở PT 2, 3; khử y ở PT 3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d>
                      <m:dPr>
                        <m:begChr m:val="{"/>
                        <m:sepChr m:val=""/>
                        <m:endChr m:val=""/>
                      </m:dPr>
                      <m:e>
                        <m:eqArr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x+y+z=2</m:t>
                            </m:r>
                          </m:e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7x+3y+z=4</m:t>
                            </m:r>
                          </m:e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−5x+7y−2z=5</m:t>
                            </m:r>
                          </m:e>
                        </m:eqArr>
                      </m:e>
                    </m:d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⇔</m:t>
                    </m:r>
                    <m:d>
                      <m:dPr>
                        <m:begChr m:val="{"/>
                        <m:sepChr m:val=""/>
                        <m:endChr m:val=""/>
                      </m:dPr>
                      <m:e>
                        <m:eqArr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x+y+z=2</m:t>
                            </m:r>
                          </m:e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−4y−6z=−10</m:t>
                            </m:r>
                          </m:e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−15z=−15</m:t>
                            </m:r>
                          </m:e>
                        </m:eqArr>
                      </m:e>
                    </m:d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z = 1,  y = 1,  x = 0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606039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Khử x ở PT 2, 3; khử y ở PT 3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\begin{cases}x+y+z=2\\7x+3y+z=4\\-5x+7y-2z=5\end{cases}\Leftrightarrow\begin{cases}x+y+z=2\\-4y-6z=-10\\-15z=-15\end{cases}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z = 1,  y = 1,  x = 0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4251959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251959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Nghiệm duy nhất: (0; 1; 1)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BA TRƯỜNG HỢP NGHIỆM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Chuyên đề 1 – Bài 1. Hệ phương trình bậc nhất ba ẩn          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542032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a) Nghiệm duy nhất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f>
                          <m:fPr>
                            <m:type m:val="bar"/>
                          </m:fPr>
                          <m:num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25</m:t>
                            </m:r>
                          </m:num>
                          <m:den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37</m:t>
                            </m:r>
                          </m:den>
                        </m:f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f>
                          <m:fPr>
                            <m:type m:val="bar"/>
                          </m:fPr>
                          <m:num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55</m:t>
                            </m:r>
                          </m:num>
                          <m:den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37</m:t>
                            </m:r>
                          </m:den>
                        </m:f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bar"/>
                          </m:fPr>
                          <m:num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37</m:t>
                            </m:r>
                          </m:den>
                        </m:f>
                      </m:e>
                    </m:d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b) Xuất hiện 0z = −1: vô nghiệm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c) Xuất hiện 0z = 0: vô số nghiệm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S = {(−2 − 2z; 5 + 5z; z) | z ∈ ℝ}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542032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a) Nghiệm duy nhất </a:t>
                </a:r>
                <a:r>
                  <a:rPr lang="vi-VN"/>
                  <a:t>\left(\frac{25}{37};\frac{55}{37};−\frac{2}{37}\right)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b) Xuất hiện 0z = −1: vô nghiệm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c) Xuất hiện 0z = 0: vô số nghiệm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S = {(−2 − 2z; 5 + 5z; z) | z ∈ ℝ}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4187951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87951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Xét phương trình cuối để kết luận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GIẢI TÌNH HUỐNG MỞ ĐẦU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Chuyên đề 1 – Bài 1. Hệ phương trình bậc nhất ba ẩn          10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606039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x, y, z: tiền đầu tư ba quỹ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d>
                      <m:dPr>
                        <m:begChr m:val="{"/>
                        <m:sepChr m:val=""/>
                        <m:endChr m:val=""/>
                      </m:dPr>
                      <m:e>
                        <m:eqArr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x+y+z=240</m:t>
                            </m:r>
                          </m:e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−y+z=80</m:t>
                            </m:r>
                          </m:e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03x+0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04y+0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07z=13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</m:eqArr>
                      </m:e>
                    </m:d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⟶  0,05z = 7  ⇒  z = 140,  y = 60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606039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x, y, z: tiền đầu tư ba quỹ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\begin{cases}x+y+z=240\\-y+z=80\\0{,}03x+0{,}04y+0{,}07z=13{,}4\end{cases}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⟶  0,05z = 7  ⇒  z = 140,  y = 60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4251959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251959"/>
            <a:ext cx="8321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Tiền tệ 40 triệu; trái phiếu 60 triệu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Ngân hàng 140 triệu đồng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 1: VĂN PHÒNG PHẨM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Chuyên đề 1 – Bài 1. Hệ phương trình bậc nhất ba ẩn          11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3172968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Hà, Lan, Minh trả tổng 820 nghìn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Lan ít hơn nửa của Hà 5 nghìn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Minh hơn Lan 210 nghìn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d>
                      <m:dPr>
                        <m:begChr m:val="{"/>
                        <m:sepChr m:val=""/>
                        <m:endChr m:val=""/>
                      </m:dPr>
                      <m:e>
                        <m:eqArr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x+y+z=820</m:t>
                            </m:r>
                          </m:e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x−2y=10</m:t>
                            </m:r>
                          </m:e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−y+z=210</m:t>
                            </m:r>
                          </m:e>
                        </m:eqArr>
                      </m:e>
                    </m:d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3172968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Hà, Lan, Minh trả tổng 820 nghìn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Lan ít hơn nửa của Hà 5 nghìn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Minh hơn Lan 210 nghìn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\begin{cases}x+y+z=820\\x-2y=10\\-y+z=210\end{cases}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4818888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818888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Lan 150 nghìn;  Minh 360 nghìn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4. DÙNG MÁY TÍNH CẦM TAY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Chuyên đề 1 – Bài 1. Hệ phương trình bậc nhất ba ẩn         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MODE 5 → chọn 2 (hệ ba ẩn)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Nhập hệ số, ấn = để xem nghiệm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No-Solution: hệ vô nghiệm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Infinite Sol: vô số nghiệm</a:t>
            </a:r>
          </a:p>
        </p:txBody>
      </p:sp>
      <p:pic>
        <p:nvPicPr>
          <p:cNvPr id="7" name="Picture 6" descr="rId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993836"/>
            <a:ext cx="4389120" cy="164756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DỤ: BẤM MÁY HĐ4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Chuyên đề 1 – Bài 1. Hệ phương trình bậc nhất ba ẩn          13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4721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d>
                      <m:dPr>
                        <m:begChr m:val="{"/>
                        <m:sepChr m:val=""/>
                        <m:endChr m:val=""/>
                      </m:dPr>
                      <m:e>
                        <m:eqArr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−2x−3y+z=5</m:t>
                            </m:r>
                          </m:e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2x+y+2z=−3</m:t>
                            </m:r>
                          </m:e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−x+2y−3z=2</m:t>
                            </m:r>
                          </m:e>
                        </m:eqArr>
                      </m:e>
                    </m:d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4721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\begin{cases}-2x-3y+z=5\\2x+y+2z=-3\\-x+2y-3z=2\end{cases}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118104"/>
            <a:ext cx="8686800" cy="960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3118104"/>
                <a:ext cx="8321040" cy="9601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Nghiệm: </a:t>
                </a:r>
                <a14:m>
                  <m:oMath xmlns:m="http://schemas.openxmlformats.org/officeDocument/2006/math">
                    <m:d>
                      <m:dPr>
                        <m:sepChr m:val="−"/>
                      </m:dPr>
                      <m:e/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type m:val="bar"/>
                          </m:fPr>
                          <m:num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11</m:t>
                            </m:r>
                          </m:num>
                          <m:den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7</m:t>
                            </m:r>
                          </m:den>
                        </m:f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type m:val="bar"/>
                          </m:fPr>
                          <m:num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12</m:t>
                            </m:r>
                          </m:num>
                          <m:den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7</m:t>
                            </m:r>
                          </m:den>
                        </m:f>
                      </m:e>
                    </m:d>
                  </m:oMath>
                </a14:m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3118104"/>
                <a:ext cx="8321040" cy="9601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Nghiệm: </a:t>
                </a:r>
                <a:r>
                  <a:rPr lang="vi-VN"/>
                  <a:t>\left(-4;\ \frac{11}{7};\ \frac{12}{7}\right)</a:t>
                </a:r>
              </a:p>
            </p:txBody>
          </p:sp>
        </mc:Fallback>
      </mc:AlternateContent>
      <p:pic>
        <p:nvPicPr>
          <p:cNvPr id="9" name="Picture 8" descr="rI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6248" y="4215384"/>
            <a:ext cx="5389023" cy="200253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 2: LOÀI NGUY CẤP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Chuyên đề 1 – Bài 1. Hệ phương trình bậc nhất ba ẩn         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400 loài có nguy cơ tuyệt chủng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Thú, chim, cá chiếm 55%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Chim hơn cá 0,7%; cá hơn thú 1,5%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Thú 17,1%;  chim 19,3%;  cá 18,6%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TRẠM KIỂM CHỨNG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Chuyên đề 1 – Bài 1. Hệ phương trình bậc nhất ba ẩn         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Tìm bước sai trong lời giải AI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Lời giải 1: quên nhân vế phải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12y + 3z = 5 (đúng phải là 15)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Lời giải 2: 0z = 0 ⇒ “vô nghiệm”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13632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13632"/>
            <a:ext cx="8321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0z = 0: hệ có vô số nghiệm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Thử lại nghiệm, bấm máy kiểm chứng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NHIỆM VỤ VỀ NHÀ: PHỐI TRỘN NPK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Chuyên đề 1 – Bài 1. Hệ phương trình bậc nhất ba ẩn         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311810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Cần 78,5 kg N; 63,5 kg P</a:t>
            </a:r>
            <a:r>
              <a:rPr sz="2200" baseline="-25000">
                <a:solidFill>
                  <a:srgbClr val="1E293B"/>
                </a:solidFill>
                <a:latin typeface="Calibri"/>
              </a:rPr>
              <a:t>2</a:t>
            </a:r>
            <a:r>
              <a:rPr sz="2200">
                <a:solidFill>
                  <a:srgbClr val="1E293B"/>
                </a:solidFill>
                <a:latin typeface="Calibri"/>
              </a:rPr>
              <a:t>O</a:t>
            </a:r>
            <a:r>
              <a:rPr sz="2200" baseline="-25000">
                <a:solidFill>
                  <a:srgbClr val="1E293B"/>
                </a:solidFill>
                <a:latin typeface="Calibri"/>
              </a:rPr>
              <a:t>5</a:t>
            </a:r>
            <a:r>
              <a:rPr sz="2200">
                <a:solidFill>
                  <a:srgbClr val="1E293B"/>
                </a:solidFill>
                <a:latin typeface="Calibri"/>
              </a:rPr>
              <a:t>; 68 kg K</a:t>
            </a:r>
            <a:r>
              <a:rPr sz="2200" baseline="-25000">
                <a:solidFill>
                  <a:srgbClr val="1E293B"/>
                </a:solidFill>
                <a:latin typeface="Calibri"/>
              </a:rPr>
              <a:t>2</a:t>
            </a:r>
            <a:r>
              <a:rPr sz="2200">
                <a:solidFill>
                  <a:srgbClr val="1E293B"/>
                </a:solidFill>
                <a:latin typeface="Calibri"/>
              </a:rPr>
              <a:t>O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Dùng NPK 16-16-8, 20-20-15, 15-5-20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Lập hệ, giải Gauss, bấm máy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Đáp số gợi ý: 100; 200; 150 kg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Tự đặt bài toán, số liệu thật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Nộp bảng tính và Nhật ký AI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Chuyên đề 1 – Bài 1. Hệ phương trình bậc nhất ba ẩn          17</a:t>
            </a:r>
          </a:p>
        </p:txBody>
      </p:sp>
      <p:pic>
        <p:nvPicPr>
          <p:cNvPr id="6" name="Picture 5" descr="rId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2400" y="1417320"/>
            <a:ext cx="725672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Chuyên đề 1 – Bài 1. Hệ phương trình bậc nhất ba ẩn          18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4572000" cy="457200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CungCo_CD1_Bai1_Toan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691640"/>
            <a:ext cx="41148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720" y="1554480"/>
            <a:ext cx="60350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Quét mã QR bằng điện thoại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Nhập họ tên và lớp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7 câu – làm trong 7 phút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Nộp bài, xem lời giải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4754880"/>
            <a:ext cx="6035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1E40AF"/>
                </a:solidFill>
                <a:latin typeface="Calibri"/>
                <a:hlinkClick r:id="rId3"/>
              </a:rPr>
              <a:t>trangtu66.github.io/Taode_thi_online/cc_cd1bai1_t10.html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