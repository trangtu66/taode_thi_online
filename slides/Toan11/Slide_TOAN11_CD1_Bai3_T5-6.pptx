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d1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ĐỐI XỨNG TRỤC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6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đối xứng trục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trục đối xứng của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qua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Oy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đường đi ngắn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hình cân đối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SỰ CÂN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Nhà Rông có trục đối xứng?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Gấp theo trục: điểm nào trùng?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Diễn đạt sự cân đối bằng Toán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7039"/>
            <a:ext cx="4389120" cy="3641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ĐỐI XỨNG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 nhận d làm trục ⇔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  <a:r>
              <a:rPr sz="2400">
                <a:solidFill>
                  <a:srgbClr val="1E293B"/>
                </a:solidFill>
                <a:latin typeface="Calibri"/>
              </a:rPr>
              <a:t>(H) = 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Cầu Ponte Sisto và bóng dưới sông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 là trung trực của MM′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∈ d thì 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d</a:t>
            </a:r>
            <a:r>
              <a:rPr sz="2400" b="1">
                <a:solidFill>
                  <a:srgbClr val="991B1B"/>
                </a:solidFill>
                <a:latin typeface="Calibri"/>
              </a:rPr>
              <a:t>(M) = M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2306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1: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(A(1; 2)) = A′(1; −2)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3x − y − 1 = 0 ↦ 3x + 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M′(x; −y)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Oy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M′(−x; y)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3170"/>
            <a:ext cx="4389120" cy="45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⟂Δ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NN'\perp\Delta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:r>
                  <a:rPr lang="vi-VN"/>
                  <a:t>\vec{n}=(1;3)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N′(1; 8)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0474"/>
            <a:ext cx="4389120" cy="3734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đường thẳng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toàn khoảng cách: M′N′ = MN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06" y="4169664"/>
            <a:ext cx="4036708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(C): (x − 3)² + (y − 5)² = 36,   Δ: x + 2y − 3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A(3; 5) ↦ A′(−1; −3) qua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giữ nguyên R =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(C′): (x + 1)² + (y + 3)² =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ĐƯỜNG ĐI NGẮN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M ∈ Δ để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khác phía: M = AB ∩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cùng phía: lấy A′ =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Δ</a:t>
            </a:r>
            <a:r>
              <a:rPr sz="2400">
                <a:solidFill>
                  <a:srgbClr val="1E293B"/>
                </a:solidFill>
                <a:latin typeface="Calibri"/>
              </a:rPr>
              <a:t>(A)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MA + MB = MA′ + MB ≥ A′B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= A′B ∩ Δ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90249"/>
            <a:ext cx="4389120" cy="34547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1.6 – 1.9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1.6: đối xứng qua trung trực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1.7: trung trực của 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1.8: ABMN là hình thang cân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1.9: d: x − 2y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thay y bởi −y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chỉ dùng “trung điểm thuộc Δ”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: (x; y) ↦ (−x;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NN′ ⊥ Δ; đúng: N′(1; 8)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(x; y) ↦ (x; −y)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NHÀ RÔNG VÀ TRẠM BƠM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nửa mặt tiền nhà Rông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Reflect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tra bằng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Đặt trạm bơm: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 phí ống 25 000 đồng/m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tệp GeoGebra,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13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