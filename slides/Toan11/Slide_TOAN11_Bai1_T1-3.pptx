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hyperlink" Target="https://trangtu66.github.io/Taode_thi_online/cc_bai1_t11.html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28600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E40AF"/>
                </a:solidFill>
                <a:latin typeface="Arial"/>
              </a:rPr>
              <a:t>BÀI 1. GIÁ TRỊ LƯỢNG GIÁC CỦA GÓC LƯỢNG GIÁC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5156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800" b="1">
                <a:solidFill>
                  <a:srgbClr val="1E293B"/>
                </a:solidFill>
                <a:latin typeface="Calibri"/>
              </a:rPr>
              <a:t>Chương I. Hàm số lượng giác và phương trình lượng giác</a:t>
            </a:r>
          </a:p>
        </p:txBody>
      </p:sp>
      <p:sp>
        <p:nvSpPr>
          <p:cNvPr id="5" name="Rectangle 4"/>
          <p:cNvSpPr/>
          <p:nvPr/>
        </p:nvSpPr>
        <p:spPr>
          <a:xfrm>
            <a:off x="868680" y="4251960"/>
            <a:ext cx="2286000" cy="30000"/>
          </a:xfrm>
          <a:prstGeom prst="rect">
            <a:avLst/>
          </a:prstGeom>
          <a:solidFill>
            <a:srgbClr val="991B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Môn Toán – Lớp 11 (Kết nối tri thức với cuộc sống)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Tiết 1 – 3 theo PPCT (T1, T2, T3) · Năm học 2026 – 2027</a:t>
            </a:r>
          </a:p>
          <a:p>
            <a:pPr algn="l">
              <a:spcAft>
                <a:spcPts val="1000"/>
              </a:spcAft>
            </a:pPr>
            <a:r>
              <a:rPr sz="2200">
                <a:solidFill>
                  <a:srgbClr val="1E293B"/>
                </a:solidFill>
                <a:latin typeface="Calibri"/>
              </a:rPr>
              <a:t>GV soạn: Trương Tử Trang – Trường THPT Vĩnh Thạnh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685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Hiểu góc lượng giác, hệ thức Chasles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Đổi độ – rađian, tính độ dài cung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Biểu diễn góc trên đường tròn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Tính giá trị lượng giác của góc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Dùng các góc liên quan đặc biệt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Giải bài toán thực tiễn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KHỞI ĐỘNG: TRẠM VŨ TRỤ ISS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Trạm ISS cách mặt đất 400 km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Bán kính Trái Đất: 6 400 km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Được theo dõi trong góc 45° ở tâm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ISS đi được bao nhiêu km?</a:t>
            </a:r>
          </a:p>
        </p:txBody>
      </p:sp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4159" y="1463040"/>
            <a:ext cx="407408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1. GÓC LƯỢNG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Tia Om quay từ Ou đến Ov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Ngược chiều kim đồng hồ: chiều dương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Cùng chiều kim đồng hồ: chiều âm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sđ(Ou, Ov) = α° + k360°,  k ∈ ℤ</a:t>
            </a:r>
          </a:p>
        </p:txBody>
      </p:sp>
      <p:pic>
        <p:nvPicPr>
          <p:cNvPr id="9" name="Picture 8" descr="rId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853" y="4169664"/>
            <a:ext cx="8291814" cy="20482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Góc hình học uOv = 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sđ(Ou, Ov) = 60° + k360°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sđ(Ov, Ou) = −60° + k360°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1430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Hai góc cùng tia đầu, tia cuối</a:t>
            </a:r>
          </a:p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sai khác bội nguyên của 360°</a:t>
            </a:r>
          </a:p>
        </p:txBody>
      </p:sp>
      <p:pic>
        <p:nvPicPr>
          <p:cNvPr id="9" name="Picture 8" descr="rId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839191"/>
            <a:ext cx="4389120" cy="395685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HỆ THỨC CHASLES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155905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Hệ quả: sđ(Ou, Ov) = sđ(Ox, Ov) − sđ(Ox, Ou) + k360°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Ví dụ 2: sđ(Ox, Ou) = −270°, sđ(Ox, Ov) = 135°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200">
                <a:solidFill>
                  <a:srgbClr val="1E293B"/>
                </a:solidFill>
                <a:latin typeface="Calibri"/>
              </a:rPr>
              <a:t>⇒ sđ(Ou, Ov) = 405° + k360° = 45° + m360°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04971"/>
            <a:ext cx="8686800" cy="647699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204971"/>
            <a:ext cx="8321040" cy="64769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991B1B"/>
                </a:solidFill>
                <a:latin typeface="Calibri"/>
              </a:rPr>
              <a:t>sđ(Ou, Ov) + sđ(Ov, Ow) = sđ(Ou, Ow) + k360°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2. ĐƠN VỊ RAĐIAN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Cung dài bằng R: số đo 1 rad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60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225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Cung dài bằng R: số đo 1 rad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45^\circ=\frac{\pi}{4}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150^\circ=\frac{5\pi}{6}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\frac{\pi}{3}=60^\circ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\frac{5\pi}{4}=225^\circ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rad;   1 rad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e>
                        <m:d>
                          <m:dPr>
                            <m:sepChr m:val=""/>
                          </m:dPr>
                          <m:e>
                            <m:f>
                              <m:fPr>
                                <m:type m:val="bar"/>
                              </m:fPr>
                              <m:num>
                                <m:r>
                                  <a:rPr lang="vi-VN" sz="2400" b="1">
                                    <a:solidFill>
                                      <a:srgbClr val="991B1B"/>
                                    </a:solidFill>
                                    <a:latin typeface="Cambria Math" panose="02040503050406030204" pitchFamily="18" charset="0"/>
                                  </a:rPr>
                                  <m:t>180</m:t>
                                </m:r>
                              </m:num>
                              <m:den>
                                <m:r>
                                  <a:rPr lang="vi-VN" sz="2400" b="1">
                                    <a:solidFill>
                                      <a:srgbClr val="991B1B"/>
                                    </a:solidFill>
                                    <a:latin typeface="Cambria Math" panose="02040503050406030204" pitchFamily="18" charset="0"/>
                                  </a:rPr>
                                  <m:t>π</m:t>
                                </m:r>
                              </m:den>
                            </m:f>
                          </m:e>
                        </m:d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895344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1^\circ=\frac{\pi}{180}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rad;   1 rad </a:t>
                </a:r>
                <a:r>
                  <a:rPr lang="vi-VN"/>
                  <a:t>=\left(\frac{180}{\pi}\right)^\circ</a:t>
                </a:r>
              </a:p>
            </p:txBody>
          </p:sp>
        </mc:Fallback>
      </mc:AlternateContent>
      <p:pic>
        <p:nvPicPr>
          <p:cNvPr id="9" name="Picture 8" descr="rId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4343" y="1463040"/>
            <a:ext cx="3613713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BẢNG ĐỘ – RAĐIAN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1092708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  <a:gridCol w="10515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Độ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30°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45°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60°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90°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120°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135°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150°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FFFFFF"/>
                          </a:solidFill>
                          <a:latin typeface="Calibri"/>
                        </a:rPr>
                        <a:t>180°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200" b="1">
                          <a:solidFill>
                            <a:srgbClr val="1E293B"/>
                          </a:solidFill>
                          <a:latin typeface="Calibri"/>
                        </a:rPr>
                        <a:t>Rađian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π/6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π/4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π/3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π/2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2π/3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3π/4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5π/6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E293B"/>
                          </a:solidFill>
                          <a:latin typeface="Calibri"/>
                        </a:rPr>
                        <a:t>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ĐỘ DÀI CUNG TRÒN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9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R = 2 cm, cung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l=2·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(cm)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Ví dụ 4: R = 2 cm, cung </a:t>
                </a:r>
                <a:r>
                  <a:rPr lang="vi-VN"/>
                  <a:t>\frac{2\pi}{3}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l=2\cdot\frac{2\pi}{3}=\frac{4\pi}{3}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(cm)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l=Rα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 (α đo bằng rađian)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28415"/>
                <a:ext cx="8321040" cy="68580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l=R\alpha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  (α đo bằng rađian)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GIẢI BÀI TOÁN MỞ ĐẦU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R = 6 400 + 400 = 6 800 km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R = 6 400 + 400 = 6 800 km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45^\circ=\frac{\pi}{4}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054096"/>
            <a:ext cx="6400800" cy="9601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l=6800·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=1700π≈5341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km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054096"/>
                <a:ext cx="6035040" cy="9601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l=6800\cdot\frac{\pi}{4}=1700\pi\approx 5341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km</a:t>
                </a:r>
              </a:p>
            </p:txBody>
          </p:sp>
        </mc:Fallback>
      </mc:AlternateContent>
      <p:pic>
        <p:nvPicPr>
          <p:cNvPr id="9" name="Picture 8" descr="rId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4159" y="1463040"/>
            <a:ext cx="4074082" cy="47091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3. ĐƯỜNG TRÒN LƯỢNG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Tâm O, bán kính 1, có định hướng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Điểm gốc A(1; 0)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 biểu diễn α: sđ(OA, OM) = 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46704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Chiều dương: ngược chiều kim đồng hồ</a:t>
            </a:r>
          </a:p>
        </p:txBody>
      </p:sp>
      <p:pic>
        <p:nvPicPr>
          <p:cNvPr id="9" name="Picture 8" descr="rId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471531"/>
            <a:ext cx="4389120" cy="469217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GIÁ TRỊ LƯỢNG GIÁC CỦA GÓC 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6400800" cy="17007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M(x; y) biểu diễn góc α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−1 ≤ sin α ≤ 1;   −1 ≤ cos α ≤ 1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tan α xác định khi α ≠ π/2 + kπ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346704"/>
            <a:ext cx="6400800" cy="141732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cos α = x;   sin α = y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346704"/>
                <a:ext cx="6035040" cy="141732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cos α = x;   sin α = y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\alpha=\frac{\sin\ \alpha}{\cos\ \alpha}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;   </a:t>
                </a:r>
                <a:r>
                  <a:rPr lang="vi-VN"/>
                  <a:t>\cot\ \alpha=\frac{\cos\ \alpha}{\sin\ \alpha}</a:t>
                </a:r>
              </a:p>
            </p:txBody>
          </p:sp>
        </mc:Fallback>
      </mc:AlternateContent>
      <p:pic>
        <p:nvPicPr>
          <p:cNvPr id="9" name="Picture 8" descr="rId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2657853"/>
            <a:ext cx="4389120" cy="231953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DẤU CỦA GIÁ TRỊ LƯỢNG GIÁC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822960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146304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Góc phần tư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II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III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IV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cos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sin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cot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−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GIÁ TRỊ LƯỢNG GIÁC GÓC ĐẶC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463040"/>
          <a:ext cx="978408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554480"/>
                <a:gridCol w="1554480"/>
                <a:gridCol w="155448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α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π/6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π/4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π/3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FFFFFF"/>
                          </a:solidFill>
                          <a:latin typeface="Calibri"/>
                        </a:rPr>
                        <a:t>π/2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sin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√2/2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√3/2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√2/2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1/√3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KXĐ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400" b="1">
                          <a:solidFill>
                            <a:srgbClr val="1E293B"/>
                          </a:solidFill>
                          <a:latin typeface="Calibri"/>
                        </a:rPr>
                        <a:t>cot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KXĐ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√3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1/√3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400" b="0">
                          <a:solidFill>
                            <a:srgbClr val="1E293B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6: GÓC −π/3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rad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rad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6400800" cy="1682495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\left(−\frac{\pi}{3}\right)=\frac{1}{2}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\sin\ \left(−\frac{\pi}{3}\right)=−\frac{\sqrt{3}}{2}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\left(−\frac{\pi}{3}\right)=-\sqrt{3}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\cot\ \left(−\frac{\pi}{3}\right)=−\frac{1}{\sqrt{3}}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328415"/>
            <a:ext cx="6400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5"/>
            <a:ext cx="6035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M thuộc góc phần tư thứ IV</a:t>
            </a:r>
          </a:p>
        </p:txBody>
      </p:sp>
      <p:pic>
        <p:nvPicPr>
          <p:cNvPr id="9" name="Picture 8" descr="rId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563893"/>
            <a:ext cx="4389120" cy="450745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DÙNG MÁY TÍNH CẦM TAY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16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Chọn đơn vị: độ hoặc rađian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6: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7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≈0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2225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408176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Chọn đơn vị: độ hoặc rađian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Luyện tập 6: </a:t>
                </a:r>
                <a:r>
                  <a:rPr lang="vi-VN"/>
                  <a:t>\cos\ \frac{3\pi}{7}\approx 0{,}2225</a:t>
                </a:r>
              </a:p>
            </p:txBody>
          </p:sp>
        </mc:Fallback>
      </mc:AlternateContent>
      <p:pic>
        <p:nvPicPr>
          <p:cNvPr id="7" name="Picture 6" descr="rId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3301694"/>
            <a:ext cx="10698480" cy="266862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4. HỆ THỨC CƠ BẢN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508760"/>
            <a:ext cx="8686800" cy="26060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6060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cos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α=1</m:t>
                    </m:r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1+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cos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1+</m:t>
                    </m:r>
                    <m:sSup>
                      <m:e>
                        <m:r>
                          <m:rPr>
                            <m:sty m:val="p"/>
                          </m:rP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cot</m:t>
                        </m:r>
                      </m:e>
                      <m: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p>
                          <m:e>
                            <m:r>
                              <m:rPr>
                                <m:sty m:val="p"/>
                              </m:rP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e>
                          <m:sup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α</m:t>
                        </m:r>
                      </m:den>
                    </m:f>
                  </m:oMath>
                </a14:m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α·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α=1</m:t>
                    </m:r>
                  </m:oMath>
                </a14:m>
              </a:p>
            </p:txBody>
          </p:sp>
        </mc:Choice>
        <mc:Fallback>
          <p:sp>
            <p:nvSpPr>
              <p:cNvPr id="7" name="TextBox 6"/>
              <p:cNvSpPr txBox="1"/>
              <p:nvPr/>
            </p:nvSpPr>
            <p:spPr>
              <a:xfrm>
                <a:off x="914400" y="1508760"/>
                <a:ext cx="8321040" cy="26060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\sin^2\alpha+\cos^2\alpha=1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1+\tan^2\alpha=\frac{1}{\cos^2\alpha}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1+\cot^2\alpha=\frac{1}{\sin^2\alpha}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 </a:t>
                </a:r>
                <a:r>
                  <a:rPr lang="vi-VN"/>
                  <a:t>\tan\ \alpha\cdot\cot\ \alpha=1</a:t>
                </a:r>
              </a:p>
            </p:txBody>
          </p:sp>
        </mc:Fallback>
      </mc:AlternateContent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9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18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14:m>
                  <m:oMath xmlns:m="http://schemas.openxmlformats.org/officeDocument/2006/math"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90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&lt;α&lt;</m:t>
                    </m:r>
                    <m:sSup>
                      <m:e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180</m:t>
                        </m:r>
                      </m:e>
                      <m:sup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α&lt;0⇒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α=−</m:t>
                    </m:r>
                    <m:rad>
                      <m:radPr>
                        <m:degHide m:val="on"/>
                      </m:radPr>
                      <m:deg/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9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25</m:t>
                            </m:r>
                          </m:den>
                        </m:f>
                      </m:e>
                    </m:ra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cot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2374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\sin\ \alpha=\frac{3}{5}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,   </a:t>
                </a:r>
                <a:r>
                  <a:rPr lang="vi-VN"/>
                  <a:t>90^\circ&lt;\alpha&lt;180^\circ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\alpha&lt;0\Rightarrow\cos\ \alpha=-\sqrt{1-\frac{9}{25}}=−\frac{4}{5}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\tan\ \alpha=−\frac{3}{4}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\cot\ \alpha=−\frac{4}{3}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69663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69663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Xét dấu theo góc phần tư trước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GÓC LIÊN QUAN ĐẶC BIỆT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400" b="1">
                <a:solidFill>
                  <a:srgbClr val="1E40AF"/>
                </a:solidFill>
                <a:latin typeface="Calibri"/>
              </a:rPr>
              <a:t>Mẹo: cos đối, sin bù, phụ chéo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2103120"/>
          <a:ext cx="1069848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2651760"/>
                <a:gridCol w="2743200"/>
                <a:gridCol w="2651760"/>
              </a:tblGrid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Đối nhau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Bù nhau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Phụ nhau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FFFFFF"/>
                          </a:solidFill>
                          <a:latin typeface="Calibri"/>
                        </a:rPr>
                        <a:t>Hơn kém π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E293B"/>
                          </a:solidFill>
                          <a:latin typeface="Calibri"/>
                        </a:rPr>
                        <a:t>cos(−α) = cos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sin(π − α) = sin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sin(π/2 − α) = cos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sin(π + α) = −sin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E293B"/>
                          </a:solidFill>
                          <a:latin typeface="Calibri"/>
                        </a:rPr>
                        <a:t>sin(−α) = −sin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cos(π − α) = −cos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cos(π/2 − α) = sin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cos(π + α) = −cos 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/>
                      <a:r>
                        <a:rPr sz="2000" b="1">
                          <a:solidFill>
                            <a:srgbClr val="1E293B"/>
                          </a:solidFill>
                          <a:latin typeface="Calibri"/>
                        </a:rPr>
                        <a:t>tan(−α) = −tan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tan(π − α) = −tan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tan(π/2 − α) = cot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E293B"/>
                          </a:solidFill>
                          <a:latin typeface="Calibri"/>
                        </a:rPr>
                        <a:t>tan(π + α) = tan α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VÍ DỤ 10 – LUYỆN TẬP 8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20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d>
                      <m:dPr>
                        <m:sepChr m:val=""/>
                      </m:dPr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type m:val="bar"/>
                          </m:fPr>
                          <m:num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11π</m:t>
                            </m:r>
                          </m:num>
                          <m:den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den>
                        </m:f>
                      </m:e>
                    </m:d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cot(−675°) = cot(45° − 2·360°)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(−</m:t>
                    </m:r>
                    <m:sSup>
                      <m:e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675</m:t>
                        </m:r>
                      </m:e>
                      <m:sup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∘</m:t>
                        </m:r>
                      </m:sup>
                    </m:sSup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)=</m:t>
                    </m:r>
                    <m:f>
                      <m:fPr>
                        <m:type m:val="bar"/>
                      </m:fPr>
                      <m:num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tan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15π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24942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\cos\ \left(−\frac{11\pi}{4}\right)=\cos\ \frac{3\pi}{4}=−\frac{\sqrt{2}}{2}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cot(−675°) = cot(45° − 2·360°) = 1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lang="vi-VN"/>
                  <a:t>\sin\ (-675^\circ)=\frac{\sqrt{2}}{2}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;   </a:t>
                </a:r>
                <a:r>
                  <a:rPr lang="vi-VN"/>
                  <a:t>\tan\ \frac{15\pi}{4}=-1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895344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895344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Bỏ bội của 2π (hoặc 360°) trước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TRẠM KIỂM CHỨNG AI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α=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0">
                                <a:solidFill>
                                  <a:srgbClr val="1E293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14:m>
                  <m:oMath xmlns:m="http://schemas.openxmlformats.org/officeDocument/2006/math">
                    <m:f>
                      <m:fPr>
                        <m:type m:val="bar"/>
                      </m:fPr>
                      <m:num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π</m:t>
                        </m:r>
                      </m:num>
                      <m:den>
                        <m:r>
                          <a:rPr lang="vi-VN" sz="2400" b="0">
                            <a:solidFill>
                              <a:srgbClr val="1E293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vi-VN" sz="2400" b="0">
                        <a:solidFill>
                          <a:srgbClr val="1E293B"/>
                        </a:solidFill>
                        <a:latin typeface="Cambria Math" panose="02040503050406030204" pitchFamily="18" charset="0"/>
                      </a:rPr>
                      <m:t>&lt;α&lt;π</m:t>
                    </m:r>
                  </m:oMath>
                </a14:m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l = 30 · 150 = 4 500 cm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1975104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Tìm lỗi trong lời giải AI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</a:t>
                </a:r>
                <a:r>
                  <a:rPr lang="vi-VN"/>
                  <a:t>\cos\ \alpha=\frac{2\sqrt{2}}{3}</a:t>
                </a:r>
                <a:r>
                  <a:rPr sz="2400">
                    <a:solidFill>
                      <a:srgbClr val="1E293B"/>
                    </a:solidFill>
                    <a:latin typeface="Calibri"/>
                  </a:rPr>
                  <a:t> khi </a:t>
                </a:r>
                <a:r>
                  <a:rPr lang="vi-VN"/>
                  <a:t>\frac{\pi}{2}&lt;\alpha&lt;\pi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AI: l = 30 · 150 = 4 500 cm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3621024"/>
            <a:ext cx="8686800" cy="169164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6916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cos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α=−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a:rPr lang="vi-VN" sz="2400" b="1">
                                <a:solidFill>
                                  <a:srgbClr val="991B1B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rad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(góc phần tư II)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Đổi rađian: 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l=30·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5π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991B1B"/>
                            </a:solidFill>
                            <a:latin typeface="Cambria Math" panose="02040503050406030204" pitchFamily="18" charset="0"/>
                          </a:rPr>
                          <m:t>6</m:t>
                        </m:r>
                      </m:den>
                    </m:f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≈78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vi-VN" sz="2400" b="1">
                        <a:solidFill>
                          <a:srgbClr val="991B1B"/>
                        </a:solidFill>
                        <a:latin typeface="Cambria Math" panose="02040503050406030204" pitchFamily="18" charset="0"/>
                      </a:rPr>
                      <m:t>54</m:t>
                    </m:r>
                  </m:oMath>
                </a14:m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</a:t>
                </a:r>
              </a:p>
            </p:txBody>
          </p:sp>
        </mc:Choice>
        <mc:Fallback>
          <p:sp>
            <p:nvSpPr>
              <p:cNvPr id="8" name="TextBox 7"/>
              <p:cNvSpPr txBox="1"/>
              <p:nvPr/>
            </p:nvSpPr>
            <p:spPr>
              <a:xfrm>
                <a:off x="914400" y="3621024"/>
                <a:ext cx="8321040" cy="1691640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Đúng: </a:t>
                </a:r>
                <a:r>
                  <a:rPr lang="vi-VN"/>
                  <a:t>\cos\ \alpha=−\frac{2\sqrt{2}}{3}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(góc phần tư II)</a:t>
                </a:r>
              </a:p>
              <a:p>
                <a:pPr algn="l">
                  <a:spcAft>
                    <a:spcPts val="400"/>
                  </a:spcAft>
                </a:pP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Đổi rađian: </a:t>
                </a:r>
                <a:r>
                  <a:rPr lang="vi-VN"/>
                  <a:t>l=30\cdot\frac{5\pi}{6}\approx 78{,}54</a:t>
                </a:r>
                <a:r>
                  <a:rPr sz="2400" b="1">
                    <a:solidFill>
                      <a:srgbClr val="991B1B"/>
                    </a:solidFill>
                    <a:latin typeface="Calibri"/>
                  </a:rPr>
                  <a:t> cm</a:t>
                </a:r>
              </a:p>
            </p:txBody>
          </p:sp>
        </mc:Fallback>
      </mc:AlternateContent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VẬN DỤNG: HUYẾT ÁP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14:m>
                  <m:oMath xmlns:m="http://schemas.openxmlformats.org/officeDocument/2006/math">
                    <m: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B(t)=80+7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sin</m:t>
                    </m:r>
                    <m:r>
                      <m:rPr>
                        <m:sty m:val="p"/>
                      </m:rPr>
                      <a:rPr lang="vi-VN" sz="2400" b="1">
                        <a:solidFill>
                          <a:srgbClr val="1E40AF"/>
                        </a:solidFill>
                        <a:latin typeface="Cambria Math" panose="02040503050406030204" pitchFamily="18" charset="0"/>
                      </a:rPr>
                      <m:t> </m:t>
                    </m:r>
                    <m:f>
                      <m:fPr>
                        <m:type m:val="bar"/>
                      </m:fPr>
                      <m:num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πt</m:t>
                        </m:r>
                      </m:num>
                      <m:den>
                        <m:r>
                          <a:rPr lang="vi-VN" sz="2400" b="1">
                            <a:solidFill>
                              <a:srgbClr val="1E40AF"/>
                            </a:solidFill>
                            <a:latin typeface="Cambria Math" panose="02040503050406030204" pitchFamily="18" charset="0"/>
                          </a:rPr>
                          <m:t>12</m:t>
                        </m:r>
                      </m:den>
                    </m:f>
                  </m:oMath>
                </a14:m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(mmHg)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6 giờ sáng: B(6) = 87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12 giờ trưa: B(12) = 80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8 giờ tối: B(20) ≈ 73,9</a:t>
                </a:r>
              </a:p>
            </p:txBody>
          </p:sp>
        </mc:Choice>
        <mc:Fallback>
          <p:sp>
            <p:nvSpPr>
              <p:cNvPr id="6" name="TextBox 5"/>
              <p:cNvSpPr txBox="1"/>
              <p:nvPr/>
            </p:nvSpPr>
            <p:spPr>
              <a:xfrm>
                <a:off x="731520" y="1508760"/>
                <a:ext cx="10789920" cy="2542032"/>
              </a:xfrm>
              <a:prstGeom prst="rect">
                <a:avLst/>
              </a:prstGeom>
              <a:noFill/>
            </p:spPr>
            <p:txBody>
              <a:bodyPr wrap="square" anchor="t">
                <a:spAutoFit/>
              </a:bodyPr>
              <a:lstStyle/>
              <a:p>
                <a:pPr algn="l">
                  <a:spcAft>
                    <a:spcPts val="1000"/>
                  </a:spcAft>
                </a:pP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 </a:t>
                </a:r>
                <a:r>
                  <a:rPr lang="vi-VN"/>
                  <a:t>B(t)=80+7\sin\ \frac{\pi t}{12}</a:t>
                </a:r>
                <a:r>
                  <a:rPr sz="2400" b="1">
                    <a:solidFill>
                      <a:srgbClr val="1E40AF"/>
                    </a:solidFill>
                    <a:latin typeface="Calibri"/>
                  </a:rPr>
                  <a:t> (mmHg)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6 giờ sáng: B(6) = 87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12 giờ trưa: B(12) = 80</a:t>
                </a:r>
              </a:p>
              <a:p>
                <a:pPr algn="l" marL="365760" indent="-365760">
                  <a:spcAft>
                    <a:spcPts val="1000"/>
                  </a:spcAft>
                  <a:buClr>
                    <a:srgbClr val="1E40AF"/>
                  </a:buClr>
                  <a:buFont typeface="Arial"/>
                  <a:buChar char="•"/>
                </a:pPr>
                <a:r>
                  <a:rPr sz="2400">
                    <a:solidFill>
                      <a:srgbClr val="1E293B"/>
                    </a:solidFill>
                    <a:latin typeface="Calibri"/>
                  </a:rPr>
                  <a:t>8 giờ tối: B(20) ≈ 73,9</a:t>
                </a:r>
              </a:p>
            </p:txBody>
          </p:sp>
        </mc:Fallback>
      </mc:AlternateContent>
      <p:sp>
        <p:nvSpPr>
          <p:cNvPr id="7" name="Rounded Rectangle 6"/>
          <p:cNvSpPr/>
          <p:nvPr/>
        </p:nvSpPr>
        <p:spPr>
          <a:xfrm>
            <a:off x="731520" y="4187951"/>
            <a:ext cx="8686800" cy="685800"/>
          </a:xfrm>
          <a:prstGeom prst="roundRect">
            <a:avLst>
              <a:gd name="adj" fmla="val 8000"/>
            </a:avLst>
          </a:prstGeom>
          <a:solidFill>
            <a:srgbClr val="FEF2F2"/>
          </a:solidFill>
          <a:ln w="19050">
            <a:solidFill>
              <a:srgbClr val="991B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87951"/>
            <a:ext cx="8321040" cy="685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991B1B"/>
                </a:solidFill>
                <a:latin typeface="Calibri"/>
              </a:rPr>
              <a:t>Huyết áp dao động quanh 80 mmHg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NHIỆM VỤ NHÓM: VẬT QUAY QUANH TA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789920" cy="34015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Chọn một vật quay ở nhà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Đo bán kính, đếm số vòng quay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góc quay trong 1 giây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Tính quãng đường trong 1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Vẽ minh họa bằng GeoGebra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400">
                <a:solidFill>
                  <a:srgbClr val="1E293B"/>
                </a:solidFill>
                <a:latin typeface="Calibri"/>
              </a:rPr>
              <a:t>Nộp kèm Nhật ký sử dụng AI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SƠ ĐỒ TƯ DUY BÀI HỌC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24</a:t>
            </a:r>
          </a:p>
        </p:txBody>
      </p:sp>
      <p:pic>
        <p:nvPicPr>
          <p:cNvPr id="6" name="Picture 5" descr="rId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2400" y="1417320"/>
            <a:ext cx="725672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384048"/>
            <a:ext cx="109728" cy="658368"/>
          </a:xfrm>
          <a:prstGeom prst="rect">
            <a:avLst/>
          </a:prstGeom>
          <a:solidFill>
            <a:srgbClr val="1E40A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972800" cy="86868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r>
              <a:rPr sz="3600" b="1">
                <a:solidFill>
                  <a:srgbClr val="1E40A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07008"/>
            <a:ext cx="11274552" cy="22000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74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64748B"/>
                </a:solidFill>
                <a:latin typeface="Calibri"/>
              </a:rPr>
              <a:t>Toán 11 · Bài 1. Giá trị lượng giác của góc lượng giác          25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463040"/>
            <a:ext cx="4572000" cy="4572000"/>
          </a:xfrm>
          <a:prstGeom prst="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QR_CungCo_Bai1_Toan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0120" y="1691640"/>
            <a:ext cx="4114800" cy="4114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60720" y="1554480"/>
            <a:ext cx="603504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Quét mã QR bằng điện thoại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Nhập họ tên và lớp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7 câu – làm trong 7 phút</a:t>
            </a:r>
          </a:p>
          <a:p>
            <a:pPr algn="l" marL="365760" indent="-365760">
              <a:spcAft>
                <a:spcPts val="1000"/>
              </a:spcAft>
              <a:buClr>
                <a:srgbClr val="1E40AF"/>
              </a:buClr>
              <a:buFont typeface="Arial"/>
              <a:buChar char="•"/>
            </a:pPr>
            <a:r>
              <a:rPr sz="2600">
                <a:solidFill>
                  <a:srgbClr val="1E293B"/>
                </a:solidFill>
                <a:latin typeface="Calibri"/>
              </a:rPr>
              <a:t>Nộp bài, xem lời giải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4754880"/>
            <a:ext cx="603504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1E40AF"/>
                </a:solidFill>
                <a:latin typeface="Calibri"/>
                <a:hlinkClick r:id="rId3"/>
              </a:rPr>
              <a:t>trangtu66.github.io/Taode_thi_online/cc_bai1_t11.html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