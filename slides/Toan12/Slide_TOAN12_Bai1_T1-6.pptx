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hyperlink" Target="https://trangtu66.github.io/Taode_thi_online/cc_bai1_t12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1. TÍNH ĐƠN ĐIỆU VÀ CỰC TRỊ CỦA HÀM SỐ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I. Ứng dụng đạo hàm để khảo sát và vẽ đồ thị của hàm số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519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12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 – 6 theo PPCT (T1 – T6)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Trương Tử Trang – Trường THPT Vĩnh Thạnh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Hiểu đồng biến, nghịch biến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Dùng dấu đạo hàm xét đơn điệu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Lập bảng biến thiên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cực trị của hàm số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Đọc cực trị từ đồ thị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bài toán chuyển động, dân số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CHẤT ĐIỂM CHUYỂN ĐỘNG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Vị trí chất điểm: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s(t)=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−9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+15t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nào đi sang phải?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nào đi sang trái?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Vị trí chất điểm: </a:t>
                </a:r>
                <a:r>
                  <a:rPr lang="vi-VN"/>
                  <a:t>s(t)=t^3−9t^2+15t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nào đi sang phải?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nào đi sang trái?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Cần biết khi nào s(t) tăng, giảm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197311"/>
            <a:ext cx="10698480" cy="19929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TÍNH ĐƠN ĐIỆU CỦA HÀM SỐ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Đồng biến: đồ thị đi lên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Nghịch biến: đồ thị đi xuống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Đồng biến: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⇒f(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)&lt;f(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Nghịch biến: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⇒f(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)&gt;f(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Đồng biến: </a:t>
                </a:r>
                <a:r>
                  <a:rPr lang="vi-VN"/>
                  <a:t>x_1&lt;x_2\Rightarrow f(x_1)&lt;f(x_2)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Nghịch biến: </a:t>
                </a:r>
                <a:r>
                  <a:rPr lang="vi-VN"/>
                  <a:t>x_1&lt;x_2\Rightarrow f(x_1)&gt;f(x_2)</a:t>
                </a:r>
              </a:p>
            </p:txBody>
          </p:sp>
        </mc:Fallback>
      </mc:AlternateContent>
      <p:pic>
        <p:nvPicPr>
          <p:cNvPr id="9" name="Picture 8" descr="r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510" y="4059936"/>
            <a:ext cx="8250500" cy="21579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−3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 (Hình 1.5)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Đồng biến: (−∞; 0) và (2; +∞)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Nghịch biến: (0; 2)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y=x^3−3x^2+2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 (Hình 1.5)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Đồng biến: (−∞; 0) và (2; +∞)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Nghịch biến: (0; 2)</a:t>
                </a:r>
              </a:p>
            </p:txBody>
          </p:sp>
        </mc:Fallback>
      </mc:AlternateContent>
      <p:pic>
        <p:nvPicPr>
          <p:cNvPr id="7" name="Picture 6" descr="rI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806620"/>
            <a:ext cx="4389120" cy="402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ĐƠN ĐIỆU VÀ DẤU CỦA ĐẠO HÀM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(x)=0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tại hữu hạn điểm: vẫn đúng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(x)=0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K ⇒ f không đổi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2: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−4x+2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=2x−4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f'(x)=0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tại hữu hạn điểm: vẫn đúng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f'(x)=0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K ⇒ f không đổi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2: </a:t>
                </a:r>
                <a:r>
                  <a:rPr lang="vi-VN"/>
                  <a:t>y=x^2−4x+2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y'=2x−4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(x)&gt;0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trên K ⇒ f đồng biến trên K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(x)&lt;0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trên K ⇒ f nghịch biến trên K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f'(x)&gt;0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trên K ⇒ f đồng biến trên K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f'(x)&lt;0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trên K ⇒ f nghịch biến trên K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CÁC BƯỚC XÉT TÍNH ĐƠN ĐIỆU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B1. Tìm tập xác định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B2. Tính f′(x); tìm điểm f′ = 0 hoặc không tồn tại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B3. Lập bảng biến thiên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B4. Kết luận khoảng đồng biến, nghịch biến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4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−2x+5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  D = ℝ \ {1}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−2x−3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=0⇔x=−1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x=3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y=\frac{x^2−2x+5}{x−1}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  D = ℝ \ {1}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y'=\frac{x^2−2x−3}{(x−1)^2}=0\Leftrightarrow x=−1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x=3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28415"/>
            <a:ext cx="8686800" cy="647699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28415"/>
            <a:ext cx="8321040" cy="6476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Đồng biến: (−∞; −1), (3; +∞);  nghịch biến: (−1; 1), (1; 3)</a:t>
            </a:r>
          </a:p>
        </p:txBody>
      </p:sp>
      <p:pic>
        <p:nvPicPr>
          <p:cNvPr id="9" name="Picture 8" descr="rId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735" y="4113274"/>
            <a:ext cx="8818049" cy="21046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BÀI TOÁN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v(t)=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(t)=3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−18t+15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v(t) = 0 ⇔ t = 1 hoặc t = 5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v(t)=s'(t)=3t^2−18t+15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v(t) = 0 ⇔ t = 1 hoặc t = 5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8686800" cy="647699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476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Sang phải: 0 &lt; t &lt; 1 và t &gt; 5;  sang trái: 1 &lt; t &lt; 5</a:t>
            </a:r>
          </a:p>
        </p:txBody>
      </p:sp>
      <p:pic>
        <p:nvPicPr>
          <p:cNvPr id="9" name="Picture 8" descr="rId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234" y="3564635"/>
            <a:ext cx="8967051" cy="26532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4. CỰC TRỊ CỦA HÀM SỐ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Kí hiệu: y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CĐ</a:t>
            </a:r>
            <a:r>
              <a:rPr sz="2400">
                <a:solidFill>
                  <a:srgbClr val="1E293B"/>
                </a:solidFill>
                <a:latin typeface="Calibri"/>
              </a:rPr>
              <a:t>, y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CT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 5: CĐ tại x = 0; CT tại x = ±1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6035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f(x) &lt; f(x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  <a:r>
              <a:rPr sz="2400" b="1">
                <a:solidFill>
                  <a:srgbClr val="991B1B"/>
                </a:solidFill>
                <a:latin typeface="Calibri"/>
              </a:rPr>
              <a:t>) gần x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  <a:r>
              <a:rPr sz="2400" b="1">
                <a:solidFill>
                  <a:srgbClr val="991B1B"/>
                </a:solidFill>
                <a:latin typeface="Calibri"/>
              </a:rPr>
              <a:t>: cực đại tại x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f(x) &gt; f(x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  <a:r>
              <a:rPr sz="2400" b="1">
                <a:solidFill>
                  <a:srgbClr val="991B1B"/>
                </a:solidFill>
                <a:latin typeface="Calibri"/>
              </a:rPr>
              <a:t>) gần x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  <a:r>
              <a:rPr sz="2400" b="1">
                <a:solidFill>
                  <a:srgbClr val="991B1B"/>
                </a:solidFill>
                <a:latin typeface="Calibri"/>
              </a:rPr>
              <a:t>: cực tiểu tại x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</a:p>
        </p:txBody>
      </p:sp>
      <p:pic>
        <p:nvPicPr>
          <p:cNvPr id="9" name="Picture 8" descr="rId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7634" y="1463040"/>
            <a:ext cx="4207132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ĐỊNH LÍ VỀ CỰC TRỊ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chưa đủ: xét đổi dấu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dụ: y = x³, x = 0 không là cực trị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f'(x_0)=0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chưa đủ: xét đổi dấu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dụ: y = x³, x = 0 không là cực trị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f′ đổi dấu − sang + qua x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  <a:r>
              <a:rPr sz="2400" b="1">
                <a:solidFill>
                  <a:srgbClr val="991B1B"/>
                </a:solidFill>
                <a:latin typeface="Calibri"/>
              </a:rPr>
              <a:t>: cực tiểu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f′ đổi dấu + sang − qua x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  <a:r>
              <a:rPr sz="2400" b="1">
                <a:solidFill>
                  <a:srgbClr val="991B1B"/>
                </a:solidFill>
                <a:latin typeface="Calibri"/>
              </a:rPr>
              <a:t>: cực đại</a:t>
            </a:r>
          </a:p>
        </p:txBody>
      </p:sp>
      <p:pic>
        <p:nvPicPr>
          <p:cNvPr id="9" name="Picture 8" descr="rId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560" y="4059936"/>
            <a:ext cx="4464400" cy="21579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CÁC BƯỚC TÌM CỰC TRỊ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B1. Tìm tập xác định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B2. Tính f′(x), tìm điểm f′ = 0 hoặc không tồn tại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B3. Lập bảng biến thiên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B4. Suy ra các cực trị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13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−6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+9x+30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=3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−12x+9=0⇔x=1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x=3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y=x^3−6x^2+9x+30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y'=3x^2−12x+9=0\Leftrightarrow x=1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x=3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CĐ tại x = 1: y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CĐ</a:t>
            </a:r>
            <a:r>
              <a:rPr sz="2400" b="1">
                <a:solidFill>
                  <a:srgbClr val="991B1B"/>
                </a:solidFill>
                <a:latin typeface="Calibri"/>
              </a:rPr>
              <a:t> = 34;   CT tại x = 3: y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CT</a:t>
            </a:r>
            <a:r>
              <a:rPr sz="2400" b="1">
                <a:solidFill>
                  <a:srgbClr val="991B1B"/>
                </a:solidFill>
                <a:latin typeface="Calibri"/>
              </a:rPr>
              <a:t> = 30</a:t>
            </a:r>
          </a:p>
        </p:txBody>
      </p:sp>
      <p:pic>
        <p:nvPicPr>
          <p:cNvPr id="9" name="Picture 8" descr="rId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618" y="3602736"/>
            <a:ext cx="8838284" cy="26151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7 – VÍ DỤ 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−2x+9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CĐ tại x = −1 (y = −4), CT tại x = 5 (y = 8)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y=\frac{x^2−2x+9}{x−2}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CĐ tại x = −1 (y = −4), CT tại x = 5 (y = 8)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y=\frac{x+1}{x−1}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 </a:t>
                </a:r>
                <a:r>
                  <a:rPr lang="vi-VN"/>
                  <a:t>y'=\frac{−2}{(x−1)^2}&lt;0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28415"/>
            <a:ext cx="8686800" cy="9601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28415"/>
                <a:ext cx="8321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Hàm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ax+b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cx+d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không có cực trị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28415"/>
                <a:ext cx="8321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Hàm </a:t>
                </a:r>
                <a:r>
                  <a:rPr lang="vi-VN"/>
                  <a:t>y=\frac{ax+b}{cx+d}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không có cực trị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15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−3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CĐ tại x = 0; CT tại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x=±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CT tại x = −5 (y = 12); CĐ tại x = 1 (y = 0)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y=x^4−3x^2+1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CĐ tại x = 0; CT tại </a:t>
                </a:r>
                <a:r>
                  <a:rPr lang="vi-VN"/>
                  <a:t>x=\pm\frac{\sqrt{6}}{2}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CT tại x = −5 (y = 12); CĐ tại x = 1 (y = 0)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05409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5409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y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CT</a:t>
            </a:r>
            <a:r>
              <a:rPr sz="2400" b="1">
                <a:solidFill>
                  <a:srgbClr val="991B1B"/>
                </a:solidFill>
                <a:latin typeface="Calibri"/>
              </a:rPr>
              <a:t> có thể lớn hơn y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CĐ</a:t>
            </a:r>
          </a:p>
        </p:txBody>
      </p:sp>
      <p:pic>
        <p:nvPicPr>
          <p:cNvPr id="9" name="Picture 8" descr="rId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882" y="3877056"/>
            <a:ext cx="9807755" cy="23408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Tìm lỗi trong lời giải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CĐ tại x = 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nghịch biến trên (−∞; 1) ∪ (1; +∞)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Tìm lỗi trong lời giải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:r>
                  <a:rPr lang="vi-VN"/>
                  <a:t>y=x^4−2x^3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CĐ tại x = 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nghịch biến trên (−∞; 1) ∪ (1; +∞)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y′ không đổi dấu qua 0: không cực trị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Chỉ nghịch biến trên từng khoảng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VẬT NÉM LÊN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17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h(t)=2+24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5t−4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h′(t) = 24,5 − 9,8t = 0 ⇔ t = 2,5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h(t)=2+24{,}5t−4{,}9t^2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h′(t) = 24,5 − 9,8t = 0 ⇔ t = 2,5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Cao nhất tại t = 2,5 s: h = 32,625 m</a:t>
            </a:r>
          </a:p>
        </p:txBody>
      </p:sp>
      <p:pic>
        <p:nvPicPr>
          <p:cNvPr id="9" name="Picture 8" descr="rId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026" y="3602736"/>
            <a:ext cx="6719467" cy="261518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Đề 1: dân số thị trấn N(t)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Đề 2: doanh số logistic f(t)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Đề 3: tự đề xuất ở địa phương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Giải bằng đạo hàm, vẽ Desmos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Nộp poster/slide, Nhật ký AI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19</a:t>
            </a:r>
          </a:p>
        </p:txBody>
      </p:sp>
      <p:pic>
        <p:nvPicPr>
          <p:cNvPr id="6" name="Picture 5" descr="rId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1_Toan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trangtu66.github.io/Taode_thi_online/cc_bai1_t12.html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