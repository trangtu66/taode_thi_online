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trangtu66.github.io/Taode_thi_online/cc_bai4_t12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4. KHẢO SÁT VÀ VẼ ĐỒ THỊ HÀM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Ứng dụng đạo hàm để khảo sát và vẽ đồ thị của hàm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12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14 – 18 theo PPCT (T14 – T18)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950208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Nắm sơ đồ khảo sát hàm số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hàm bậc ba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hàm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ax+b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cx+d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hàm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+bx+c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px+q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Nhận biết tâm, trục đối xứng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Giải thích hiện tượng thực tiễn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950208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Nắm sơ đồ khảo sát hàm số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hàm bậc ba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hàm </a:t>
                </a:r>
                <a:r>
                  <a:rPr lang="vi-VN"/>
                  <a:t>y=\frac{ax+b}{cx+d}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hàm </a:t>
                </a:r>
                <a:r>
                  <a:rPr lang="vi-VN"/>
                  <a:t>y=\frac{ax^2+bx+c}{px+q}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Nhận biết tâm, trục đối xứng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Giải thích hiện tượng thực tiễn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CHI PHÍ TRUNG BÌNH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Chi phí trung bình: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2x+45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Vì sao chi phí giảm theo x?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Vì sao luôn lớn hơn 2 triệu?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Chi phí trung bình: </a:t>
                </a:r>
                <a:r>
                  <a:rPr lang="vi-VN"/>
                  <a:t>f(x)=\frac{2x+45}{x}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Vì sao chi phí giảm theo x?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Vì sao luôn lớn hơn 2 triệu?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2102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Cần quy trình khảo sát đầy đủ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08274"/>
            <a:ext cx="4389120" cy="38186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SƠ ĐỒ KHẢO SÁT HÀM SỐ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1. Tìm tập xác định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2. Tính y′, xét dấu, tìm cực trị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Tìm giới hạn, tiệm cận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Lập bảng biến thiên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3. Vẽ đồ thị: giao trục, đối xứng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HĐ1: y = X² − 4X + 3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y′ = 2x − 4 = 0 ⇔ x = 2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Nghịch biến (−∞; 2), đồng biến (2; +∞)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Cực tiểu tại x = 2: y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CT</a:t>
            </a:r>
            <a:r>
              <a:rPr sz="2400">
                <a:solidFill>
                  <a:srgbClr val="1E293B"/>
                </a:solidFill>
                <a:latin typeface="Calibri"/>
              </a:rPr>
              <a:t> = −1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Parabol nhận x = 2 làm trục đối xứng</a:t>
            </a:r>
          </a:p>
        </p:txBody>
      </p:sp>
      <p:pic>
        <p:nvPicPr>
          <p:cNvPr id="9" name="Picture 8" descr="rI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636421"/>
            <a:ext cx="4389120" cy="43623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HÀM BẬC BA – VÍ DỤ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07873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sSup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+3</m:t>
                    </m:r>
                    <m:sSup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−4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y′ = −3x² + 6x = 0 ⇔ x = 0 hoặc x = 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CT tại x = 0: y = −4;  CĐ tại x = 2: y = 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Giao trục: (0; −4), (−1; 0), (2; 0)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07873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y=−x^3+3x^2−4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y′ = −3x² + 6x = 0 ⇔ x = 0 hoặc x = 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CT tại x = 0: y = −4;  CĐ tại x = 2: y = 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Giao trục: (0; −4), (−1; 0), (2; 0)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72465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24656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Tâm đối xứng I(1; −2)</a:t>
            </a:r>
          </a:p>
        </p:txBody>
      </p:sp>
      <p:pic>
        <p:nvPicPr>
          <p:cNvPr id="9" name="Picture 8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766" y="1463040"/>
            <a:ext cx="3948867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GHI NHỚ: HÀM SỐ BẬC BA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&gt; 0: nhánh phải đi lên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y′ = 0 có 2 nghiệm: có 2 cực trị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y′ không đổi dấu: không có cực trị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Tâm đối xứng: hoành độ thỏa y″ = 0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Hàm bậc ba: không có tiệm cận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 – BÀI 1.21A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07873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y=−2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−5x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y′ &lt; 0, nghịch biến trên 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Tâm đối xứng I(1/2; −2)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+3x+1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CT (−1; −1), CĐ (1; 3)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Tâm đối xứng I(0; 1)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07873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y=−2x^3+3x^2−5x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y′ &lt; 0, nghịch biến trên 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Tâm đối xứng I(1/2; −2)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y=−x^3+3x+1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CT (−1; −1), CĐ (1; 3)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Tâm đối xứng I(0; 1)</a:t>
                </a:r>
              </a:p>
            </p:txBody>
          </p:sp>
        </mc:Fallback>
      </mc:AlternateContent>
      <p:pic>
        <p:nvPicPr>
          <p:cNvPr id="7" name="Picture 6" descr="rId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628912"/>
            <a:ext cx="4389120" cy="43774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HÀM PHÂN THỨC BẬC NHẤT TRÊN BẬC NHẤT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Ví dụ 3: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d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nghịch biến từng khoảng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TCĐ x = 2;  TCN y = 1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Ví dụ 3: </a:t>
                </a:r>
                <a:r>
                  <a:rPr lang="vi-VN"/>
                  <a:t>y=\frac{x+1}{x−2}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y'=−\frac{3}{(x−2)^2}&lt;0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nghịch biến từng khoảng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TCĐ x = 2;  TCN y = 1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895344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95344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Tâm đối xứng I(2; 1)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Trục đối xứng: hai phân giác</a:t>
            </a:r>
          </a:p>
        </p:txBody>
      </p:sp>
      <p:pic>
        <p:nvPicPr>
          <p:cNvPr id="9" name="Picture 8" descr="rId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18420"/>
            <a:ext cx="4389120" cy="37983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f(x)=2+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 x ≥ 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f′(x) &lt; 0: chi phí giảm dần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TCN y = 2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f(x)=2+\frac{45}{x}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 x ≥ 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f′(x) &lt; 0: chi phí giảm dần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\underset{x\to+\infty}{\mathrm{lim}}f(x)=2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TCN y = 2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2102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f(x) &gt; 2: luôn trên 2 triệu đồng</a:t>
            </a:r>
          </a:p>
        </p:txBody>
      </p:sp>
      <p:pic>
        <p:nvPicPr>
          <p:cNvPr id="9" name="Picture 8" descr="rId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91162"/>
            <a:ext cx="4389120" cy="36529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4. HÀM PHÂN THỨC BẬC HAI TRÊN BẬC NHẤT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8105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Ví dụ 4: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2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2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−x−1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=x+1+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CĐ tại x = 1: y = 1;  CT tại x = 3: y = 5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TCĐ x = 2;  TCX y = x + 1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8105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Ví dụ 4: </a:t>
                </a:r>
                <a:r>
                  <a:rPr lang="vi-VN"/>
                  <a:t>y=\frac{x^2−x−1}{x−2}=x+1+\frac{1}{x−2}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CĐ tại x = 1: y = 1;  CT tại x = 3: y = 5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TCĐ x = 2;  TCX y = x + 1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456432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456432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Tâm đối xứng I(2; 3)</a:t>
            </a:r>
          </a:p>
        </p:txBody>
      </p:sp>
      <p:pic>
        <p:nvPicPr>
          <p:cNvPr id="9" name="Picture 8" descr="rId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5763" y="1463040"/>
            <a:ext cx="4210873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5 – LUYỆN TẬP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06197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y′ &gt; 0, không cực trị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TCĐ x = −1;  TCX y = x;  tâm I(−1; −1)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LT3: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y=−x+1+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tâm I(2; −1)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06197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y=x−\frac{2}{x+1}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y′ &gt; 0, không cực trị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TCĐ x = −1;  TCX y = x;  tâm I(−1; −1)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LT3: </a:t>
                </a:r>
                <a:r>
                  <a:rPr lang="vi-VN"/>
                  <a:t>y=−x+1+\frac{1}{x−2}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tâm I(2; −1)</a:t>
                </a:r>
              </a:p>
            </p:txBody>
          </p:sp>
        </mc:Fallback>
      </mc:AlternateContent>
      <p:pic>
        <p:nvPicPr>
          <p:cNvPr id="7" name="Picture 6" descr="rId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87748"/>
            <a:ext cx="4389120" cy="40597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+4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y</a:t>
                </a:r>
                <a:r>
                  <a:rPr sz="2400" baseline="-25000">
                    <a:solidFill>
                      <a:srgbClr val="1E293B"/>
                    </a:solidFill>
                    <a:latin typeface="Calibri"/>
                  </a:rPr>
                  <a:t>CĐ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0 &lt; y</a:t>
                </a:r>
                <a:r>
                  <a:rPr sz="2400" baseline="-25000">
                    <a:solidFill>
                      <a:srgbClr val="1E293B"/>
                    </a:solidFill>
                    <a:latin typeface="Calibri"/>
                  </a:rPr>
                  <a:t>CT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4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2x−1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TCN y = −1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:r>
                  <a:rPr lang="vi-VN"/>
                  <a:t>y=x^3−3x^2+4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y</a:t>
                </a:r>
                <a:r>
                  <a:rPr sz="2400" baseline="-25000">
                    <a:solidFill>
                      <a:srgbClr val="1E293B"/>
                    </a:solidFill>
                    <a:latin typeface="Calibri"/>
                  </a:rPr>
                  <a:t>CĐ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0 &lt; y</a:t>
                </a:r>
                <a:r>
                  <a:rPr sz="2400" baseline="-25000">
                    <a:solidFill>
                      <a:srgbClr val="1E293B"/>
                    </a:solidFill>
                    <a:latin typeface="Calibri"/>
                  </a:rPr>
                  <a:t>CT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4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:r>
                  <a:rPr lang="vi-VN"/>
                  <a:t>y=\frac{2x−1}{x+1}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TCN y = −1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2102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Xét lại dấu y′: CĐ (0; 4), CT (2; 0)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TCN y = 2;  tâm I(−1; 2)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NỒNG ĐỘ KHỬ TRÙNG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Bể 200 lít, mỗi phút thêm 40 lít, 20 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f(t)=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20t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200+40t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2t+10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f′(t) &gt; 0: nồng độ tăng dần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Bể 200 lít, mỗi phút thêm 40 lít, 20 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f(t)=\frac{20t}{200+40t}=\frac{t}{2t+10}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f′(t) &gt; 0: nồng độ tăng dần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2102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TCN y = 0,5: không vượt 0,5 g/lít</a:t>
            </a:r>
          </a:p>
        </p:txBody>
      </p:sp>
      <p:pic>
        <p:nvPicPr>
          <p:cNvPr id="9" name="Picture 8" descr="rId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59924"/>
            <a:ext cx="4389120" cy="311539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1: pha loãng dung dịch KOH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2: điện trở mắc song song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3: chi phí sơ chế cà phê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Khảo sát, vẽ đồ thị trên Desmos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poster/slide, Nhật ký AI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16</a:t>
            </a:r>
          </a:p>
        </p:txBody>
      </p:sp>
      <p:pic>
        <p:nvPicPr>
          <p:cNvPr id="6" name="Picture 5" descr="rId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4_Toan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trangtu66.github.io/Taode_thi_online/cc_bai4_t12.html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